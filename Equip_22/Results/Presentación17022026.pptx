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  <p:embeddedFont>
      <p:font typeface="Garet Italics" panose="020B0604020202020204" charset="0"/>
      <p:regular r:id="rId17"/>
    </p:embeddedFont>
    <p:embeddedFont>
      <p:font typeface="Open Sans 1" panose="020B0604020202020204" charset="0"/>
      <p:regular r:id="rId18"/>
    </p:embeddedFont>
    <p:embeddedFont>
      <p:font typeface="Open Sans 1 Bold" panose="020B0604020202020204" charset="0"/>
      <p:regular r:id="rId19"/>
    </p:embeddedFont>
    <p:embeddedFont>
      <p:font typeface="Open Sans 1 Italics" panose="020B0604020202020204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4929" y="936930"/>
            <a:ext cx="10065070" cy="341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60"/>
              </a:lnSpc>
            </a:pPr>
            <a:r>
              <a:rPr lang="en-US" sz="80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Alojamiento Turístico:</a:t>
            </a:r>
          </a:p>
          <a:p>
            <a:pPr algn="just">
              <a:lnSpc>
                <a:spcPts val="8960"/>
              </a:lnSpc>
            </a:pPr>
            <a:r>
              <a:rPr lang="en-US" sz="80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Análisis de Datos</a:t>
            </a: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88140" cy="1832352"/>
            </a:xfrm>
            <a:custGeom>
              <a:avLst/>
              <a:gdLst/>
              <a:ahLst/>
              <a:cxnLst/>
              <a:rect l="l" t="t" r="r" b="b"/>
              <a:pathLst>
                <a:path w="1888140" h="1832352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036" cy="1243186"/>
            </a:xfrm>
            <a:custGeom>
              <a:avLst/>
              <a:gdLst/>
              <a:ahLst/>
              <a:cxnLst/>
              <a:rect l="l" t="t" r="r" b="b"/>
              <a:pathLst>
                <a:path w="1281036" h="124318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5153025"/>
            <a:ext cx="6043030" cy="411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Presentado por</a:t>
            </a:r>
          </a:p>
          <a:p>
            <a:pPr algn="l">
              <a:lnSpc>
                <a:spcPts val="4653"/>
              </a:lnSpc>
            </a:pPr>
            <a:endParaRPr lang="en-US" sz="355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Yoneidy Galindez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Luis Chicott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Mariela Giménez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Jianji Chen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Esra Kesken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701732" y="2400123"/>
            <a:ext cx="3821275" cy="382127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288" y="3290667"/>
            <a:ext cx="5301425" cy="530142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32012">
            <a:off x="7399553" y="4196933"/>
            <a:ext cx="3488893" cy="348889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3542898" y="2866633"/>
            <a:ext cx="1760568" cy="1439789"/>
            <a:chOff x="-5344" y="0"/>
            <a:chExt cx="463689" cy="3792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8345" cy="294715"/>
            </a:xfrm>
            <a:custGeom>
              <a:avLst/>
              <a:gdLst/>
              <a:ahLst/>
              <a:cxnLst/>
              <a:rect l="l" t="t" r="r" b="b"/>
              <a:pathLst>
                <a:path w="458345" h="294715">
                  <a:moveTo>
                    <a:pt x="147357" y="0"/>
                  </a:moveTo>
                  <a:lnTo>
                    <a:pt x="310988" y="0"/>
                  </a:lnTo>
                  <a:cubicBezTo>
                    <a:pt x="392371" y="0"/>
                    <a:pt x="458345" y="65974"/>
                    <a:pt x="458345" y="147357"/>
                  </a:cubicBezTo>
                  <a:lnTo>
                    <a:pt x="458345" y="147357"/>
                  </a:lnTo>
                  <a:cubicBezTo>
                    <a:pt x="458345" y="186439"/>
                    <a:pt x="442820" y="223920"/>
                    <a:pt x="415185" y="251555"/>
                  </a:cubicBezTo>
                  <a:cubicBezTo>
                    <a:pt x="387550" y="279190"/>
                    <a:pt x="350069" y="294715"/>
                    <a:pt x="310988" y="294715"/>
                  </a:cubicBezTo>
                  <a:lnTo>
                    <a:pt x="147357" y="294715"/>
                  </a:lnTo>
                  <a:cubicBezTo>
                    <a:pt x="65974" y="294715"/>
                    <a:pt x="0" y="228741"/>
                    <a:pt x="0" y="147357"/>
                  </a:cubicBezTo>
                  <a:lnTo>
                    <a:pt x="0" y="147357"/>
                  </a:lnTo>
                  <a:cubicBezTo>
                    <a:pt x="0" y="65974"/>
                    <a:pt x="65974" y="0"/>
                    <a:pt x="14735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5344" y="8289"/>
              <a:ext cx="458345" cy="370915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90.7 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5434" y="6278471"/>
            <a:ext cx="4520434" cy="2166745"/>
            <a:chOff x="0" y="0"/>
            <a:chExt cx="1190567" cy="5706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0567" cy="570665"/>
            </a:xfrm>
            <a:custGeom>
              <a:avLst/>
              <a:gdLst/>
              <a:ahLst/>
              <a:cxnLst/>
              <a:rect l="l" t="t" r="r" b="b"/>
              <a:pathLst>
                <a:path w="1190567" h="570665">
                  <a:moveTo>
                    <a:pt x="87345" y="0"/>
                  </a:moveTo>
                  <a:lnTo>
                    <a:pt x="1103222" y="0"/>
                  </a:lnTo>
                  <a:cubicBezTo>
                    <a:pt x="1151461" y="0"/>
                    <a:pt x="1190567" y="39106"/>
                    <a:pt x="1190567" y="87345"/>
                  </a:cubicBezTo>
                  <a:lnTo>
                    <a:pt x="1190567" y="483320"/>
                  </a:lnTo>
                  <a:cubicBezTo>
                    <a:pt x="1190567" y="506486"/>
                    <a:pt x="1181364" y="528702"/>
                    <a:pt x="1164984" y="545083"/>
                  </a:cubicBezTo>
                  <a:cubicBezTo>
                    <a:pt x="1148604" y="561463"/>
                    <a:pt x="1126387" y="570665"/>
                    <a:pt x="1103222" y="570665"/>
                  </a:cubicBezTo>
                  <a:lnTo>
                    <a:pt x="87345" y="570665"/>
                  </a:lnTo>
                  <a:cubicBezTo>
                    <a:pt x="64180" y="570665"/>
                    <a:pt x="41963" y="561463"/>
                    <a:pt x="25583" y="545083"/>
                  </a:cubicBezTo>
                  <a:cubicBezTo>
                    <a:pt x="9202" y="528702"/>
                    <a:pt x="0" y="506486"/>
                    <a:pt x="0" y="483320"/>
                  </a:cubicBezTo>
                  <a:lnTo>
                    <a:pt x="0" y="87345"/>
                  </a:lnTo>
                  <a:cubicBezTo>
                    <a:pt x="0" y="64180"/>
                    <a:pt x="9202" y="41963"/>
                    <a:pt x="25583" y="25583"/>
                  </a:cubicBezTo>
                  <a:cubicBezTo>
                    <a:pt x="41963" y="9202"/>
                    <a:pt x="64180" y="0"/>
                    <a:pt x="87345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190567" cy="646865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9650 Alojamientos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5921" y="3256920"/>
            <a:ext cx="3048001" cy="1118995"/>
            <a:chOff x="-66228" y="0"/>
            <a:chExt cx="802766" cy="294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6538" cy="294715"/>
            </a:xfrm>
            <a:custGeom>
              <a:avLst/>
              <a:gdLst/>
              <a:ahLst/>
              <a:cxnLst/>
              <a:rect l="l" t="t" r="r" b="b"/>
              <a:pathLst>
                <a:path w="736538" h="294715">
                  <a:moveTo>
                    <a:pt x="141188" y="0"/>
                  </a:moveTo>
                  <a:lnTo>
                    <a:pt x="595350" y="0"/>
                  </a:lnTo>
                  <a:cubicBezTo>
                    <a:pt x="673326" y="0"/>
                    <a:pt x="736538" y="63212"/>
                    <a:pt x="736538" y="141188"/>
                  </a:cubicBezTo>
                  <a:lnTo>
                    <a:pt x="736538" y="153527"/>
                  </a:lnTo>
                  <a:cubicBezTo>
                    <a:pt x="736538" y="231503"/>
                    <a:pt x="673326" y="294715"/>
                    <a:pt x="595350" y="294715"/>
                  </a:cubicBezTo>
                  <a:lnTo>
                    <a:pt x="141188" y="294715"/>
                  </a:lnTo>
                  <a:cubicBezTo>
                    <a:pt x="63212" y="294715"/>
                    <a:pt x="0" y="231503"/>
                    <a:pt x="0" y="153527"/>
                  </a:cubicBezTo>
                  <a:lnTo>
                    <a:pt x="0" y="141188"/>
                  </a:lnTo>
                  <a:cubicBezTo>
                    <a:pt x="0" y="63212"/>
                    <a:pt x="63212" y="0"/>
                    <a:pt x="141188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66228" y="42614"/>
              <a:ext cx="802766" cy="252101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 </a:t>
              </a:r>
              <a:r>
                <a:rPr lang="en-US" sz="2999" b="1" dirty="0" err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Provincias</a:t>
              </a:r>
              <a:endParaRPr lang="en-US" sz="29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52497" y="8630180"/>
            <a:ext cx="2796542" cy="1642870"/>
            <a:chOff x="0" y="0"/>
            <a:chExt cx="736538" cy="432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6538" cy="432690"/>
            </a:xfrm>
            <a:custGeom>
              <a:avLst/>
              <a:gdLst/>
              <a:ahLst/>
              <a:cxnLst/>
              <a:rect l="l" t="t" r="r" b="b"/>
              <a:pathLst>
                <a:path w="736538" h="432690">
                  <a:moveTo>
                    <a:pt x="141188" y="0"/>
                  </a:moveTo>
                  <a:lnTo>
                    <a:pt x="595350" y="0"/>
                  </a:lnTo>
                  <a:cubicBezTo>
                    <a:pt x="673326" y="0"/>
                    <a:pt x="736538" y="63212"/>
                    <a:pt x="736538" y="141188"/>
                  </a:cubicBezTo>
                  <a:lnTo>
                    <a:pt x="736538" y="291502"/>
                  </a:lnTo>
                  <a:cubicBezTo>
                    <a:pt x="736538" y="369478"/>
                    <a:pt x="673326" y="432690"/>
                    <a:pt x="595350" y="432690"/>
                  </a:cubicBezTo>
                  <a:lnTo>
                    <a:pt x="141188" y="432690"/>
                  </a:lnTo>
                  <a:cubicBezTo>
                    <a:pt x="103743" y="432690"/>
                    <a:pt x="67831" y="417815"/>
                    <a:pt x="41353" y="391337"/>
                  </a:cubicBezTo>
                  <a:cubicBezTo>
                    <a:pt x="14875" y="364859"/>
                    <a:pt x="0" y="328947"/>
                    <a:pt x="0" y="291502"/>
                  </a:cubicBezTo>
                  <a:lnTo>
                    <a:pt x="0" y="141188"/>
                  </a:lnTo>
                  <a:cubicBezTo>
                    <a:pt x="0" y="63212"/>
                    <a:pt x="63212" y="0"/>
                    <a:pt x="141188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736538" cy="508890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7.269</a:t>
              </a:r>
            </a:p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Anfitriones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433327" y="5752987"/>
            <a:ext cx="3407683" cy="1118995"/>
            <a:chOff x="0" y="0"/>
            <a:chExt cx="897497" cy="2947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7497" cy="294715"/>
            </a:xfrm>
            <a:custGeom>
              <a:avLst/>
              <a:gdLst/>
              <a:ahLst/>
              <a:cxnLst/>
              <a:rect l="l" t="t" r="r" b="b"/>
              <a:pathLst>
                <a:path w="897497" h="294715">
                  <a:moveTo>
                    <a:pt x="115867" y="0"/>
                  </a:moveTo>
                  <a:lnTo>
                    <a:pt x="781630" y="0"/>
                  </a:lnTo>
                  <a:cubicBezTo>
                    <a:pt x="812360" y="0"/>
                    <a:pt x="841831" y="12207"/>
                    <a:pt x="863560" y="33937"/>
                  </a:cubicBezTo>
                  <a:cubicBezTo>
                    <a:pt x="885289" y="55666"/>
                    <a:pt x="897497" y="85137"/>
                    <a:pt x="897497" y="115867"/>
                  </a:cubicBezTo>
                  <a:lnTo>
                    <a:pt x="897497" y="178848"/>
                  </a:lnTo>
                  <a:cubicBezTo>
                    <a:pt x="897497" y="209578"/>
                    <a:pt x="885289" y="239049"/>
                    <a:pt x="863560" y="260778"/>
                  </a:cubicBezTo>
                  <a:cubicBezTo>
                    <a:pt x="841831" y="282507"/>
                    <a:pt x="812360" y="294715"/>
                    <a:pt x="781630" y="294715"/>
                  </a:cubicBezTo>
                  <a:lnTo>
                    <a:pt x="115867" y="294715"/>
                  </a:lnTo>
                  <a:cubicBezTo>
                    <a:pt x="85137" y="294715"/>
                    <a:pt x="55666" y="282507"/>
                    <a:pt x="33937" y="260778"/>
                  </a:cubicBezTo>
                  <a:cubicBezTo>
                    <a:pt x="12207" y="239049"/>
                    <a:pt x="0" y="209578"/>
                    <a:pt x="0" y="178848"/>
                  </a:cubicBezTo>
                  <a:lnTo>
                    <a:pt x="0" y="115867"/>
                  </a:lnTo>
                  <a:cubicBezTo>
                    <a:pt x="0" y="85137"/>
                    <a:pt x="12207" y="55666"/>
                    <a:pt x="33937" y="33937"/>
                  </a:cubicBezTo>
                  <a:cubicBezTo>
                    <a:pt x="55666" y="12207"/>
                    <a:pt x="85137" y="0"/>
                    <a:pt x="11586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897497" cy="370915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76,04% Ventas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5124883" y="3120053"/>
            <a:ext cx="576073" cy="576073"/>
          </a:xfrm>
          <a:custGeom>
            <a:avLst/>
            <a:gdLst/>
            <a:ahLst/>
            <a:cxnLst/>
            <a:rect l="l" t="t" r="r" b="b"/>
            <a:pathLst>
              <a:path w="576073" h="576073">
                <a:moveTo>
                  <a:pt x="0" y="0"/>
                </a:moveTo>
                <a:lnTo>
                  <a:pt x="576073" y="0"/>
                </a:lnTo>
                <a:lnTo>
                  <a:pt x="576073" y="576073"/>
                </a:lnTo>
                <a:lnTo>
                  <a:pt x="0" y="57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TextBox 25"/>
          <p:cNvSpPr txBox="1"/>
          <p:nvPr/>
        </p:nvSpPr>
        <p:spPr>
          <a:xfrm>
            <a:off x="921543" y="668897"/>
            <a:ext cx="16230600" cy="205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0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Situación</a:t>
            </a:r>
            <a:r>
              <a:rPr lang="en-US" sz="8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Actual y </a:t>
            </a:r>
            <a:r>
              <a:rPr lang="en-US" sz="8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Métricas</a:t>
            </a:r>
            <a:r>
              <a:rPr lang="en-US" sz="8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Clave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63188" y="3696126"/>
            <a:ext cx="3027128" cy="808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9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Millones</a:t>
            </a: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gestionados</a:t>
            </a: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9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por</a:t>
            </a: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la </a:t>
            </a:r>
            <a:r>
              <a:rPr lang="en-US" sz="19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</a:t>
            </a:r>
            <a:endParaRPr lang="en-US" sz="1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147"/>
              </a:lnSpc>
            </a:pPr>
            <a:endParaRPr lang="en-US" sz="1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81134" y="7110720"/>
            <a:ext cx="3439299" cy="162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47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Número de alojamientos</a:t>
            </a:r>
          </a:p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Barcelona 2719</a:t>
            </a:r>
          </a:p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Madrid 2134</a:t>
            </a:r>
          </a:p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Mallorca 1583</a:t>
            </a:r>
          </a:p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Girona 1485</a:t>
            </a:r>
          </a:p>
          <a:p>
            <a:pPr algn="ctr">
              <a:lnSpc>
                <a:spcPts val="2147"/>
              </a:lnSpc>
            </a:pPr>
            <a:endParaRPr lang="en-US" sz="1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71600" y="4161315"/>
            <a:ext cx="3048000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88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Barcelona, Girona</a:t>
            </a:r>
          </a:p>
          <a:p>
            <a:pPr algn="ctr">
              <a:lnSpc>
                <a:spcPts val="2640"/>
              </a:lnSpc>
            </a:pPr>
            <a:r>
              <a:rPr lang="en-US" sz="188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Madrid , Málaga,</a:t>
            </a:r>
          </a:p>
          <a:p>
            <a:pPr algn="ctr">
              <a:lnSpc>
                <a:spcPts val="2640"/>
              </a:lnSpc>
            </a:pPr>
            <a:r>
              <a:rPr lang="en-US" sz="188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Mallorca, Menorca,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188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Sevilla Y Valencia</a:t>
            </a:r>
          </a:p>
          <a:p>
            <a:pPr algn="ctr">
              <a:lnSpc>
                <a:spcPts val="2080"/>
              </a:lnSpc>
              <a:spcBef>
                <a:spcPct val="0"/>
              </a:spcBef>
            </a:pPr>
            <a:endParaRPr lang="en-US" sz="1885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ctr">
              <a:lnSpc>
                <a:spcPts val="2080"/>
              </a:lnSpc>
              <a:spcBef>
                <a:spcPct val="0"/>
              </a:spcBef>
            </a:pPr>
            <a:endParaRPr lang="en-US" sz="1885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172088" y="6312484"/>
            <a:ext cx="3668922" cy="109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27" lvl="1" indent="-205114" algn="l">
              <a:lnSpc>
                <a:spcPts val="2147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Madrid → 36.92%</a:t>
            </a:r>
          </a:p>
          <a:p>
            <a:pPr marL="410227" lvl="1" indent="-205114" algn="l">
              <a:lnSpc>
                <a:spcPts val="2147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Barcelona → 23.08%</a:t>
            </a:r>
          </a:p>
          <a:p>
            <a:pPr marL="410227" lvl="1" indent="-205114" algn="l">
              <a:lnSpc>
                <a:spcPts val="2147"/>
              </a:lnSpc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Mallorca → 13.04%</a:t>
            </a:r>
          </a:p>
          <a:p>
            <a:pPr algn="l">
              <a:lnSpc>
                <a:spcPts val="2147"/>
              </a:lnSpc>
            </a:pPr>
            <a:endParaRPr lang="en-US" sz="1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5843DA18-E077-5E6A-46C3-65AFE4AC1093}"/>
              </a:ext>
            </a:extLst>
          </p:cNvPr>
          <p:cNvCxnSpPr/>
          <p:nvPr/>
        </p:nvCxnSpPr>
        <p:spPr>
          <a:xfrm>
            <a:off x="4243922" y="3985628"/>
            <a:ext cx="2866124" cy="1157872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D452E665-3D6A-3568-F41A-312451ED8E3B}"/>
              </a:ext>
            </a:extLst>
          </p:cNvPr>
          <p:cNvCxnSpPr>
            <a:cxnSpLocks/>
          </p:cNvCxnSpPr>
          <p:nvPr/>
        </p:nvCxnSpPr>
        <p:spPr>
          <a:xfrm>
            <a:off x="4997579" y="6517989"/>
            <a:ext cx="2112467" cy="225711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F8464C79-7872-BC33-4227-D5C7F138DE50}"/>
              </a:ext>
            </a:extLst>
          </p:cNvPr>
          <p:cNvCxnSpPr>
            <a:endCxn id="6" idx="1"/>
          </p:cNvCxnSpPr>
          <p:nvPr/>
        </p:nvCxnSpPr>
        <p:spPr>
          <a:xfrm flipV="1">
            <a:off x="10820982" y="3602266"/>
            <a:ext cx="2721916" cy="1094445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A1003DBE-5FD1-7E52-D38F-97C1F5A1F340}"/>
              </a:ext>
            </a:extLst>
          </p:cNvPr>
          <p:cNvCxnSpPr/>
          <p:nvPr/>
        </p:nvCxnSpPr>
        <p:spPr>
          <a:xfrm flipV="1">
            <a:off x="11157663" y="6075855"/>
            <a:ext cx="3255374" cy="765002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FEEB9F36-7079-2390-F917-AF61D7EF7E59}"/>
              </a:ext>
            </a:extLst>
          </p:cNvPr>
          <p:cNvCxnSpPr/>
          <p:nvPr/>
        </p:nvCxnSpPr>
        <p:spPr>
          <a:xfrm rot="10800000" flipV="1">
            <a:off x="6172200" y="8115300"/>
            <a:ext cx="2743200" cy="838200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16940536" y="7527576"/>
            <a:ext cx="4066725" cy="3734959"/>
            <a:chOff x="0" y="0"/>
            <a:chExt cx="2816434" cy="25866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99999">
            <a:off x="-2247181" y="-838779"/>
            <a:ext cx="4066725" cy="3734959"/>
            <a:chOff x="0" y="0"/>
            <a:chExt cx="2816434" cy="25866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699999">
            <a:off x="2127443" y="-1169447"/>
            <a:ext cx="1932482" cy="1774829"/>
            <a:chOff x="0" y="0"/>
            <a:chExt cx="1338352" cy="12291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8352" cy="1229168"/>
            </a:xfrm>
            <a:custGeom>
              <a:avLst/>
              <a:gdLst/>
              <a:ahLst/>
              <a:cxnLst/>
              <a:rect l="l" t="t" r="r" b="b"/>
              <a:pathLst>
                <a:path w="1338352" h="1229168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93684" y="3227500"/>
            <a:ext cx="2184148" cy="2939837"/>
            <a:chOff x="0" y="0"/>
            <a:chExt cx="575249" cy="7742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5249" cy="774278"/>
            </a:xfrm>
            <a:custGeom>
              <a:avLst/>
              <a:gdLst/>
              <a:ahLst/>
              <a:cxnLst/>
              <a:rect l="l" t="t" r="r" b="b"/>
              <a:pathLst>
                <a:path w="575249" h="774278">
                  <a:moveTo>
                    <a:pt x="180774" y="0"/>
                  </a:moveTo>
                  <a:lnTo>
                    <a:pt x="394474" y="0"/>
                  </a:lnTo>
                  <a:cubicBezTo>
                    <a:pt x="494313" y="0"/>
                    <a:pt x="575249" y="80935"/>
                    <a:pt x="575249" y="180774"/>
                  </a:cubicBezTo>
                  <a:lnTo>
                    <a:pt x="575249" y="593504"/>
                  </a:lnTo>
                  <a:cubicBezTo>
                    <a:pt x="575249" y="693343"/>
                    <a:pt x="494313" y="774278"/>
                    <a:pt x="394474" y="774278"/>
                  </a:cubicBezTo>
                  <a:lnTo>
                    <a:pt x="180774" y="774278"/>
                  </a:lnTo>
                  <a:cubicBezTo>
                    <a:pt x="80935" y="774278"/>
                    <a:pt x="0" y="693343"/>
                    <a:pt x="0" y="593504"/>
                  </a:cubicBezTo>
                  <a:lnTo>
                    <a:pt x="0" y="180774"/>
                  </a:lnTo>
                  <a:cubicBezTo>
                    <a:pt x="0" y="80935"/>
                    <a:pt x="80935" y="0"/>
                    <a:pt x="180774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75249" cy="8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2714211"/>
            <a:ext cx="7257228" cy="6906254"/>
          </a:xfrm>
          <a:custGeom>
            <a:avLst/>
            <a:gdLst/>
            <a:ahLst/>
            <a:cxnLst/>
            <a:rect l="l" t="t" r="r" b="b"/>
            <a:pathLst>
              <a:path w="7257228" h="6906254">
                <a:moveTo>
                  <a:pt x="0" y="0"/>
                </a:moveTo>
                <a:lnTo>
                  <a:pt x="7257228" y="0"/>
                </a:lnTo>
                <a:lnTo>
                  <a:pt x="7257228" y="6906254"/>
                </a:lnTo>
                <a:lnTo>
                  <a:pt x="0" y="69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8958359" y="2714211"/>
            <a:ext cx="7257228" cy="6906254"/>
          </a:xfrm>
          <a:custGeom>
            <a:avLst/>
            <a:gdLst/>
            <a:ahLst/>
            <a:cxnLst/>
            <a:rect l="l" t="t" r="r" b="b"/>
            <a:pathLst>
              <a:path w="7257228" h="6906254">
                <a:moveTo>
                  <a:pt x="0" y="0"/>
                </a:moveTo>
                <a:lnTo>
                  <a:pt x="7257228" y="0"/>
                </a:lnTo>
                <a:lnTo>
                  <a:pt x="7257228" y="6906254"/>
                </a:lnTo>
                <a:lnTo>
                  <a:pt x="0" y="690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4185758" y="708961"/>
            <a:ext cx="120298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9"/>
              </a:lnSpc>
              <a:spcBef>
                <a:spcPct val="0"/>
              </a:spcBef>
            </a:pPr>
            <a:r>
              <a:rPr lang="en-US" sz="399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Top 10 Destinos Más Populares (2021-22)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26269" y="2070466"/>
            <a:ext cx="5859659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9"/>
              </a:lnSpc>
              <a:spcBef>
                <a:spcPct val="0"/>
              </a:spcBef>
            </a:pPr>
            <a:r>
              <a:rPr lang="en-US" sz="299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Viajeros Extrajeros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55928" y="2070466"/>
            <a:ext cx="5859659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9"/>
              </a:lnSpc>
              <a:spcBef>
                <a:spcPct val="0"/>
              </a:spcBef>
            </a:pPr>
            <a:r>
              <a:rPr lang="en-US" sz="299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Viajeros Españoles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4697419"/>
            <a:ext cx="1820427" cy="446081"/>
            <a:chOff x="0" y="0"/>
            <a:chExt cx="1011618" cy="24785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7068135"/>
            <a:ext cx="1820427" cy="446081"/>
            <a:chOff x="0" y="0"/>
            <a:chExt cx="1011618" cy="24785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8700" y="5882777"/>
            <a:ext cx="1820427" cy="446081"/>
            <a:chOff x="0" y="0"/>
            <a:chExt cx="1011618" cy="24785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958359" y="4697419"/>
            <a:ext cx="1820427" cy="446081"/>
            <a:chOff x="0" y="0"/>
            <a:chExt cx="1011618" cy="24785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860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958359" y="6413704"/>
            <a:ext cx="1820427" cy="446081"/>
            <a:chOff x="0" y="0"/>
            <a:chExt cx="1011618" cy="2478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860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958359" y="7068135"/>
            <a:ext cx="1820427" cy="446081"/>
            <a:chOff x="0" y="0"/>
            <a:chExt cx="1011618" cy="24785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11618" cy="247855"/>
            </a:xfrm>
            <a:custGeom>
              <a:avLst/>
              <a:gdLst/>
              <a:ahLst/>
              <a:cxnLst/>
              <a:rect l="l" t="t" r="r" b="b"/>
              <a:pathLst>
                <a:path w="1011618" h="247855">
                  <a:moveTo>
                    <a:pt x="1011618" y="63792"/>
                  </a:moveTo>
                  <a:lnTo>
                    <a:pt x="1011618" y="184063"/>
                  </a:lnTo>
                  <a:cubicBezTo>
                    <a:pt x="1011618" y="219294"/>
                    <a:pt x="983057" y="247855"/>
                    <a:pt x="947826" y="247855"/>
                  </a:cubicBezTo>
                  <a:lnTo>
                    <a:pt x="63792" y="247855"/>
                  </a:lnTo>
                  <a:cubicBezTo>
                    <a:pt x="28561" y="247855"/>
                    <a:pt x="0" y="219294"/>
                    <a:pt x="0" y="184063"/>
                  </a:cubicBezTo>
                  <a:lnTo>
                    <a:pt x="0" y="63792"/>
                  </a:lnTo>
                  <a:cubicBezTo>
                    <a:pt x="0" y="28561"/>
                    <a:pt x="28561" y="0"/>
                    <a:pt x="63792" y="0"/>
                  </a:cubicBezTo>
                  <a:lnTo>
                    <a:pt x="947826" y="0"/>
                  </a:lnTo>
                  <a:cubicBezTo>
                    <a:pt x="983057" y="0"/>
                    <a:pt x="1011618" y="28561"/>
                    <a:pt x="1011618" y="63792"/>
                  </a:cubicBezTo>
                  <a:close/>
                </a:path>
              </a:pathLst>
            </a:custGeom>
            <a:ln w="47625" cap="sq">
              <a:solidFill>
                <a:srgbClr val="B3860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011618" cy="295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58724" y="1381845"/>
            <a:ext cx="3240479" cy="1523999"/>
            <a:chOff x="0" y="0"/>
            <a:chExt cx="853459" cy="401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3459" cy="401382"/>
            </a:xfrm>
            <a:custGeom>
              <a:avLst/>
              <a:gdLst/>
              <a:ahLst/>
              <a:cxnLst/>
              <a:rect l="l" t="t" r="r" b="b"/>
              <a:pathLst>
                <a:path w="853459" h="401382">
                  <a:moveTo>
                    <a:pt x="121846" y="0"/>
                  </a:moveTo>
                  <a:lnTo>
                    <a:pt x="731614" y="0"/>
                  </a:lnTo>
                  <a:cubicBezTo>
                    <a:pt x="763929" y="0"/>
                    <a:pt x="794921" y="12837"/>
                    <a:pt x="817772" y="35688"/>
                  </a:cubicBezTo>
                  <a:cubicBezTo>
                    <a:pt x="840622" y="58538"/>
                    <a:pt x="853459" y="89530"/>
                    <a:pt x="853459" y="121846"/>
                  </a:cubicBezTo>
                  <a:lnTo>
                    <a:pt x="853459" y="279537"/>
                  </a:lnTo>
                  <a:cubicBezTo>
                    <a:pt x="853459" y="346830"/>
                    <a:pt x="798907" y="401382"/>
                    <a:pt x="731614" y="401382"/>
                  </a:cubicBezTo>
                  <a:lnTo>
                    <a:pt x="121846" y="401382"/>
                  </a:lnTo>
                  <a:cubicBezTo>
                    <a:pt x="54552" y="401382"/>
                    <a:pt x="0" y="346830"/>
                    <a:pt x="0" y="279537"/>
                  </a:cubicBezTo>
                  <a:lnTo>
                    <a:pt x="0" y="121846"/>
                  </a:lnTo>
                  <a:cubicBezTo>
                    <a:pt x="0" y="54552"/>
                    <a:pt x="54552" y="0"/>
                    <a:pt x="121846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53459" cy="44900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81,08 Millones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2021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36868" y="729246"/>
            <a:ext cx="15879373" cy="65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74"/>
              </a:lnSpc>
              <a:spcBef>
                <a:spcPct val="0"/>
              </a:spcBef>
            </a:pPr>
            <a:r>
              <a:rPr lang="en-US" sz="5185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Distribución de turistas por nacionalidad</a:t>
            </a:r>
          </a:p>
        </p:txBody>
      </p:sp>
      <p:grpSp>
        <p:nvGrpSpPr>
          <p:cNvPr id="9" name="Group 9"/>
          <p:cNvGrpSpPr/>
          <p:nvPr/>
        </p:nvGrpSpPr>
        <p:grpSpPr>
          <a:xfrm rot="-2699999">
            <a:off x="-2726595" y="-227420"/>
            <a:ext cx="4906166" cy="4505918"/>
            <a:chOff x="0" y="0"/>
            <a:chExt cx="3397795" cy="3120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16178849" y="6533689"/>
            <a:ext cx="4906166" cy="4505918"/>
            <a:chOff x="0" y="0"/>
            <a:chExt cx="3397795" cy="3120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699999">
            <a:off x="1530331" y="3170689"/>
            <a:ext cx="1918747" cy="1762214"/>
            <a:chOff x="0" y="0"/>
            <a:chExt cx="1328840" cy="1220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8840" cy="1220432"/>
            </a:xfrm>
            <a:custGeom>
              <a:avLst/>
              <a:gdLst/>
              <a:ahLst/>
              <a:cxnLst/>
              <a:rect l="l" t="t" r="r" b="b"/>
              <a:pathLst>
                <a:path w="1328840" h="1220432">
                  <a:moveTo>
                    <a:pt x="0" y="0"/>
                  </a:moveTo>
                  <a:lnTo>
                    <a:pt x="1328840" y="0"/>
                  </a:lnTo>
                  <a:lnTo>
                    <a:pt x="1328840" y="1220432"/>
                  </a:lnTo>
                  <a:lnTo>
                    <a:pt x="0" y="122043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28840" cy="125853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64" y="1093430"/>
            <a:ext cx="17014864" cy="10249276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14467138" y="4051797"/>
            <a:ext cx="3149103" cy="3149103"/>
          </a:xfrm>
          <a:custGeom>
            <a:avLst/>
            <a:gdLst/>
            <a:ahLst/>
            <a:cxnLst/>
            <a:rect l="l" t="t" r="r" b="b"/>
            <a:pathLst>
              <a:path w="3149103" h="3149103">
                <a:moveTo>
                  <a:pt x="0" y="0"/>
                </a:moveTo>
                <a:lnTo>
                  <a:pt x="3149103" y="0"/>
                </a:lnTo>
                <a:lnTo>
                  <a:pt x="3149103" y="3149103"/>
                </a:lnTo>
                <a:lnTo>
                  <a:pt x="0" y="314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34208" y="1637030"/>
            <a:ext cx="6702932" cy="1523999"/>
            <a:chOff x="0" y="0"/>
            <a:chExt cx="1765381" cy="401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65381" cy="401382"/>
            </a:xfrm>
            <a:custGeom>
              <a:avLst/>
              <a:gdLst/>
              <a:ahLst/>
              <a:cxnLst/>
              <a:rect l="l" t="t" r="r" b="b"/>
              <a:pathLst>
                <a:path w="1765381" h="401382">
                  <a:moveTo>
                    <a:pt x="58905" y="0"/>
                  </a:moveTo>
                  <a:lnTo>
                    <a:pt x="1706476" y="0"/>
                  </a:lnTo>
                  <a:cubicBezTo>
                    <a:pt x="1739008" y="0"/>
                    <a:pt x="1765381" y="26373"/>
                    <a:pt x="1765381" y="58905"/>
                  </a:cubicBezTo>
                  <a:lnTo>
                    <a:pt x="1765381" y="342477"/>
                  </a:lnTo>
                  <a:cubicBezTo>
                    <a:pt x="1765381" y="358100"/>
                    <a:pt x="1759175" y="373083"/>
                    <a:pt x="1748128" y="384130"/>
                  </a:cubicBezTo>
                  <a:cubicBezTo>
                    <a:pt x="1737081" y="395176"/>
                    <a:pt x="1722099" y="401382"/>
                    <a:pt x="1706476" y="401382"/>
                  </a:cubicBezTo>
                  <a:lnTo>
                    <a:pt x="58905" y="401382"/>
                  </a:lnTo>
                  <a:cubicBezTo>
                    <a:pt x="43283" y="401382"/>
                    <a:pt x="28300" y="395176"/>
                    <a:pt x="17253" y="384130"/>
                  </a:cubicBezTo>
                  <a:cubicBezTo>
                    <a:pt x="6206" y="373083"/>
                    <a:pt x="0" y="358100"/>
                    <a:pt x="0" y="342477"/>
                  </a:cubicBezTo>
                  <a:lnTo>
                    <a:pt x="0" y="58905"/>
                  </a:lnTo>
                  <a:cubicBezTo>
                    <a:pt x="0" y="43283"/>
                    <a:pt x="6206" y="28300"/>
                    <a:pt x="17253" y="17253"/>
                  </a:cubicBezTo>
                  <a:cubicBezTo>
                    <a:pt x="28300" y="6206"/>
                    <a:pt x="43283" y="0"/>
                    <a:pt x="58905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65381" cy="44900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r">
                <a:lnSpc>
                  <a:spcPts val="4199"/>
                </a:lnSpc>
              </a:pPr>
              <a:r>
                <a:rPr lang="en-US" sz="29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152.17 Millones</a:t>
              </a:r>
            </a:p>
            <a:p>
              <a:pPr algn="r">
                <a:lnSpc>
                  <a:spcPts val="4199"/>
                </a:lnSpc>
              </a:pPr>
              <a:r>
                <a:rPr lang="en-US" sz="29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2022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8288" y="534670"/>
            <a:ext cx="16230600" cy="62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49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Distribución de turistas por nacionalidad</a:t>
            </a:r>
          </a:p>
        </p:txBody>
      </p:sp>
      <p:grpSp>
        <p:nvGrpSpPr>
          <p:cNvPr id="9" name="Group 9"/>
          <p:cNvGrpSpPr/>
          <p:nvPr/>
        </p:nvGrpSpPr>
        <p:grpSpPr>
          <a:xfrm rot="-2699999">
            <a:off x="-2726595" y="-227420"/>
            <a:ext cx="4906166" cy="4505918"/>
            <a:chOff x="0" y="0"/>
            <a:chExt cx="3397795" cy="3120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16178849" y="6533689"/>
            <a:ext cx="4906166" cy="4505918"/>
            <a:chOff x="0" y="0"/>
            <a:chExt cx="3397795" cy="3120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699999">
            <a:off x="1530331" y="3170689"/>
            <a:ext cx="1918747" cy="1762214"/>
            <a:chOff x="0" y="0"/>
            <a:chExt cx="1328840" cy="1220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8840" cy="1220432"/>
            </a:xfrm>
            <a:custGeom>
              <a:avLst/>
              <a:gdLst/>
              <a:ahLst/>
              <a:cxnLst/>
              <a:rect l="l" t="t" r="r" b="b"/>
              <a:pathLst>
                <a:path w="1328840" h="1220432">
                  <a:moveTo>
                    <a:pt x="0" y="0"/>
                  </a:moveTo>
                  <a:lnTo>
                    <a:pt x="1328840" y="0"/>
                  </a:lnTo>
                  <a:lnTo>
                    <a:pt x="1328840" y="1220432"/>
                  </a:lnTo>
                  <a:lnTo>
                    <a:pt x="0" y="122043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28840" cy="125853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53087" y="1637030"/>
            <a:ext cx="3240479" cy="1523999"/>
            <a:chOff x="0" y="0"/>
            <a:chExt cx="853459" cy="4013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3459" cy="401382"/>
            </a:xfrm>
            <a:custGeom>
              <a:avLst/>
              <a:gdLst/>
              <a:ahLst/>
              <a:cxnLst/>
              <a:rect l="l" t="t" r="r" b="b"/>
              <a:pathLst>
                <a:path w="853459" h="401382">
                  <a:moveTo>
                    <a:pt x="121846" y="0"/>
                  </a:moveTo>
                  <a:lnTo>
                    <a:pt x="731614" y="0"/>
                  </a:lnTo>
                  <a:cubicBezTo>
                    <a:pt x="763929" y="0"/>
                    <a:pt x="794921" y="12837"/>
                    <a:pt x="817772" y="35688"/>
                  </a:cubicBezTo>
                  <a:cubicBezTo>
                    <a:pt x="840622" y="58538"/>
                    <a:pt x="853459" y="89530"/>
                    <a:pt x="853459" y="121846"/>
                  </a:cubicBezTo>
                  <a:lnTo>
                    <a:pt x="853459" y="279537"/>
                  </a:lnTo>
                  <a:cubicBezTo>
                    <a:pt x="853459" y="346830"/>
                    <a:pt x="798907" y="401382"/>
                    <a:pt x="731614" y="401382"/>
                  </a:cubicBezTo>
                  <a:lnTo>
                    <a:pt x="121846" y="401382"/>
                  </a:lnTo>
                  <a:cubicBezTo>
                    <a:pt x="54552" y="401382"/>
                    <a:pt x="0" y="346830"/>
                    <a:pt x="0" y="279537"/>
                  </a:cubicBezTo>
                  <a:lnTo>
                    <a:pt x="0" y="121846"/>
                  </a:lnTo>
                  <a:cubicBezTo>
                    <a:pt x="0" y="54552"/>
                    <a:pt x="54552" y="0"/>
                    <a:pt x="121846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53459" cy="44900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CRECIMIENTO 87.68%</a:t>
              </a:r>
            </a:p>
          </p:txBody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847" y="1206131"/>
            <a:ext cx="19333612" cy="10505933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 rot="-10800000">
            <a:off x="13078536" y="5143500"/>
            <a:ext cx="3149103" cy="3149103"/>
          </a:xfrm>
          <a:custGeom>
            <a:avLst/>
            <a:gdLst/>
            <a:ahLst/>
            <a:cxnLst/>
            <a:rect l="l" t="t" r="r" b="b"/>
            <a:pathLst>
              <a:path w="3149103" h="3149103">
                <a:moveTo>
                  <a:pt x="0" y="0"/>
                </a:moveTo>
                <a:lnTo>
                  <a:pt x="3149103" y="0"/>
                </a:lnTo>
                <a:lnTo>
                  <a:pt x="3149103" y="3149103"/>
                </a:lnTo>
                <a:lnTo>
                  <a:pt x="0" y="314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6542" y="1123950"/>
            <a:ext cx="16230600" cy="45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  <a:spcBef>
                <a:spcPct val="0"/>
              </a:spcBef>
            </a:pPr>
            <a:r>
              <a:rPr lang="en-US" sz="359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Oferta y Demanda de Servicios Internacionales por Ciudad</a:t>
            </a: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6940536" y="7527576"/>
            <a:ext cx="4066725" cy="3734959"/>
            <a:chOff x="0" y="0"/>
            <a:chExt cx="2816434" cy="2586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-2247181" y="-838779"/>
            <a:ext cx="4066725" cy="3734959"/>
            <a:chOff x="0" y="0"/>
            <a:chExt cx="2816434" cy="25866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2127443" y="-1169447"/>
            <a:ext cx="1932482" cy="1774829"/>
            <a:chOff x="0" y="0"/>
            <a:chExt cx="1338352" cy="12291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8352" cy="1229168"/>
            </a:xfrm>
            <a:custGeom>
              <a:avLst/>
              <a:gdLst/>
              <a:ahLst/>
              <a:cxnLst/>
              <a:rect l="l" t="t" r="r" b="b"/>
              <a:pathLst>
                <a:path w="1338352" h="1229168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93684" y="3227500"/>
            <a:ext cx="2184148" cy="2939837"/>
            <a:chOff x="0" y="0"/>
            <a:chExt cx="575249" cy="7742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5249" cy="774278"/>
            </a:xfrm>
            <a:custGeom>
              <a:avLst/>
              <a:gdLst/>
              <a:ahLst/>
              <a:cxnLst/>
              <a:rect l="l" t="t" r="r" b="b"/>
              <a:pathLst>
                <a:path w="575249" h="774278">
                  <a:moveTo>
                    <a:pt x="180774" y="0"/>
                  </a:moveTo>
                  <a:lnTo>
                    <a:pt x="394474" y="0"/>
                  </a:lnTo>
                  <a:cubicBezTo>
                    <a:pt x="494313" y="0"/>
                    <a:pt x="575249" y="80935"/>
                    <a:pt x="575249" y="180774"/>
                  </a:cubicBezTo>
                  <a:lnTo>
                    <a:pt x="575249" y="593504"/>
                  </a:lnTo>
                  <a:cubicBezTo>
                    <a:pt x="575249" y="693343"/>
                    <a:pt x="494313" y="774278"/>
                    <a:pt x="394474" y="774278"/>
                  </a:cubicBezTo>
                  <a:lnTo>
                    <a:pt x="180774" y="774278"/>
                  </a:lnTo>
                  <a:cubicBezTo>
                    <a:pt x="80935" y="774278"/>
                    <a:pt x="0" y="693343"/>
                    <a:pt x="0" y="593504"/>
                  </a:cubicBezTo>
                  <a:lnTo>
                    <a:pt x="0" y="180774"/>
                  </a:lnTo>
                  <a:cubicBezTo>
                    <a:pt x="0" y="80935"/>
                    <a:pt x="80935" y="0"/>
                    <a:pt x="180774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75249" cy="8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82951" y="2070970"/>
            <a:ext cx="13469583" cy="7324086"/>
          </a:xfrm>
          <a:custGeom>
            <a:avLst/>
            <a:gdLst/>
            <a:ahLst/>
            <a:cxnLst/>
            <a:rect l="l" t="t" r="r" b="b"/>
            <a:pathLst>
              <a:path w="13469583" h="7324086">
                <a:moveTo>
                  <a:pt x="0" y="0"/>
                </a:moveTo>
                <a:lnTo>
                  <a:pt x="13469583" y="0"/>
                </a:lnTo>
                <a:lnTo>
                  <a:pt x="13469583" y="7324086"/>
                </a:lnTo>
                <a:lnTo>
                  <a:pt x="0" y="7324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9" name="Group 19"/>
          <p:cNvGrpSpPr/>
          <p:nvPr/>
        </p:nvGrpSpPr>
        <p:grpSpPr>
          <a:xfrm>
            <a:off x="2718719" y="3227500"/>
            <a:ext cx="1467039" cy="2939837"/>
            <a:chOff x="0" y="0"/>
            <a:chExt cx="718690" cy="14400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8690" cy="1440004"/>
            </a:xfrm>
            <a:custGeom>
              <a:avLst/>
              <a:gdLst/>
              <a:ahLst/>
              <a:cxnLst/>
              <a:rect l="l" t="t" r="r" b="b"/>
              <a:pathLst>
                <a:path w="718690" h="1440004">
                  <a:moveTo>
                    <a:pt x="718690" y="79159"/>
                  </a:moveTo>
                  <a:lnTo>
                    <a:pt x="718690" y="1360845"/>
                  </a:lnTo>
                  <a:cubicBezTo>
                    <a:pt x="718690" y="1404563"/>
                    <a:pt x="683249" y="1440004"/>
                    <a:pt x="639531" y="1440004"/>
                  </a:cubicBezTo>
                  <a:lnTo>
                    <a:pt x="79159" y="1440004"/>
                  </a:lnTo>
                  <a:cubicBezTo>
                    <a:pt x="35441" y="1440004"/>
                    <a:pt x="0" y="1404563"/>
                    <a:pt x="0" y="1360845"/>
                  </a:cubicBezTo>
                  <a:lnTo>
                    <a:pt x="0" y="79159"/>
                  </a:lnTo>
                  <a:cubicBezTo>
                    <a:pt x="0" y="35441"/>
                    <a:pt x="35441" y="0"/>
                    <a:pt x="79159" y="0"/>
                  </a:cubicBezTo>
                  <a:lnTo>
                    <a:pt x="639531" y="0"/>
                  </a:lnTo>
                  <a:cubicBezTo>
                    <a:pt x="683249" y="0"/>
                    <a:pt x="718690" y="35441"/>
                    <a:pt x="718690" y="79159"/>
                  </a:cubicBezTo>
                  <a:close/>
                </a:path>
              </a:pathLst>
            </a:custGeom>
            <a:ln w="76200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18690" cy="148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623623" y="4263094"/>
            <a:ext cx="1467039" cy="2939837"/>
            <a:chOff x="0" y="0"/>
            <a:chExt cx="718690" cy="14400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8690" cy="1440004"/>
            </a:xfrm>
            <a:custGeom>
              <a:avLst/>
              <a:gdLst/>
              <a:ahLst/>
              <a:cxnLst/>
              <a:rect l="l" t="t" r="r" b="b"/>
              <a:pathLst>
                <a:path w="718690" h="1440004">
                  <a:moveTo>
                    <a:pt x="718690" y="79159"/>
                  </a:moveTo>
                  <a:lnTo>
                    <a:pt x="718690" y="1360845"/>
                  </a:lnTo>
                  <a:cubicBezTo>
                    <a:pt x="718690" y="1404563"/>
                    <a:pt x="683249" y="1440004"/>
                    <a:pt x="639531" y="1440004"/>
                  </a:cubicBezTo>
                  <a:lnTo>
                    <a:pt x="79159" y="1440004"/>
                  </a:lnTo>
                  <a:cubicBezTo>
                    <a:pt x="35441" y="1440004"/>
                    <a:pt x="0" y="1404563"/>
                    <a:pt x="0" y="1360845"/>
                  </a:cubicBezTo>
                  <a:lnTo>
                    <a:pt x="0" y="79159"/>
                  </a:lnTo>
                  <a:cubicBezTo>
                    <a:pt x="0" y="35441"/>
                    <a:pt x="35441" y="0"/>
                    <a:pt x="79159" y="0"/>
                  </a:cubicBezTo>
                  <a:lnTo>
                    <a:pt x="639531" y="0"/>
                  </a:lnTo>
                  <a:cubicBezTo>
                    <a:pt x="683249" y="0"/>
                    <a:pt x="718690" y="35441"/>
                    <a:pt x="718690" y="79159"/>
                  </a:cubicBezTo>
                  <a:close/>
                </a:path>
              </a:pathLst>
            </a:custGeom>
            <a:ln w="76200" cap="sq">
              <a:solidFill>
                <a:srgbClr val="B3860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18690" cy="1487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737917" y="1890826"/>
            <a:ext cx="5361286" cy="1284288"/>
            <a:chOff x="0" y="0"/>
            <a:chExt cx="1412026" cy="33824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2026" cy="338249"/>
            </a:xfrm>
            <a:custGeom>
              <a:avLst/>
              <a:gdLst/>
              <a:ahLst/>
              <a:cxnLst/>
              <a:rect l="l" t="t" r="r" b="b"/>
              <a:pathLst>
                <a:path w="1412026" h="338249">
                  <a:moveTo>
                    <a:pt x="73646" y="0"/>
                  </a:moveTo>
                  <a:lnTo>
                    <a:pt x="1338380" y="0"/>
                  </a:lnTo>
                  <a:cubicBezTo>
                    <a:pt x="1379053" y="0"/>
                    <a:pt x="1412026" y="32972"/>
                    <a:pt x="1412026" y="73646"/>
                  </a:cubicBezTo>
                  <a:lnTo>
                    <a:pt x="1412026" y="264602"/>
                  </a:lnTo>
                  <a:cubicBezTo>
                    <a:pt x="1412026" y="305276"/>
                    <a:pt x="1379053" y="338249"/>
                    <a:pt x="1338380" y="338249"/>
                  </a:cubicBezTo>
                  <a:lnTo>
                    <a:pt x="73646" y="338249"/>
                  </a:lnTo>
                  <a:cubicBezTo>
                    <a:pt x="32972" y="338249"/>
                    <a:pt x="0" y="305276"/>
                    <a:pt x="0" y="264602"/>
                  </a:cubicBezTo>
                  <a:lnTo>
                    <a:pt x="0" y="73646"/>
                  </a:lnTo>
                  <a:cubicBezTo>
                    <a:pt x="0" y="32972"/>
                    <a:pt x="32972" y="0"/>
                    <a:pt x="73646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412026" cy="385874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Idiomas en anuncios:</a:t>
              </a:r>
            </a:p>
            <a:p>
              <a:pPr algn="l">
                <a:lnSpc>
                  <a:spcPts val="3080"/>
                </a:lnSpc>
              </a:pPr>
              <a:r>
                <a:rPr lang="en-US" sz="2200" b="1">
                  <a:solidFill>
                    <a:srgbClr val="000066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57% inglés, 38% español, 5% otros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985" y="183741"/>
            <a:ext cx="17948031" cy="9919518"/>
            <a:chOff x="0" y="0"/>
            <a:chExt cx="4727053" cy="2612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7053" cy="2612548"/>
            </a:xfrm>
            <a:custGeom>
              <a:avLst/>
              <a:gdLst/>
              <a:ahLst/>
              <a:cxnLst/>
              <a:rect l="l" t="t" r="r" b="b"/>
              <a:pathLst>
                <a:path w="4727053" h="2612548">
                  <a:moveTo>
                    <a:pt x="0" y="0"/>
                  </a:moveTo>
                  <a:lnTo>
                    <a:pt x="4727053" y="0"/>
                  </a:lnTo>
                  <a:lnTo>
                    <a:pt x="4727053" y="2612548"/>
                  </a:lnTo>
                  <a:lnTo>
                    <a:pt x="0" y="2612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27053" cy="2650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21291" y="750481"/>
            <a:ext cx="12154510" cy="82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9"/>
              </a:lnSpc>
              <a:spcBef>
                <a:spcPct val="0"/>
              </a:spcBef>
            </a:pPr>
            <a:r>
              <a:rPr lang="en-US" sz="3456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Relación entre </a:t>
            </a:r>
            <a:r>
              <a:rPr lang="en-US" sz="3456" b="1" u="none" strike="noStrik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Oferta y Ocupación Mensual (2020)</a:t>
            </a:r>
          </a:p>
          <a:p>
            <a:pPr algn="ctr">
              <a:lnSpc>
                <a:spcPts val="3051"/>
              </a:lnSpc>
              <a:spcBef>
                <a:spcPct val="0"/>
              </a:spcBef>
            </a:pPr>
            <a:endParaRPr lang="en-US" sz="3456" b="1" u="none" strike="noStrike">
              <a:solidFill>
                <a:srgbClr val="000066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-1934389" y="-747880"/>
            <a:ext cx="3868778" cy="3553160"/>
            <a:chOff x="0" y="0"/>
            <a:chExt cx="2679345" cy="24607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16542837" y="1273066"/>
            <a:ext cx="3868778" cy="3553160"/>
            <a:chOff x="0" y="0"/>
            <a:chExt cx="2679345" cy="24607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14438299" y="1576303"/>
            <a:ext cx="1545012" cy="1418968"/>
            <a:chOff x="0" y="0"/>
            <a:chExt cx="1070007" cy="982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0007" cy="982715"/>
            </a:xfrm>
            <a:custGeom>
              <a:avLst/>
              <a:gdLst/>
              <a:ahLst/>
              <a:cxnLst/>
              <a:rect l="l" t="t" r="r" b="b"/>
              <a:pathLst>
                <a:path w="1070007" h="982715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699999">
            <a:off x="1857238" y="1095743"/>
            <a:ext cx="1967492" cy="1806982"/>
            <a:chOff x="0" y="0"/>
            <a:chExt cx="1362598" cy="12514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2598" cy="1251436"/>
            </a:xfrm>
            <a:custGeom>
              <a:avLst/>
              <a:gdLst/>
              <a:ahLst/>
              <a:cxnLst/>
              <a:rect l="l" t="t" r="r" b="b"/>
              <a:pathLst>
                <a:path w="1362598" h="1251436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19298" y="3652752"/>
            <a:ext cx="14059300" cy="5853740"/>
          </a:xfrm>
          <a:custGeom>
            <a:avLst/>
            <a:gdLst/>
            <a:ahLst/>
            <a:cxnLst/>
            <a:rect l="l" t="t" r="r" b="b"/>
            <a:pathLst>
              <a:path w="14059300" h="5853740">
                <a:moveTo>
                  <a:pt x="0" y="0"/>
                </a:moveTo>
                <a:lnTo>
                  <a:pt x="14059299" y="0"/>
                </a:lnTo>
                <a:lnTo>
                  <a:pt x="14059299" y="5853739"/>
                </a:lnTo>
                <a:lnTo>
                  <a:pt x="0" y="585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37" b="-103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14578597" y="6172840"/>
            <a:ext cx="3145227" cy="4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29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52.4%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52281" y="5692748"/>
            <a:ext cx="4197860" cy="264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Ocupación Julio 2020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90140" y="7065396"/>
            <a:ext cx="4197860" cy="264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Alojamientos Julio 2020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8597" y="7549013"/>
            <a:ext cx="3145227" cy="4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29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124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5366" y="4431394"/>
            <a:ext cx="5315738" cy="2797012"/>
            <a:chOff x="0" y="0"/>
            <a:chExt cx="1400030" cy="7366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0030" cy="736661"/>
            </a:xfrm>
            <a:custGeom>
              <a:avLst/>
              <a:gdLst/>
              <a:ahLst/>
              <a:cxnLst/>
              <a:rect l="l" t="t" r="r" b="b"/>
              <a:pathLst>
                <a:path w="1400030" h="736661">
                  <a:moveTo>
                    <a:pt x="0" y="0"/>
                  </a:moveTo>
                  <a:lnTo>
                    <a:pt x="1400030" y="0"/>
                  </a:lnTo>
                  <a:lnTo>
                    <a:pt x="1400030" y="736661"/>
                  </a:lnTo>
                  <a:lnTo>
                    <a:pt x="0" y="736661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00030" cy="774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18452" y="762493"/>
            <a:ext cx="12118881" cy="44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  <a:spcBef>
                <a:spcPct val="0"/>
              </a:spcBef>
            </a:pPr>
            <a:r>
              <a:rPr lang="en-US" sz="355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Zoom Operativo - Ju</a:t>
            </a:r>
            <a:r>
              <a:rPr lang="en-US" sz="3559" b="1" u="none" strike="noStrik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lio 2020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17703" y="5394248"/>
            <a:ext cx="4653299" cy="275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535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61.2% </a:t>
            </a:r>
            <a:r>
              <a:rPr lang="en-US" sz="2535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de Ocupación.</a:t>
            </a:r>
          </a:p>
          <a:p>
            <a:pPr algn="l">
              <a:lnSpc>
                <a:spcPts val="2864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64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64"/>
              </a:lnSpc>
            </a:pPr>
            <a:r>
              <a:rPr lang="en-US" sz="2535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61 </a:t>
            </a:r>
            <a:r>
              <a:rPr lang="en-US" sz="2535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alojamientos activos.</a:t>
            </a:r>
          </a:p>
          <a:p>
            <a:pPr algn="l">
              <a:lnSpc>
                <a:spcPts val="2284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638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187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302"/>
              </a:lnSpc>
            </a:pPr>
            <a:endParaRPr lang="en-US" sz="2535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048621" y="5565930"/>
            <a:ext cx="4573535" cy="221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27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43.9% </a:t>
            </a:r>
            <a:r>
              <a:rPr lang="en-US" sz="22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 Ocupación.</a:t>
            </a:r>
          </a:p>
          <a:p>
            <a:pPr algn="l">
              <a:lnSpc>
                <a:spcPts val="2565"/>
              </a:lnSpc>
            </a:pPr>
            <a:endParaRPr lang="en-US" sz="22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565"/>
              </a:lnSpc>
            </a:pPr>
            <a:endParaRPr lang="en-US" sz="22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565"/>
              </a:lnSpc>
            </a:pPr>
            <a:r>
              <a:rPr lang="en-US" sz="227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63 </a:t>
            </a:r>
            <a:r>
              <a:rPr lang="en-US" sz="22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alojamientos activos.</a:t>
            </a:r>
          </a:p>
          <a:p>
            <a:pPr algn="l">
              <a:lnSpc>
                <a:spcPts val="2565"/>
              </a:lnSpc>
            </a:pPr>
            <a:endParaRPr lang="en-US" sz="22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339"/>
              </a:lnSpc>
            </a:pPr>
            <a:endParaRPr lang="en-US" sz="22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339"/>
              </a:lnSpc>
            </a:pPr>
            <a:endParaRPr lang="en-US" sz="227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24936" y="4580192"/>
            <a:ext cx="4843794" cy="45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2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⭐ Madrid: El Líder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45070" y="4451400"/>
            <a:ext cx="4040751" cy="88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308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⚖️Barcelona: Rendimiento Medio</a:t>
            </a:r>
          </a:p>
        </p:txBody>
      </p:sp>
      <p:grpSp>
        <p:nvGrpSpPr>
          <p:cNvPr id="13" name="Group 13"/>
          <p:cNvGrpSpPr/>
          <p:nvPr/>
        </p:nvGrpSpPr>
        <p:grpSpPr>
          <a:xfrm rot="-2699999">
            <a:off x="-1934389" y="-747880"/>
            <a:ext cx="3868778" cy="3553160"/>
            <a:chOff x="0" y="0"/>
            <a:chExt cx="2679345" cy="24607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699999">
            <a:off x="16542837" y="1273066"/>
            <a:ext cx="3868778" cy="3553160"/>
            <a:chOff x="0" y="0"/>
            <a:chExt cx="2679345" cy="24607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699999">
            <a:off x="15004062" y="1282712"/>
            <a:ext cx="1545012" cy="1418968"/>
            <a:chOff x="0" y="0"/>
            <a:chExt cx="1070007" cy="9827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0007" cy="982715"/>
            </a:xfrm>
            <a:custGeom>
              <a:avLst/>
              <a:gdLst/>
              <a:ahLst/>
              <a:cxnLst/>
              <a:rect l="l" t="t" r="r" b="b"/>
              <a:pathLst>
                <a:path w="1070007" h="982715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699999">
            <a:off x="2168435" y="1098230"/>
            <a:ext cx="1967492" cy="1806982"/>
            <a:chOff x="0" y="0"/>
            <a:chExt cx="1362598" cy="12514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2598" cy="1251436"/>
            </a:xfrm>
            <a:custGeom>
              <a:avLst/>
              <a:gdLst/>
              <a:ahLst/>
              <a:cxnLst/>
              <a:rect l="l" t="t" r="r" b="b"/>
              <a:pathLst>
                <a:path w="1362598" h="1251436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88797" y="10044908"/>
            <a:ext cx="17910406" cy="23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28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🏙️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06746" y="4381056"/>
            <a:ext cx="4843794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🚫🏖️Costa: Presencia Nula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7240" y="5358961"/>
            <a:ext cx="4482301" cy="369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442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0% </a:t>
            </a:r>
            <a:r>
              <a:rPr lang="en-US" sz="244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de Ocupación.</a:t>
            </a:r>
          </a:p>
          <a:p>
            <a:pPr algn="l">
              <a:lnSpc>
                <a:spcPts val="2759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759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759"/>
              </a:lnSpc>
            </a:pPr>
            <a:r>
              <a:rPr lang="en-US" sz="2442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 0 </a:t>
            </a:r>
            <a:r>
              <a:rPr lang="en-US" sz="244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alojamientos activos.</a:t>
            </a:r>
          </a:p>
          <a:p>
            <a:pPr algn="l">
              <a:lnSpc>
                <a:spcPts val="2759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759"/>
              </a:lnSpc>
            </a:pPr>
            <a:r>
              <a:rPr lang="en-US" sz="244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 Valencia, Málaga, Baleares y Sevilla.</a:t>
            </a:r>
          </a:p>
          <a:p>
            <a:pPr algn="l">
              <a:lnSpc>
                <a:spcPts val="2200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504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107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218"/>
              </a:lnSpc>
            </a:pPr>
            <a:endParaRPr lang="en-US" sz="244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8" name="Group 28"/>
          <p:cNvGrpSpPr/>
          <p:nvPr/>
        </p:nvGrpSpPr>
        <p:grpSpPr>
          <a:xfrm rot="-2699999">
            <a:off x="16542837" y="7481720"/>
            <a:ext cx="3868778" cy="3553160"/>
            <a:chOff x="0" y="0"/>
            <a:chExt cx="2679345" cy="24607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2699999">
            <a:off x="-811608" y="7800583"/>
            <a:ext cx="3868778" cy="3553160"/>
            <a:chOff x="0" y="0"/>
            <a:chExt cx="2679345" cy="246076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-2699999">
            <a:off x="3160607" y="7384099"/>
            <a:ext cx="1967492" cy="1806982"/>
            <a:chOff x="0" y="0"/>
            <a:chExt cx="1362598" cy="12514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62598" cy="1251436"/>
            </a:xfrm>
            <a:custGeom>
              <a:avLst/>
              <a:gdLst/>
              <a:ahLst/>
              <a:cxnLst/>
              <a:rect l="l" t="t" r="r" b="b"/>
              <a:pathLst>
                <a:path w="1362598" h="1251436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2699999">
            <a:off x="14390911" y="8114413"/>
            <a:ext cx="1545012" cy="1418968"/>
            <a:chOff x="0" y="0"/>
            <a:chExt cx="1070007" cy="98271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70007" cy="982715"/>
            </a:xfrm>
            <a:custGeom>
              <a:avLst/>
              <a:gdLst/>
              <a:ahLst/>
              <a:cxnLst/>
              <a:rect l="l" t="t" r="r" b="b"/>
              <a:pathLst>
                <a:path w="1070007" h="982715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1035" cy="4198127"/>
            </a:xfrm>
            <a:custGeom>
              <a:avLst/>
              <a:gdLst/>
              <a:ahLst/>
              <a:cxnLst/>
              <a:rect l="l" t="t" r="r" b="b"/>
              <a:pathLst>
                <a:path w="4571035" h="4198127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33837" cy="2602650"/>
            </a:xfrm>
            <a:custGeom>
              <a:avLst/>
              <a:gdLst/>
              <a:ahLst/>
              <a:cxnLst/>
              <a:rect l="l" t="t" r="r" b="b"/>
              <a:pathLst>
                <a:path w="2833837" h="2602650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2762" cy="1683244"/>
            </a:xfrm>
            <a:custGeom>
              <a:avLst/>
              <a:gdLst/>
              <a:ahLst/>
              <a:cxnLst/>
              <a:rect l="l" t="t" r="r" b="b"/>
              <a:pathLst>
                <a:path w="1832762" h="1683244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07068" y="2019294"/>
            <a:ext cx="1036932" cy="876142"/>
            <a:chOff x="0" y="0"/>
            <a:chExt cx="273101" cy="2307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3101" cy="230754"/>
            </a:xfrm>
            <a:custGeom>
              <a:avLst/>
              <a:gdLst/>
              <a:ahLst/>
              <a:cxnLst/>
              <a:rect l="l" t="t" r="r" b="b"/>
              <a:pathLst>
                <a:path w="273101" h="230754">
                  <a:moveTo>
                    <a:pt x="0" y="0"/>
                  </a:moveTo>
                  <a:lnTo>
                    <a:pt x="273101" y="0"/>
                  </a:lnTo>
                  <a:lnTo>
                    <a:pt x="273101" y="230754"/>
                  </a:lnTo>
                  <a:lnTo>
                    <a:pt x="0" y="230754"/>
                  </a:lnTo>
                  <a:close/>
                </a:path>
              </a:pathLst>
            </a:custGeom>
            <a:ln w="38100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3101" cy="278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8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63467" y="875284"/>
            <a:ext cx="17288975" cy="8536431"/>
          </a:xfrm>
          <a:custGeom>
            <a:avLst/>
            <a:gdLst/>
            <a:ahLst/>
            <a:cxnLst/>
            <a:rect l="l" t="t" r="r" b="b"/>
            <a:pathLst>
              <a:path w="17288975" h="8536431">
                <a:moveTo>
                  <a:pt x="0" y="0"/>
                </a:moveTo>
                <a:lnTo>
                  <a:pt x="17288975" y="0"/>
                </a:lnTo>
                <a:lnTo>
                  <a:pt x="17288975" y="8536432"/>
                </a:lnTo>
                <a:lnTo>
                  <a:pt x="0" y="8536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8" name="Group 18"/>
          <p:cNvGrpSpPr/>
          <p:nvPr/>
        </p:nvGrpSpPr>
        <p:grpSpPr>
          <a:xfrm>
            <a:off x="9507997" y="2019294"/>
            <a:ext cx="1194199" cy="2404441"/>
            <a:chOff x="0" y="0"/>
            <a:chExt cx="812800" cy="16365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1636519"/>
            </a:xfrm>
            <a:custGeom>
              <a:avLst/>
              <a:gdLst/>
              <a:ahLst/>
              <a:cxnLst/>
              <a:rect l="l" t="t" r="r" b="b"/>
              <a:pathLst>
                <a:path w="812800" h="1636519">
                  <a:moveTo>
                    <a:pt x="406400" y="0"/>
                  </a:moveTo>
                  <a:cubicBezTo>
                    <a:pt x="181951" y="0"/>
                    <a:pt x="0" y="366347"/>
                    <a:pt x="0" y="818259"/>
                  </a:cubicBezTo>
                  <a:cubicBezTo>
                    <a:pt x="0" y="1270172"/>
                    <a:pt x="181951" y="1636519"/>
                    <a:pt x="406400" y="1636519"/>
                  </a:cubicBezTo>
                  <a:cubicBezTo>
                    <a:pt x="630849" y="1636519"/>
                    <a:pt x="812800" y="1270172"/>
                    <a:pt x="812800" y="818259"/>
                  </a:cubicBezTo>
                  <a:cubicBezTo>
                    <a:pt x="812800" y="366347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B3002A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05799"/>
              <a:ext cx="660400" cy="137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8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1035" cy="4198127"/>
            </a:xfrm>
            <a:custGeom>
              <a:avLst/>
              <a:gdLst/>
              <a:ahLst/>
              <a:cxnLst/>
              <a:rect l="l" t="t" r="r" b="b"/>
              <a:pathLst>
                <a:path w="4571035" h="4198127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33837" cy="2602650"/>
            </a:xfrm>
            <a:custGeom>
              <a:avLst/>
              <a:gdLst/>
              <a:ahLst/>
              <a:cxnLst/>
              <a:rect l="l" t="t" r="r" b="b"/>
              <a:pathLst>
                <a:path w="2833837" h="2602650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32762" cy="1683244"/>
            </a:xfrm>
            <a:custGeom>
              <a:avLst/>
              <a:gdLst/>
              <a:ahLst/>
              <a:cxnLst/>
              <a:rect l="l" t="t" r="r" b="b"/>
              <a:pathLst>
                <a:path w="1832762" h="1683244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06381" y="3566966"/>
            <a:ext cx="675237" cy="2918679"/>
            <a:chOff x="0" y="0"/>
            <a:chExt cx="177840" cy="7687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7840" cy="768706"/>
            </a:xfrm>
            <a:custGeom>
              <a:avLst/>
              <a:gdLst/>
              <a:ahLst/>
              <a:cxnLst/>
              <a:rect l="l" t="t" r="r" b="b"/>
              <a:pathLst>
                <a:path w="177840" h="768706">
                  <a:moveTo>
                    <a:pt x="0" y="0"/>
                  </a:moveTo>
                  <a:lnTo>
                    <a:pt x="177840" y="0"/>
                  </a:lnTo>
                  <a:lnTo>
                    <a:pt x="177840" y="768706"/>
                  </a:lnTo>
                  <a:lnTo>
                    <a:pt x="0" y="76870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77840" cy="81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50868" y="862502"/>
            <a:ext cx="17601574" cy="8641177"/>
            <a:chOff x="0" y="0"/>
            <a:chExt cx="23468765" cy="11521569"/>
          </a:xfrm>
        </p:grpSpPr>
        <p:sp>
          <p:nvSpPr>
            <p:cNvPr id="18" name="Freeform 18"/>
            <p:cNvSpPr/>
            <p:nvPr/>
          </p:nvSpPr>
          <p:spPr>
            <a:xfrm>
              <a:off x="192867" y="0"/>
              <a:ext cx="23275898" cy="11521569"/>
            </a:xfrm>
            <a:custGeom>
              <a:avLst/>
              <a:gdLst/>
              <a:ahLst/>
              <a:cxnLst/>
              <a:rect l="l" t="t" r="r" b="b"/>
              <a:pathLst>
                <a:path w="23275898" h="11521569">
                  <a:moveTo>
                    <a:pt x="0" y="0"/>
                  </a:moveTo>
                  <a:lnTo>
                    <a:pt x="23275898" y="0"/>
                  </a:lnTo>
                  <a:lnTo>
                    <a:pt x="23275898" y="11521569"/>
                  </a:lnTo>
                  <a:lnTo>
                    <a:pt x="0" y="11521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0" y="3835842"/>
              <a:ext cx="903776" cy="4690826"/>
              <a:chOff x="0" y="0"/>
              <a:chExt cx="178524" cy="92658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8524" cy="926583"/>
              </a:xfrm>
              <a:custGeom>
                <a:avLst/>
                <a:gdLst/>
                <a:ahLst/>
                <a:cxnLst/>
                <a:rect l="l" t="t" r="r" b="b"/>
                <a:pathLst>
                  <a:path w="178524" h="926583">
                    <a:moveTo>
                      <a:pt x="0" y="0"/>
                    </a:moveTo>
                    <a:lnTo>
                      <a:pt x="178524" y="0"/>
                    </a:lnTo>
                    <a:lnTo>
                      <a:pt x="178524" y="926583"/>
                    </a:lnTo>
                    <a:lnTo>
                      <a:pt x="0" y="9265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78524" cy="9742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8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8669850" y="2967525"/>
            <a:ext cx="677832" cy="3518119"/>
            <a:chOff x="0" y="0"/>
            <a:chExt cx="178524" cy="9265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8524" cy="926583"/>
            </a:xfrm>
            <a:custGeom>
              <a:avLst/>
              <a:gdLst/>
              <a:ahLst/>
              <a:cxnLst/>
              <a:rect l="l" t="t" r="r" b="b"/>
              <a:pathLst>
                <a:path w="178524" h="926583">
                  <a:moveTo>
                    <a:pt x="0" y="0"/>
                  </a:moveTo>
                  <a:lnTo>
                    <a:pt x="178524" y="0"/>
                  </a:lnTo>
                  <a:lnTo>
                    <a:pt x="178524" y="926583"/>
                  </a:lnTo>
                  <a:lnTo>
                    <a:pt x="0" y="9265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8524" cy="974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8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82951" y="766470"/>
            <a:ext cx="16230600" cy="159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3599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Media de Pernoctaciones por Provincia (2021–2022)</a:t>
            </a:r>
          </a:p>
          <a:p>
            <a:pPr algn="ctr">
              <a:lnSpc>
                <a:spcPts val="3383"/>
              </a:lnSpc>
            </a:pPr>
            <a:endParaRPr lang="en-US" sz="3599" b="1">
              <a:solidFill>
                <a:srgbClr val="000066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537"/>
              </a:lnSpc>
            </a:pPr>
            <a:r>
              <a:rPr lang="en-US" sz="2699" i="1">
                <a:solidFill>
                  <a:srgbClr val="BB0060"/>
                </a:solidFill>
                <a:latin typeface="Garet Italics"/>
                <a:ea typeface="Garet Italics"/>
                <a:cs typeface="Garet Italics"/>
                <a:sym typeface="Garet Italics"/>
              </a:rPr>
              <a:t>Tamaño = media 2022 | Color = variación %</a:t>
            </a:r>
          </a:p>
          <a:p>
            <a:pPr marL="0" lvl="0" indent="0" algn="ctr">
              <a:lnSpc>
                <a:spcPts val="3195"/>
              </a:lnSpc>
              <a:spcBef>
                <a:spcPct val="0"/>
              </a:spcBef>
            </a:pPr>
            <a:endParaRPr lang="en-US" sz="2699" i="1">
              <a:solidFill>
                <a:srgbClr val="BB006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6940536" y="7527576"/>
            <a:ext cx="4066725" cy="3734959"/>
            <a:chOff x="0" y="0"/>
            <a:chExt cx="2816434" cy="2586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-2247181" y="-838779"/>
            <a:ext cx="4066725" cy="3734959"/>
            <a:chOff x="0" y="0"/>
            <a:chExt cx="2816434" cy="25866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16434" cy="2586668"/>
            </a:xfrm>
            <a:custGeom>
              <a:avLst/>
              <a:gdLst/>
              <a:ahLst/>
              <a:cxnLst/>
              <a:rect l="l" t="t" r="r" b="b"/>
              <a:pathLst>
                <a:path w="2816434" h="2586668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2127443" y="-1169447"/>
            <a:ext cx="1932482" cy="1774829"/>
            <a:chOff x="0" y="0"/>
            <a:chExt cx="1338352" cy="12291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8352" cy="1229168"/>
            </a:xfrm>
            <a:custGeom>
              <a:avLst/>
              <a:gdLst/>
              <a:ahLst/>
              <a:cxnLst/>
              <a:rect l="l" t="t" r="r" b="b"/>
              <a:pathLst>
                <a:path w="1338352" h="1229168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" y="1312698"/>
            <a:ext cx="12171383" cy="9244975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1758903" y="4749475"/>
            <a:ext cx="5138235" cy="1807174"/>
            <a:chOff x="0" y="0"/>
            <a:chExt cx="6850980" cy="240956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850980" cy="2409565"/>
              <a:chOff x="0" y="0"/>
              <a:chExt cx="1353280" cy="4759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53280" cy="475964"/>
              </a:xfrm>
              <a:custGeom>
                <a:avLst/>
                <a:gdLst/>
                <a:ahLst/>
                <a:cxnLst/>
                <a:rect l="l" t="t" r="r" b="b"/>
                <a:pathLst>
                  <a:path w="1353280" h="475964">
                    <a:moveTo>
                      <a:pt x="76843" y="0"/>
                    </a:moveTo>
                    <a:lnTo>
                      <a:pt x="1276437" y="0"/>
                    </a:lnTo>
                    <a:cubicBezTo>
                      <a:pt x="1318876" y="0"/>
                      <a:pt x="1353280" y="34404"/>
                      <a:pt x="1353280" y="76843"/>
                    </a:cubicBezTo>
                    <a:lnTo>
                      <a:pt x="1353280" y="399120"/>
                    </a:lnTo>
                    <a:cubicBezTo>
                      <a:pt x="1353280" y="441560"/>
                      <a:pt x="1318876" y="475964"/>
                      <a:pt x="1276437" y="475964"/>
                    </a:cubicBezTo>
                    <a:lnTo>
                      <a:pt x="76843" y="475964"/>
                    </a:lnTo>
                    <a:cubicBezTo>
                      <a:pt x="34404" y="475964"/>
                      <a:pt x="0" y="441560"/>
                      <a:pt x="0" y="399120"/>
                    </a:cubicBezTo>
                    <a:lnTo>
                      <a:pt x="0" y="76843"/>
                    </a:lnTo>
                    <a:cubicBezTo>
                      <a:pt x="0" y="34404"/>
                      <a:pt x="34404" y="0"/>
                      <a:pt x="76843" y="0"/>
                    </a:cubicBezTo>
                    <a:close/>
                  </a:path>
                </a:pathLst>
              </a:custGeom>
              <a:solidFill>
                <a:srgbClr val="D9E6F2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353280" cy="5235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2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30326" y="276885"/>
              <a:ext cx="6590328" cy="1798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6570" lvl="1" indent="-278285" algn="l">
                <a:lnSpc>
                  <a:spcPts val="3609"/>
                </a:lnSpc>
                <a:buFont typeface="Arial"/>
                <a:buChar char="•"/>
              </a:pPr>
              <a:r>
                <a:rPr lang="en-US" sz="2577">
                  <a:solidFill>
                    <a:srgbClr val="000066"/>
                  </a:solidFill>
                  <a:latin typeface="Garet"/>
                  <a:ea typeface="Garet"/>
                  <a:cs typeface="Garet"/>
                  <a:sym typeface="Garet"/>
                </a:rPr>
                <a:t>Estrategia Diferenciada</a:t>
              </a:r>
            </a:p>
            <a:p>
              <a:pPr algn="l">
                <a:lnSpc>
                  <a:spcPts val="3609"/>
                </a:lnSpc>
              </a:pPr>
              <a:r>
                <a:rPr lang="en-US" sz="2577">
                  <a:solidFill>
                    <a:srgbClr val="000066"/>
                  </a:solidFill>
                  <a:latin typeface="Garet"/>
                  <a:ea typeface="Garet"/>
                  <a:cs typeface="Garet"/>
                  <a:sym typeface="Garet"/>
                </a:rPr>
                <a:t>                </a:t>
              </a:r>
              <a:r>
                <a:rPr lang="en-US" sz="2577">
                  <a:solidFill>
                    <a:srgbClr val="BB0060"/>
                  </a:solidFill>
                  <a:latin typeface="Garet"/>
                  <a:ea typeface="Garet"/>
                  <a:cs typeface="Garet"/>
                  <a:sym typeface="Garet"/>
                </a:rPr>
                <a:t> Málaga - Madrid</a:t>
              </a:r>
            </a:p>
            <a:p>
              <a:pPr algn="l">
                <a:lnSpc>
                  <a:spcPts val="3609"/>
                </a:lnSpc>
              </a:pPr>
              <a:r>
                <a:rPr lang="en-US" sz="2577">
                  <a:solidFill>
                    <a:srgbClr val="000066"/>
                  </a:solidFill>
                  <a:latin typeface="Garet"/>
                  <a:ea typeface="Garet"/>
                  <a:cs typeface="Garet"/>
                  <a:sym typeface="Garet"/>
                </a:rPr>
                <a:t>                      23% - 1%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517462" y="7063104"/>
            <a:ext cx="5621117" cy="1650727"/>
            <a:chOff x="0" y="0"/>
            <a:chExt cx="1480459" cy="4347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0459" cy="434759"/>
            </a:xfrm>
            <a:custGeom>
              <a:avLst/>
              <a:gdLst/>
              <a:ahLst/>
              <a:cxnLst/>
              <a:rect l="l" t="t" r="r" b="b"/>
              <a:pathLst>
                <a:path w="1480459" h="434759">
                  <a:moveTo>
                    <a:pt x="70242" y="0"/>
                  </a:moveTo>
                  <a:lnTo>
                    <a:pt x="1410217" y="0"/>
                  </a:lnTo>
                  <a:cubicBezTo>
                    <a:pt x="1428846" y="0"/>
                    <a:pt x="1446713" y="7400"/>
                    <a:pt x="1459886" y="20573"/>
                  </a:cubicBezTo>
                  <a:cubicBezTo>
                    <a:pt x="1473058" y="33746"/>
                    <a:pt x="1480459" y="51613"/>
                    <a:pt x="1480459" y="70242"/>
                  </a:cubicBezTo>
                  <a:lnTo>
                    <a:pt x="1480459" y="364518"/>
                  </a:lnTo>
                  <a:cubicBezTo>
                    <a:pt x="1480459" y="383147"/>
                    <a:pt x="1473058" y="401013"/>
                    <a:pt x="1459886" y="414186"/>
                  </a:cubicBezTo>
                  <a:cubicBezTo>
                    <a:pt x="1446713" y="427359"/>
                    <a:pt x="1428846" y="434759"/>
                    <a:pt x="1410217" y="434759"/>
                  </a:cubicBezTo>
                  <a:lnTo>
                    <a:pt x="70242" y="434759"/>
                  </a:lnTo>
                  <a:cubicBezTo>
                    <a:pt x="31448" y="434759"/>
                    <a:pt x="0" y="403311"/>
                    <a:pt x="0" y="364518"/>
                  </a:cubicBezTo>
                  <a:lnTo>
                    <a:pt x="0" y="70242"/>
                  </a:lnTo>
                  <a:cubicBezTo>
                    <a:pt x="0" y="51613"/>
                    <a:pt x="7400" y="33746"/>
                    <a:pt x="20573" y="20573"/>
                  </a:cubicBezTo>
                  <a:cubicBezTo>
                    <a:pt x="33746" y="7400"/>
                    <a:pt x="51613" y="0"/>
                    <a:pt x="70242" y="0"/>
                  </a:cubicBezTo>
                  <a:close/>
                </a:path>
              </a:pathLst>
            </a:custGeom>
            <a:solidFill>
              <a:srgbClr val="D9E6F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80459" cy="482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646043" y="7282692"/>
            <a:ext cx="5363955" cy="169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1789" lvl="1" indent="-265895" algn="l">
              <a:lnSpc>
                <a:spcPts val="3448"/>
              </a:lnSpc>
              <a:buFont typeface="Arial"/>
              <a:buChar char="•"/>
            </a:pPr>
            <a:r>
              <a:rPr lang="en-US" sz="246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Destinos con Mayor Potencial</a:t>
            </a:r>
          </a:p>
          <a:p>
            <a:pPr algn="ctr">
              <a:lnSpc>
                <a:spcPts val="3448"/>
              </a:lnSpc>
            </a:pPr>
            <a:r>
              <a:rPr lang="en-US" sz="2463">
                <a:solidFill>
                  <a:srgbClr val="BB0060"/>
                </a:solidFill>
                <a:latin typeface="Garet"/>
                <a:ea typeface="Garet"/>
                <a:cs typeface="Garet"/>
                <a:sym typeface="Garet"/>
              </a:rPr>
              <a:t>Málaga - Girona</a:t>
            </a:r>
          </a:p>
          <a:p>
            <a:pPr algn="ctr">
              <a:lnSpc>
                <a:spcPts val="3448"/>
              </a:lnSpc>
            </a:pPr>
            <a:r>
              <a:rPr lang="en-US" sz="246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23% - 19%</a:t>
            </a:r>
          </a:p>
          <a:p>
            <a:pPr algn="ctr">
              <a:lnSpc>
                <a:spcPts val="3448"/>
              </a:lnSpc>
            </a:pPr>
            <a:endParaRPr lang="en-US" sz="2463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2115268" y="2787039"/>
            <a:ext cx="5310336" cy="1530084"/>
            <a:chOff x="0" y="0"/>
            <a:chExt cx="7080447" cy="2040113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5892315" cy="1835662"/>
              <a:chOff x="0" y="0"/>
              <a:chExt cx="1163914" cy="362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63914" cy="362600"/>
              </a:xfrm>
              <a:custGeom>
                <a:avLst/>
                <a:gdLst/>
                <a:ahLst/>
                <a:cxnLst/>
                <a:rect l="l" t="t" r="r" b="b"/>
                <a:pathLst>
                  <a:path w="1163914" h="362600">
                    <a:moveTo>
                      <a:pt x="89345" y="0"/>
                    </a:moveTo>
                    <a:lnTo>
                      <a:pt x="1074569" y="0"/>
                    </a:lnTo>
                    <a:cubicBezTo>
                      <a:pt x="1098265" y="0"/>
                      <a:pt x="1120990" y="9413"/>
                      <a:pt x="1137745" y="26169"/>
                    </a:cubicBezTo>
                    <a:cubicBezTo>
                      <a:pt x="1154501" y="42924"/>
                      <a:pt x="1163914" y="65649"/>
                      <a:pt x="1163914" y="89345"/>
                    </a:cubicBezTo>
                    <a:lnTo>
                      <a:pt x="1163914" y="273255"/>
                    </a:lnTo>
                    <a:cubicBezTo>
                      <a:pt x="1163914" y="296950"/>
                      <a:pt x="1154501" y="319676"/>
                      <a:pt x="1137745" y="336431"/>
                    </a:cubicBezTo>
                    <a:cubicBezTo>
                      <a:pt x="1120990" y="353187"/>
                      <a:pt x="1098265" y="362600"/>
                      <a:pt x="1074569" y="362600"/>
                    </a:cubicBezTo>
                    <a:lnTo>
                      <a:pt x="89345" y="362600"/>
                    </a:lnTo>
                    <a:cubicBezTo>
                      <a:pt x="65649" y="362600"/>
                      <a:pt x="42924" y="353187"/>
                      <a:pt x="26169" y="336431"/>
                    </a:cubicBezTo>
                    <a:cubicBezTo>
                      <a:pt x="9413" y="319676"/>
                      <a:pt x="0" y="296950"/>
                      <a:pt x="0" y="273255"/>
                    </a:cubicBezTo>
                    <a:lnTo>
                      <a:pt x="0" y="89345"/>
                    </a:lnTo>
                    <a:cubicBezTo>
                      <a:pt x="0" y="65649"/>
                      <a:pt x="9413" y="42924"/>
                      <a:pt x="26169" y="26169"/>
                    </a:cubicBezTo>
                    <a:cubicBezTo>
                      <a:pt x="42924" y="9413"/>
                      <a:pt x="65649" y="0"/>
                      <a:pt x="89345" y="0"/>
                    </a:cubicBezTo>
                    <a:close/>
                  </a:path>
                </a:pathLst>
              </a:custGeom>
              <a:solidFill>
                <a:srgbClr val="D9E6F2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163914" cy="410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92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2219" y="406358"/>
              <a:ext cx="7068228" cy="16337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4755" lvl="1" indent="-257377" algn="l">
                <a:lnSpc>
                  <a:spcPts val="3337"/>
                </a:lnSpc>
                <a:buFont typeface="Arial"/>
                <a:buChar char="•"/>
              </a:pPr>
              <a:r>
                <a:rPr lang="en-US" sz="2384">
                  <a:solidFill>
                    <a:srgbClr val="000066"/>
                  </a:solidFill>
                  <a:latin typeface="Garet"/>
                  <a:ea typeface="Garet"/>
                  <a:cs typeface="Garet"/>
                  <a:sym typeface="Garet"/>
                </a:rPr>
                <a:t>Mayor y Menor Estancia </a:t>
              </a:r>
            </a:p>
            <a:p>
              <a:pPr algn="l">
                <a:lnSpc>
                  <a:spcPts val="3337"/>
                </a:lnSpc>
              </a:pPr>
              <a:r>
                <a:rPr lang="en-US" sz="2384">
                  <a:solidFill>
                    <a:srgbClr val="000066"/>
                  </a:solidFill>
                  <a:latin typeface="Garet"/>
                  <a:ea typeface="Garet"/>
                  <a:cs typeface="Garet"/>
                  <a:sym typeface="Garet"/>
                </a:rPr>
                <a:t>        </a:t>
              </a:r>
              <a:r>
                <a:rPr lang="en-US" sz="2384">
                  <a:solidFill>
                    <a:srgbClr val="BB0060"/>
                  </a:solidFill>
                  <a:latin typeface="Garet"/>
                  <a:ea typeface="Garet"/>
                  <a:cs typeface="Garet"/>
                  <a:sym typeface="Garet"/>
                </a:rPr>
                <a:t>Islas Baleares - Madrid </a:t>
              </a:r>
            </a:p>
            <a:p>
              <a:pPr algn="l">
                <a:lnSpc>
                  <a:spcPts val="3337"/>
                </a:lnSpc>
              </a:pPr>
              <a:r>
                <a:rPr lang="en-US" sz="2384">
                  <a:solidFill>
                    <a:srgbClr val="BB0060"/>
                  </a:solidFill>
                  <a:latin typeface="Garet"/>
                  <a:ea typeface="Garet"/>
                  <a:cs typeface="Garet"/>
                  <a:sym typeface="Garet"/>
                </a:rPr>
                <a:t>                             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37954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17144" cy="2649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866577" y="4748194"/>
            <a:ext cx="669658" cy="858536"/>
          </a:xfrm>
          <a:custGeom>
            <a:avLst/>
            <a:gdLst/>
            <a:ahLst/>
            <a:cxnLst/>
            <a:rect l="l" t="t" r="r" b="b"/>
            <a:pathLst>
              <a:path w="669658" h="858536">
                <a:moveTo>
                  <a:pt x="0" y="0"/>
                </a:moveTo>
                <a:lnTo>
                  <a:pt x="669658" y="0"/>
                </a:lnTo>
                <a:lnTo>
                  <a:pt x="669658" y="858535"/>
                </a:lnTo>
                <a:lnTo>
                  <a:pt x="0" y="85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389269" y="4036512"/>
            <a:ext cx="5915315" cy="155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39"/>
              </a:lnSpc>
              <a:spcBef>
                <a:spcPct val="0"/>
              </a:spcBef>
            </a:pPr>
            <a:r>
              <a:rPr lang="en-US" sz="6318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Propuestas de Negocio</a:t>
            </a:r>
          </a:p>
        </p:txBody>
      </p:sp>
      <p:grpSp>
        <p:nvGrpSpPr>
          <p:cNvPr id="7" name="Group 7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9345" cy="2460762"/>
            </a:xfrm>
            <a:custGeom>
              <a:avLst/>
              <a:gdLst/>
              <a:ahLst/>
              <a:cxnLst/>
              <a:rect l="l" t="t" r="r" b="b"/>
              <a:pathLst>
                <a:path w="2679345" h="2460762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48861" cy="2340923"/>
            </a:xfrm>
            <a:custGeom>
              <a:avLst/>
              <a:gdLst/>
              <a:ahLst/>
              <a:cxnLst/>
              <a:rect l="l" t="t" r="r" b="b"/>
              <a:pathLst>
                <a:path w="2548861" h="2340923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35282" cy="1501875"/>
            </a:xfrm>
            <a:custGeom>
              <a:avLst/>
              <a:gdLst/>
              <a:ahLst/>
              <a:cxnLst/>
              <a:rect l="l" t="t" r="r" b="b"/>
              <a:pathLst>
                <a:path w="1635282" h="1501875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7543806" y="1863085"/>
          <a:ext cx="7315200" cy="7123481"/>
        </p:xfrm>
        <a:graphic>
          <a:graphicData uri="http://schemas.openxmlformats.org/drawingml/2006/table">
            <a:tbl>
              <a:tblPr/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6055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 ⏱️ Plan "Summer Ready" 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 i="1">
                          <a:solidFill>
                            <a:srgbClr val="000000"/>
                          </a:solidFill>
                          <a:latin typeface="Open Sans 1 Italics"/>
                          <a:ea typeface="Open Sans 1 Italics"/>
                          <a:cs typeface="Open Sans 1 Italics"/>
                          <a:sym typeface="Open Sans 1 Italics"/>
                        </a:rPr>
                        <a:t>Captación anticipada en Valencia, Málaga y Baleares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872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🌍 Segmentación Internacional 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i="1">
                          <a:solidFill>
                            <a:srgbClr val="000000"/>
                          </a:solidFill>
                          <a:latin typeface="Open Sans 1 Italics"/>
                          <a:ea typeface="Open Sans 1 Italics"/>
                          <a:cs typeface="Open Sans 1 Italics"/>
                          <a:sym typeface="Open Sans 1 Italics"/>
                        </a:rPr>
                        <a:t>Campañas personalizadas para Alemania, Francia y Reino Unido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835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🏨 Estrategia de Estancia Diferenciada 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i="1">
                          <a:solidFill>
                            <a:srgbClr val="000000"/>
                          </a:solidFill>
                          <a:latin typeface="Open Sans 1 Italics"/>
                          <a:ea typeface="Open Sans 1 Italics"/>
                          <a:cs typeface="Open Sans 1 Italics"/>
                          <a:sym typeface="Open Sans 1 Italics"/>
                        </a:rPr>
                        <a:t>City Breaks de corta estancia en Madrid vs. paquetes de larga estancia (7+ noches) en Baleares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3719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Open Sans 1 Bold"/>
                          <a:ea typeface="Open Sans 1 Bold"/>
                          <a:cs typeface="Open Sans 1 Bold"/>
                          <a:sym typeface="Open Sans 1 Bold"/>
                        </a:rPr>
                        <a:t> Expansión a Plazas Estratégicas 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 i="1">
                          <a:solidFill>
                            <a:srgbClr val="000000"/>
                          </a:solidFill>
                          <a:latin typeface="Open Sans 1 Italics"/>
                          <a:ea typeface="Open Sans 1 Italics"/>
                          <a:cs typeface="Open Sans 1 Italics"/>
                          <a:sym typeface="Open Sans 1 Italics"/>
                        </a:rPr>
                        <a:t>Apertura inmediata en mercados inexistentes: Alicante, Ibiza, Tenerife y Las Palmas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797" y="203992"/>
            <a:ext cx="17910406" cy="9879016"/>
            <a:chOff x="0" y="0"/>
            <a:chExt cx="4717144" cy="2601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144" cy="2601881"/>
            </a:xfrm>
            <a:custGeom>
              <a:avLst/>
              <a:gdLst/>
              <a:ahLst/>
              <a:cxnLst/>
              <a:rect l="l" t="t" r="r" b="b"/>
              <a:pathLst>
                <a:path w="4717144" h="2601881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7063" y="2138960"/>
            <a:ext cx="10065070" cy="114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60"/>
              </a:lnSpc>
            </a:pPr>
            <a:r>
              <a:rPr lang="en-US" sz="8000" b="1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¡Muchas Gracias!</a:t>
            </a:r>
          </a:p>
        </p:txBody>
      </p:sp>
      <p:grpSp>
        <p:nvGrpSpPr>
          <p:cNvPr id="6" name="Group 6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7795" cy="3120600"/>
            </a:xfrm>
            <a:custGeom>
              <a:avLst/>
              <a:gdLst/>
              <a:ahLst/>
              <a:cxnLst/>
              <a:rect l="l" t="t" r="r" b="b"/>
              <a:pathLst>
                <a:path w="3397795" h="3120600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88140" cy="1832352"/>
            </a:xfrm>
            <a:custGeom>
              <a:avLst/>
              <a:gdLst/>
              <a:ahLst/>
              <a:cxnLst/>
              <a:rect l="l" t="t" r="r" b="b"/>
              <a:pathLst>
                <a:path w="1888140" h="1832352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036" cy="1243186"/>
            </a:xfrm>
            <a:custGeom>
              <a:avLst/>
              <a:gdLst/>
              <a:ahLst/>
              <a:cxnLst/>
              <a:rect l="l" t="t" r="r" b="b"/>
              <a:pathLst>
                <a:path w="1281036" h="124318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34088" cy="1682853"/>
            </a:xfrm>
            <a:custGeom>
              <a:avLst/>
              <a:gdLst/>
              <a:ahLst/>
              <a:cxnLst/>
              <a:rect l="l" t="t" r="r" b="b"/>
              <a:pathLst>
                <a:path w="1734088" h="1682853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lIns="46654" tIns="46654" rIns="46654" bIns="46654" rtlCol="0" anchor="ctr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48094" y="4369455"/>
            <a:ext cx="6043030" cy="411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Presentado por</a:t>
            </a:r>
          </a:p>
          <a:p>
            <a:pPr algn="l">
              <a:lnSpc>
                <a:spcPts val="4653"/>
              </a:lnSpc>
            </a:pPr>
            <a:endParaRPr lang="en-US" sz="3552">
              <a:solidFill>
                <a:srgbClr val="00006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Yoneidy Galindez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Luis Chicott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Mariela Giménez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Jianji Chen</a:t>
            </a:r>
          </a:p>
          <a:p>
            <a:pPr marL="766977" lvl="1" indent="-383489" algn="l">
              <a:lnSpc>
                <a:spcPts val="4653"/>
              </a:lnSpc>
              <a:buFont typeface="Arial"/>
              <a:buChar char="•"/>
            </a:pPr>
            <a:r>
              <a:rPr lang="en-US" sz="355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Esra Kesken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701732" y="2400123"/>
            <a:ext cx="3821275" cy="382127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351</Words>
  <Application>Microsoft Office PowerPoint</Application>
  <PresentationFormat>Personalizado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Open Sans 1 Bold</vt:lpstr>
      <vt:lpstr>Open Sans 1 Italics</vt:lpstr>
      <vt:lpstr>Garet</vt:lpstr>
      <vt:lpstr>Garet Italics</vt:lpstr>
      <vt:lpstr>Open Sans 1</vt:lpstr>
      <vt:lpstr>Arial</vt:lpstr>
      <vt:lpstr>Calibri</vt:lpstr>
      <vt:lpstr>Garet Bold</vt:lpstr>
      <vt:lpstr>Poppins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Propuesta de proyecto formas Moderno Azul</dc:title>
  <cp:lastModifiedBy>yoneidy galindez parada</cp:lastModifiedBy>
  <cp:revision>2</cp:revision>
  <dcterms:created xsi:type="dcterms:W3CDTF">2006-08-16T00:00:00Z</dcterms:created>
  <dcterms:modified xsi:type="dcterms:W3CDTF">2026-02-17T22:07:48Z</dcterms:modified>
  <dc:identifier>DAHA9EULcwA</dc:identifier>
</cp:coreProperties>
</file>