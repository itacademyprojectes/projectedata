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xima Nova Condensed Bold" charset="1" panose="02000506030000020004"/>
      <p:regular r:id="rId15"/>
    </p:embeddedFont>
    <p:embeddedFont>
      <p:font typeface="Touvlo" charset="1" panose="020B0604030403020204"/>
      <p:regular r:id="rId16"/>
    </p:embeddedFont>
    <p:embeddedFont>
      <p:font typeface="Touvlo Bold" charset="1" panose="020B0804030403020204"/>
      <p:regular r:id="rId17"/>
    </p:embeddedFont>
    <p:embeddedFont>
      <p:font typeface="Proxima Nova Condensed Italics" charset="1" panose="02000506030000020004"/>
      <p:regular r:id="rId18"/>
    </p:embeddedFont>
    <p:embeddedFont>
      <p:font typeface="Proxima Nova Condensed" charset="1" panose="02000506030000020004"/>
      <p:regular r:id="rId19"/>
    </p:embeddedFont>
    <p:embeddedFont>
      <p:font typeface="Georgia Pro Condensed Light" charset="1" panose="02040306050405020303"/>
      <p:regular r:id="rId20"/>
    </p:embeddedFont>
    <p:embeddedFont>
      <p:font typeface="TT Interphases" charset="1" panose="0200050302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17" cy="4816592"/>
            </a:xfrm>
            <a:custGeom>
              <a:avLst/>
              <a:gdLst/>
              <a:ahLst/>
              <a:cxnLst/>
              <a:rect r="r" b="b" t="t" l="l"/>
              <a:pathLst>
                <a:path h="481659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411417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0"/>
            <a:ext cx="8991600" cy="8724900"/>
            <a:chOff x="0" y="0"/>
            <a:chExt cx="1035548" cy="1004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5548" cy="1004833"/>
            </a:xfrm>
            <a:custGeom>
              <a:avLst/>
              <a:gdLst/>
              <a:ahLst/>
              <a:cxnLst/>
              <a:rect r="r" b="b" t="t" l="l"/>
              <a:pathLst>
                <a:path h="1004833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t="0" r="-2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3059" y="7798395"/>
            <a:ext cx="2041340" cy="20413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850790"/>
            <a:ext cx="8324850" cy="6249420"/>
            <a:chOff x="0" y="0"/>
            <a:chExt cx="11099800" cy="83325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09550"/>
              <a:ext cx="11099800" cy="7207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b="true" sz="10499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Alojamiento Turístico: Análisis de Datos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677240"/>
              <a:ext cx="11088400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sz="2962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Datos clave para analistas turísticos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702543" y="8780965"/>
            <a:ext cx="2883915" cy="11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329" indent="-246164" lvl="1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F5F9F9"/>
                </a:solidFill>
                <a:latin typeface="Touvlo"/>
                <a:ea typeface="Touvlo"/>
                <a:cs typeface="Touvlo"/>
                <a:sym typeface="Touvlo"/>
              </a:rPr>
              <a:t>Jianji Chen </a:t>
            </a:r>
          </a:p>
          <a:p>
            <a:pPr algn="l" marL="492329" indent="-246164" lvl="1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F5F9F9"/>
                </a:solidFill>
                <a:latin typeface="Touvlo"/>
                <a:ea typeface="Touvlo"/>
                <a:cs typeface="Touvlo"/>
                <a:sym typeface="Touvlo"/>
              </a:rPr>
              <a:t>Luis Chicott</a:t>
            </a:r>
          </a:p>
          <a:p>
            <a:pPr algn="l" marL="492329" indent="-246164" lvl="1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F5F9F9"/>
                </a:solidFill>
                <a:latin typeface="Touvlo"/>
                <a:ea typeface="Touvlo"/>
                <a:cs typeface="Touvlo"/>
                <a:sym typeface="Touvlo"/>
              </a:rPr>
              <a:t>Esra Kesken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8677275"/>
            <a:ext cx="4000500" cy="43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F5F9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PRESENTADO POR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86457" y="8761915"/>
            <a:ext cx="3551715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5F9F9"/>
                </a:solidFill>
                <a:latin typeface="Touvlo"/>
                <a:ea typeface="Touvlo"/>
                <a:cs typeface="Touvlo"/>
                <a:sym typeface="Touvlo"/>
              </a:rPr>
              <a:t>Mariela Giménez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5F9F9"/>
                </a:solidFill>
                <a:latin typeface="Touvlo"/>
                <a:ea typeface="Touvlo"/>
                <a:cs typeface="Touvlo"/>
                <a:sym typeface="Touvlo"/>
              </a:rPr>
              <a:t>Yoneidy Galindez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395B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43988" y="715504"/>
            <a:ext cx="11844012" cy="8912619"/>
          </a:xfrm>
          <a:custGeom>
            <a:avLst/>
            <a:gdLst/>
            <a:ahLst/>
            <a:cxnLst/>
            <a:rect r="r" b="b" t="t" l="l"/>
            <a:pathLst>
              <a:path h="8912619" w="11844012">
                <a:moveTo>
                  <a:pt x="0" y="0"/>
                </a:moveTo>
                <a:lnTo>
                  <a:pt x="11844012" y="0"/>
                </a:lnTo>
                <a:lnTo>
                  <a:pt x="11844012" y="8912619"/>
                </a:lnTo>
                <a:lnTo>
                  <a:pt x="0" y="8912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8581" y="886954"/>
            <a:ext cx="479014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Analisis</a:t>
            </a:r>
            <a:r>
              <a:rPr lang="en-US" b="true" sz="8499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de Marketing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8581" y="3802760"/>
            <a:ext cx="6085407" cy="1040981"/>
            <a:chOff x="0" y="0"/>
            <a:chExt cx="8113876" cy="138797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113876" cy="545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</a:pPr>
              <a:r>
                <a:rPr lang="en-US" b="true" sz="245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BR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CH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AS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OF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RTA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82055"/>
              <a:ext cx="8113876" cy="805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7954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Menorca: ni habitaciones de hotel ni compartidas</a:t>
              </a:r>
            </a:p>
            <a:p>
              <a:pPr algn="l" marL="387954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Girona: no habitaciones compartidas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8581" y="5442163"/>
            <a:ext cx="6085407" cy="2298281"/>
            <a:chOff x="0" y="0"/>
            <a:chExt cx="8113876" cy="306437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8113876" cy="545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</a:pPr>
              <a:r>
                <a:rPr lang="en-US" b="true" sz="245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SEG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MENTA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CIÓ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 DE 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CIOS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2055"/>
              <a:ext cx="7256996" cy="2482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7954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6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Típo más caro: casas/apartamentos</a:t>
              </a: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 enteros</a:t>
              </a: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 (excepciones: Barcelona, Valencia)</a:t>
              </a:r>
            </a:p>
            <a:p>
              <a:pPr algn="l" marL="387954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Ciudades más caras: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Mallorca, Menorca</a:t>
              </a: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, Barcelona, Girona</a:t>
              </a:r>
            </a:p>
            <a:p>
              <a:pPr algn="l" marL="387954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6" strike="noStrike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Ciudades más asequibles: Sevilla, Madrid, Málaga, Valencia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395B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236704"/>
            <a:ext cx="4687127" cy="4687127"/>
          </a:xfrm>
          <a:custGeom>
            <a:avLst/>
            <a:gdLst/>
            <a:ahLst/>
            <a:cxnLst/>
            <a:rect r="r" b="b" t="t" l="l"/>
            <a:pathLst>
              <a:path h="4687127" w="4687127">
                <a:moveTo>
                  <a:pt x="0" y="0"/>
                </a:moveTo>
                <a:lnTo>
                  <a:pt x="4687127" y="0"/>
                </a:lnTo>
                <a:lnTo>
                  <a:pt x="4687127" y="4687127"/>
                </a:lnTo>
                <a:lnTo>
                  <a:pt x="0" y="4687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8581" y="886954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8499" b="true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Analisis de Marketing:</a:t>
            </a:r>
          </a:p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</a:t>
            </a:r>
            <a:r>
              <a:rPr lang="en-US" b="true" sz="8499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nfoque en Crecimiento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49931" y="715504"/>
            <a:ext cx="6463215" cy="2326167"/>
            <a:chOff x="0" y="0"/>
            <a:chExt cx="8617620" cy="31015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617620" cy="545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</a:pPr>
              <a:r>
                <a:rPr lang="en-US" b="true" sz="245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SEG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MENTA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CIÓ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 DE 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AUDIE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CI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82055"/>
              <a:ext cx="8617620" cy="2519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Acción: Ca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mpaña Premium en Baleares (Ticket &gt;1.600€) vs. Campaña Nómadas/Estudiantes en Málaga y Valencia (~800€).</a:t>
              </a:r>
            </a:p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Meta: Maximizar la conversión adaptando el mensaje al poder adquisitivo de cada destino.</a:t>
              </a:r>
            </a:p>
            <a:p>
              <a:pPr algn="l">
                <a:lnSpc>
                  <a:spcPts val="251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99493" y="3526434"/>
            <a:ext cx="6463215" cy="2326167"/>
            <a:chOff x="0" y="0"/>
            <a:chExt cx="8617620" cy="310155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8617620" cy="545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</a:pPr>
              <a:r>
                <a:rPr lang="en-US" b="true" sz="245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EXPA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NSIÓN MENORCA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Y GIRONA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2055"/>
              <a:ext cx="8617620" cy="2519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Acción: Ca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ptación 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ct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va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de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hot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y hab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itaciones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mpa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rtid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s.</a:t>
              </a:r>
            </a:p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eta: Cubrir huecos de oferta y capturar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demand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que ho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y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se v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a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 compet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encia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por falta de opciones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.</a:t>
              </a:r>
            </a:p>
            <a:p>
              <a:pPr algn="l" marL="0" indent="0" lvl="0">
                <a:lnSpc>
                  <a:spcPts val="251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99493" y="6332975"/>
            <a:ext cx="6463215" cy="2007194"/>
            <a:chOff x="0" y="0"/>
            <a:chExt cx="8617620" cy="267625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8617620" cy="545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</a:pPr>
              <a:r>
                <a:rPr lang="en-US" b="true" sz="245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PROGRAMA "ELITE": FIDELIZAC</a:t>
              </a:r>
              <a:r>
                <a:rPr lang="en-US" b="true" sz="245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IÓN DE ALTO VALOR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82055"/>
              <a:ext cx="8617620" cy="2094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Acción: So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porte prio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ri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ario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y b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enef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icios exc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lusiv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os en de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sti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no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on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Ti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k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et Medio &gt;1.000€.</a:t>
              </a:r>
            </a:p>
            <a:p>
              <a:pPr algn="l" marL="387955" indent="-193977" lvl="1">
                <a:lnSpc>
                  <a:spcPts val="25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Obje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ti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v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o: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Blind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la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re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urr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encia del segmento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más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rent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b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de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la 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lataf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rma</a:t>
              </a:r>
              <a:r>
                <a:rPr lang="en-US" b="true" sz="1796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.</a:t>
              </a:r>
            </a:p>
            <a:p>
              <a:pPr algn="l" marL="0" indent="0" lvl="0">
                <a:lnSpc>
                  <a:spcPts val="2515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395B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82427" y="662499"/>
            <a:ext cx="13553463" cy="5246370"/>
            <a:chOff x="0" y="0"/>
            <a:chExt cx="209978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9786" cy="812800"/>
            </a:xfrm>
            <a:custGeom>
              <a:avLst/>
              <a:gdLst/>
              <a:ahLst/>
              <a:cxnLst/>
              <a:rect r="r" b="b" t="t" l="l"/>
              <a:pathLst>
                <a:path h="812800" w="2099786">
                  <a:moveTo>
                    <a:pt x="16565" y="0"/>
                  </a:moveTo>
                  <a:lnTo>
                    <a:pt x="2083221" y="0"/>
                  </a:lnTo>
                  <a:cubicBezTo>
                    <a:pt x="2087614" y="0"/>
                    <a:pt x="2091828" y="1745"/>
                    <a:pt x="2094934" y="4852"/>
                  </a:cubicBezTo>
                  <a:cubicBezTo>
                    <a:pt x="2098041" y="7958"/>
                    <a:pt x="2099786" y="12172"/>
                    <a:pt x="2099786" y="16565"/>
                  </a:cubicBezTo>
                  <a:lnTo>
                    <a:pt x="2099786" y="796235"/>
                  </a:lnTo>
                  <a:cubicBezTo>
                    <a:pt x="2099786" y="800628"/>
                    <a:pt x="2098041" y="804842"/>
                    <a:pt x="2094934" y="807948"/>
                  </a:cubicBezTo>
                  <a:cubicBezTo>
                    <a:pt x="2091828" y="811055"/>
                    <a:pt x="2087614" y="812800"/>
                    <a:pt x="2083221" y="812800"/>
                  </a:cubicBezTo>
                  <a:lnTo>
                    <a:pt x="16565" y="812800"/>
                  </a:lnTo>
                  <a:cubicBezTo>
                    <a:pt x="12172" y="812800"/>
                    <a:pt x="7958" y="811055"/>
                    <a:pt x="4852" y="807948"/>
                  </a:cubicBezTo>
                  <a:cubicBezTo>
                    <a:pt x="1745" y="804842"/>
                    <a:pt x="0" y="800628"/>
                    <a:pt x="0" y="796235"/>
                  </a:cubicBezTo>
                  <a:lnTo>
                    <a:pt x="0" y="16565"/>
                  </a:lnTo>
                  <a:cubicBezTo>
                    <a:pt x="0" y="12172"/>
                    <a:pt x="1745" y="7958"/>
                    <a:pt x="4852" y="4852"/>
                  </a:cubicBezTo>
                  <a:cubicBezTo>
                    <a:pt x="7958" y="1745"/>
                    <a:pt x="12172" y="0"/>
                    <a:pt x="16565" y="0"/>
                  </a:cubicBezTo>
                  <a:close/>
                </a:path>
              </a:pathLst>
            </a:custGeom>
            <a:blipFill>
              <a:blip r:embed="rId2"/>
              <a:stretch>
                <a:fillRect l="-2987" t="0" r="-298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665400" y="6381118"/>
            <a:ext cx="6703277" cy="3153269"/>
          </a:xfrm>
          <a:custGeom>
            <a:avLst/>
            <a:gdLst/>
            <a:ahLst/>
            <a:cxnLst/>
            <a:rect r="r" b="b" t="t" l="l"/>
            <a:pathLst>
              <a:path h="3153269" w="6703277">
                <a:moveTo>
                  <a:pt x="0" y="0"/>
                </a:moveTo>
                <a:lnTo>
                  <a:pt x="6703277" y="0"/>
                </a:lnTo>
                <a:lnTo>
                  <a:pt x="6703277" y="3153269"/>
                </a:lnTo>
                <a:lnTo>
                  <a:pt x="0" y="3153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3" t="0" r="-259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7752" y="6403649"/>
            <a:ext cx="6557656" cy="3163840"/>
          </a:xfrm>
          <a:custGeom>
            <a:avLst/>
            <a:gdLst/>
            <a:ahLst/>
            <a:cxnLst/>
            <a:rect r="r" b="b" t="t" l="l"/>
            <a:pathLst>
              <a:path h="3163840" w="6557656">
                <a:moveTo>
                  <a:pt x="0" y="0"/>
                </a:moveTo>
                <a:lnTo>
                  <a:pt x="6557656" y="0"/>
                </a:lnTo>
                <a:lnTo>
                  <a:pt x="6557656" y="3163839"/>
                </a:lnTo>
                <a:lnTo>
                  <a:pt x="0" y="316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" t="0" r="-813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00258" y="4086171"/>
            <a:ext cx="4048813" cy="2470904"/>
            <a:chOff x="0" y="0"/>
            <a:chExt cx="1066354" cy="6507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354" cy="650773"/>
            </a:xfrm>
            <a:custGeom>
              <a:avLst/>
              <a:gdLst/>
              <a:ahLst/>
              <a:cxnLst/>
              <a:rect r="r" b="b" t="t" l="l"/>
              <a:pathLst>
                <a:path h="650773" w="1066354">
                  <a:moveTo>
                    <a:pt x="97519" y="0"/>
                  </a:moveTo>
                  <a:lnTo>
                    <a:pt x="968835" y="0"/>
                  </a:lnTo>
                  <a:cubicBezTo>
                    <a:pt x="994698" y="0"/>
                    <a:pt x="1019503" y="10274"/>
                    <a:pt x="1037791" y="28563"/>
                  </a:cubicBezTo>
                  <a:cubicBezTo>
                    <a:pt x="1056080" y="46851"/>
                    <a:pt x="1066354" y="71656"/>
                    <a:pt x="1066354" y="97519"/>
                  </a:cubicBezTo>
                  <a:lnTo>
                    <a:pt x="1066354" y="553254"/>
                  </a:lnTo>
                  <a:cubicBezTo>
                    <a:pt x="1066354" y="607112"/>
                    <a:pt x="1022693" y="650773"/>
                    <a:pt x="968835" y="650773"/>
                  </a:cubicBezTo>
                  <a:lnTo>
                    <a:pt x="97519" y="650773"/>
                  </a:lnTo>
                  <a:cubicBezTo>
                    <a:pt x="71656" y="650773"/>
                    <a:pt x="46851" y="640499"/>
                    <a:pt x="28563" y="622210"/>
                  </a:cubicBezTo>
                  <a:cubicBezTo>
                    <a:pt x="10274" y="603922"/>
                    <a:pt x="0" y="579117"/>
                    <a:pt x="0" y="553254"/>
                  </a:cubicBezTo>
                  <a:lnTo>
                    <a:pt x="0" y="97519"/>
                  </a:lnTo>
                  <a:cubicBezTo>
                    <a:pt x="0" y="71656"/>
                    <a:pt x="10274" y="46851"/>
                    <a:pt x="28563" y="28563"/>
                  </a:cubicBezTo>
                  <a:cubicBezTo>
                    <a:pt x="46851" y="10274"/>
                    <a:pt x="71656" y="0"/>
                    <a:pt x="975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6354" cy="688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09536" y="484612"/>
            <a:ext cx="4386807" cy="346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3"/>
              </a:lnSpc>
            </a:pPr>
            <a:r>
              <a:rPr lang="en-US" b="true" sz="6793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Análisis de Operación y Gestión de Inventario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258" y="4177035"/>
            <a:ext cx="3888357" cy="252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                    </a:t>
            </a:r>
            <a:r>
              <a:rPr lang="en-US" sz="1600" b="true">
                <a:solidFill>
                  <a:srgbClr val="001C43"/>
                </a:solidFill>
                <a:latin typeface="Touvlo Bold"/>
                <a:ea typeface="Touvlo Bold"/>
                <a:cs typeface="Touvlo Bold"/>
                <a:sym typeface="Touvlo Bold"/>
              </a:rPr>
              <a:t>Madrid y Barcelona</a:t>
            </a:r>
          </a:p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        </a:t>
            </a:r>
            <a:r>
              <a:rPr lang="en-US" sz="1400" b="tru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baja disponibilidad  - alta ocupación</a:t>
            </a:r>
          </a:p>
          <a:p>
            <a:pPr algn="just">
              <a:lnSpc>
                <a:spcPts val="2380"/>
              </a:lnSpc>
            </a:pPr>
          </a:p>
          <a:p>
            <a:pPr algn="just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395B58"/>
                </a:solidFill>
                <a:latin typeface="Touvlo"/>
                <a:ea typeface="Touvlo"/>
                <a:cs typeface="Touvlo"/>
                <a:sym typeface="Touvlo"/>
              </a:rPr>
              <a:t>Incentivar la activación de anuncios inactivos</a:t>
            </a:r>
          </a:p>
          <a:p>
            <a:pPr algn="just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395B58"/>
                </a:solidFill>
                <a:latin typeface="Touvlo"/>
                <a:ea typeface="Touvlo"/>
                <a:cs typeface="Touvlo"/>
                <a:sym typeface="Touvlo"/>
              </a:rPr>
              <a:t>Priorizar alojamientos con alta demanda histórica especialmente en corto plazo.</a:t>
            </a:r>
          </a:p>
          <a:p>
            <a:pPr algn="just">
              <a:lnSpc>
                <a:spcPts val="266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33614" y="6690425"/>
            <a:ext cx="4048813" cy="3182943"/>
            <a:chOff x="0" y="0"/>
            <a:chExt cx="1066354" cy="8383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6354" cy="838306"/>
            </a:xfrm>
            <a:custGeom>
              <a:avLst/>
              <a:gdLst/>
              <a:ahLst/>
              <a:cxnLst/>
              <a:rect r="r" b="b" t="t" l="l"/>
              <a:pathLst>
                <a:path h="838306" w="1066354">
                  <a:moveTo>
                    <a:pt x="97519" y="0"/>
                  </a:moveTo>
                  <a:lnTo>
                    <a:pt x="968835" y="0"/>
                  </a:lnTo>
                  <a:cubicBezTo>
                    <a:pt x="994698" y="0"/>
                    <a:pt x="1019503" y="10274"/>
                    <a:pt x="1037791" y="28563"/>
                  </a:cubicBezTo>
                  <a:cubicBezTo>
                    <a:pt x="1056080" y="46851"/>
                    <a:pt x="1066354" y="71656"/>
                    <a:pt x="1066354" y="97519"/>
                  </a:cubicBezTo>
                  <a:lnTo>
                    <a:pt x="1066354" y="740787"/>
                  </a:lnTo>
                  <a:cubicBezTo>
                    <a:pt x="1066354" y="794645"/>
                    <a:pt x="1022693" y="838306"/>
                    <a:pt x="968835" y="838306"/>
                  </a:cubicBezTo>
                  <a:lnTo>
                    <a:pt x="97519" y="838306"/>
                  </a:lnTo>
                  <a:cubicBezTo>
                    <a:pt x="43661" y="838306"/>
                    <a:pt x="0" y="794645"/>
                    <a:pt x="0" y="740787"/>
                  </a:cubicBezTo>
                  <a:lnTo>
                    <a:pt x="0" y="97519"/>
                  </a:lnTo>
                  <a:cubicBezTo>
                    <a:pt x="0" y="71656"/>
                    <a:pt x="10274" y="46851"/>
                    <a:pt x="28563" y="28563"/>
                  </a:cubicBezTo>
                  <a:cubicBezTo>
                    <a:pt x="46851" y="10274"/>
                    <a:pt x="71656" y="0"/>
                    <a:pt x="975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6354" cy="876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33912" y="6661850"/>
            <a:ext cx="3738054" cy="390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3"/>
              </a:lnSpc>
            </a:pPr>
            <a:r>
              <a:rPr lang="en-US" sz="1538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                    </a:t>
            </a:r>
          </a:p>
          <a:p>
            <a:pPr algn="just">
              <a:lnSpc>
                <a:spcPts val="2153"/>
              </a:lnSpc>
            </a:pPr>
            <a:r>
              <a:rPr lang="en-US" sz="1538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                   </a:t>
            </a:r>
            <a:r>
              <a:rPr lang="en-US" sz="1538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Menorca y Mallorca</a:t>
            </a:r>
          </a:p>
          <a:p>
            <a:pPr algn="just">
              <a:lnSpc>
                <a:spcPts val="1884"/>
              </a:lnSpc>
            </a:pPr>
            <a:r>
              <a:rPr lang="en-US" sz="1345" b="true">
                <a:solidFill>
                  <a:srgbClr val="395B58"/>
                </a:solidFill>
                <a:latin typeface="Touvlo Bold"/>
                <a:ea typeface="Touvlo Bold"/>
                <a:cs typeface="Touvlo Bold"/>
                <a:sym typeface="Touvlo Bold"/>
              </a:rPr>
              <a:t>        </a:t>
            </a:r>
            <a:r>
              <a:rPr lang="en-US" sz="1345" b="tru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 alta </a:t>
            </a:r>
            <a:r>
              <a:rPr lang="en-US" sz="1345" b="tru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disponibilidad  - baja ocupación</a:t>
            </a:r>
          </a:p>
          <a:p>
            <a:pPr algn="l">
              <a:lnSpc>
                <a:spcPts val="2288"/>
              </a:lnSpc>
            </a:pPr>
          </a:p>
          <a:p>
            <a:pPr algn="l" marL="331255" indent="-165627" lvl="1">
              <a:lnSpc>
                <a:spcPts val="2148"/>
              </a:lnSpc>
              <a:buFont typeface="Arial"/>
              <a:buChar char="•"/>
            </a:pPr>
            <a:r>
              <a:rPr lang="en-US" sz="1534">
                <a:solidFill>
                  <a:srgbClr val="395B58"/>
                </a:solidFill>
                <a:latin typeface="Touvlo"/>
                <a:ea typeface="Touvlo"/>
                <a:cs typeface="Touvlo"/>
                <a:sym typeface="Touvlo"/>
              </a:rPr>
              <a:t>Optimizar visibilidad de alojamientos con baja ocupación.</a:t>
            </a:r>
          </a:p>
          <a:p>
            <a:pPr algn="l" marL="352844" indent="-176422" lvl="1">
              <a:lnSpc>
                <a:spcPts val="2288"/>
              </a:lnSpc>
              <a:buFont typeface="Arial"/>
              <a:buChar char="•"/>
            </a:pPr>
            <a:r>
              <a:rPr lang="en-US" sz="1634">
                <a:solidFill>
                  <a:srgbClr val="395B58"/>
                </a:solidFill>
                <a:latin typeface="Touvlo"/>
                <a:ea typeface="Touvlo"/>
                <a:cs typeface="Touvlo"/>
                <a:sym typeface="Touvlo"/>
              </a:rPr>
              <a:t>Ajustar precios y promociones para atraer reservas.</a:t>
            </a:r>
          </a:p>
          <a:p>
            <a:pPr algn="l" marL="352844" indent="-176422" lvl="1">
              <a:lnSpc>
                <a:spcPts val="2288"/>
              </a:lnSpc>
              <a:buFont typeface="Arial"/>
              <a:buChar char="•"/>
            </a:pPr>
            <a:r>
              <a:rPr lang="en-US" sz="1634">
                <a:solidFill>
                  <a:srgbClr val="395B58"/>
                </a:solidFill>
                <a:latin typeface="Touvlo"/>
                <a:ea typeface="Touvlo"/>
                <a:cs typeface="Touvlo"/>
                <a:sym typeface="Touvlo"/>
              </a:rPr>
              <a:t>Priorizar inventario según demanda y períodos de baja ocupación.</a:t>
            </a:r>
          </a:p>
          <a:p>
            <a:pPr algn="l">
              <a:lnSpc>
                <a:spcPts val="2288"/>
              </a:lnSpc>
            </a:pPr>
          </a:p>
          <a:p>
            <a:pPr algn="just">
              <a:lnSpc>
                <a:spcPts val="2288"/>
              </a:lnSpc>
            </a:pPr>
          </a:p>
          <a:p>
            <a:pPr algn="just">
              <a:lnSpc>
                <a:spcPts val="255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395B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81235" y="1318726"/>
            <a:ext cx="11439845" cy="6410959"/>
          </a:xfrm>
          <a:custGeom>
            <a:avLst/>
            <a:gdLst/>
            <a:ahLst/>
            <a:cxnLst/>
            <a:rect r="r" b="b" t="t" l="l"/>
            <a:pathLst>
              <a:path h="6410959" w="11439845">
                <a:moveTo>
                  <a:pt x="0" y="0"/>
                </a:moveTo>
                <a:lnTo>
                  <a:pt x="11439845" y="0"/>
                </a:lnTo>
                <a:lnTo>
                  <a:pt x="11439845" y="6410960"/>
                </a:lnTo>
                <a:lnTo>
                  <a:pt x="0" y="641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5" t="0" r="-71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2127" y="381170"/>
            <a:ext cx="8859118" cy="51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</a:pPr>
            <a:r>
              <a:rPr lang="en-US" b="true" sz="3914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Análisis de Operación y Gestión de Inventario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0032" y="9220200"/>
            <a:ext cx="1551043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G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e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sti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o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n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ar la 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dis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p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onib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i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l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i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d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a</a:t>
            </a:r>
            <a:r>
              <a:rPr lang="en-US" b="true" sz="2200" strike="noStrike" u="none">
                <a:solidFill>
                  <a:srgbClr val="43A7D2"/>
                </a:solidFill>
                <a:latin typeface="Touvlo Bold"/>
                <a:ea typeface="Touvlo Bold"/>
                <a:cs typeface="Touvlo Bold"/>
                <a:sym typeface="Touvlo Bold"/>
              </a:rPr>
              <a:t>d como inventario nos permite maximizar ingresos en picos de demanda y reducir ineficiencias en periodos de baja ocupación.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5426" y="1318726"/>
            <a:ext cx="5107889" cy="3524250"/>
            <a:chOff x="0" y="0"/>
            <a:chExt cx="6810518" cy="4699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810518" cy="209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MESES C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 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MA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YOR 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ISP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NIBI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L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ID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(</a:t>
              </a:r>
              <a:r>
                <a:rPr lang="en-US" sz="3000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ENERO, F</a:t>
              </a:r>
              <a:r>
                <a:rPr lang="en-US" sz="3000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E</a:t>
              </a:r>
              <a:r>
                <a:rPr lang="en-US" sz="3000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BRERO Y FIN</a:t>
              </a:r>
              <a:r>
                <a:rPr lang="en-US" sz="3000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AL DE </a:t>
              </a:r>
              <a:r>
                <a:rPr lang="en-US" sz="3000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AÑO</a:t>
              </a:r>
              <a:r>
                <a:rPr lang="en-US" b="true" sz="3000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31907"/>
              <a:ext cx="6810518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2200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 obs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erv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 exceso d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 ca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pacidad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y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 utilización del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inventario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,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qu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 im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pl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iesgo de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ingresos no 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ptur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dos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y necesid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ad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de acci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n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 comerciales</a:t>
              </a:r>
              <a:r>
                <a:rPr lang="en-US" b="true" sz="2200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0660" y="5487274"/>
            <a:ext cx="5371137" cy="3111817"/>
            <a:chOff x="0" y="0"/>
            <a:chExt cx="7161516" cy="414909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161516" cy="1249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83"/>
                </a:lnSpc>
              </a:pPr>
              <a:r>
                <a:rPr lang="en-US" b="true" sz="2774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MESES C</a:t>
              </a:r>
              <a:r>
                <a:rPr lang="en-US" b="true" sz="2774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ON MENOR DISPONIBILIDAD (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AB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R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IL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, 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MAY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O Y 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JU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N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I</a:t>
              </a:r>
              <a:r>
                <a:rPr lang="en-US" sz="2774" i="true" strike="noStrike" u="none">
                  <a:solidFill>
                    <a:srgbClr val="43A7D2"/>
                  </a:solidFill>
                  <a:latin typeface="Proxima Nova Condensed Italics"/>
                  <a:ea typeface="Proxima Nova Condensed Italics"/>
                  <a:cs typeface="Proxima Nova Condensed Italics"/>
                  <a:sym typeface="Proxima Nova Condensed Italics"/>
                </a:rPr>
                <a:t>O</a:t>
              </a:r>
              <a:r>
                <a:rPr lang="en-US" b="true" sz="2774" strike="noStrike" u="non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90965"/>
              <a:ext cx="7161516" cy="2858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8"/>
                </a:lnSpc>
                <a:spcBef>
                  <a:spcPct val="0"/>
                </a:spcBef>
              </a:pPr>
              <a:r>
                <a:rPr lang="en-US" b="true" sz="2034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El inv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entario alcanza máxima rotación: la demanda absorb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 rá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pidamente la oferta,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generand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tensión de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capacidad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,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es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pec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ialmente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en dest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inos va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acionale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s.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Son meses don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de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el inventari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o es escaso y de alto valor</a:t>
              </a:r>
              <a:r>
                <a:rPr lang="en-US" b="true" sz="2034" strike="noStrike" u="none">
                  <a:solidFill>
                    <a:srgbClr val="43A7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6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8991600" cy="10287000"/>
            <a:chOff x="0" y="0"/>
            <a:chExt cx="2368203" cy="2709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203" cy="2709268"/>
            </a:xfrm>
            <a:custGeom>
              <a:avLst/>
              <a:gdLst/>
              <a:ahLst/>
              <a:cxnLst/>
              <a:rect r="r" b="b" t="t" l="l"/>
              <a:pathLst>
                <a:path h="2709268" w="2368203">
                  <a:moveTo>
                    <a:pt x="2368203" y="0"/>
                  </a:moveTo>
                  <a:lnTo>
                    <a:pt x="2368203" y="2709268"/>
                  </a:lnTo>
                  <a:lnTo>
                    <a:pt x="0" y="2709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203" cy="2747368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l" marL="0" indent="0" lvl="0">
                <a:lnSpc>
                  <a:spcPts val="3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7567971" cy="2686050"/>
            <a:chOff x="0" y="0"/>
            <a:chExt cx="1434434" cy="509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5345" y="0"/>
                  </a:moveTo>
                  <a:lnTo>
                    <a:pt x="1419089" y="0"/>
                  </a:lnTo>
                  <a:cubicBezTo>
                    <a:pt x="1427564" y="0"/>
                    <a:pt x="1434434" y="6870"/>
                    <a:pt x="1434434" y="15345"/>
                  </a:cubicBezTo>
                  <a:lnTo>
                    <a:pt x="1434434" y="493769"/>
                  </a:lnTo>
                  <a:cubicBezTo>
                    <a:pt x="1434434" y="497839"/>
                    <a:pt x="1432817" y="501742"/>
                    <a:pt x="1429940" y="504620"/>
                  </a:cubicBezTo>
                  <a:cubicBezTo>
                    <a:pt x="1427062" y="507498"/>
                    <a:pt x="1423159" y="509114"/>
                    <a:pt x="1419089" y="509114"/>
                  </a:cubicBezTo>
                  <a:lnTo>
                    <a:pt x="15345" y="509114"/>
                  </a:lnTo>
                  <a:cubicBezTo>
                    <a:pt x="6870" y="509114"/>
                    <a:pt x="0" y="502244"/>
                    <a:pt x="0" y="493769"/>
                  </a:cubicBezTo>
                  <a:lnTo>
                    <a:pt x="0" y="15345"/>
                  </a:lnTo>
                  <a:cubicBezTo>
                    <a:pt x="0" y="6870"/>
                    <a:pt x="6870" y="0"/>
                    <a:pt x="15345" y="0"/>
                  </a:cubicBez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1600" y="3657600"/>
            <a:ext cx="7872771" cy="2686050"/>
            <a:chOff x="0" y="0"/>
            <a:chExt cx="1492206" cy="509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2206" cy="509114"/>
            </a:xfrm>
            <a:custGeom>
              <a:avLst/>
              <a:gdLst/>
              <a:ahLst/>
              <a:cxnLst/>
              <a:rect r="r" b="b" t="t" l="l"/>
              <a:pathLst>
                <a:path h="509114" w="1492206">
                  <a:moveTo>
                    <a:pt x="14751" y="0"/>
                  </a:moveTo>
                  <a:lnTo>
                    <a:pt x="1477455" y="0"/>
                  </a:lnTo>
                  <a:cubicBezTo>
                    <a:pt x="1481367" y="0"/>
                    <a:pt x="1485119" y="1554"/>
                    <a:pt x="1487886" y="4320"/>
                  </a:cubicBezTo>
                  <a:cubicBezTo>
                    <a:pt x="1490652" y="7087"/>
                    <a:pt x="1492206" y="10839"/>
                    <a:pt x="1492206" y="14751"/>
                  </a:cubicBezTo>
                  <a:lnTo>
                    <a:pt x="1492206" y="494363"/>
                  </a:lnTo>
                  <a:cubicBezTo>
                    <a:pt x="1492206" y="502510"/>
                    <a:pt x="1485602" y="509114"/>
                    <a:pt x="1477455" y="509114"/>
                  </a:cubicBezTo>
                  <a:lnTo>
                    <a:pt x="14751" y="509114"/>
                  </a:lnTo>
                  <a:cubicBezTo>
                    <a:pt x="6604" y="509114"/>
                    <a:pt x="0" y="502510"/>
                    <a:pt x="0" y="494363"/>
                  </a:cubicBezTo>
                  <a:lnTo>
                    <a:pt x="0" y="14751"/>
                  </a:lnTo>
                  <a:cubicBezTo>
                    <a:pt x="0" y="6604"/>
                    <a:pt x="6604" y="0"/>
                    <a:pt x="14751" y="0"/>
                  </a:cubicBez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1492206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648450"/>
            <a:ext cx="7567971" cy="2686050"/>
            <a:chOff x="0" y="0"/>
            <a:chExt cx="1434434" cy="5091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5345" y="0"/>
                  </a:moveTo>
                  <a:lnTo>
                    <a:pt x="1419089" y="0"/>
                  </a:lnTo>
                  <a:cubicBezTo>
                    <a:pt x="1427564" y="0"/>
                    <a:pt x="1434434" y="6870"/>
                    <a:pt x="1434434" y="15345"/>
                  </a:cubicBezTo>
                  <a:lnTo>
                    <a:pt x="1434434" y="493769"/>
                  </a:lnTo>
                  <a:cubicBezTo>
                    <a:pt x="1434434" y="497839"/>
                    <a:pt x="1432817" y="501742"/>
                    <a:pt x="1429940" y="504620"/>
                  </a:cubicBezTo>
                  <a:cubicBezTo>
                    <a:pt x="1427062" y="507498"/>
                    <a:pt x="1423159" y="509114"/>
                    <a:pt x="1419089" y="509114"/>
                  </a:cubicBezTo>
                  <a:lnTo>
                    <a:pt x="15345" y="509114"/>
                  </a:lnTo>
                  <a:cubicBezTo>
                    <a:pt x="6870" y="509114"/>
                    <a:pt x="0" y="502244"/>
                    <a:pt x="0" y="493769"/>
                  </a:cubicBezTo>
                  <a:lnTo>
                    <a:pt x="0" y="15345"/>
                  </a:lnTo>
                  <a:cubicBezTo>
                    <a:pt x="0" y="6870"/>
                    <a:pt x="6870" y="0"/>
                    <a:pt x="15345" y="0"/>
                  </a:cubicBez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1600" y="666750"/>
            <a:ext cx="4314825" cy="2686050"/>
            <a:chOff x="0" y="0"/>
            <a:chExt cx="817832" cy="5091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26914" y="0"/>
                  </a:moveTo>
                  <a:lnTo>
                    <a:pt x="790918" y="0"/>
                  </a:lnTo>
                  <a:cubicBezTo>
                    <a:pt x="805783" y="0"/>
                    <a:pt x="817832" y="12050"/>
                    <a:pt x="817832" y="26914"/>
                  </a:cubicBezTo>
                  <a:lnTo>
                    <a:pt x="817832" y="482200"/>
                  </a:lnTo>
                  <a:cubicBezTo>
                    <a:pt x="817832" y="497064"/>
                    <a:pt x="805783" y="509114"/>
                    <a:pt x="790918" y="509114"/>
                  </a:cubicBezTo>
                  <a:lnTo>
                    <a:pt x="26914" y="509114"/>
                  </a:lnTo>
                  <a:cubicBezTo>
                    <a:pt x="12050" y="509114"/>
                    <a:pt x="0" y="497064"/>
                    <a:pt x="0" y="482200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91600" y="3657600"/>
            <a:ext cx="4314825" cy="2686050"/>
            <a:chOff x="0" y="0"/>
            <a:chExt cx="817832" cy="509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26914" y="0"/>
                  </a:moveTo>
                  <a:lnTo>
                    <a:pt x="790918" y="0"/>
                  </a:lnTo>
                  <a:cubicBezTo>
                    <a:pt x="805783" y="0"/>
                    <a:pt x="817832" y="12050"/>
                    <a:pt x="817832" y="26914"/>
                  </a:cubicBezTo>
                  <a:lnTo>
                    <a:pt x="817832" y="482200"/>
                  </a:lnTo>
                  <a:cubicBezTo>
                    <a:pt x="817832" y="497064"/>
                    <a:pt x="805783" y="509114"/>
                    <a:pt x="790918" y="509114"/>
                  </a:cubicBezTo>
                  <a:lnTo>
                    <a:pt x="26914" y="509114"/>
                  </a:lnTo>
                  <a:cubicBezTo>
                    <a:pt x="12050" y="509114"/>
                    <a:pt x="0" y="497064"/>
                    <a:pt x="0" y="482200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91600" y="6648450"/>
            <a:ext cx="4314825" cy="2686050"/>
            <a:chOff x="0" y="0"/>
            <a:chExt cx="817832" cy="5091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26914" y="0"/>
                  </a:moveTo>
                  <a:lnTo>
                    <a:pt x="790918" y="0"/>
                  </a:lnTo>
                  <a:cubicBezTo>
                    <a:pt x="805783" y="0"/>
                    <a:pt x="817832" y="12050"/>
                    <a:pt x="817832" y="26914"/>
                  </a:cubicBezTo>
                  <a:lnTo>
                    <a:pt x="817832" y="482200"/>
                  </a:lnTo>
                  <a:cubicBezTo>
                    <a:pt x="817832" y="497064"/>
                    <a:pt x="805783" y="509114"/>
                    <a:pt x="790918" y="509114"/>
                  </a:cubicBezTo>
                  <a:lnTo>
                    <a:pt x="26914" y="509114"/>
                  </a:lnTo>
                  <a:cubicBezTo>
                    <a:pt x="12050" y="509114"/>
                    <a:pt x="0" y="497064"/>
                    <a:pt x="0" y="482200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6750" y="666750"/>
            <a:ext cx="5753100" cy="2017573"/>
            <a:chOff x="0" y="0"/>
            <a:chExt cx="7670800" cy="269009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1450"/>
              <a:ext cx="76708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b="true" sz="8499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KPIs Clave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108200"/>
              <a:ext cx="7670800" cy="581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0"/>
                </a:lnSpc>
                <a:spcBef>
                  <a:spcPct val="0"/>
                </a:spcBef>
              </a:pPr>
              <a:r>
                <a:rPr lang="en-US" sz="2693" u="none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Datos Esenciales para el Éxito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06128" y="886925"/>
            <a:ext cx="2576847" cy="1577223"/>
            <a:chOff x="0" y="0"/>
            <a:chExt cx="3435795" cy="2102964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3435795" cy="46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50624"/>
              <a:ext cx="3435795" cy="1452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sz="211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Ciudad con mayor satisfacción promedio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06128" y="4231722"/>
            <a:ext cx="2576847" cy="1577223"/>
            <a:chOff x="0" y="0"/>
            <a:chExt cx="3435795" cy="2102964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3435795" cy="1452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b="true" sz="2115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ÍTEM CON MAYOR SATISFACCIÓN PROMEDIO: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641224"/>
              <a:ext cx="3435795" cy="46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sz="211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606128" y="7408310"/>
            <a:ext cx="2576847" cy="1205748"/>
            <a:chOff x="0" y="0"/>
            <a:chExt cx="3435795" cy="160766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38100"/>
              <a:ext cx="3435795" cy="957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b="true" sz="2115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SATISFACCIÓN GENERAL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145924"/>
              <a:ext cx="3435795" cy="46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297391" y="1189990"/>
            <a:ext cx="3703242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</a:pPr>
            <a:r>
              <a:rPr lang="en-US" b="true" sz="6800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96.8</a:t>
            </a:r>
            <a:r>
              <a:rPr lang="en-US" b="true" sz="6800" strike="noStrike" u="none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%</a:t>
            </a:r>
          </a:p>
          <a:p>
            <a:pPr algn="ctr" marL="0" indent="0" lvl="0">
              <a:lnSpc>
                <a:spcPts val="6800"/>
              </a:lnSpc>
            </a:pPr>
            <a:r>
              <a:rPr lang="en-US" b="true" sz="6800" strike="noStrike" u="none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Sevilla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97391" y="4327525"/>
            <a:ext cx="3703242" cy="147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true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96.4%</a:t>
            </a:r>
          </a:p>
          <a:p>
            <a:pPr algn="ctr" marL="0" indent="0" lvl="0">
              <a:lnSpc>
                <a:spcPts val="4700"/>
              </a:lnSpc>
            </a:pPr>
            <a:r>
              <a:rPr lang="en-US" b="true" sz="4700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Communication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97391" y="7600315"/>
            <a:ext cx="3703242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</a:pPr>
            <a:r>
              <a:rPr lang="en-US" b="true" sz="6800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92.02%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28700" y="6668159"/>
            <a:ext cx="7567971" cy="2686050"/>
            <a:chOff x="0" y="0"/>
            <a:chExt cx="1434434" cy="5091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5345" y="0"/>
                  </a:moveTo>
                  <a:lnTo>
                    <a:pt x="1419089" y="0"/>
                  </a:lnTo>
                  <a:cubicBezTo>
                    <a:pt x="1427564" y="0"/>
                    <a:pt x="1434434" y="6870"/>
                    <a:pt x="1434434" y="15345"/>
                  </a:cubicBezTo>
                  <a:lnTo>
                    <a:pt x="1434434" y="493769"/>
                  </a:lnTo>
                  <a:cubicBezTo>
                    <a:pt x="1434434" y="497839"/>
                    <a:pt x="1432817" y="501742"/>
                    <a:pt x="1429940" y="504620"/>
                  </a:cubicBezTo>
                  <a:cubicBezTo>
                    <a:pt x="1427062" y="507498"/>
                    <a:pt x="1423159" y="509114"/>
                    <a:pt x="1419089" y="509114"/>
                  </a:cubicBezTo>
                  <a:lnTo>
                    <a:pt x="15345" y="509114"/>
                  </a:lnTo>
                  <a:cubicBezTo>
                    <a:pt x="6870" y="509114"/>
                    <a:pt x="0" y="502244"/>
                    <a:pt x="0" y="493769"/>
                  </a:cubicBezTo>
                  <a:lnTo>
                    <a:pt x="0" y="15345"/>
                  </a:lnTo>
                  <a:cubicBezTo>
                    <a:pt x="0" y="6870"/>
                    <a:pt x="6870" y="0"/>
                    <a:pt x="15345" y="0"/>
                  </a:cubicBez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668159"/>
            <a:ext cx="4009034" cy="2686050"/>
            <a:chOff x="0" y="0"/>
            <a:chExt cx="759873" cy="5091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9873" cy="509114"/>
            </a:xfrm>
            <a:custGeom>
              <a:avLst/>
              <a:gdLst/>
              <a:ahLst/>
              <a:cxnLst/>
              <a:rect r="r" b="b" t="t" l="l"/>
              <a:pathLst>
                <a:path h="509114" w="759873">
                  <a:moveTo>
                    <a:pt x="28967" y="0"/>
                  </a:moveTo>
                  <a:lnTo>
                    <a:pt x="730906" y="0"/>
                  </a:lnTo>
                  <a:cubicBezTo>
                    <a:pt x="738588" y="0"/>
                    <a:pt x="745956" y="3052"/>
                    <a:pt x="751388" y="8484"/>
                  </a:cubicBezTo>
                  <a:cubicBezTo>
                    <a:pt x="756821" y="13916"/>
                    <a:pt x="759873" y="21284"/>
                    <a:pt x="759873" y="28967"/>
                  </a:cubicBezTo>
                  <a:lnTo>
                    <a:pt x="759873" y="480147"/>
                  </a:lnTo>
                  <a:cubicBezTo>
                    <a:pt x="759873" y="487830"/>
                    <a:pt x="756821" y="495198"/>
                    <a:pt x="751388" y="500630"/>
                  </a:cubicBezTo>
                  <a:cubicBezTo>
                    <a:pt x="745956" y="506062"/>
                    <a:pt x="738588" y="509114"/>
                    <a:pt x="730906" y="509114"/>
                  </a:cubicBezTo>
                  <a:lnTo>
                    <a:pt x="28967" y="509114"/>
                  </a:lnTo>
                  <a:cubicBezTo>
                    <a:pt x="12969" y="509114"/>
                    <a:pt x="0" y="496145"/>
                    <a:pt x="0" y="480147"/>
                  </a:cubicBezTo>
                  <a:lnTo>
                    <a:pt x="0" y="28967"/>
                  </a:lnTo>
                  <a:cubicBezTo>
                    <a:pt x="0" y="21284"/>
                    <a:pt x="3052" y="13916"/>
                    <a:pt x="8484" y="8484"/>
                  </a:cubicBezTo>
                  <a:cubicBezTo>
                    <a:pt x="13916" y="3052"/>
                    <a:pt x="21284" y="0"/>
                    <a:pt x="28967" y="0"/>
                  </a:cubicBez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33350"/>
              <a:ext cx="759873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34491" y="7875180"/>
            <a:ext cx="3703242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</a:pPr>
            <a:r>
              <a:rPr lang="en-US" b="true" sz="6800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65.42%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492117" y="7575578"/>
            <a:ext cx="2576847" cy="1205748"/>
            <a:chOff x="0" y="0"/>
            <a:chExt cx="3435795" cy="1607664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38100"/>
              <a:ext cx="3435795" cy="957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b="true" sz="2115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CIUDAD CON MAYOR OCUPACIÓN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145924"/>
              <a:ext cx="3435795" cy="46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sz="211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MADRID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8700" y="3677309"/>
            <a:ext cx="7567971" cy="2686050"/>
            <a:chOff x="0" y="0"/>
            <a:chExt cx="1434434" cy="5091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5345" y="0"/>
                  </a:moveTo>
                  <a:lnTo>
                    <a:pt x="1419089" y="0"/>
                  </a:lnTo>
                  <a:cubicBezTo>
                    <a:pt x="1427564" y="0"/>
                    <a:pt x="1434434" y="6870"/>
                    <a:pt x="1434434" y="15345"/>
                  </a:cubicBezTo>
                  <a:lnTo>
                    <a:pt x="1434434" y="493769"/>
                  </a:lnTo>
                  <a:cubicBezTo>
                    <a:pt x="1434434" y="497839"/>
                    <a:pt x="1432817" y="501742"/>
                    <a:pt x="1429940" y="504620"/>
                  </a:cubicBezTo>
                  <a:cubicBezTo>
                    <a:pt x="1427062" y="507498"/>
                    <a:pt x="1423159" y="509114"/>
                    <a:pt x="1419089" y="509114"/>
                  </a:cubicBezTo>
                  <a:lnTo>
                    <a:pt x="15345" y="509114"/>
                  </a:lnTo>
                  <a:cubicBezTo>
                    <a:pt x="6870" y="509114"/>
                    <a:pt x="0" y="502244"/>
                    <a:pt x="0" y="493769"/>
                  </a:cubicBezTo>
                  <a:lnTo>
                    <a:pt x="0" y="15345"/>
                  </a:lnTo>
                  <a:cubicBezTo>
                    <a:pt x="0" y="6870"/>
                    <a:pt x="6870" y="0"/>
                    <a:pt x="15345" y="0"/>
                  </a:cubicBez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3677309"/>
            <a:ext cx="3978045" cy="2686050"/>
            <a:chOff x="0" y="0"/>
            <a:chExt cx="753999" cy="50911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3999" cy="509114"/>
            </a:xfrm>
            <a:custGeom>
              <a:avLst/>
              <a:gdLst/>
              <a:ahLst/>
              <a:cxnLst/>
              <a:rect r="r" b="b" t="t" l="l"/>
              <a:pathLst>
                <a:path h="509114" w="753999">
                  <a:moveTo>
                    <a:pt x="29192" y="0"/>
                  </a:moveTo>
                  <a:lnTo>
                    <a:pt x="724807" y="0"/>
                  </a:lnTo>
                  <a:cubicBezTo>
                    <a:pt x="732549" y="0"/>
                    <a:pt x="739974" y="3076"/>
                    <a:pt x="745449" y="8550"/>
                  </a:cubicBezTo>
                  <a:cubicBezTo>
                    <a:pt x="750923" y="14025"/>
                    <a:pt x="753999" y="21450"/>
                    <a:pt x="753999" y="29192"/>
                  </a:cubicBezTo>
                  <a:lnTo>
                    <a:pt x="753999" y="479922"/>
                  </a:lnTo>
                  <a:cubicBezTo>
                    <a:pt x="753999" y="496044"/>
                    <a:pt x="740929" y="509114"/>
                    <a:pt x="724807" y="509114"/>
                  </a:cubicBezTo>
                  <a:lnTo>
                    <a:pt x="29192" y="509114"/>
                  </a:lnTo>
                  <a:cubicBezTo>
                    <a:pt x="13070" y="509114"/>
                    <a:pt x="0" y="496044"/>
                    <a:pt x="0" y="479922"/>
                  </a:cubicBezTo>
                  <a:lnTo>
                    <a:pt x="0" y="29192"/>
                  </a:lnTo>
                  <a:cubicBezTo>
                    <a:pt x="0" y="21450"/>
                    <a:pt x="3076" y="14025"/>
                    <a:pt x="8550" y="8550"/>
                  </a:cubicBezTo>
                  <a:cubicBezTo>
                    <a:pt x="14025" y="3076"/>
                    <a:pt x="21450" y="0"/>
                    <a:pt x="29192" y="0"/>
                  </a:cubicBez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33350"/>
              <a:ext cx="753999" cy="6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492117" y="4540626"/>
            <a:ext cx="2576847" cy="1205748"/>
            <a:chOff x="0" y="0"/>
            <a:chExt cx="3435795" cy="1607664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-38100"/>
              <a:ext cx="3435795" cy="957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  <a:r>
                <a:rPr lang="en-US" b="true" sz="2115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TASA DE OCUPACIÓN MENSUAL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1145924"/>
              <a:ext cx="3435795" cy="46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09443" y="4752340"/>
            <a:ext cx="3703242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</a:pPr>
            <a:r>
              <a:rPr lang="en-US" b="true" sz="6800">
                <a:solidFill>
                  <a:srgbClr val="43A7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59.08%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002341" y="2002341"/>
            <a:ext cx="10287000" cy="6282319"/>
            <a:chOff x="0" y="0"/>
            <a:chExt cx="2709333" cy="1654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1654602"/>
            </a:xfrm>
            <a:custGeom>
              <a:avLst/>
              <a:gdLst/>
              <a:ahLst/>
              <a:cxnLst/>
              <a:rect r="r" b="b" t="t" l="l"/>
              <a:pathLst>
                <a:path h="165460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654602"/>
                  </a:lnTo>
                  <a:lnTo>
                    <a:pt x="0" y="1654602"/>
                  </a:lnTo>
                  <a:close/>
                </a:path>
              </a:pathLst>
            </a:custGeom>
            <a:solidFill>
              <a:srgbClr val="B6E0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17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96400" y="8686800"/>
            <a:ext cx="83248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</a:pPr>
            <a:r>
              <a:rPr lang="en-US" sz="2199" spc="-21">
                <a:solidFill>
                  <a:srgbClr val="43A7D2"/>
                </a:solidFill>
                <a:latin typeface="Touvlo"/>
                <a:ea typeface="Touvlo"/>
                <a:cs typeface="Touvlo"/>
                <a:sym typeface="Touvlo"/>
              </a:rPr>
              <a:t>Visualización de datos sobre reservas y gastos.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73019" y="462449"/>
            <a:ext cx="13979980" cy="9853944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666750" y="666750"/>
            <a:ext cx="5448300" cy="5592448"/>
            <a:chOff x="0" y="0"/>
            <a:chExt cx="7264400" cy="745659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4300"/>
              <a:ext cx="7264400" cy="4693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6200" b="true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Factores clave de la satisfacción del cliente</a:t>
              </a:r>
            </a:p>
            <a:p>
              <a:pPr algn="l" marL="0" indent="0" lvl="0">
                <a:lnSpc>
                  <a:spcPts val="849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513074"/>
              <a:ext cx="72644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 spc="-5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Pequeñas mejoras operativas generan grandes cambios en la percepción del cliente.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B6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224777" y="2224777"/>
            <a:ext cx="10287000" cy="5837447"/>
            <a:chOff x="0" y="0"/>
            <a:chExt cx="2709333" cy="1537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1537435"/>
            </a:xfrm>
            <a:custGeom>
              <a:avLst/>
              <a:gdLst/>
              <a:ahLst/>
              <a:cxnLst/>
              <a:rect r="r" b="b" t="t" l="l"/>
              <a:pathLst>
                <a:path h="1537435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537435"/>
                  </a:lnTo>
                  <a:lnTo>
                    <a:pt x="0" y="1537435"/>
                  </a:lnTo>
                  <a:close/>
                </a:path>
              </a:pathLst>
            </a:custGeom>
            <a:solidFill>
              <a:srgbClr val="F5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1594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11054" y="845002"/>
          <a:ext cx="8356156" cy="8375198"/>
        </p:xfrm>
        <a:graphic>
          <a:graphicData uri="http://schemas.openxmlformats.org/drawingml/2006/table">
            <a:tbl>
              <a:tblPr/>
              <a:tblGrid>
                <a:gridCol w="2436811"/>
                <a:gridCol w="3082699"/>
                <a:gridCol w="2836646"/>
              </a:tblGrid>
              <a:tr h="1208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 b="true">
                          <a:solidFill>
                            <a:srgbClr val="000000"/>
                          </a:solidFill>
                          <a:latin typeface="Proxima Nova Condensed Bold"/>
                          <a:ea typeface="Proxima Nova Condensed Bold"/>
                          <a:cs typeface="Proxima Nova Condensed Bold"/>
                          <a:sym typeface="Proxima Nova Condensed Bold"/>
                        </a:rPr>
                        <a:t>Ciudad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 b="true">
                          <a:solidFill>
                            <a:srgbClr val="000000"/>
                          </a:solidFill>
                          <a:latin typeface="Proxima Nova Condensed Bold"/>
                          <a:ea typeface="Proxima Nova Condensed Bold"/>
                          <a:cs typeface="Proxima Nova Condensed Bold"/>
                          <a:sym typeface="Proxima Nova Condensed Bold"/>
                        </a:rPr>
                        <a:t>Puntuación 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Alojamiento &gt;80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Sevilla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93.84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89.75%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Menorca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93.58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78.52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Mallorca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93.47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65.47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Madrid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92.77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79.32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Valencia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92.29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86.64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Girona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91.14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58.22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</a:tr>
              <a:tr h="102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Barcelona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90.69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62"/>
                        </a:lnSpc>
                        <a:defRPr/>
                      </a:pPr>
                      <a:r>
                        <a:rPr lang="en-US" sz="2115">
                          <a:solidFill>
                            <a:srgbClr val="000000"/>
                          </a:solidFill>
                          <a:latin typeface="Proxima Nova Condensed"/>
                          <a:ea typeface="Proxima Nova Condensed"/>
                          <a:cs typeface="Proxima Nova Condensed"/>
                          <a:sym typeface="Proxima Nova Condensed"/>
                        </a:rPr>
                        <a:t>72.40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666750" y="666750"/>
            <a:ext cx="4162414" cy="8549007"/>
            <a:chOff x="0" y="0"/>
            <a:chExt cx="5549885" cy="1139867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250"/>
              <a:ext cx="5264133" cy="3371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75"/>
                </a:lnSpc>
              </a:pPr>
              <a:r>
                <a:rPr lang="en-US" b="true" sz="4875">
                  <a:solidFill>
                    <a:srgbClr val="43A7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Análisis de calidad para optimización operativa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171952"/>
              <a:ext cx="5549885" cy="7226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-5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🥇 Sevilla , Valencia  y Málaga  destacan.</a:t>
              </a:r>
            </a:p>
            <a:p>
              <a:pPr algn="just">
                <a:lnSpc>
                  <a:spcPts val="3919"/>
                </a:lnSpc>
              </a:pPr>
            </a:p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-55">
                  <a:solidFill>
                    <a:srgbClr val="43A7D2"/>
                  </a:solidFill>
                  <a:latin typeface="Touvlo"/>
                  <a:ea typeface="Touvlo"/>
                  <a:cs typeface="Touvlo"/>
                  <a:sym typeface="Touvlo"/>
                </a:rPr>
                <a:t>⚠️ Girona  y Mallorca  tienen mucha más dispersión: algunos alojamientos excelentes, otros no tanto.</a:t>
              </a:r>
            </a:p>
            <a:p>
              <a:pPr algn="l" marL="0" indent="0" lvl="0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4A90E2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Mejora la Satisfacción del Huésped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449830"/>
            <a:ext cx="4314825" cy="2258377"/>
            <a:chOff x="0" y="0"/>
            <a:chExt cx="5753100" cy="30111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Una comunicación rápida y clara reduce fricciones y mejora la confianza del huésped.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Comunicación</a:t>
              </a:r>
            </a:p>
          </p:txBody>
        </p:sp>
        <p:sp>
          <p:nvSpPr>
            <p:cNvPr name="AutoShape 6" id="6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15050" y="2454593"/>
            <a:ext cx="4314825" cy="2253615"/>
            <a:chOff x="0" y="0"/>
            <a:chExt cx="5753100" cy="30048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 proceso de check-in sencillo genera una primera impresión positiva.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Check-in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68150" y="2459355"/>
            <a:ext cx="4314825" cy="2258377"/>
            <a:chOff x="0" y="0"/>
            <a:chExt cx="5753100" cy="301116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Gestionar bien las expectativas sobre la ubicación mejora la percepción del alojamiento.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Ubicación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6393180"/>
            <a:ext cx="4314825" cy="2253615"/>
            <a:chOff x="0" y="0"/>
            <a:chExt cx="5753100" cy="30048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 coherencia entre anuncio y realidad evita decepciones y malas valoraciones.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Precisión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15050" y="6393180"/>
            <a:ext cx="4314825" cy="2253615"/>
            <a:chOff x="0" y="0"/>
            <a:chExt cx="5753100" cy="3004819"/>
          </a:xfrm>
        </p:grpSpPr>
        <p:sp>
          <p:nvSpPr>
            <p:cNvPr name="AutoShape 20" id="2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 limpieza es un factor crítico que impacta directamente en la satisfacción global.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Limpieza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68150" y="6393180"/>
            <a:ext cx="4314825" cy="2253615"/>
            <a:chOff x="0" y="0"/>
            <a:chExt cx="5753100" cy="3004819"/>
          </a:xfrm>
        </p:grpSpPr>
        <p:sp>
          <p:nvSpPr>
            <p:cNvPr name="AutoShape 24" id="24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4A90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 buen equilibrio entre precio y beneficios aumenta la percepción de valor.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7B7B7B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Valor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DAG_DvD1xVA</dc:identifier>
  <dcterms:modified xsi:type="dcterms:W3CDTF">2011-08-01T06:04:30Z</dcterms:modified>
  <cp:revision>1</cp:revision>
  <dc:title>StaySpain</dc:title>
</cp:coreProperties>
</file>