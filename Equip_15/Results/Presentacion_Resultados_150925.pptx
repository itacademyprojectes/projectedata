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763DBD-E3E8-42C0-9A3A-B52551A5C85D}">
  <a:tblStyle styleId="{02763DBD-E3E8-42C0-9A3A-B52551A5C85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48626DA-C122-48EB-9E28-13EA1DB0E81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18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4.xml"/><Relationship Id="rId33" Type="http://schemas.openxmlformats.org/officeDocument/2006/relationships/font" Target="fonts/Lato-boldItalic.fntdata"/><Relationship Id="rId10" Type="http://schemas.openxmlformats.org/officeDocument/2006/relationships/slide" Target="slides/slide3.xml"/><Relationship Id="rId32" Type="http://schemas.openxmlformats.org/officeDocument/2006/relationships/font" Target="fonts/La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07e33f0c9_2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807e33f0c9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07e33f0c9_2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807e33f0c9_2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07e33f0c9_2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807e33f0c9_2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0f474f3b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80f474f3b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165133a6f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8165133a6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1880879c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81880879c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1880879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81880879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1880879c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81880879c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1880879c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81880879c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1880879c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81880879c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165133a6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8165133a6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"/>
              <a:t>https://www.canva.com/design/DAGzUbsdfB8/1OBHT4bPK_Ru3n_VQEV_iQ/edit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165133a6f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8165133a6f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07e33f0c9_2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807e33f0c9_2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07e33f0c9_2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807e33f0c9_2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159efcfe0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8159efcfe0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159efcfe0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8159efcfe0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7e3244765790cd3c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7e3244765790cd3c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159efcfe0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8159efcfe0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6" name="Google Shape;66;p1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6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73" name="Google Shape;73;p16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5" name="Google Shape;95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03" name="Google Shape;103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09" name="Google Shape;109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16" name="Google Shape;116;p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2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38" name="Google Shape;138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2" name="Google Shape;142;p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46" name="Google Shape;146;p2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52" name="Google Shape;152;p2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2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ctrTitle"/>
          </p:nvPr>
        </p:nvSpPr>
        <p:spPr>
          <a:xfrm>
            <a:off x="3412525" y="1295150"/>
            <a:ext cx="271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ca" sz="3500"/>
              <a:t>Equipo 15</a:t>
            </a:r>
            <a:endParaRPr sz="3500"/>
          </a:p>
        </p:txBody>
      </p:sp>
      <p:sp>
        <p:nvSpPr>
          <p:cNvPr id="180" name="Google Shape;180;p25"/>
          <p:cNvSpPr txBox="1"/>
          <p:nvPr/>
        </p:nvSpPr>
        <p:spPr>
          <a:xfrm>
            <a:off x="3412525" y="20877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70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Propuesta de Negocio</a:t>
            </a:r>
            <a:endParaRPr sz="1670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670">
                <a:solidFill>
                  <a:srgbClr val="F3F3F3"/>
                </a:solidFill>
                <a:latin typeface="Verdana"/>
                <a:ea typeface="Verdana"/>
                <a:cs typeface="Verdana"/>
                <a:sym typeface="Verdana"/>
              </a:rPr>
              <a:t>Departamento de Analistas de Datos de RRHH</a:t>
            </a:r>
            <a:endParaRPr sz="1670">
              <a:solidFill>
                <a:srgbClr val="F3F3F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0">
              <a:solidFill>
                <a:srgbClr val="ADADAD"/>
              </a:solidFill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3412525" y="457925"/>
            <a:ext cx="3662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3500">
                <a:solidFill>
                  <a:srgbClr val="A4C2F4"/>
                </a:solidFill>
                <a:latin typeface="Verdana"/>
                <a:ea typeface="Verdana"/>
                <a:cs typeface="Verdana"/>
                <a:sym typeface="Verdana"/>
              </a:rPr>
              <a:t>RapidExpress</a:t>
            </a:r>
            <a:endParaRPr sz="3500">
              <a:solidFill>
                <a:srgbClr val="A4C2F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1757132" y="227294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0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Preguntas </a:t>
            </a:r>
            <a:r>
              <a:rPr lang="ca" sz="20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de Negocio</a:t>
            </a:r>
            <a:endParaRPr sz="20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411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Departamento de Analistas de Datos de RRHH</a:t>
            </a:r>
            <a:endParaRPr sz="1411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1297500" y="1307850"/>
            <a:ext cx="7210500" cy="317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4224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506"/>
              <a:buFont typeface="Verdana"/>
              <a:buChar char="●"/>
            </a:pPr>
            <a:r>
              <a:rPr lang="ca" sz="1505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Analista de Perfil y Desempeño Profesional: ¿Cuál es el perfil sociodemográfico de los empleados que tenemos en la empresa, y cómo podemos utilizar esta información para diseñar políticas de talento más adaptadas a sus necesidades y potenciar su compromiso y desarrollo profesional? </a:t>
            </a:r>
            <a:endParaRPr sz="1505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505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24224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1506"/>
              <a:buFont typeface="Verdana"/>
              <a:buChar char="●"/>
            </a:pPr>
            <a:r>
              <a:rPr lang="ca" sz="1505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Analista de Absentismo y Bienestar Laboral: ¿Cuál es la magnitud del  absentismo laboral en la empresa y ¿cómo varía a lo largo del año? Cómo podemos anticiparnos para reforzar la planificación de recursos humanos y garantizar su continuidad operativa?</a:t>
            </a:r>
            <a:endParaRPr sz="922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1212125" y="227298"/>
            <a:ext cx="70389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781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y </a:t>
            </a:r>
            <a:r>
              <a:rPr lang="ca" sz="1781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desempeño</a:t>
            </a:r>
            <a:r>
              <a:rPr lang="ca" sz="1781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 profesional</a:t>
            </a:r>
            <a:endParaRPr sz="1781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188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Departamento de Analistas de Datos de RRHH</a:t>
            </a:r>
            <a:endParaRPr sz="1188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2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graphicFrame>
        <p:nvGraphicFramePr>
          <p:cNvPr id="193" name="Google Shape;193;p27"/>
          <p:cNvGraphicFramePr/>
          <p:nvPr/>
        </p:nvGraphicFramePr>
        <p:xfrm>
          <a:off x="1090938" y="10225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{02763DBD-E3E8-42C0-9A3A-B52551A5C85D}</a:tableStyleId>
              </a:tblPr>
              <a:tblGrid>
                <a:gridCol w="926725"/>
                <a:gridCol w="973400"/>
                <a:gridCol w="1437375"/>
                <a:gridCol w="1304725"/>
                <a:gridCol w="952125"/>
                <a:gridCol w="1042375"/>
                <a:gridCol w="968425"/>
              </a:tblGrid>
              <a:tr h="460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Cluster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Age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Distance Residence–Work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Transportation Expense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Son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Pet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BMI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</a:tr>
              <a:tr h="32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45.22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31.11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203.56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1.00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2.11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32.78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</a:tr>
              <a:tr h="32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32.80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47.60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304.20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2.00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3.40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24.40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</a:tr>
              <a:tr h="32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31.70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24.90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223.30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0.10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0.20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23.50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</a:tr>
              <a:tr h="32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41.00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17.67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246.33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1.75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0.67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24.92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  <p:sp>
        <p:nvSpPr>
          <p:cNvPr id="194" name="Google Shape;194;p27"/>
          <p:cNvSpPr/>
          <p:nvPr/>
        </p:nvSpPr>
        <p:spPr>
          <a:xfrm>
            <a:off x="7878129" y="1434412"/>
            <a:ext cx="661500" cy="340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5" name="Google Shape;195;p27"/>
          <p:cNvGraphicFramePr/>
          <p:nvPr/>
        </p:nvGraphicFramePr>
        <p:xfrm>
          <a:off x="1090913" y="29371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{548626DA-C122-48EB-9E28-13EA1DB0E810}</a:tableStyleId>
              </a:tblPr>
              <a:tblGrid>
                <a:gridCol w="845025"/>
                <a:gridCol w="845025"/>
                <a:gridCol w="1118550"/>
                <a:gridCol w="1186350"/>
                <a:gridCol w="1172250"/>
                <a:gridCol w="511100"/>
                <a:gridCol w="586600"/>
                <a:gridCol w="495250"/>
                <a:gridCol w="845025"/>
              </a:tblGrid>
              <a:tr h="290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Education</a:t>
                      </a:r>
                      <a:endParaRPr sz="15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Drinker</a:t>
                      </a:r>
                      <a:endParaRPr sz="12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Smoker</a:t>
                      </a:r>
                      <a:endParaRPr sz="12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90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Cluster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Graduate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High School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Master/Doctor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Postgraduate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 sz="12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2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 sz="12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 sz="12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44.4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55.6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88.9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11.1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8.3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75.0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8.3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8.3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41.7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58.3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66.7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33.3</a:t>
                      </a:r>
                      <a:endParaRPr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8000" marB="18000" marR="18000" marL="18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7"/>
          <p:cNvSpPr/>
          <p:nvPr/>
        </p:nvSpPr>
        <p:spPr>
          <a:xfrm>
            <a:off x="6708968" y="3761688"/>
            <a:ext cx="661500" cy="340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5888826" y="2074762"/>
            <a:ext cx="661500" cy="340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3385585" y="1751060"/>
            <a:ext cx="661500" cy="340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0" y="1414075"/>
            <a:ext cx="109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*Clustering con kprototypes</a:t>
            </a:r>
            <a:endParaRPr sz="1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(ideal para combinar variables numéricas y categóricas)</a:t>
            </a:r>
            <a:endParaRPr sz="1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1477475" y="1917150"/>
            <a:ext cx="6635100" cy="13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y desempeño profesional</a:t>
            </a:r>
            <a:endParaRPr sz="24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811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Departamento de Analistas de Datos de RRHH</a:t>
            </a:r>
            <a:endParaRPr sz="1811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5499610" y="0"/>
            <a:ext cx="3644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a" sz="17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y desempeño profesiona</a:t>
            </a:r>
            <a:r>
              <a:rPr lang="ca" sz="17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endParaRPr sz="2100"/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1349275" y="4967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Definición de </a:t>
            </a: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los perfiles sociodemográficos</a:t>
            </a:r>
            <a:endParaRPr i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1" name="Google Shape;211;p29"/>
          <p:cNvSpPr txBox="1"/>
          <p:nvPr>
            <p:ph type="title"/>
          </p:nvPr>
        </p:nvSpPr>
        <p:spPr>
          <a:xfrm>
            <a:off x="1349279" y="1205974"/>
            <a:ext cx="59436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Variables sociodemográficas consideradas: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2" name="Google Shape;212;p29"/>
          <p:cNvSpPr txBox="1"/>
          <p:nvPr>
            <p:ph type="title"/>
          </p:nvPr>
        </p:nvSpPr>
        <p:spPr>
          <a:xfrm>
            <a:off x="1394632" y="1793497"/>
            <a:ext cx="5943600" cy="25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7375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Font typeface="Verdana"/>
              <a:buChar char="●"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Edad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375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Font typeface="Verdana"/>
              <a:buChar char="●"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Distancia entre domicilio y trabajo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375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Font typeface="Verdana"/>
              <a:buChar char="●"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Gasto en transporte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375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Font typeface="Verdana"/>
              <a:buChar char="●"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Número de hijos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375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Font typeface="Verdana"/>
              <a:buChar char="●"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Número de mascotas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375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Font typeface="Verdana"/>
              <a:buChar char="●"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Índice de masa muscular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375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Font typeface="Verdana"/>
              <a:buChar char="●"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Educación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375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Font typeface="Verdana"/>
              <a:buChar char="●"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Bebedores (sí/no)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7375" lvl="0" marL="457200" rtl="0" algn="l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Font typeface="Verdana"/>
              <a:buChar char="●"/>
            </a:pPr>
            <a:r>
              <a:rPr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Fumadores (sí/no)</a:t>
            </a:r>
            <a:endParaRPr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" name="Google Shape;217;p30"/>
          <p:cNvGraphicFramePr/>
          <p:nvPr/>
        </p:nvGraphicFramePr>
        <p:xfrm>
          <a:off x="257660" y="15518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{548626DA-C122-48EB-9E28-13EA1DB0E810}</a:tableStyleId>
              </a:tblPr>
              <a:tblGrid>
                <a:gridCol w="1097600"/>
                <a:gridCol w="2445300"/>
                <a:gridCol w="1421600"/>
                <a:gridCol w="3752125"/>
              </a:tblGrid>
              <a:tr h="36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Perfil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Nombre del grupo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Nº de empleados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Resumen del Perfil 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80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Adultos con familia y con sobrepeso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Edad alta (~45 años), viven a ~31 km, gasto en transporte bajo, pocos hijos (~1) y varias mascotas (&gt;2), BMI muy elevado (~33). Educación secundaria. ~55% beben socialmente, pocos fuman (11%).</a:t>
                      </a:r>
                      <a:endParaRPr sz="9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Adultos con familia que viven cerca del trabajo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</a:t>
                      </a:r>
                      <a:endParaRPr sz="9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Edad media-alta (~41 años), distancia corta (~18 km), gasto en transporte medio, varios hijos ≈2, pocas mascotas (~1). BMI saludable (~25). 75% educación secundaria, 8% Master, 8% posgrado. 58% beben socialmente, 33% fuman.</a:t>
                      </a:r>
                      <a:endParaRPr sz="9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Jóvenes bebedores, con familia, lejos del trabajo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Jóvenes (~33 años), gran distancia al trabajo (~48 km), elevado gasto en transporte (~304 $), varios hijos (~2) y mascotas (~3). BMI normal (~24). Mayoría educación secundaria. 80% beben socialmente, 20% fuman.</a:t>
                      </a:r>
                      <a:endParaRPr sz="9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Jóvenes saludables, sin familia y estudios variados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8000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Jóvenes (~32 años), distancia moderada (25 km), gasto en transporte medio, casi sin hijos ni mascotas. BMI bajo (~23.5). 60% educación secundaria, 20% posgrado. Pocos beben (30%), casi no fuman (10%).</a:t>
                      </a:r>
                      <a:endParaRPr sz="9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30"/>
          <p:cNvSpPr txBox="1"/>
          <p:nvPr>
            <p:ph type="title"/>
          </p:nvPr>
        </p:nvSpPr>
        <p:spPr>
          <a:xfrm>
            <a:off x="5499610" y="0"/>
            <a:ext cx="3644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a" sz="17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y desempeño profesional</a:t>
            </a:r>
            <a:endParaRPr sz="2100"/>
          </a:p>
        </p:txBody>
      </p:sp>
      <p:sp>
        <p:nvSpPr>
          <p:cNvPr id="219" name="Google Shape;219;p30"/>
          <p:cNvSpPr txBox="1"/>
          <p:nvPr>
            <p:ph type="title"/>
          </p:nvPr>
        </p:nvSpPr>
        <p:spPr>
          <a:xfrm>
            <a:off x="1355250" y="4967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Perfiles sociodemográficos</a:t>
            </a:r>
            <a:endParaRPr i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idx="1" type="body"/>
          </p:nvPr>
        </p:nvSpPr>
        <p:spPr>
          <a:xfrm>
            <a:off x="1349275" y="1443375"/>
            <a:ext cx="7468200" cy="3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"/>
              <a:buNone/>
            </a:pPr>
            <a:r>
              <a:rPr i="1" lang="ca" sz="3750" u="sng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Necesidades principales</a:t>
            </a:r>
            <a:endParaRPr i="1" sz="3750" u="sng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"/>
              <a:buNone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Salud y bienestar, conciliación familiar, reconocimiento. </a:t>
            </a:r>
            <a:endParaRPr sz="398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"/>
              <a:buNone/>
            </a:pPr>
            <a:r>
              <a:rPr i="1" lang="ca" sz="3750" u="sng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Políticas recomendadas</a:t>
            </a:r>
            <a:endParaRPr i="1" sz="3750" u="sng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Programas de salud y bienestar: revisión médica regular, convenios con gimnasios, nutricionista, talleres de gestión del estrés.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Horarios flexibles para compatibilizar familia y trabajo. 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Formación continuada adaptada (técnicas, digitalización, seguridad laboral).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Planes de reconocimiento para fomentar la motivación (pueden sentirse menos valorados en comparación con perfiles más jóvenes y formados).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1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○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Proyectos de mentoring: pueden transmitir su experiencia a los más jóvenes.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ct val="61111"/>
              <a:buNone/>
            </a:pPr>
            <a:r>
              <a:t/>
            </a:r>
            <a:endParaRPr sz="450"/>
          </a:p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t/>
            </a:r>
            <a:endParaRPr sz="450"/>
          </a:p>
        </p:txBody>
      </p:sp>
      <p:sp>
        <p:nvSpPr>
          <p:cNvPr id="225" name="Google Shape;225;p31"/>
          <p:cNvSpPr txBox="1"/>
          <p:nvPr>
            <p:ph type="title"/>
          </p:nvPr>
        </p:nvSpPr>
        <p:spPr>
          <a:xfrm>
            <a:off x="1349275" y="993675"/>
            <a:ext cx="8520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00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Perfiles A y B: </a:t>
            </a:r>
            <a:r>
              <a:rPr lang="ca" sz="2000">
                <a:latin typeface="Verdana"/>
                <a:ea typeface="Verdana"/>
                <a:cs typeface="Verdana"/>
                <a:sym typeface="Verdana"/>
              </a:rPr>
              <a:t>Adultos con familia (y A con sobrepeso)</a:t>
            </a:r>
            <a:endParaRPr b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6" name="Google Shape;226;p31"/>
          <p:cNvSpPr txBox="1"/>
          <p:nvPr>
            <p:ph type="title"/>
          </p:nvPr>
        </p:nvSpPr>
        <p:spPr>
          <a:xfrm>
            <a:off x="5499610" y="0"/>
            <a:ext cx="3644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a" sz="17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y desempeño profesional</a:t>
            </a:r>
            <a:endParaRPr sz="2100"/>
          </a:p>
        </p:txBody>
      </p:sp>
      <p:sp>
        <p:nvSpPr>
          <p:cNvPr id="227" name="Google Shape;227;p31"/>
          <p:cNvSpPr txBox="1"/>
          <p:nvPr>
            <p:ph type="title"/>
          </p:nvPr>
        </p:nvSpPr>
        <p:spPr>
          <a:xfrm>
            <a:off x="1349275" y="4967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Propuestas de negocio</a:t>
            </a:r>
            <a:endParaRPr i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idx="1" type="body"/>
          </p:nvPr>
        </p:nvSpPr>
        <p:spPr>
          <a:xfrm>
            <a:off x="1349275" y="1443375"/>
            <a:ext cx="7438200" cy="30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"/>
              <a:buNone/>
            </a:pPr>
            <a:r>
              <a:rPr i="1" lang="ca" sz="3750" u="sng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Necesidades principales</a:t>
            </a:r>
            <a:endParaRPr i="1" sz="3750" u="sng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"/>
              <a:buNone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Salud y bienestar, conciliación familiar, estrés por la distancia. </a:t>
            </a:r>
            <a:endParaRPr sz="398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"/>
              <a:buNone/>
            </a:pPr>
            <a:r>
              <a:rPr i="1" lang="ca" sz="3750" u="sng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Políticas recomendadas</a:t>
            </a:r>
            <a:endParaRPr i="1" sz="3750" u="sng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Programas de salud y bienestar: campañas para reducir el consumo de alcohol, fomentar la actividad física mediante convenios con gimnasios, revisión médica regular, talleres de gestión del estrés.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Horarios flexibles para compatibilizar familia y trabajo. 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Complemento económico para cubrir los gastos de transporte. 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Formación que les permita crecer dentro de la empresa y mantener la motivación. </a:t>
            </a:r>
            <a:endParaRPr sz="450"/>
          </a:p>
          <a:p>
            <a:pPr indent="0" lvl="0" marL="0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ct val="61111"/>
              <a:buNone/>
            </a:pPr>
            <a:r>
              <a:t/>
            </a:r>
            <a:endParaRPr sz="450"/>
          </a:p>
        </p:txBody>
      </p:sp>
      <p:sp>
        <p:nvSpPr>
          <p:cNvPr id="233" name="Google Shape;233;p32"/>
          <p:cNvSpPr txBox="1"/>
          <p:nvPr>
            <p:ph type="title"/>
          </p:nvPr>
        </p:nvSpPr>
        <p:spPr>
          <a:xfrm>
            <a:off x="1349275" y="993675"/>
            <a:ext cx="8520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00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C: </a:t>
            </a:r>
            <a:r>
              <a:rPr lang="ca" sz="2000">
                <a:latin typeface="Verdana"/>
                <a:ea typeface="Verdana"/>
                <a:cs typeface="Verdana"/>
                <a:sym typeface="Verdana"/>
              </a:rPr>
              <a:t>Jóvenes bebedores, con familia, lejos del trabajo</a:t>
            </a:r>
            <a:endParaRPr b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4" name="Google Shape;234;p32"/>
          <p:cNvSpPr txBox="1"/>
          <p:nvPr>
            <p:ph type="title"/>
          </p:nvPr>
        </p:nvSpPr>
        <p:spPr>
          <a:xfrm>
            <a:off x="5499610" y="0"/>
            <a:ext cx="3644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a" sz="17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y desempeño profesional</a:t>
            </a:r>
            <a:endParaRPr sz="2100"/>
          </a:p>
        </p:txBody>
      </p:sp>
      <p:sp>
        <p:nvSpPr>
          <p:cNvPr id="235" name="Google Shape;235;p32"/>
          <p:cNvSpPr txBox="1"/>
          <p:nvPr>
            <p:ph type="title"/>
          </p:nvPr>
        </p:nvSpPr>
        <p:spPr>
          <a:xfrm>
            <a:off x="1349275" y="4967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Propuestas de negocio</a:t>
            </a:r>
            <a:endParaRPr i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idx="1" type="body"/>
          </p:nvPr>
        </p:nvSpPr>
        <p:spPr>
          <a:xfrm>
            <a:off x="1349275" y="1443375"/>
            <a:ext cx="7438200" cy="30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"/>
              <a:buNone/>
            </a:pPr>
            <a:r>
              <a:rPr i="1" lang="ca" sz="3750" u="sng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Necesidades principales</a:t>
            </a:r>
            <a:endParaRPr i="1" sz="3750" u="sng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"/>
              <a:buNone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Desarrollo profesional, crecimiento, motivación y retención.</a:t>
            </a: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398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"/>
              <a:buNone/>
            </a:pPr>
            <a:r>
              <a:rPr i="1" lang="ca" sz="3750" u="sng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Políticas recomendadas</a:t>
            </a:r>
            <a:endParaRPr i="1" sz="3750" u="sng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Programas de desarrollo de talento: itinerarios de carrera, planes de liderazgo para jóvenes.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Formación avanzada: proyectos innovadores, formación técnica o en habilidades directivas. 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Programas de reconocimiento y gamificación: feedback positivo, desafíos. </a:t>
            </a:r>
            <a:endParaRPr sz="3439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5962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3439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Beneficios sociales flexibles (ocio, deporte, actividades culturales). </a:t>
            </a:r>
            <a:endParaRPr sz="450"/>
          </a:p>
          <a:p>
            <a:pPr indent="0" lvl="0" marL="0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ct val="61111"/>
              <a:buNone/>
            </a:pPr>
            <a:r>
              <a:t/>
            </a:r>
            <a:endParaRPr sz="450"/>
          </a:p>
        </p:txBody>
      </p:sp>
      <p:sp>
        <p:nvSpPr>
          <p:cNvPr id="241" name="Google Shape;241;p33"/>
          <p:cNvSpPr txBox="1"/>
          <p:nvPr>
            <p:ph type="title"/>
          </p:nvPr>
        </p:nvSpPr>
        <p:spPr>
          <a:xfrm>
            <a:off x="1349275" y="993675"/>
            <a:ext cx="8520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00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D: </a:t>
            </a:r>
            <a:r>
              <a:rPr lang="ca" sz="2000">
                <a:latin typeface="Verdana"/>
                <a:ea typeface="Verdana"/>
                <a:cs typeface="Verdana"/>
                <a:sym typeface="Verdana"/>
              </a:rPr>
              <a:t>Jóvenes saludables, sin familia y estudios variados</a:t>
            </a:r>
            <a:endParaRPr b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2" name="Google Shape;242;p33"/>
          <p:cNvSpPr txBox="1"/>
          <p:nvPr>
            <p:ph type="title"/>
          </p:nvPr>
        </p:nvSpPr>
        <p:spPr>
          <a:xfrm>
            <a:off x="5499610" y="0"/>
            <a:ext cx="3644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a" sz="17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y desempeño profesional</a:t>
            </a:r>
            <a:endParaRPr sz="2100"/>
          </a:p>
        </p:txBody>
      </p:sp>
      <p:sp>
        <p:nvSpPr>
          <p:cNvPr id="243" name="Google Shape;243;p33"/>
          <p:cNvSpPr txBox="1"/>
          <p:nvPr>
            <p:ph type="title"/>
          </p:nvPr>
        </p:nvSpPr>
        <p:spPr>
          <a:xfrm>
            <a:off x="1349275" y="4967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Propuestas de negocio</a:t>
            </a:r>
            <a:endParaRPr i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idx="1" type="body"/>
          </p:nvPr>
        </p:nvSpPr>
        <p:spPr>
          <a:xfrm>
            <a:off x="1349275" y="1748175"/>
            <a:ext cx="7038300" cy="31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b="1"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Salud y bienestar</a:t>
            </a:r>
            <a:r>
              <a:rPr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: programas adaptados según el riesgo (A y B </a:t>
            </a:r>
            <a:r>
              <a:rPr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sobrepeso</a:t>
            </a:r>
            <a:r>
              <a:rPr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/tabaquismo; C alcohol; D prevención).</a:t>
            </a:r>
            <a:endParaRPr sz="40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b="1"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Conciliación</a:t>
            </a:r>
            <a:r>
              <a:rPr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: clave para todos los que tienen familia (A, B y C). </a:t>
            </a:r>
            <a:endParaRPr sz="40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b="1"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Transporte</a:t>
            </a:r>
            <a:r>
              <a:rPr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: prioritario para C.</a:t>
            </a:r>
            <a:endParaRPr sz="40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b="1"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Motivación y reconocimiento</a:t>
            </a:r>
            <a:r>
              <a:rPr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: A y B pueden aportar experiencia a los más jóvenes. </a:t>
            </a:r>
            <a:endParaRPr sz="40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b="1"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Formación y desarrollo</a:t>
            </a:r>
            <a:r>
              <a:rPr lang="ca" sz="4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: importante para retener jóvenes (D).</a:t>
            </a:r>
            <a:endParaRPr sz="40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450"/>
          </a:p>
          <a:p>
            <a:pPr indent="0" lvl="0" marL="0" rtl="0" algn="just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ct val="61111"/>
              <a:buNone/>
            </a:pPr>
            <a:r>
              <a:t/>
            </a:r>
            <a:endParaRPr sz="450"/>
          </a:p>
        </p:txBody>
      </p:sp>
      <p:sp>
        <p:nvSpPr>
          <p:cNvPr id="249" name="Google Shape;249;p34"/>
          <p:cNvSpPr txBox="1"/>
          <p:nvPr>
            <p:ph type="title"/>
          </p:nvPr>
        </p:nvSpPr>
        <p:spPr>
          <a:xfrm>
            <a:off x="1349275" y="993675"/>
            <a:ext cx="8520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00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Resumen de medidas</a:t>
            </a:r>
            <a:endParaRPr b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" name="Google Shape;250;p34"/>
          <p:cNvSpPr txBox="1"/>
          <p:nvPr>
            <p:ph type="title"/>
          </p:nvPr>
        </p:nvSpPr>
        <p:spPr>
          <a:xfrm>
            <a:off x="5499610" y="0"/>
            <a:ext cx="3644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a" sz="17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y desempeño profesional</a:t>
            </a:r>
            <a:endParaRPr sz="2100"/>
          </a:p>
        </p:txBody>
      </p:sp>
      <p:sp>
        <p:nvSpPr>
          <p:cNvPr id="251" name="Google Shape;251;p34"/>
          <p:cNvSpPr txBox="1"/>
          <p:nvPr>
            <p:ph type="title"/>
          </p:nvPr>
        </p:nvSpPr>
        <p:spPr>
          <a:xfrm>
            <a:off x="1349275" y="4967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Propuestas de negocio</a:t>
            </a:r>
            <a:endParaRPr i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325" y="1495777"/>
            <a:ext cx="7362799" cy="338314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5"/>
          <p:cNvSpPr txBox="1"/>
          <p:nvPr>
            <p:ph type="title"/>
          </p:nvPr>
        </p:nvSpPr>
        <p:spPr>
          <a:xfrm>
            <a:off x="1349277" y="94129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0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Perfil y desempeño profesional</a:t>
            </a:r>
            <a:endParaRPr sz="20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411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Departamento de Analistas de Datos de RRHH</a:t>
            </a:r>
            <a:endParaRPr sz="1411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58" name="Google Shape;258;p35"/>
          <p:cNvSpPr txBox="1"/>
          <p:nvPr>
            <p:ph type="title"/>
          </p:nvPr>
        </p:nvSpPr>
        <p:spPr>
          <a:xfrm>
            <a:off x="1349275" y="79183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Propuestas de negocio</a:t>
            </a:r>
            <a:endParaRPr i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1477475" y="1917150"/>
            <a:ext cx="6635100" cy="13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Absentismo </a:t>
            </a:r>
            <a:r>
              <a:rPr lang="ca" sz="24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y bienestar laboral</a:t>
            </a:r>
            <a:endParaRPr sz="24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811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Departamento de Analistas de Datos de RRHH</a:t>
            </a:r>
            <a:endParaRPr sz="1811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1349277" y="227294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0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Absentismo y bienestar laboral</a:t>
            </a:r>
            <a:endParaRPr sz="20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411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Departamento de Analistas de Datos de RRHH</a:t>
            </a:r>
            <a:endParaRPr sz="1411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1327250" y="1069725"/>
            <a:ext cx="7210500" cy="97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a" sz="11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La empresa acumula un total de 5.043 h de absentismo y una media de absentismo por empleado de 140.08h. La tasa de absentismo es del 7.61% (sector 1-2%)</a:t>
            </a:r>
            <a:endParaRPr sz="1100">
              <a:solidFill>
                <a:srgbClr val="EFEFEF"/>
              </a:solidFill>
            </a:endParaRPr>
          </a:p>
        </p:txBody>
      </p:sp>
      <p:pic>
        <p:nvPicPr>
          <p:cNvPr id="270" name="Google Shape;2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75" y="1834825"/>
            <a:ext cx="5219951" cy="288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675" y="1834825"/>
            <a:ext cx="2937450" cy="288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0" y="1702150"/>
            <a:ext cx="1296300" cy="42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Absentismo y bienestar laboral</a:t>
            </a:r>
            <a:endParaRPr sz="1100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100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Departamento de Analistas de Datos de RRHH</a:t>
            </a:r>
            <a:endParaRPr sz="1100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t/>
            </a:r>
            <a:endParaRPr sz="1700"/>
          </a:p>
        </p:txBody>
      </p:sp>
      <p:sp>
        <p:nvSpPr>
          <p:cNvPr id="277" name="Google Shape;277;p38"/>
          <p:cNvSpPr txBox="1"/>
          <p:nvPr>
            <p:ph idx="1" type="body"/>
          </p:nvPr>
        </p:nvSpPr>
        <p:spPr>
          <a:xfrm>
            <a:off x="1454791" y="419494"/>
            <a:ext cx="6416100" cy="66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1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El motivo de ausencia con más </a:t>
            </a:r>
            <a:r>
              <a:rPr i="1" lang="ca" sz="11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frecuencia</a:t>
            </a:r>
            <a:r>
              <a:rPr i="1" lang="ca" sz="11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 es la Visita médica que se </a:t>
            </a:r>
            <a:r>
              <a:rPr i="1" lang="ca" sz="10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produce </a:t>
            </a:r>
            <a:r>
              <a:rPr i="1" lang="ca" sz="11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142 veces.</a:t>
            </a:r>
            <a:endParaRPr i="1" sz="11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8" name="Google Shape;27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175" y="836475"/>
            <a:ext cx="7112976" cy="398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3" name="Google Shape;283;p39"/>
          <p:cNvGraphicFramePr/>
          <p:nvPr/>
        </p:nvGraphicFramePr>
        <p:xfrm>
          <a:off x="1333775" y="31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{548626DA-C122-48EB-9E28-13EA1DB0E810}</a:tableStyleId>
              </a:tblPr>
              <a:tblGrid>
                <a:gridCol w="1126175"/>
                <a:gridCol w="1478325"/>
                <a:gridCol w="1053275"/>
                <a:gridCol w="1673125"/>
              </a:tblGrid>
              <a:tr h="45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Mes</a:t>
                      </a:r>
                      <a:endParaRPr b="1"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Cantidad de empleados</a:t>
                      </a:r>
                      <a:endParaRPr b="1"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Abstención</a:t>
                      </a:r>
                      <a:endParaRPr b="1"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Horas </a:t>
                      </a:r>
                      <a:r>
                        <a:rPr b="1" lang="ca" sz="11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promedio Absentismo por persona</a:t>
                      </a:r>
                      <a:endParaRPr b="1" sz="11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Enero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13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4,20%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16.31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Febrero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5,33%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14.16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Marzo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22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14,97%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34.32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Abril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21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9,44%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22.67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Mayo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24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7,79%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16.38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Junio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8,15%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21.63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Julio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23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14,48%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31.34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Agosto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21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5,71%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13.71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Septiembre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18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5,77%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16.17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Octubre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6,82%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18.11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Noviembre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9,36%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24.84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29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Diciembre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17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7,97%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00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23.65</a:t>
                      </a:r>
                      <a:endParaRPr sz="10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4" name="Google Shape;284;p39"/>
          <p:cNvGraphicFramePr/>
          <p:nvPr/>
        </p:nvGraphicFramePr>
        <p:xfrm>
          <a:off x="6908650" y="31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{548626DA-C122-48EB-9E28-13EA1DB0E810}</a:tableStyleId>
              </a:tblPr>
              <a:tblGrid>
                <a:gridCol w="2102725"/>
              </a:tblGrid>
              <a:tr h="1543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Índice de Eficiencia Relativa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0.35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Sector 0.7 -0.9 o +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48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Motivo Modal Absentismo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Consulta Médica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142x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48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Mes pico de ausencias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Marzo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755h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5" name="Google Shape;285;p39"/>
          <p:cNvSpPr txBox="1"/>
          <p:nvPr/>
        </p:nvSpPr>
        <p:spPr>
          <a:xfrm rot="-5400000">
            <a:off x="-18540" y="2223576"/>
            <a:ext cx="11214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3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KPI’s</a:t>
            </a:r>
            <a:endParaRPr i="1" sz="3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1340425" y="1050286"/>
            <a:ext cx="7259700" cy="3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56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Los  motivos que generan  más cantidad de horas  de ausentismo laboral son:</a:t>
            </a:r>
            <a:endParaRPr b="1" sz="56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56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Enfermedades del sistema musculoesquelético y del tejido conectivo </a:t>
            </a:r>
            <a:endParaRPr sz="56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56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Lesiones, envenenamientos y consecuencias de otras causas externas</a:t>
            </a:r>
            <a:endParaRPr sz="56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56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Visitas médicas y dentales</a:t>
            </a:r>
            <a:endParaRPr sz="56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56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Recomendamos:</a:t>
            </a:r>
            <a:endParaRPr b="1" sz="56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56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Revisar los protocolos en materia de prevención de riesgos laborales.</a:t>
            </a:r>
            <a:endParaRPr sz="56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56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Enfoque preventivo en el </a:t>
            </a:r>
            <a:r>
              <a:rPr lang="ca" sz="56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ámbito de las revisiones médicas de los empleados para así poder planificar adecuadamente las horas a cubrir por las ausencias.</a:t>
            </a:r>
            <a:endParaRPr sz="56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BFD"/>
              </a:buClr>
              <a:buSzPct val="100000"/>
              <a:buFont typeface="Verdana"/>
              <a:buChar char="●"/>
            </a:pPr>
            <a:r>
              <a:rPr lang="ca" sz="56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Planificar la contratación de las horas a cubrir con los datos de que dispone la empresa.</a:t>
            </a:r>
            <a:endParaRPr sz="450"/>
          </a:p>
        </p:txBody>
      </p:sp>
      <p:sp>
        <p:nvSpPr>
          <p:cNvPr id="291" name="Google Shape;291;p40"/>
          <p:cNvSpPr txBox="1"/>
          <p:nvPr>
            <p:ph type="title"/>
          </p:nvPr>
        </p:nvSpPr>
        <p:spPr>
          <a:xfrm>
            <a:off x="1340425" y="4967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Propuestas de negocio</a:t>
            </a:r>
            <a:endParaRPr i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2" name="Google Shape;292;p40"/>
          <p:cNvSpPr txBox="1"/>
          <p:nvPr>
            <p:ph type="title"/>
          </p:nvPr>
        </p:nvSpPr>
        <p:spPr>
          <a:xfrm>
            <a:off x="5499610" y="0"/>
            <a:ext cx="3644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a" sz="17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Absentismo y bienestar laboral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/>
          <p:nvPr>
            <p:ph idx="1" type="body"/>
          </p:nvPr>
        </p:nvSpPr>
        <p:spPr>
          <a:xfrm>
            <a:off x="1340425" y="1050286"/>
            <a:ext cx="7259700" cy="3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ca" sz="14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Los social drinkers tienen más horas de ausencias (mediana más alta)</a:t>
            </a:r>
            <a:endParaRPr b="1" sz="14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ca" sz="14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Los empleados que son social drinkers tienen significativamente más probabilidad de ausencia elevada</a:t>
            </a:r>
            <a:endParaRPr b="1" sz="14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ca" sz="135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Recomendamos:</a:t>
            </a:r>
            <a:endParaRPr b="1" sz="135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9FBFD"/>
              </a:buClr>
              <a:buSzPts val="1400"/>
              <a:buFont typeface="Verdana"/>
              <a:buChar char="●"/>
            </a:pPr>
            <a:r>
              <a:rPr lang="ca" sz="14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Centrar las intervenciones en los social drinkers, que muestran más </a:t>
            </a:r>
            <a:r>
              <a:rPr lang="ca" sz="14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ausencias</a:t>
            </a:r>
            <a:r>
              <a:rPr lang="ca" sz="14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14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BFD"/>
              </a:buClr>
              <a:buSzPts val="1400"/>
              <a:buFont typeface="Verdana"/>
              <a:buChar char="●"/>
            </a:pPr>
            <a:r>
              <a:rPr lang="ca" sz="1400">
                <a:solidFill>
                  <a:srgbClr val="F9FBFD"/>
                </a:solidFill>
                <a:latin typeface="Verdana"/>
                <a:ea typeface="Verdana"/>
                <a:cs typeface="Verdana"/>
                <a:sym typeface="Verdana"/>
              </a:rPr>
              <a:t>Considerar programas de soporte a la reducción del consumo de alcohol.</a:t>
            </a:r>
            <a:endParaRPr sz="1400">
              <a:solidFill>
                <a:srgbClr val="F9FBF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p41"/>
          <p:cNvSpPr txBox="1"/>
          <p:nvPr>
            <p:ph type="title"/>
          </p:nvPr>
        </p:nvSpPr>
        <p:spPr>
          <a:xfrm>
            <a:off x="5499610" y="0"/>
            <a:ext cx="3644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ca" sz="17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Absentismo y bienestar laboral</a:t>
            </a:r>
            <a:endParaRPr sz="2100"/>
          </a:p>
        </p:txBody>
      </p:sp>
      <p:sp>
        <p:nvSpPr>
          <p:cNvPr id="299" name="Google Shape;299;p41"/>
          <p:cNvSpPr txBox="1"/>
          <p:nvPr>
            <p:ph type="title"/>
          </p:nvPr>
        </p:nvSpPr>
        <p:spPr>
          <a:xfrm>
            <a:off x="1340425" y="4967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903">
                <a:solidFill>
                  <a:srgbClr val="EFEFEF"/>
                </a:solidFill>
                <a:latin typeface="Verdana"/>
                <a:ea typeface="Verdana"/>
                <a:cs typeface="Verdana"/>
                <a:sym typeface="Verdana"/>
              </a:rPr>
              <a:t>Propuestas de negocio</a:t>
            </a:r>
            <a:endParaRPr i="1" sz="1903">
              <a:solidFill>
                <a:srgbClr val="EFEFE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/>
          <p:nvPr>
            <p:ph type="ctrTitle"/>
          </p:nvPr>
        </p:nvSpPr>
        <p:spPr>
          <a:xfrm>
            <a:off x="3412525" y="1295150"/>
            <a:ext cx="5731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ca" sz="2450"/>
              <a:t>Analistas de Datos responsables:</a:t>
            </a:r>
            <a:endParaRPr sz="2450"/>
          </a:p>
        </p:txBody>
      </p:sp>
      <p:sp>
        <p:nvSpPr>
          <p:cNvPr id="305" name="Google Shape;305;p42"/>
          <p:cNvSpPr txBox="1"/>
          <p:nvPr/>
        </p:nvSpPr>
        <p:spPr>
          <a:xfrm>
            <a:off x="3448050" y="1957450"/>
            <a:ext cx="24228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70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Gemma Cardona </a:t>
            </a:r>
            <a:endParaRPr sz="1670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670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Joel Gallarte </a:t>
            </a:r>
            <a:endParaRPr sz="1670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670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Lucan Vieira</a:t>
            </a:r>
            <a:endParaRPr sz="1670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ca" sz="1670">
                <a:solidFill>
                  <a:srgbClr val="ADADAD"/>
                </a:solidFill>
                <a:latin typeface="Verdana"/>
                <a:ea typeface="Verdana"/>
                <a:cs typeface="Verdana"/>
                <a:sym typeface="Verdana"/>
              </a:rPr>
              <a:t>Oriac Gimeno</a:t>
            </a:r>
            <a:endParaRPr sz="1670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70">
              <a:solidFill>
                <a:srgbClr val="ADADA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60">
              <a:solidFill>
                <a:srgbClr val="ADADAD"/>
              </a:solidFill>
            </a:endParaRPr>
          </a:p>
        </p:txBody>
      </p:sp>
      <p:sp>
        <p:nvSpPr>
          <p:cNvPr id="306" name="Google Shape;306;p42"/>
          <p:cNvSpPr txBox="1"/>
          <p:nvPr/>
        </p:nvSpPr>
        <p:spPr>
          <a:xfrm>
            <a:off x="3412525" y="457925"/>
            <a:ext cx="3662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3500">
                <a:solidFill>
                  <a:srgbClr val="A4C2F4"/>
                </a:solidFill>
                <a:latin typeface="Verdana"/>
                <a:ea typeface="Verdana"/>
                <a:cs typeface="Verdana"/>
                <a:sym typeface="Verdana"/>
              </a:rPr>
              <a:t>RapidExpress</a:t>
            </a:r>
            <a:endParaRPr sz="3500">
              <a:solidFill>
                <a:srgbClr val="A4C2F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