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</p:sldIdLst>
  <p:sldSz cx="9144000" cy="5143500" type="screen16x9"/>
  <p:notesSz cx="6858000" cy="9144000"/>
  <p:embeddedFontLst>
    <p:embeddedFont>
      <p:font typeface="Lato" panose="020F0502020204030204" pitchFamily="34" charset="0"/>
      <p:regular r:id="rId14"/>
      <p:bold r:id="rId15"/>
      <p:italic r:id="rId16"/>
      <p:boldItalic r:id="rId17"/>
    </p:embeddedFont>
    <p:embeddedFont>
      <p:font typeface="Raleway" panose="020F0502020204030204" pitchFamily="2" charset="0"/>
      <p:regular r:id="rId18"/>
      <p:bold r:id="rId19"/>
      <p:italic r:id="rId20"/>
      <p:boldItalic r:id="rId21"/>
    </p:embeddedFont>
    <p:embeddedFont>
      <p:font typeface="Raleway SemiBold" panose="020F0502020204030204" pitchFamily="2" charset="0"/>
      <p:regular r:id="rId22"/>
      <p:bold r:id="rId23"/>
      <p:italic r:id="rId24"/>
      <p:boldItalic r:id="rId25"/>
    </p:embeddedFont>
    <p:embeddedFont>
      <p:font typeface="Roboto" panose="020F0502020204030204" pitchFamily="2" charset="0"/>
      <p:regular r:id="rId26"/>
      <p:bold r:id="rId27"/>
      <p:italic r:id="rId28"/>
      <p:boldItalic r:id="rId29"/>
    </p:embeddedFont>
    <p:embeddedFont>
      <p:font typeface="Roboto Medium" panose="020F0502020204030204" pitchFamily="2" charset="0"/>
      <p:regular r:id="rId30"/>
      <p:bold r:id="rId31"/>
      <p:italic r:id="rId32"/>
      <p:boldItalic r:id="rId33"/>
    </p:embeddedFont>
    <p:embeddedFont>
      <p:font typeface="Roboto Slab" panose="020F0502020204030204" pitchFamily="2" charset="0"/>
      <p:regular r:id="rId34"/>
      <p:bold r:id="rId35"/>
    </p:embeddedFont>
    <p:embeddedFont>
      <p:font typeface="Roboto Thin" panose="020F0502020204030204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DC6185-69B0-4E81-BFC5-58BE46B2EA6F}">
  <a:tblStyle styleId="{1ADC6185-69B0-4E81-BFC5-58BE46B2EA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font" Target="fonts/font26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1c3372df9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1c3372df9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1c3372df9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1c3372df9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e7c3d3a45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e7c3d3a45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1c3372df9_0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1c3372df9_0_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1c3372df9_0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1c3372df9_0_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e7c3d3a45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e7c3d3a45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1c3372df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1c3372df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7cf5afc1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7cf5afc1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907d7779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907d7779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907d7779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907d7779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4f02e878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384f02e878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rgbClr val="CFE2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Departamento de Análisis de Datos de RRHH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6097050" y="4686950"/>
            <a:ext cx="3047100" cy="3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000"/>
              <a:t>6 de Octubre de 2025</a:t>
            </a:r>
            <a:endParaRPr sz="2000"/>
          </a:p>
        </p:txBody>
      </p:sp>
      <p:sp>
        <p:nvSpPr>
          <p:cNvPr id="65" name="Google Shape;65;p13"/>
          <p:cNvSpPr txBox="1">
            <a:spLocks noGrp="1"/>
          </p:cNvSpPr>
          <p:nvPr>
            <p:ph type="ctrTitle"/>
          </p:nvPr>
        </p:nvSpPr>
        <p:spPr>
          <a:xfrm>
            <a:off x="958350" y="1114342"/>
            <a:ext cx="72273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Insights y propuestas de negocio</a:t>
            </a:r>
            <a:endParaRPr sz="30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66" name="Google Shape;66;p13" title="ChatGPT Image 22 de set. del 2025, 22_03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450" y="0"/>
            <a:ext cx="4393098" cy="29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1722150" y="1783038"/>
            <a:ext cx="70908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Investigar las características asociadas con un mejor desempeño laboral 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783037"/>
            <a:ext cx="933301" cy="9333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1722150" y="3017400"/>
            <a:ext cx="68385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Proponer nuevas estrategias de selección, capacitación y retención 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3017408"/>
            <a:ext cx="933301" cy="9333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1431325" y="1001400"/>
            <a:ext cx="676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Variables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1612538" y="3656786"/>
            <a:ext cx="5957975" cy="643500"/>
            <a:chOff x="1593000" y="2322568"/>
            <a:chExt cx="5957975" cy="643500"/>
          </a:xfrm>
        </p:grpSpPr>
        <p:sp>
          <p:nvSpPr>
            <p:cNvPr id="85" name="Google Shape;85;p1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7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Laborales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3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Falta disciplinaria (1 = ha tenido una falta , 0 = no)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Total de horas absentismo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Cantidad de faltas injustificadas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Media de cumplimiento diaria (1 a 100)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1612550" y="1693423"/>
            <a:ext cx="5957975" cy="1693370"/>
            <a:chOff x="1593000" y="2322568"/>
            <a:chExt cx="5957975" cy="643500"/>
          </a:xfrm>
        </p:grpSpPr>
        <p:sp>
          <p:nvSpPr>
            <p:cNvPr id="93" name="Google Shape;93;p1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7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7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Personales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CDF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3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Edad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Distancia al trabajo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Gasto en transporte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Cantidad de hijos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Nivel educativo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Bebedor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Fumador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Peso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Altura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BMI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ca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Años en la empresa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Insights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25" y="1606800"/>
            <a:ext cx="862151" cy="86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5101188" y="965250"/>
            <a:ext cx="1917600" cy="9333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6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Falta </a:t>
            </a:r>
            <a:endParaRPr sz="68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ca" sz="68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disciplinaria</a:t>
            </a:r>
            <a:endParaRPr sz="68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5101200" y="3634113"/>
            <a:ext cx="1917600" cy="9333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Número de ausencias injustificadas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5101200" y="2105088"/>
            <a:ext cx="1917600" cy="9333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Total horas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absentismo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1393950" y="1571225"/>
            <a:ext cx="1476300" cy="9333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Gasto en transporte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425" y="3705750"/>
            <a:ext cx="862150" cy="790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1393942" y="3634113"/>
            <a:ext cx="753300" cy="9333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Peso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BMI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13" name="Google Shape;113;p16"/>
          <p:cNvCxnSpPr>
            <a:stCxn id="112" idx="3"/>
            <a:endCxn id="108" idx="1"/>
          </p:cNvCxnSpPr>
          <p:nvPr/>
        </p:nvCxnSpPr>
        <p:spPr>
          <a:xfrm>
            <a:off x="2147242" y="4100763"/>
            <a:ext cx="2954100" cy="0"/>
          </a:xfrm>
          <a:prstGeom prst="straightConnector1">
            <a:avLst/>
          </a:prstGeom>
          <a:noFill/>
          <a:ln w="9525" cap="flat" cmpd="sng">
            <a:solidFill>
              <a:srgbClr val="151517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114" name="Google Shape;114;p16"/>
          <p:cNvCxnSpPr>
            <a:stCxn id="110" idx="3"/>
            <a:endCxn id="107" idx="1"/>
          </p:cNvCxnSpPr>
          <p:nvPr/>
        </p:nvCxnSpPr>
        <p:spPr>
          <a:xfrm rot="10800000" flipH="1">
            <a:off x="2870250" y="1431875"/>
            <a:ext cx="2230800" cy="606000"/>
          </a:xfrm>
          <a:prstGeom prst="straightConnector1">
            <a:avLst/>
          </a:prstGeom>
          <a:noFill/>
          <a:ln w="9525" cap="flat" cmpd="sng">
            <a:solidFill>
              <a:srgbClr val="151517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115" name="Google Shape;115;p16"/>
          <p:cNvCxnSpPr>
            <a:stCxn id="110" idx="3"/>
            <a:endCxn id="109" idx="1"/>
          </p:cNvCxnSpPr>
          <p:nvPr/>
        </p:nvCxnSpPr>
        <p:spPr>
          <a:xfrm>
            <a:off x="2870250" y="2037875"/>
            <a:ext cx="2231100" cy="534000"/>
          </a:xfrm>
          <a:prstGeom prst="straightConnector1">
            <a:avLst/>
          </a:prstGeom>
          <a:noFill/>
          <a:ln w="9525" cap="flat" cmpd="sng">
            <a:solidFill>
              <a:srgbClr val="151517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 rot="795877">
            <a:off x="3382674" y="2324147"/>
            <a:ext cx="1021143" cy="544009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ca" sz="1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Correlación Sperman</a:t>
            </a:r>
            <a:endParaRPr sz="115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1"/>
          </p:nvPr>
        </p:nvSpPr>
        <p:spPr>
          <a:xfrm rot="-918850">
            <a:off x="3324896" y="1237925"/>
            <a:ext cx="1021159" cy="497082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ca" sz="9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Mann-Whitney U Test</a:t>
            </a:r>
            <a:endParaRPr sz="95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3113625" y="3531192"/>
            <a:ext cx="1021200" cy="534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ca" sz="11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Correlación Spearman</a:t>
            </a:r>
            <a:endParaRPr sz="115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 de negocio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871575" y="1984650"/>
            <a:ext cx="75312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"/>
              <a:buChar char="●"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Contratar a personas que vayan al trabajo en transporte público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"/>
              <a:buChar char="●"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Entrevistas con preguntas sobre sus valores, habilidades y aspectos personales como hobbies o platos favoritos.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709425" y="1296768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 de selección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709425" y="302134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 de capacitación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871575" y="3810900"/>
            <a:ext cx="7090800" cy="7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"/>
              <a:buChar char="●"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Mentoría y coaching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aleway"/>
              <a:buChar char="●"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Programas de salud y bienestar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Perfil y desempeño profesional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 de negocio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871575" y="1984664"/>
            <a:ext cx="7090800" cy="27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aleway"/>
              <a:buChar char="●"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Condiciones de trabajo saludables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aleway"/>
              <a:buChar char="●"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Flexibilidad horaria, ayuda para el transporte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709425" y="1296768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 de retención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650" y="3055552"/>
            <a:ext cx="3395300" cy="16976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8" name="Google Shape;138;p18" descr="salud-y-trabajo -escalas-la-gente-equilibra-el-dinero-del-sueno-comparacion-de-estres-empresarial-vida- saludable-minusculo-202390253 SCMS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4050" y="3055550"/>
            <a:ext cx="3395326" cy="16976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44" name="Google Shape;144;p19"/>
          <p:cNvSpPr txBox="1">
            <a:spLocks noGrp="1"/>
          </p:cNvSpPr>
          <p:nvPr>
            <p:ph type="body" idx="1"/>
          </p:nvPr>
        </p:nvSpPr>
        <p:spPr>
          <a:xfrm>
            <a:off x="1722150" y="1783038"/>
            <a:ext cx="70908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Qué factores personales y laborales están más asociados al absentismo elevado?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783037"/>
            <a:ext cx="933301" cy="93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1722150" y="3017400"/>
            <a:ext cx="68385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ca" sz="2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Qué podemos hacer para  para abordar proactivamente estos perfiles de riesgo i reducir las ausencias?</a:t>
            </a:r>
            <a:endParaRPr sz="2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3017408"/>
            <a:ext cx="933301" cy="9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El análisis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 rot="10800000" flipH="1">
            <a:off x="3799001" y="3265195"/>
            <a:ext cx="539100" cy="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" name="Google Shape;156;p20"/>
          <p:cNvSpPr txBox="1"/>
          <p:nvPr/>
        </p:nvSpPr>
        <p:spPr>
          <a:xfrm>
            <a:off x="452200" y="1246321"/>
            <a:ext cx="32787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Correlación entre las variables personales y laborales y niveles elevados de ausentismo </a:t>
            </a:r>
            <a:endParaRPr sz="11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Variables significativas</a:t>
            </a:r>
            <a:endParaRPr sz="11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5148450" y="1316525"/>
            <a:ext cx="3278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Impacto de las 4 variables significativas en el total de horas de ausentismo </a:t>
            </a:r>
            <a:endParaRPr sz="11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229725" y="4706050"/>
            <a:ext cx="3946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sng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Metodología utilizada: </a:t>
            </a:r>
            <a:r>
              <a:rPr lang="ca" sz="10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Shapiro-Wilk,Spearman, Point Biserial, Mann-Whitney /T-test, Odds Ratio y Cohen’s d.</a:t>
            </a:r>
            <a:endParaRPr sz="100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0" title="8_grafico_simple_cla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" y="2326125"/>
            <a:ext cx="3730898" cy="180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 title="6_impacto_completo_mejorado.png"/>
          <p:cNvPicPr preferRelativeResize="0"/>
          <p:nvPr/>
        </p:nvPicPr>
        <p:blipFill rotWithShape="1">
          <a:blip r:embed="rId4">
            <a:alphaModFix/>
          </a:blip>
          <a:srcRect l="2837" t="7261"/>
          <a:stretch/>
        </p:blipFill>
        <p:spPr>
          <a:xfrm>
            <a:off x="4310700" y="1887050"/>
            <a:ext cx="4846915" cy="281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4657025" y="4706050"/>
            <a:ext cx="3946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sng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Metodología utilizada: </a:t>
            </a:r>
            <a:r>
              <a:rPr lang="ca" sz="1000">
                <a:solidFill>
                  <a:srgbClr val="2D3748"/>
                </a:solidFill>
                <a:latin typeface="Roboto"/>
                <a:ea typeface="Roboto"/>
                <a:cs typeface="Roboto"/>
                <a:sym typeface="Roboto"/>
              </a:rPr>
              <a:t>regresión lineal multivariable</a:t>
            </a:r>
            <a:endParaRPr sz="1000">
              <a:solidFill>
                <a:srgbClr val="2D3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/>
        </p:nvSpPr>
        <p:spPr>
          <a:xfrm>
            <a:off x="387900" y="1318375"/>
            <a:ext cx="7991100" cy="3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Trabajadores con hijos: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Objetivo: </a:t>
            </a:r>
            <a:r>
              <a:rPr lang="ca" sz="18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Dar herramientas para gestionar necesidades familiares sin ausencias prolongadas</a:t>
            </a:r>
            <a:endParaRPr sz="1500">
              <a:solidFill>
                <a:srgbClr val="78350F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endParaRPr sz="1850">
              <a:solidFill>
                <a:srgbClr val="2D374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Medio</a:t>
            </a: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r>
              <a:rPr lang="ca" sz="1850" b="1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Políticas de Conciliación Familiar</a:t>
            </a:r>
            <a:endParaRPr sz="1850" b="1">
              <a:latin typeface="Raleway"/>
              <a:ea typeface="Raleway"/>
              <a:cs typeface="Raleway"/>
              <a:sym typeface="Raleway"/>
            </a:endParaRPr>
          </a:p>
          <a:p>
            <a:pPr marL="1828800" lvl="0" indent="-346075" algn="l" rtl="0"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Flexibilidad horaria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marL="1828800" lvl="0" indent="-346075" algn="l" rtl="0"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Banco de horas para emergencias entre trabajadores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marL="1828800" lvl="0" indent="-346075" algn="l" rtl="0"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Redes de apoyo con acuerdos con guarderías o servicios de urgencias a domicilio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4" name="Google Shape;174;p22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Propuestas: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/>
        </p:nvSpPr>
        <p:spPr>
          <a:xfrm>
            <a:off x="387900" y="1318375"/>
            <a:ext cx="7991100" cy="3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Trabajadores con faltas disciplinarias :</a:t>
            </a:r>
            <a:endParaRPr sz="2100" u="sng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Objetivo:</a:t>
            </a:r>
            <a:r>
              <a:rPr lang="ca" sz="1850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Replicar factores de bajo absentismo sin generar presentismo riesgoso</a:t>
            </a:r>
            <a:endParaRPr sz="1850">
              <a:solidFill>
                <a:srgbClr val="2D374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endParaRPr sz="1850">
              <a:solidFill>
                <a:srgbClr val="2D3748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Medio</a:t>
            </a: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r>
              <a:rPr lang="ca" sz="1850" b="1">
                <a:solidFill>
                  <a:srgbClr val="2D3748"/>
                </a:solidFill>
                <a:latin typeface="Raleway"/>
                <a:ea typeface="Raleway"/>
                <a:cs typeface="Raleway"/>
                <a:sym typeface="Raleway"/>
              </a:rPr>
              <a:t>Revisión del Sistema Disciplinario</a:t>
            </a:r>
            <a:endParaRPr sz="1500" b="1">
              <a:solidFill>
                <a:srgbClr val="F9FAFB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850" b="1">
              <a:solidFill>
                <a:srgbClr val="2D374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828800" marR="0" lvl="0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Análisis de los factores detrás del bajo absentismo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marL="1828800" marR="0" lvl="0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Revisión de políticas para evitar cultura de presentismo por miedo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marL="1828800" marR="0" lvl="0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50"/>
              <a:buFont typeface="Raleway"/>
              <a:buChar char="●"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Programa de reconocimiento por buena asistencia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Absentismo y bienestar laboral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387900" y="608893"/>
            <a:ext cx="7090800" cy="6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Propuestas: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25"/>
          <p:cNvGraphicFramePr/>
          <p:nvPr/>
        </p:nvGraphicFramePr>
        <p:xfrm>
          <a:off x="4971050" y="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{1ADC6185-69B0-4E81-BFC5-58BE46B2EA6F}</a:tableStyleId>
              </a:tblPr>
              <a:tblGrid>
                <a:gridCol w="258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6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Índice de Eficiencia Relativa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0.465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Sector 0.7 -0.9 o +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Motivo Modal Absentismo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Consulta Médica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161x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Porcentaje de empleados ausentes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94.85%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Mes pico de ausencias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Marzo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861h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" name="Google Shape;195;p25"/>
          <p:cNvSpPr txBox="1"/>
          <p:nvPr/>
        </p:nvSpPr>
        <p:spPr>
          <a:xfrm rot="-5400000">
            <a:off x="-18540" y="2223576"/>
            <a:ext cx="11214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a" sz="3300" i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KPI’s</a:t>
            </a:r>
            <a:endParaRPr sz="3300" i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6" name="Google Shape;196;p25" title="ChatGPT Image 22 de set. del 2025, 22_03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39751"/>
            <a:ext cx="2635173" cy="17567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5"/>
          <p:cNvGraphicFramePr/>
          <p:nvPr/>
        </p:nvGraphicFramePr>
        <p:xfrm>
          <a:off x="2387350" y="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{1ADC6185-69B0-4E81-BFC5-58BE46B2EA6F}</a:tableStyleId>
              </a:tblPr>
              <a:tblGrid>
                <a:gridCol w="258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60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Índice de Eficiencia Relativa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0.3475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Sector 0.7 -0.9 o +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Motivo Modal Absentismo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Consulta Médica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142x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Porcentaje de empleados ausentes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91.67%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500">
                          <a:solidFill>
                            <a:schemeClr val="lt1"/>
                          </a:solidFill>
                        </a:rPr>
                        <a:t>Mes pico de ausencias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Marzo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600">
                          <a:solidFill>
                            <a:schemeClr val="lt1"/>
                          </a:solidFill>
                        </a:rPr>
                        <a:t>755h</a:t>
                      </a:r>
                      <a:endParaRPr sz="16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On-screen Show (16:9)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Raleway SemiBold</vt:lpstr>
      <vt:lpstr>Roboto Slab</vt:lpstr>
      <vt:lpstr>Lato</vt:lpstr>
      <vt:lpstr>Roboto Medium</vt:lpstr>
      <vt:lpstr>Roboto</vt:lpstr>
      <vt:lpstr>Roboto Thin</vt:lpstr>
      <vt:lpstr>Raleway</vt:lpstr>
      <vt:lpstr>Arial</vt:lpstr>
      <vt:lpstr>Marina</vt:lpstr>
      <vt:lpstr>6 de Octubre de 2025</vt:lpstr>
      <vt:lpstr>Perfil y desempeño profesional</vt:lpstr>
      <vt:lpstr>Perfil y desempeño profesional</vt:lpstr>
      <vt:lpstr>Perfil y desempeño profesional</vt:lpstr>
      <vt:lpstr>Perfil y desempeño profesional</vt:lpstr>
      <vt:lpstr>Perfil y desempeño profesional</vt:lpstr>
      <vt:lpstr>Absentismo y bienestar laboral</vt:lpstr>
      <vt:lpstr>Absentismo y bienestar laboral</vt:lpstr>
      <vt:lpstr>Absentismo y bienestar laboral</vt:lpstr>
      <vt:lpstr>Absentismo y bienestar laboral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GEMMA CARDONA CABALLERO</cp:lastModifiedBy>
  <cp:revision>1</cp:revision>
  <dcterms:modified xsi:type="dcterms:W3CDTF">2025-10-07T09:43:40Z</dcterms:modified>
</cp:coreProperties>
</file>