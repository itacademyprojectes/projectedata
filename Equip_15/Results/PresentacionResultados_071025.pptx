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 Slab"/>
      <p:regular r:id="rId21"/>
      <p:bold r:id="rId22"/>
    </p:embeddedFont>
    <p:embeddedFont>
      <p:font typeface="Raleway SemiBold"/>
      <p:regular r:id="rId23"/>
      <p:bold r:id="rId24"/>
      <p:italic r:id="rId25"/>
      <p:boldItalic r:id="rId26"/>
    </p:embeddedFont>
    <p:embeddedFont>
      <p:font typeface="Raleway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1A1DC8-63C5-4761-988C-A1D7F07EBCC6}">
  <a:tblStyle styleId="{531A1DC8-63C5-4761-988C-A1D7F07EBC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Slab-bold.fntdata"/><Relationship Id="rId21" Type="http://schemas.openxmlformats.org/officeDocument/2006/relationships/font" Target="fonts/RobotoSlab-regular.fntdata"/><Relationship Id="rId24" Type="http://schemas.openxmlformats.org/officeDocument/2006/relationships/font" Target="fonts/RalewaySemiBold-bold.fntdata"/><Relationship Id="rId23" Type="http://schemas.openxmlformats.org/officeDocument/2006/relationships/font" Target="fonts/Raleway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SemiBold-boldItalic.fntdata"/><Relationship Id="rId25" Type="http://schemas.openxmlformats.org/officeDocument/2006/relationships/font" Target="fonts/RalewaySemiBold-italic.fntdata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35" Type="http://schemas.openxmlformats.org/officeDocument/2006/relationships/font" Target="fonts/Lato-regular.fntdata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37" Type="http://schemas.openxmlformats.org/officeDocument/2006/relationships/font" Target="fonts/Lato-italic.fntdata"/><Relationship Id="rId14" Type="http://schemas.openxmlformats.org/officeDocument/2006/relationships/slide" Target="slides/slide8.xml"/><Relationship Id="rId36" Type="http://schemas.openxmlformats.org/officeDocument/2006/relationships/font" Target="fonts/La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La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1c3372df9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1c3372df9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1c3372df9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1c3372df9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981a98774_1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981a98774_1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9cbdc4be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9cbdc4be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81a98774_1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81a98774_1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1c3372df9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1c3372df9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1c3372df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1c3372d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7cf5afc1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7cf5afc1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981a98774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8981a98774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87cf5afc14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87cf5afc14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907d7779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907d7779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981a98774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981a98774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4f02e878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84f02e878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981a9877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8981a9877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Departamento de Análisis de Datos de RRHH</a:t>
            </a:r>
            <a:endParaRPr/>
          </a:p>
        </p:txBody>
      </p:sp>
      <p:sp>
        <p:nvSpPr>
          <p:cNvPr id="64" name="Google Shape;64;p13"/>
          <p:cNvSpPr txBox="1"/>
          <p:nvPr>
            <p:ph type="ctrTitle"/>
          </p:nvPr>
        </p:nvSpPr>
        <p:spPr>
          <a:xfrm>
            <a:off x="6097050" y="4686950"/>
            <a:ext cx="3047100" cy="3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000"/>
              <a:t>14</a:t>
            </a:r>
            <a:r>
              <a:rPr lang="ca" sz="2000"/>
              <a:t> de Octubre de 2025</a:t>
            </a:r>
            <a:endParaRPr sz="2000"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958350" y="1114342"/>
            <a:ext cx="72273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Insights y propuestas de n</a:t>
            </a: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</a:t>
            </a: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gocio</a:t>
            </a:r>
            <a:endParaRPr sz="30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66" name="Google Shape;66;p13" title="ChatGPT Image 22 de set. del 2025, 22_03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450" y="0"/>
            <a:ext cx="4393098" cy="29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1722150" y="1783052"/>
            <a:ext cx="7090800" cy="10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Investigar el efecto de la antigüedad, la carga laboral diaria y la distancia al trabajo en el rendimiento de los trabajadores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38" y="1897362"/>
            <a:ext cx="846578" cy="8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1722150" y="3085752"/>
            <a:ext cx="68385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Identificar perfiles con mayor riesgo de bajo rendimiento 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431325" y="1001400"/>
            <a:ext cx="67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759350" y="3877400"/>
            <a:ext cx="6764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latin typeface="Raleway"/>
                <a:ea typeface="Raleway"/>
                <a:cs typeface="Raleway"/>
                <a:sym typeface="Raleway"/>
              </a:rPr>
              <a:t>Crear propuestas </a:t>
            </a:r>
            <a:r>
              <a:rPr lang="ca" sz="2000">
                <a:latin typeface="Raleway"/>
                <a:ea typeface="Raleway"/>
                <a:cs typeface="Raleway"/>
                <a:sym typeface="Raleway"/>
              </a:rPr>
              <a:t>para aumentar el rendimiento de los trabajadores</a:t>
            </a:r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38" y="2909526"/>
            <a:ext cx="846578" cy="8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38" y="3870437"/>
            <a:ext cx="846578" cy="8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387900" y="608900"/>
            <a:ext cx="87561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125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Análisis</a:t>
            </a: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r>
              <a:rPr i="1" lang="ca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Investigando el efecto de antigüedad, carga laboral diaria y distancia al trabajo sobre rendimiento</a:t>
            </a:r>
            <a:endParaRPr sz="1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517786" y="1751532"/>
            <a:ext cx="4058700" cy="3235132"/>
            <a:chOff x="517786" y="1751532"/>
            <a:chExt cx="4058700" cy="3235132"/>
          </a:xfrm>
        </p:grpSpPr>
        <p:pic>
          <p:nvPicPr>
            <p:cNvPr id="87" name="Google Shape;87;p15"/>
            <p:cNvPicPr preferRelativeResize="0"/>
            <p:nvPr/>
          </p:nvPicPr>
          <p:blipFill rotWithShape="1">
            <a:blip r:embed="rId3">
              <a:alphaModFix/>
            </a:blip>
            <a:srcRect b="22204" l="86574" r="2840" t="6074"/>
            <a:stretch/>
          </p:blipFill>
          <p:spPr>
            <a:xfrm>
              <a:off x="3928150" y="1751532"/>
              <a:ext cx="417226" cy="26180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8" name="Google Shape;88;p15"/>
            <p:cNvGrpSpPr/>
            <p:nvPr/>
          </p:nvGrpSpPr>
          <p:grpSpPr>
            <a:xfrm>
              <a:off x="695465" y="1918000"/>
              <a:ext cx="3028179" cy="3068664"/>
              <a:chOff x="695475" y="1563450"/>
              <a:chExt cx="3122800" cy="3164550"/>
            </a:xfrm>
          </p:grpSpPr>
          <p:grpSp>
            <p:nvGrpSpPr>
              <p:cNvPr id="89" name="Google Shape;89;p15"/>
              <p:cNvGrpSpPr/>
              <p:nvPr/>
            </p:nvGrpSpPr>
            <p:grpSpPr>
              <a:xfrm>
                <a:off x="695475" y="1663175"/>
                <a:ext cx="3122800" cy="3064825"/>
                <a:chOff x="695475" y="1663175"/>
                <a:chExt cx="3122800" cy="3064825"/>
              </a:xfrm>
            </p:grpSpPr>
            <p:pic>
              <p:nvPicPr>
                <p:cNvPr id="90" name="Google Shape;90;p1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30771" t="24930"/>
                <a:stretch/>
              </p:blipFill>
              <p:spPr>
                <a:xfrm>
                  <a:off x="695475" y="1663175"/>
                  <a:ext cx="3051825" cy="3064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1" name="Google Shape;91;p15"/>
                <p:cNvSpPr/>
                <p:nvPr/>
              </p:nvSpPr>
              <p:spPr>
                <a:xfrm>
                  <a:off x="3422575" y="3888800"/>
                  <a:ext cx="395700" cy="415500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2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8650" lIns="88650" spcFirstLastPara="1" rIns="88650" wrap="square" tIns="886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7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92" name="Google Shape;92;p15"/>
              <p:cNvSpPr/>
              <p:nvPr/>
            </p:nvSpPr>
            <p:spPr>
              <a:xfrm>
                <a:off x="695475" y="1563450"/>
                <a:ext cx="395700" cy="415500"/>
              </a:xfrm>
              <a:prstGeom prst="rect">
                <a:avLst/>
              </a:prstGeom>
              <a:solidFill>
                <a:schemeClr val="dk1"/>
              </a:solidFill>
              <a:ln cap="flat" cmpd="sng" w="92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8650" lIns="88650" spcFirstLastPara="1" rIns="88650" wrap="square" tIns="886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7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93" name="Google Shape;93;p15"/>
            <p:cNvSpPr/>
            <p:nvPr/>
          </p:nvSpPr>
          <p:spPr>
            <a:xfrm>
              <a:off x="625775" y="3267967"/>
              <a:ext cx="3262200" cy="683400"/>
            </a:xfrm>
            <a:prstGeom prst="rect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517786" y="1751541"/>
              <a:ext cx="405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ca" sz="1200"/>
                <a:t>Heatmap de correlaciones significativas (p&lt;0.05)</a:t>
              </a:r>
              <a:endParaRPr sz="600"/>
            </a:p>
          </p:txBody>
        </p:sp>
      </p:grpSp>
      <p:sp>
        <p:nvSpPr>
          <p:cNvPr id="95" name="Google Shape;95;p15"/>
          <p:cNvSpPr txBox="1"/>
          <p:nvPr/>
        </p:nvSpPr>
        <p:spPr>
          <a:xfrm rot="-720">
            <a:off x="383939" y="1280264"/>
            <a:ext cx="85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ca">
                <a:latin typeface="Raleway"/>
                <a:ea typeface="Raleway"/>
                <a:cs typeface="Raleway"/>
                <a:sym typeface="Raleway"/>
              </a:rPr>
              <a:t>Rendimiento: </a:t>
            </a:r>
            <a:r>
              <a:rPr lang="ca">
                <a:latin typeface="Raleway"/>
                <a:ea typeface="Raleway"/>
                <a:cs typeface="Raleway"/>
                <a:sym typeface="Raleway"/>
              </a:rPr>
              <a:t>Hit_target_avg (media del porcentaje de paquetes entregados cada día de trabajo)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87900" y="4814591"/>
            <a:ext cx="805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 sz="1300" u="sng">
                <a:latin typeface="Raleway"/>
                <a:ea typeface="Raleway"/>
                <a:cs typeface="Raleway"/>
                <a:sym typeface="Raleway"/>
              </a:rPr>
              <a:t>Metodología utilizada:</a:t>
            </a:r>
            <a:r>
              <a:rPr lang="ca" sz="1300">
                <a:latin typeface="Raleway"/>
                <a:ea typeface="Raleway"/>
                <a:cs typeface="Raleway"/>
                <a:sym typeface="Raleway"/>
              </a:rPr>
              <a:t> correlaciones de Spearman y modelo de regresión multivariante</a:t>
            </a:r>
            <a:endParaRPr sz="700"/>
          </a:p>
        </p:txBody>
      </p:sp>
      <p:grpSp>
        <p:nvGrpSpPr>
          <p:cNvPr id="97" name="Google Shape;97;p15"/>
          <p:cNvGrpSpPr/>
          <p:nvPr/>
        </p:nvGrpSpPr>
        <p:grpSpPr>
          <a:xfrm>
            <a:off x="4748500" y="2307606"/>
            <a:ext cx="3788100" cy="890100"/>
            <a:chOff x="4748500" y="2307606"/>
            <a:chExt cx="3788100" cy="890100"/>
          </a:xfrm>
        </p:grpSpPr>
        <p:sp>
          <p:nvSpPr>
            <p:cNvPr id="98" name="Google Shape;98;p15"/>
            <p:cNvSpPr txBox="1"/>
            <p:nvPr/>
          </p:nvSpPr>
          <p:spPr>
            <a:xfrm>
              <a:off x="4748500" y="2307606"/>
              <a:ext cx="3788100" cy="8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2385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aleway"/>
                <a:buChar char="●"/>
              </a:pPr>
              <a:r>
                <a:rPr lang="ca" sz="1500">
                  <a:latin typeface="Raleway"/>
                  <a:ea typeface="Raleway"/>
                  <a:cs typeface="Raleway"/>
                  <a:sym typeface="Raleway"/>
                </a:rPr>
                <a:t>carga laboral  →     rendimiento</a:t>
              </a:r>
              <a:endParaRPr sz="1500">
                <a:latin typeface="Raleway"/>
                <a:ea typeface="Raleway"/>
                <a:cs typeface="Raleway"/>
                <a:sym typeface="Raleway"/>
              </a:endParaRPr>
            </a:p>
            <a:p>
              <a:pPr indent="-323850" lvl="0" marL="457200" rtl="0" algn="l">
                <a:lnSpc>
                  <a:spcPct val="150000"/>
                </a:lnSpc>
                <a:spcBef>
                  <a:spcPts val="1000"/>
                </a:spcBef>
                <a:spcAft>
                  <a:spcPts val="1000"/>
                </a:spcAft>
                <a:buSzPts val="1500"/>
                <a:buFont typeface="Raleway"/>
                <a:buChar char="●"/>
              </a:pPr>
              <a:r>
                <a:rPr lang="ca" sz="1500">
                  <a:latin typeface="Raleway"/>
                  <a:ea typeface="Raleway"/>
                  <a:cs typeface="Raleway"/>
                  <a:sym typeface="Raleway"/>
                </a:rPr>
                <a:t>antigüedad  →     rendimiento</a:t>
              </a:r>
              <a:endParaRPr sz="1500">
                <a:latin typeface="Raleway"/>
                <a:ea typeface="Raleway"/>
                <a:cs typeface="Raleway"/>
                <a:sym typeface="Raleway"/>
              </a:endParaRPr>
            </a:p>
          </p:txBody>
        </p:sp>
        <p:cxnSp>
          <p:nvCxnSpPr>
            <p:cNvPr id="99" name="Google Shape;99;p15"/>
            <p:cNvCxnSpPr/>
            <p:nvPr/>
          </p:nvCxnSpPr>
          <p:spPr>
            <a:xfrm rot="10800000">
              <a:off x="5203774" y="2363664"/>
              <a:ext cx="0" cy="259800"/>
            </a:xfrm>
            <a:prstGeom prst="straightConnector1">
              <a:avLst/>
            </a:prstGeom>
            <a:noFill/>
            <a:ln cap="flat" cmpd="sng" w="19050">
              <a:solidFill>
                <a:srgbClr val="1F1F1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0" name="Google Shape;100;p15"/>
            <p:cNvCxnSpPr/>
            <p:nvPr/>
          </p:nvCxnSpPr>
          <p:spPr>
            <a:xfrm flipH="1">
              <a:off x="6857739" y="2347183"/>
              <a:ext cx="600" cy="281700"/>
            </a:xfrm>
            <a:prstGeom prst="straightConnector1">
              <a:avLst/>
            </a:prstGeom>
            <a:noFill/>
            <a:ln cap="flat" cmpd="sng" w="19050">
              <a:solidFill>
                <a:srgbClr val="1F1F1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1" name="Google Shape;101;p15"/>
            <p:cNvCxnSpPr/>
            <p:nvPr/>
          </p:nvCxnSpPr>
          <p:spPr>
            <a:xfrm rot="10800000">
              <a:off x="5208117" y="2825627"/>
              <a:ext cx="0" cy="259800"/>
            </a:xfrm>
            <a:prstGeom prst="straightConnector1">
              <a:avLst/>
            </a:prstGeom>
            <a:noFill/>
            <a:ln cap="flat" cmpd="sng" w="19050">
              <a:solidFill>
                <a:srgbClr val="1F1F1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2" name="Google Shape;102;p15"/>
            <p:cNvCxnSpPr/>
            <p:nvPr/>
          </p:nvCxnSpPr>
          <p:spPr>
            <a:xfrm rot="10800000">
              <a:off x="6723005" y="2825627"/>
              <a:ext cx="0" cy="259800"/>
            </a:xfrm>
            <a:prstGeom prst="straightConnector1">
              <a:avLst/>
            </a:prstGeom>
            <a:noFill/>
            <a:ln cap="flat" cmpd="sng" w="19050">
              <a:solidFill>
                <a:srgbClr val="1F1F1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3" name="Google Shape;103;p15"/>
          <p:cNvGrpSpPr/>
          <p:nvPr/>
        </p:nvGrpSpPr>
        <p:grpSpPr>
          <a:xfrm>
            <a:off x="2294812" y="2590112"/>
            <a:ext cx="6322238" cy="1623794"/>
            <a:chOff x="2294812" y="2590112"/>
            <a:chExt cx="6322238" cy="1623794"/>
          </a:xfrm>
        </p:grpSpPr>
        <p:grpSp>
          <p:nvGrpSpPr>
            <p:cNvPr id="104" name="Google Shape;104;p15"/>
            <p:cNvGrpSpPr/>
            <p:nvPr/>
          </p:nvGrpSpPr>
          <p:grpSpPr>
            <a:xfrm>
              <a:off x="4828950" y="2769288"/>
              <a:ext cx="3788100" cy="1444618"/>
              <a:chOff x="4828950" y="2769288"/>
              <a:chExt cx="3788100" cy="1444618"/>
            </a:xfrm>
          </p:grpSpPr>
          <p:pic>
            <p:nvPicPr>
              <p:cNvPr descr="Ícono de alerta | Canva" id="105" name="Google Shape;105;p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119375" y="2769288"/>
                <a:ext cx="417224" cy="37246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06" name="Google Shape;106;p15"/>
              <p:cNvGrpSpPr/>
              <p:nvPr/>
            </p:nvGrpSpPr>
            <p:grpSpPr>
              <a:xfrm>
                <a:off x="4828950" y="3798400"/>
                <a:ext cx="3788100" cy="415506"/>
                <a:chOff x="4828950" y="3798400"/>
                <a:chExt cx="3788100" cy="415506"/>
              </a:xfrm>
            </p:grpSpPr>
            <p:sp>
              <p:nvSpPr>
                <p:cNvPr id="107" name="Google Shape;107;p15"/>
                <p:cNvSpPr txBox="1"/>
                <p:nvPr/>
              </p:nvSpPr>
              <p:spPr>
                <a:xfrm>
                  <a:off x="4828950" y="3798406"/>
                  <a:ext cx="3788100" cy="41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-323850" lvl="0" marL="45720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1000"/>
                    </a:spcAft>
                    <a:buSzPts val="1500"/>
                    <a:buFont typeface="Raleway"/>
                    <a:buChar char="●"/>
                  </a:pPr>
                  <a:r>
                    <a:rPr lang="ca" sz="1500">
                      <a:latin typeface="Raleway"/>
                      <a:ea typeface="Raleway"/>
                      <a:cs typeface="Raleway"/>
                      <a:sym typeface="Raleway"/>
                    </a:rPr>
                    <a:t>antigüedad  →     </a:t>
                  </a:r>
                  <a:r>
                    <a:rPr lang="ca" sz="1500">
                      <a:latin typeface="Raleway"/>
                      <a:ea typeface="Raleway"/>
                      <a:cs typeface="Raleway"/>
                      <a:sym typeface="Raleway"/>
                    </a:rPr>
                    <a:t>carga laboral</a:t>
                  </a:r>
                  <a:endParaRPr sz="1500">
                    <a:latin typeface="Raleway"/>
                    <a:ea typeface="Raleway"/>
                    <a:cs typeface="Raleway"/>
                    <a:sym typeface="Raleway"/>
                  </a:endParaRPr>
                </a:p>
              </p:txBody>
            </p:sp>
            <p:cxnSp>
              <p:nvCxnSpPr>
                <p:cNvPr id="108" name="Google Shape;108;p15"/>
                <p:cNvCxnSpPr/>
                <p:nvPr/>
              </p:nvCxnSpPr>
              <p:spPr>
                <a:xfrm rot="10800000">
                  <a:off x="5284736" y="3909095"/>
                  <a:ext cx="0" cy="259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1F1F1F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09" name="Google Shape;109;p15"/>
                <p:cNvSpPr/>
                <p:nvPr/>
              </p:nvSpPr>
              <p:spPr>
                <a:xfrm>
                  <a:off x="4880214" y="3798400"/>
                  <a:ext cx="3470100" cy="4155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F1C23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cxnSp>
              <p:nvCxnSpPr>
                <p:cNvPr id="110" name="Google Shape;110;p15"/>
                <p:cNvCxnSpPr/>
                <p:nvPr/>
              </p:nvCxnSpPr>
              <p:spPr>
                <a:xfrm flipH="1">
                  <a:off x="6812480" y="3892614"/>
                  <a:ext cx="600" cy="2817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1F1F1F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</p:grpSp>
        <p:sp>
          <p:nvSpPr>
            <p:cNvPr id="111" name="Google Shape;111;p15"/>
            <p:cNvSpPr/>
            <p:nvPr/>
          </p:nvSpPr>
          <p:spPr>
            <a:xfrm>
              <a:off x="2294812" y="2590112"/>
              <a:ext cx="803100" cy="789300"/>
            </a:xfrm>
            <a:prstGeom prst="ellipse">
              <a:avLst/>
            </a:prstGeom>
            <a:noFill/>
            <a:ln cap="flat" cmpd="sng" w="19050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17" name="Google Shape;117;p16"/>
          <p:cNvSpPr txBox="1"/>
          <p:nvPr>
            <p:ph type="title"/>
          </p:nvPr>
        </p:nvSpPr>
        <p:spPr>
          <a:xfrm>
            <a:off x="387900" y="608900"/>
            <a:ext cx="87561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125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Análisis: </a:t>
            </a:r>
            <a:r>
              <a:rPr i="1" lang="ca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Investigando el efecto de antigüedad, carga laboral diaria y distancia al trabajo sobre rendimiento</a:t>
            </a:r>
            <a:endParaRPr sz="1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 rot="-720">
            <a:off x="383939" y="1280264"/>
            <a:ext cx="85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ca">
                <a:latin typeface="Raleway"/>
                <a:ea typeface="Raleway"/>
                <a:cs typeface="Raleway"/>
                <a:sym typeface="Raleway"/>
              </a:rPr>
              <a:t>Rendimiento: </a:t>
            </a:r>
            <a:r>
              <a:rPr lang="ca">
                <a:latin typeface="Raleway"/>
                <a:ea typeface="Raleway"/>
                <a:cs typeface="Raleway"/>
                <a:sym typeface="Raleway"/>
              </a:rPr>
              <a:t>Hit_target_avg (media del porcentaje de paquetes entregados cada día de trabajo)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387900" y="4814591"/>
            <a:ext cx="805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 sz="1300" u="sng">
                <a:latin typeface="Raleway"/>
                <a:ea typeface="Raleway"/>
                <a:cs typeface="Raleway"/>
                <a:sym typeface="Raleway"/>
              </a:rPr>
              <a:t>Metodología utilizada:</a:t>
            </a:r>
            <a:r>
              <a:rPr lang="ca" sz="1300">
                <a:latin typeface="Raleway"/>
                <a:ea typeface="Raleway"/>
                <a:cs typeface="Raleway"/>
                <a:sym typeface="Raleway"/>
              </a:rPr>
              <a:t> correlaciones de Spearman y modelo de regresión multivariante</a:t>
            </a:r>
            <a:endParaRPr sz="700"/>
          </a:p>
        </p:txBody>
      </p:sp>
      <p:sp>
        <p:nvSpPr>
          <p:cNvPr id="120" name="Google Shape;120;p16"/>
          <p:cNvSpPr txBox="1"/>
          <p:nvPr/>
        </p:nvSpPr>
        <p:spPr>
          <a:xfrm rot="-904">
            <a:off x="600604" y="1904697"/>
            <a:ext cx="228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ca">
                <a:latin typeface="Raleway"/>
                <a:ea typeface="Raleway"/>
                <a:cs typeface="Raleway"/>
                <a:sym typeface="Raleway"/>
              </a:rPr>
              <a:t>Regresión multivariante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 flipH="1">
            <a:off x="1605105" y="2309820"/>
            <a:ext cx="600" cy="281700"/>
          </a:xfrm>
          <a:prstGeom prst="straightConnector1">
            <a:avLst/>
          </a:prstGeom>
          <a:noFill/>
          <a:ln cap="flat" cmpd="sng" w="1905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6"/>
          <p:cNvSpPr txBox="1"/>
          <p:nvPr/>
        </p:nvSpPr>
        <p:spPr>
          <a:xfrm rot="-764">
            <a:off x="392255" y="2583532"/>
            <a:ext cx="26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>
                <a:latin typeface="Raleway"/>
                <a:ea typeface="Raleway"/>
                <a:cs typeface="Raleway"/>
                <a:sym typeface="Raleway"/>
              </a:rPr>
              <a:t>Ningún predictor significativo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23" name="Google Shape;123;p16"/>
          <p:cNvGrpSpPr/>
          <p:nvPr/>
        </p:nvGrpSpPr>
        <p:grpSpPr>
          <a:xfrm>
            <a:off x="6755043" y="2352025"/>
            <a:ext cx="2281800" cy="1820400"/>
            <a:chOff x="6862200" y="2352025"/>
            <a:chExt cx="2281800" cy="1820400"/>
          </a:xfrm>
        </p:grpSpPr>
        <p:sp>
          <p:nvSpPr>
            <p:cNvPr id="124" name="Google Shape;124;p16"/>
            <p:cNvSpPr txBox="1"/>
            <p:nvPr/>
          </p:nvSpPr>
          <p:spPr>
            <a:xfrm rot="-452">
              <a:off x="6862200" y="2442636"/>
              <a:ext cx="2281800" cy="16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i="1" lang="ca">
                  <a:latin typeface="Raleway"/>
                  <a:ea typeface="Raleway"/>
                  <a:cs typeface="Raleway"/>
                  <a:sym typeface="Raleway"/>
                </a:rPr>
                <a:t>Debido a la falta de variabilidad en el rendimiento de los trabajadores no se pueden extraer conclusiones relevantes</a:t>
              </a:r>
              <a:endParaRPr i="1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6968625" y="2352025"/>
              <a:ext cx="2149500" cy="1820400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291055" y="3061816"/>
            <a:ext cx="2698500" cy="1781098"/>
            <a:chOff x="291055" y="3061816"/>
            <a:chExt cx="2698500" cy="1781098"/>
          </a:xfrm>
        </p:grpSpPr>
        <p:sp>
          <p:nvSpPr>
            <p:cNvPr id="127" name="Google Shape;127;p16"/>
            <p:cNvSpPr txBox="1"/>
            <p:nvPr/>
          </p:nvSpPr>
          <p:spPr>
            <a:xfrm rot="-764">
              <a:off x="291055" y="3451214"/>
              <a:ext cx="26985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aleway"/>
                <a:buChar char="●"/>
              </a:pPr>
              <a:r>
                <a:rPr lang="ca">
                  <a:latin typeface="Raleway"/>
                  <a:ea typeface="Raleway"/>
                  <a:cs typeface="Raleway"/>
                  <a:sym typeface="Raleway"/>
                </a:rPr>
                <a:t>Colinealidad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aleway"/>
                <a:buChar char="●"/>
              </a:pPr>
              <a:r>
                <a:rPr lang="ca">
                  <a:latin typeface="Raleway"/>
                  <a:ea typeface="Raleway"/>
                  <a:cs typeface="Raleway"/>
                  <a:sym typeface="Raleway"/>
                </a:rPr>
                <a:t>Pocas observaciones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aleway"/>
                <a:buChar char="●"/>
              </a:pPr>
              <a:r>
                <a:rPr lang="ca">
                  <a:latin typeface="Raleway"/>
                  <a:ea typeface="Raleway"/>
                  <a:cs typeface="Raleway"/>
                  <a:sym typeface="Raleway"/>
                </a:rPr>
                <a:t>Interacción entre predictores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aleway"/>
                <a:buChar char="●"/>
              </a:pPr>
              <a:r>
                <a:rPr lang="ca">
                  <a:latin typeface="Raleway"/>
                  <a:ea typeface="Raleway"/>
                  <a:cs typeface="Raleway"/>
                  <a:sym typeface="Raleway"/>
                </a:rPr>
                <a:t>Falta de variabilidad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 rot="-904">
              <a:off x="410104" y="3062116"/>
              <a:ext cx="2281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ca">
                  <a:latin typeface="Raleway"/>
                  <a:ea typeface="Raleway"/>
                  <a:cs typeface="Raleway"/>
                  <a:sym typeface="Raleway"/>
                </a:rPr>
                <a:t>Posibles causas: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129" name="Google Shape;12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423" y="1904389"/>
            <a:ext cx="2834210" cy="282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35" name="Google Shape;135;p17"/>
          <p:cNvSpPr txBox="1"/>
          <p:nvPr>
            <p:ph type="title"/>
          </p:nvPr>
        </p:nvSpPr>
        <p:spPr>
          <a:xfrm>
            <a:off x="387900" y="608900"/>
            <a:ext cx="87561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Análisis: </a:t>
            </a:r>
            <a:r>
              <a:rPr i="1" lang="ca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Identificando perfiles con mayor riesgo de bajo</a:t>
            </a:r>
            <a:r>
              <a:rPr i="1" lang="ca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rendimiento</a:t>
            </a:r>
            <a:endParaRPr sz="1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87900" y="4799413"/>
            <a:ext cx="891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 sz="1300" u="sng">
                <a:latin typeface="Raleway"/>
                <a:ea typeface="Raleway"/>
                <a:cs typeface="Raleway"/>
                <a:sym typeface="Raleway"/>
              </a:rPr>
              <a:t>Metodología utilizada:</a:t>
            </a:r>
            <a:r>
              <a:rPr lang="ca" sz="1300">
                <a:latin typeface="Raleway"/>
                <a:ea typeface="Raleway"/>
                <a:cs typeface="Raleway"/>
                <a:sym typeface="Raleway"/>
              </a:rPr>
              <a:t> clustering con K-prototypes y Kruskal-Wallis + </a:t>
            </a:r>
            <a:r>
              <a:rPr lang="ca" sz="1300">
                <a:latin typeface="Raleway"/>
                <a:ea typeface="Raleway"/>
                <a:cs typeface="Raleway"/>
                <a:sym typeface="Raleway"/>
              </a:rPr>
              <a:t>Post-hoc Dunn test</a:t>
            </a:r>
            <a:r>
              <a:rPr lang="ca" sz="1300">
                <a:latin typeface="Raleway"/>
                <a:ea typeface="Raleway"/>
                <a:cs typeface="Raleway"/>
                <a:sym typeface="Raleway"/>
              </a:rPr>
              <a:t> para testear diferencias </a:t>
            </a:r>
            <a:endParaRPr sz="1300"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7048445" y="2081679"/>
            <a:ext cx="1474019" cy="2327463"/>
            <a:chOff x="6672513" y="1249788"/>
            <a:chExt cx="1474019" cy="2327463"/>
          </a:xfrm>
        </p:grpSpPr>
        <p:pic>
          <p:nvPicPr>
            <p:cNvPr id="138" name="Google Shape;138;p17"/>
            <p:cNvPicPr preferRelativeResize="0"/>
            <p:nvPr/>
          </p:nvPicPr>
          <p:blipFill rotWithShape="1">
            <a:blip r:embed="rId3">
              <a:alphaModFix/>
            </a:blip>
            <a:srcRect b="0" l="70598" r="1838" t="0"/>
            <a:stretch/>
          </p:blipFill>
          <p:spPr>
            <a:xfrm>
              <a:off x="6672513" y="1597463"/>
              <a:ext cx="408526" cy="139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7"/>
            <p:cNvPicPr preferRelativeResize="0"/>
            <p:nvPr/>
          </p:nvPicPr>
          <p:blipFill rotWithShape="1">
            <a:blip r:embed="rId4">
              <a:alphaModFix/>
            </a:blip>
            <a:srcRect b="0" l="0" r="63695" t="0"/>
            <a:stretch/>
          </p:blipFill>
          <p:spPr>
            <a:xfrm>
              <a:off x="7266497" y="2281420"/>
              <a:ext cx="297650" cy="8198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0" name="Google Shape;140;p17"/>
            <p:cNvCxnSpPr/>
            <p:nvPr/>
          </p:nvCxnSpPr>
          <p:spPr>
            <a:xfrm flipH="1">
              <a:off x="7244454" y="2615238"/>
              <a:ext cx="341700" cy="256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41" name="Google Shape;141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38006" y="1933453"/>
              <a:ext cx="408525" cy="40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181050" y="1877063"/>
              <a:ext cx="521275" cy="521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3" name="Google Shape;143;p17"/>
            <p:cNvCxnSpPr/>
            <p:nvPr/>
          </p:nvCxnSpPr>
          <p:spPr>
            <a:xfrm flipH="1">
              <a:off x="7314013" y="2009586"/>
              <a:ext cx="341700" cy="256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44" name="Google Shape;144;p1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32455" y="2491225"/>
              <a:ext cx="408525" cy="521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5" name="Google Shape;145;p17"/>
            <p:cNvCxnSpPr/>
            <p:nvPr/>
          </p:nvCxnSpPr>
          <p:spPr>
            <a:xfrm flipH="1">
              <a:off x="7774860" y="2726291"/>
              <a:ext cx="341700" cy="256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" name="Google Shape;146;p17"/>
            <p:cNvSpPr txBox="1"/>
            <p:nvPr/>
          </p:nvSpPr>
          <p:spPr>
            <a:xfrm>
              <a:off x="6970080" y="3161750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ca" sz="1500">
                  <a:latin typeface="Raleway"/>
                  <a:ea typeface="Raleway"/>
                  <a:cs typeface="Raleway"/>
                  <a:sym typeface="Raleway"/>
                </a:rPr>
                <a:t>N = 69</a:t>
              </a:r>
              <a:endParaRPr sz="900"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6900505" y="1249788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ca" sz="1500">
                  <a:latin typeface="Raleway"/>
                  <a:ea typeface="Raleway"/>
                  <a:cs typeface="Raleway"/>
                  <a:sym typeface="Raleway"/>
                </a:rPr>
                <a:t>Manuel</a:t>
              </a:r>
              <a:endParaRPr b="1" sz="900"/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5011808" y="2098379"/>
            <a:ext cx="1508643" cy="2283700"/>
            <a:chOff x="4823850" y="1293625"/>
            <a:chExt cx="1508643" cy="2283700"/>
          </a:xfrm>
        </p:grpSpPr>
        <p:pic>
          <p:nvPicPr>
            <p:cNvPr id="149" name="Google Shape;149;p17"/>
            <p:cNvPicPr preferRelativeResize="0"/>
            <p:nvPr/>
          </p:nvPicPr>
          <p:blipFill rotWithShape="1">
            <a:blip r:embed="rId3">
              <a:alphaModFix/>
            </a:blip>
            <a:srcRect b="0" l="70598" r="1838" t="0"/>
            <a:stretch/>
          </p:blipFill>
          <p:spPr>
            <a:xfrm>
              <a:off x="4823850" y="1645563"/>
              <a:ext cx="408526" cy="139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7"/>
            <p:cNvPicPr preferRelativeResize="0"/>
            <p:nvPr/>
          </p:nvPicPr>
          <p:blipFill rotWithShape="1">
            <a:blip r:embed="rId4">
              <a:alphaModFix/>
            </a:blip>
            <a:srcRect b="0" l="0" r="63695" t="0"/>
            <a:stretch/>
          </p:blipFill>
          <p:spPr>
            <a:xfrm>
              <a:off x="5446044" y="2341965"/>
              <a:ext cx="297650" cy="819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7"/>
            <p:cNvPicPr preferRelativeResize="0"/>
            <p:nvPr/>
          </p:nvPicPr>
          <p:blipFill>
            <a:blip r:embed="rId5">
              <a:alphaModFix amt="55000"/>
            </a:blip>
            <a:stretch>
              <a:fillRect/>
            </a:stretch>
          </p:blipFill>
          <p:spPr>
            <a:xfrm>
              <a:off x="5923968" y="1933468"/>
              <a:ext cx="408525" cy="40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7"/>
            <p:cNvPicPr preferRelativeResize="0"/>
            <p:nvPr/>
          </p:nvPicPr>
          <p:blipFill>
            <a:blip r:embed="rId7">
              <a:alphaModFix amt="25000"/>
            </a:blip>
            <a:stretch>
              <a:fillRect/>
            </a:stretch>
          </p:blipFill>
          <p:spPr>
            <a:xfrm>
              <a:off x="5919092" y="2491265"/>
              <a:ext cx="408525" cy="52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7"/>
            <p:cNvPicPr preferRelativeResize="0"/>
            <p:nvPr/>
          </p:nvPicPr>
          <p:blipFill>
            <a:blip r:embed="rId6">
              <a:alphaModFix amt="30000"/>
            </a:blip>
            <a:stretch>
              <a:fillRect/>
            </a:stretch>
          </p:blipFill>
          <p:spPr>
            <a:xfrm>
              <a:off x="5367012" y="1877079"/>
              <a:ext cx="521275" cy="521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7"/>
            <p:cNvSpPr txBox="1"/>
            <p:nvPr/>
          </p:nvSpPr>
          <p:spPr>
            <a:xfrm>
              <a:off x="5080080" y="3161825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ca" sz="1500">
                  <a:latin typeface="Raleway"/>
                  <a:ea typeface="Raleway"/>
                  <a:cs typeface="Raleway"/>
                  <a:sym typeface="Raleway"/>
                </a:rPr>
                <a:t>N = 106</a:t>
              </a:r>
              <a:endParaRPr sz="900"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5112855" y="1293625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ca" sz="1500">
                  <a:latin typeface="Raleway"/>
                  <a:ea typeface="Raleway"/>
                  <a:cs typeface="Raleway"/>
                  <a:sym typeface="Raleway"/>
                </a:rPr>
                <a:t>José</a:t>
              </a:r>
              <a:endParaRPr b="1" sz="900"/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746733" y="2101242"/>
            <a:ext cx="1512521" cy="2286588"/>
            <a:chOff x="507500" y="2357563"/>
            <a:chExt cx="1512521" cy="2286588"/>
          </a:xfrm>
        </p:grpSpPr>
        <p:grpSp>
          <p:nvGrpSpPr>
            <p:cNvPr id="157" name="Google Shape;157;p17"/>
            <p:cNvGrpSpPr/>
            <p:nvPr/>
          </p:nvGrpSpPr>
          <p:grpSpPr>
            <a:xfrm>
              <a:off x="507500" y="2778075"/>
              <a:ext cx="1512521" cy="1450586"/>
              <a:chOff x="507500" y="2778075"/>
              <a:chExt cx="1512521" cy="1450586"/>
            </a:xfrm>
          </p:grpSpPr>
          <p:pic>
            <p:nvPicPr>
              <p:cNvPr id="158" name="Google Shape;158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65769" t="0"/>
              <a:stretch/>
            </p:blipFill>
            <p:spPr>
              <a:xfrm>
                <a:off x="507500" y="2778075"/>
                <a:ext cx="521275" cy="13297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9" name="Google Shape;159;p1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028763" y="2938778"/>
                <a:ext cx="521275" cy="521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p17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611496" y="2995153"/>
                <a:ext cx="408525" cy="408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1" name="Google Shape;161;p17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148885" y="3408787"/>
                <a:ext cx="819875" cy="81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2" name="Google Shape;162;p17"/>
            <p:cNvSpPr txBox="1"/>
            <p:nvPr/>
          </p:nvSpPr>
          <p:spPr>
            <a:xfrm>
              <a:off x="890563" y="4228650"/>
              <a:ext cx="7464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ca" sz="1500">
                  <a:latin typeface="Raleway"/>
                  <a:ea typeface="Raleway"/>
                  <a:cs typeface="Raleway"/>
                  <a:sym typeface="Raleway"/>
                </a:rPr>
                <a:t>N = 68</a:t>
              </a:r>
              <a:endParaRPr sz="900"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748967" y="2357563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ca" sz="1500">
                  <a:latin typeface="Raleway"/>
                  <a:ea typeface="Raleway"/>
                  <a:cs typeface="Raleway"/>
                  <a:sym typeface="Raleway"/>
                </a:rPr>
                <a:t>Kevin</a:t>
              </a:r>
              <a:endParaRPr b="1" sz="900"/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2778808" y="2101241"/>
            <a:ext cx="1555769" cy="2268113"/>
            <a:chOff x="2539575" y="2357562"/>
            <a:chExt cx="1555769" cy="2268113"/>
          </a:xfrm>
        </p:grpSpPr>
        <p:pic>
          <p:nvPicPr>
            <p:cNvPr id="165" name="Google Shape;165;p17"/>
            <p:cNvPicPr preferRelativeResize="0"/>
            <p:nvPr/>
          </p:nvPicPr>
          <p:blipFill rotWithShape="1">
            <a:blip r:embed="rId3">
              <a:alphaModFix/>
            </a:blip>
            <a:srcRect b="0" l="0" r="65769" t="0"/>
            <a:stretch/>
          </p:blipFill>
          <p:spPr>
            <a:xfrm>
              <a:off x="2539575" y="2778075"/>
              <a:ext cx="521275" cy="1329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7"/>
            <p:cNvPicPr preferRelativeResize="0"/>
            <p:nvPr/>
          </p:nvPicPr>
          <p:blipFill rotWithShape="1">
            <a:blip r:embed="rId4">
              <a:alphaModFix/>
            </a:blip>
            <a:srcRect b="0" l="0" r="63695" t="0"/>
            <a:stretch/>
          </p:blipFill>
          <p:spPr>
            <a:xfrm>
              <a:off x="3191807" y="3408775"/>
              <a:ext cx="297650" cy="819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86819" y="3000278"/>
              <a:ext cx="408525" cy="40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8" name="Google Shape;168;p17"/>
            <p:cNvCxnSpPr/>
            <p:nvPr/>
          </p:nvCxnSpPr>
          <p:spPr>
            <a:xfrm flipH="1">
              <a:off x="3720236" y="3076438"/>
              <a:ext cx="341700" cy="256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69" name="Google Shape;169;p1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81943" y="3558075"/>
              <a:ext cx="408525" cy="521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0" name="Google Shape;170;p17"/>
            <p:cNvCxnSpPr/>
            <p:nvPr/>
          </p:nvCxnSpPr>
          <p:spPr>
            <a:xfrm flipH="1">
              <a:off x="3724348" y="3793141"/>
              <a:ext cx="341700" cy="256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71" name="Google Shape;171;p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112775" y="2943888"/>
              <a:ext cx="521275" cy="521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2" name="Google Shape;172;p17"/>
            <p:cNvCxnSpPr/>
            <p:nvPr/>
          </p:nvCxnSpPr>
          <p:spPr>
            <a:xfrm flipH="1">
              <a:off x="3245738" y="3076411"/>
              <a:ext cx="341700" cy="256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3" name="Google Shape;173;p17"/>
            <p:cNvSpPr txBox="1"/>
            <p:nvPr/>
          </p:nvSpPr>
          <p:spPr>
            <a:xfrm>
              <a:off x="2825830" y="4210175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ca" sz="1500">
                  <a:latin typeface="Raleway"/>
                  <a:ea typeface="Raleway"/>
                  <a:cs typeface="Raleway"/>
                  <a:sym typeface="Raleway"/>
                </a:rPr>
                <a:t>N = 143</a:t>
              </a:r>
              <a:endParaRPr sz="900"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2802650" y="2357562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ca" sz="1500">
                  <a:latin typeface="Raleway"/>
                  <a:ea typeface="Raleway"/>
                  <a:cs typeface="Raleway"/>
                  <a:sym typeface="Raleway"/>
                </a:rPr>
                <a:t>Carlos</a:t>
              </a:r>
              <a:endParaRPr b="1" sz="900"/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1515550" y="1358364"/>
            <a:ext cx="6286500" cy="846600"/>
            <a:chOff x="1515550" y="1102044"/>
            <a:chExt cx="6286500" cy="846600"/>
          </a:xfrm>
        </p:grpSpPr>
        <p:cxnSp>
          <p:nvCxnSpPr>
            <p:cNvPr id="176" name="Google Shape;176;p17"/>
            <p:cNvCxnSpPr/>
            <p:nvPr/>
          </p:nvCxnSpPr>
          <p:spPr>
            <a:xfrm flipH="1" rot="10800000">
              <a:off x="1515550" y="1551900"/>
              <a:ext cx="6286500" cy="12000"/>
            </a:xfrm>
            <a:prstGeom prst="straightConnector1">
              <a:avLst/>
            </a:prstGeom>
            <a:noFill/>
            <a:ln cap="flat" cmpd="sng" w="19050">
              <a:solidFill>
                <a:srgbClr val="1F1F1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17"/>
            <p:cNvCxnSpPr/>
            <p:nvPr/>
          </p:nvCxnSpPr>
          <p:spPr>
            <a:xfrm flipH="1">
              <a:off x="1524000" y="1551821"/>
              <a:ext cx="3600" cy="293100"/>
            </a:xfrm>
            <a:prstGeom prst="straightConnector1">
              <a:avLst/>
            </a:prstGeom>
            <a:noFill/>
            <a:ln cap="flat" cmpd="sng" w="19050">
              <a:solidFill>
                <a:srgbClr val="1F1F1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17"/>
            <p:cNvCxnSpPr/>
            <p:nvPr/>
          </p:nvCxnSpPr>
          <p:spPr>
            <a:xfrm flipH="1">
              <a:off x="7788169" y="1540009"/>
              <a:ext cx="3600" cy="281100"/>
            </a:xfrm>
            <a:prstGeom prst="straightConnector1">
              <a:avLst/>
            </a:prstGeom>
            <a:noFill/>
            <a:ln cap="flat" cmpd="sng" w="19050">
              <a:solidFill>
                <a:srgbClr val="1F1F1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" name="Google Shape;179;p17"/>
            <p:cNvSpPr txBox="1"/>
            <p:nvPr/>
          </p:nvSpPr>
          <p:spPr>
            <a:xfrm>
              <a:off x="4358850" y="1102044"/>
              <a:ext cx="4263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ca" sz="4300">
                  <a:latin typeface="Raleway"/>
                  <a:ea typeface="Raleway"/>
                  <a:cs typeface="Raleway"/>
                  <a:sym typeface="Raleway"/>
                </a:rPr>
                <a:t>*</a:t>
              </a:r>
              <a:endParaRPr sz="3700"/>
            </a:p>
          </p:txBody>
        </p:sp>
      </p:grpSp>
      <p:sp>
        <p:nvSpPr>
          <p:cNvPr id="180" name="Google Shape;180;p17"/>
          <p:cNvSpPr/>
          <p:nvPr/>
        </p:nvSpPr>
        <p:spPr>
          <a:xfrm>
            <a:off x="432221" y="2162896"/>
            <a:ext cx="2136000" cy="2187300"/>
          </a:xfrm>
          <a:prstGeom prst="ellipse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1210250" y="2375371"/>
            <a:ext cx="995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5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38 años</a:t>
            </a:r>
            <a:endParaRPr sz="15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3197550" y="2375371"/>
            <a:ext cx="995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5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45</a:t>
            </a:r>
            <a:r>
              <a:rPr lang="ca" sz="15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 años</a:t>
            </a:r>
            <a:endParaRPr sz="15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5560575" y="2375371"/>
            <a:ext cx="995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5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31</a:t>
            </a:r>
            <a:r>
              <a:rPr lang="ca" sz="15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 años</a:t>
            </a:r>
            <a:endParaRPr sz="15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7550475" y="2375371"/>
            <a:ext cx="995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5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33 años</a:t>
            </a:r>
            <a:endParaRPr sz="15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90" name="Google Shape;190;p18"/>
          <p:cNvSpPr txBox="1"/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 de negocio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387900" y="1318375"/>
            <a:ext cx="7991100" cy="3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Trabajadores con bajo rendimiento: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Objetivo: </a:t>
            </a:r>
            <a:r>
              <a:rPr lang="ca" sz="18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Potenciar sus resultados</a:t>
            </a:r>
            <a:endParaRPr sz="1850">
              <a:solidFill>
                <a:srgbClr val="2D374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endParaRPr sz="1850">
              <a:solidFill>
                <a:srgbClr val="2D374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Medio</a:t>
            </a: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r>
              <a:rPr b="1" lang="ca" sz="18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Cambios en la organización de la empresa </a:t>
            </a:r>
            <a:endParaRPr b="1" sz="1850">
              <a:solidFill>
                <a:srgbClr val="2D374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225" lvl="0" marL="180000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Turnos flexibles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-297474" lvl="0" marL="1800000" rtl="0" algn="l"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Implementar beneficios para familias jóvenes (guarderías, ayuda escolar, permisos flexibles).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-297474" lvl="0" marL="180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Revisar convenios con transporte corporativo o ayudas económicas.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-297474" lvl="0" marL="180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Mentorías o programas de acompañamiento con empleados de mejor rendimiento.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92" name="Google Shape;192;p18"/>
          <p:cNvGrpSpPr/>
          <p:nvPr/>
        </p:nvGrpSpPr>
        <p:grpSpPr>
          <a:xfrm>
            <a:off x="6158500" y="559275"/>
            <a:ext cx="1512521" cy="1450586"/>
            <a:chOff x="507500" y="2778075"/>
            <a:chExt cx="1512521" cy="1450586"/>
          </a:xfrm>
        </p:grpSpPr>
        <p:pic>
          <p:nvPicPr>
            <p:cNvPr id="193" name="Google Shape;193;p18"/>
            <p:cNvPicPr preferRelativeResize="0"/>
            <p:nvPr/>
          </p:nvPicPr>
          <p:blipFill rotWithShape="1">
            <a:blip r:embed="rId3">
              <a:alphaModFix/>
            </a:blip>
            <a:srcRect b="0" l="0" r="65769" t="0"/>
            <a:stretch/>
          </p:blipFill>
          <p:spPr>
            <a:xfrm>
              <a:off x="507500" y="2778075"/>
              <a:ext cx="521275" cy="1329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8763" y="2938778"/>
              <a:ext cx="521275" cy="52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11496" y="2995153"/>
              <a:ext cx="408525" cy="40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48885" y="3408787"/>
              <a:ext cx="819875" cy="819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18"/>
          <p:cNvSpPr txBox="1"/>
          <p:nvPr/>
        </p:nvSpPr>
        <p:spPr>
          <a:xfrm>
            <a:off x="6541563" y="2009850"/>
            <a:ext cx="74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N = 68</a:t>
            </a:r>
            <a:endParaRPr sz="900"/>
          </a:p>
        </p:txBody>
      </p:sp>
      <p:sp>
        <p:nvSpPr>
          <p:cNvPr id="198" name="Google Shape;198;p18"/>
          <p:cNvSpPr txBox="1"/>
          <p:nvPr/>
        </p:nvSpPr>
        <p:spPr>
          <a:xfrm>
            <a:off x="6399975" y="143771"/>
            <a:ext cx="1029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Kevin</a:t>
            </a:r>
            <a:endParaRPr b="1" sz="900"/>
          </a:p>
        </p:txBody>
      </p:sp>
      <p:pic>
        <p:nvPicPr>
          <p:cNvPr descr="Ícono de alerta | Canva" id="199" name="Google Shape;19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04200" y="224175"/>
            <a:ext cx="779450" cy="695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18"/>
          <p:cNvGrpSpPr/>
          <p:nvPr/>
        </p:nvGrpSpPr>
        <p:grpSpPr>
          <a:xfrm>
            <a:off x="8038374" y="1848807"/>
            <a:ext cx="886917" cy="1400434"/>
            <a:chOff x="6672513" y="1249788"/>
            <a:chExt cx="1474019" cy="2327463"/>
          </a:xfrm>
        </p:grpSpPr>
        <p:pic>
          <p:nvPicPr>
            <p:cNvPr id="201" name="Google Shape;201;p18"/>
            <p:cNvPicPr preferRelativeResize="0"/>
            <p:nvPr/>
          </p:nvPicPr>
          <p:blipFill rotWithShape="1">
            <a:blip r:embed="rId3">
              <a:alphaModFix/>
            </a:blip>
            <a:srcRect b="0" l="70598" r="1838" t="0"/>
            <a:stretch/>
          </p:blipFill>
          <p:spPr>
            <a:xfrm>
              <a:off x="6672513" y="1597463"/>
              <a:ext cx="408526" cy="139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18"/>
            <p:cNvPicPr preferRelativeResize="0"/>
            <p:nvPr/>
          </p:nvPicPr>
          <p:blipFill rotWithShape="1">
            <a:blip r:embed="rId6">
              <a:alphaModFix/>
            </a:blip>
            <a:srcRect b="0" l="0" r="63695" t="0"/>
            <a:stretch/>
          </p:blipFill>
          <p:spPr>
            <a:xfrm>
              <a:off x="7266497" y="2281420"/>
              <a:ext cx="297650" cy="8198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3" name="Google Shape;203;p18"/>
            <p:cNvCxnSpPr/>
            <p:nvPr/>
          </p:nvCxnSpPr>
          <p:spPr>
            <a:xfrm flipH="1">
              <a:off x="7244454" y="2615238"/>
              <a:ext cx="341700" cy="256200"/>
            </a:xfrm>
            <a:prstGeom prst="straightConnector1">
              <a:avLst/>
            </a:prstGeom>
            <a:noFill/>
            <a:ln cap="flat" cmpd="sng" w="229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04" name="Google Shape;204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38006" y="1933453"/>
              <a:ext cx="408525" cy="40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81050" y="1877063"/>
              <a:ext cx="521275" cy="521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6" name="Google Shape;206;p18"/>
            <p:cNvCxnSpPr/>
            <p:nvPr/>
          </p:nvCxnSpPr>
          <p:spPr>
            <a:xfrm flipH="1">
              <a:off x="7314013" y="2009586"/>
              <a:ext cx="341700" cy="256200"/>
            </a:xfrm>
            <a:prstGeom prst="straightConnector1">
              <a:avLst/>
            </a:prstGeom>
            <a:noFill/>
            <a:ln cap="flat" cmpd="sng" w="229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07" name="Google Shape;207;p1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732455" y="2491225"/>
              <a:ext cx="408525" cy="521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8" name="Google Shape;208;p18"/>
            <p:cNvCxnSpPr/>
            <p:nvPr/>
          </p:nvCxnSpPr>
          <p:spPr>
            <a:xfrm flipH="1">
              <a:off x="7774860" y="2726291"/>
              <a:ext cx="341700" cy="256200"/>
            </a:xfrm>
            <a:prstGeom prst="straightConnector1">
              <a:avLst/>
            </a:prstGeom>
            <a:noFill/>
            <a:ln cap="flat" cmpd="sng" w="229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" name="Google Shape;209;p18"/>
            <p:cNvSpPr txBox="1"/>
            <p:nvPr/>
          </p:nvSpPr>
          <p:spPr>
            <a:xfrm>
              <a:off x="6970080" y="3161750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000" lIns="55000" spcFirstLastPara="1" rIns="55000" wrap="square" tIns="5500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722"/>
                </a:spcAft>
                <a:buNone/>
              </a:pPr>
              <a:r>
                <a:rPr lang="ca" sz="902">
                  <a:latin typeface="Raleway"/>
                  <a:ea typeface="Raleway"/>
                  <a:cs typeface="Raleway"/>
                  <a:sym typeface="Raleway"/>
                </a:rPr>
                <a:t>N = 69</a:t>
              </a:r>
              <a:endParaRPr sz="541"/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6900505" y="1249788"/>
              <a:ext cx="102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000" lIns="55000" spcFirstLastPara="1" rIns="55000" wrap="square" tIns="5500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722"/>
                </a:spcAft>
                <a:buNone/>
              </a:pPr>
              <a:r>
                <a:rPr b="1" lang="ca" sz="902">
                  <a:latin typeface="Raleway"/>
                  <a:ea typeface="Raleway"/>
                  <a:cs typeface="Raleway"/>
                  <a:sym typeface="Raleway"/>
                </a:rPr>
                <a:t>Manuel</a:t>
              </a:r>
              <a:endParaRPr b="1" sz="541"/>
            </a:p>
          </p:txBody>
        </p:sp>
      </p:grpSp>
      <p:sp>
        <p:nvSpPr>
          <p:cNvPr id="211" name="Google Shape;211;p18"/>
          <p:cNvSpPr txBox="1"/>
          <p:nvPr/>
        </p:nvSpPr>
        <p:spPr>
          <a:xfrm>
            <a:off x="6651225" y="394100"/>
            <a:ext cx="995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5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38 años</a:t>
            </a:r>
            <a:endParaRPr sz="15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8260500" y="1971525"/>
            <a:ext cx="664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33 años</a:t>
            </a:r>
            <a:endParaRPr sz="9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1722150" y="1783038"/>
            <a:ext cx="70908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¿Cómo influyen factores como el consumo social de alcohol o tabaco y los antecedentes disciplinarios en los niveles de absentismo?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" name="Google Shape;219;p19"/>
          <p:cNvSpPr txBox="1"/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20" name="Google Shape;2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783037"/>
            <a:ext cx="933301" cy="933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>
            <p:ph idx="1" type="body"/>
          </p:nvPr>
        </p:nvSpPr>
        <p:spPr>
          <a:xfrm>
            <a:off x="1722150" y="3017400"/>
            <a:ext cx="68385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¿Cómo podríamos diseñar acciones preventivas y culturales para promover un entorno laboral más saludable y minimizar el impacto del absentismo?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2" name="Google Shape;2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3017408"/>
            <a:ext cx="933301" cy="9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425" y="1209200"/>
            <a:ext cx="5397951" cy="358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El análisis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1930600" y="677450"/>
            <a:ext cx="690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¿Cómo influyen factores como el consumo social de </a:t>
            </a: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alcohol</a:t>
            </a: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 o </a:t>
            </a: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tabaco</a:t>
            </a: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 y las </a:t>
            </a: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faltas disciplinarias</a:t>
            </a: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 en los niveles de </a:t>
            </a: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absentismo</a:t>
            </a: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?</a:t>
            </a:r>
            <a:endParaRPr sz="6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175875" y="4732700"/>
            <a:ext cx="3946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sng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Metodología utilizada: </a:t>
            </a:r>
            <a:r>
              <a:rPr lang="ca" sz="10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regresión lineal multivariable</a:t>
            </a:r>
            <a:endParaRPr sz="100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7637800" y="1827825"/>
            <a:ext cx="1193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Bebedor Social</a:t>
            </a:r>
            <a:endParaRPr sz="18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7637800" y="2836250"/>
            <a:ext cx="1193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 Fumador Social</a:t>
            </a:r>
            <a:endParaRPr sz="18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109925" y="3868800"/>
            <a:ext cx="1751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 Falta disciplinaria</a:t>
            </a:r>
            <a:endParaRPr sz="18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5" name="Google Shape;235;p20"/>
          <p:cNvCxnSpPr/>
          <p:nvPr/>
        </p:nvCxnSpPr>
        <p:spPr>
          <a:xfrm flipH="1" rot="10800000">
            <a:off x="1778900" y="4206475"/>
            <a:ext cx="981000" cy="3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0"/>
          <p:cNvCxnSpPr/>
          <p:nvPr/>
        </p:nvCxnSpPr>
        <p:spPr>
          <a:xfrm flipH="1">
            <a:off x="6551875" y="2188350"/>
            <a:ext cx="1249500" cy="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0"/>
          <p:cNvCxnSpPr/>
          <p:nvPr/>
        </p:nvCxnSpPr>
        <p:spPr>
          <a:xfrm flipH="1">
            <a:off x="5611825" y="2958100"/>
            <a:ext cx="1914000" cy="3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1" title="4_fuerza_estandarizada_significancia_combin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138" y="1243475"/>
            <a:ext cx="6261714" cy="34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44" name="Google Shape;244;p21"/>
          <p:cNvSpPr txBox="1"/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El análisis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930600" y="677450"/>
            <a:ext cx="690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¿Cómo influyen factores como el consumo social de </a:t>
            </a: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alcohol</a:t>
            </a: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 o </a:t>
            </a: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tabaco</a:t>
            </a: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 y las </a:t>
            </a: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faltas disciplinarias</a:t>
            </a: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 en los niveles de </a:t>
            </a:r>
            <a:r>
              <a:rPr b="1" lang="ca" sz="1500">
                <a:latin typeface="Raleway"/>
                <a:ea typeface="Raleway"/>
                <a:cs typeface="Raleway"/>
                <a:sym typeface="Raleway"/>
              </a:rPr>
              <a:t>absentismo</a:t>
            </a:r>
            <a:r>
              <a:rPr lang="ca" sz="1500">
                <a:latin typeface="Raleway"/>
                <a:ea typeface="Raleway"/>
                <a:cs typeface="Raleway"/>
                <a:sym typeface="Raleway"/>
              </a:rPr>
              <a:t>?</a:t>
            </a:r>
            <a:endParaRPr sz="6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3175875" y="4732700"/>
            <a:ext cx="3946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sng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Metodología utilizada: </a:t>
            </a:r>
            <a:r>
              <a:rPr lang="ca" sz="10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regresión lineal multivariable</a:t>
            </a:r>
            <a:endParaRPr sz="100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7851850" y="2087075"/>
            <a:ext cx="1193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Hábitos</a:t>
            </a:r>
            <a:r>
              <a:rPr lang="ca" sz="18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 Sociales</a:t>
            </a:r>
            <a:endParaRPr sz="18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77825" y="3611950"/>
            <a:ext cx="1751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 Falta disciplinaria</a:t>
            </a:r>
            <a:endParaRPr sz="18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 rot="10800000">
            <a:off x="7076650" y="2483450"/>
            <a:ext cx="775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1"/>
          <p:cNvCxnSpPr/>
          <p:nvPr/>
        </p:nvCxnSpPr>
        <p:spPr>
          <a:xfrm>
            <a:off x="1500450" y="3889200"/>
            <a:ext cx="1310100" cy="6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56" name="Google Shape;256;p22"/>
          <p:cNvSpPr txBox="1"/>
          <p:nvPr>
            <p:ph type="title"/>
          </p:nvPr>
        </p:nvSpPr>
        <p:spPr>
          <a:xfrm>
            <a:off x="387900" y="608900"/>
            <a:ext cx="19401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Propuestas: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387900" y="1318375"/>
            <a:ext cx="7991100" cy="3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Bebedores Sociales: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Objetivo:</a:t>
            </a:r>
            <a:r>
              <a:rPr lang="ca" sz="16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Reducir absentismo mediante prevención y apoyo en consumo responsable</a:t>
            </a:r>
            <a:endParaRPr sz="1650">
              <a:solidFill>
                <a:srgbClr val="2D374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Medio</a:t>
            </a: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r>
              <a:rPr b="1" lang="ca" sz="1650">
                <a:latin typeface="Raleway"/>
                <a:ea typeface="Raleway"/>
                <a:cs typeface="Raleway"/>
                <a:sym typeface="Raleway"/>
              </a:rPr>
              <a:t>Programa de Bienestar y Concienciación sobre Consumo Responsable</a:t>
            </a:r>
            <a:endParaRPr b="1"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Campañas internas sobre consumo responsable.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Charlas especializadas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Asesoramiento confidencial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Recursos necesarios</a:t>
            </a:r>
            <a:r>
              <a:rPr b="1" lang="ca" sz="1850"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Colaboración con el departamento de Comunicación Interna y de Salud Laboral</a:t>
            </a:r>
            <a:r>
              <a:rPr lang="ca" sz="9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9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Prioridad: </a:t>
            </a: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Alta</a:t>
            </a:r>
            <a:endParaRPr sz="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58" name="Google Shape;258;p22" title="ChatGPT Image 7 d’oct. del 2025, 21_12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6175" y="234175"/>
            <a:ext cx="2258100" cy="15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/>
        </p:nvSpPr>
        <p:spPr>
          <a:xfrm>
            <a:off x="147375" y="1318375"/>
            <a:ext cx="8680500" cy="4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Trabajadores con faltas disciplinarias</a:t>
            </a: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: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Objetivo:</a:t>
            </a:r>
            <a:r>
              <a:rPr lang="ca" sz="16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Entender por qué los antecedentes disciplinarios reducen el ausentismo y replicar ese efecto de manera ética.</a:t>
            </a:r>
            <a:endParaRPr sz="1650">
              <a:solidFill>
                <a:srgbClr val="2D374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Medio</a:t>
            </a: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r>
              <a:rPr b="1" lang="ca" sz="18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Revisión del Sistema Disciplinario como Herramienta de Gestión</a:t>
            </a:r>
            <a:endParaRPr b="1" sz="1850">
              <a:solidFill>
                <a:srgbClr val="2D374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Análisis cualitativo con mandos intermedios.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Revisar si el proceso disciplinario actúa como “llamada de atención”.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Evaluar si hay un sesgo (ej: los que más faltan son despedidos antes de tener una falta disciplinaria).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Valorar Programa de reconocimiento por buena asistencia.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Recursos necesarios</a:t>
            </a:r>
            <a:r>
              <a:rPr b="1" lang="ca" sz="1850"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Colaboración con el área Legal y de Operaciones</a:t>
            </a:r>
            <a:r>
              <a:rPr lang="ca" sz="1000"/>
              <a:t>.</a:t>
            </a:r>
            <a:endParaRPr sz="9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Prioridad: </a:t>
            </a:r>
            <a:r>
              <a:rPr lang="ca" sz="1750">
                <a:latin typeface="Raleway"/>
                <a:ea typeface="Raleway"/>
                <a:cs typeface="Raleway"/>
                <a:sym typeface="Raleway"/>
              </a:rPr>
              <a:t>Media</a:t>
            </a:r>
            <a:r>
              <a:rPr lang="ca" sz="2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</a:t>
            </a:r>
            <a:r>
              <a:rPr lang="ca" sz="1750">
                <a:latin typeface="Raleway"/>
                <a:ea typeface="Raleway"/>
                <a:cs typeface="Raleway"/>
                <a:sym typeface="Raleway"/>
              </a:rPr>
              <a:t>Alta</a:t>
            </a:r>
            <a:endParaRPr sz="175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4" name="Google Shape;264;p23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65" name="Google Shape;265;p23"/>
          <p:cNvSpPr txBox="1"/>
          <p:nvPr>
            <p:ph type="title"/>
          </p:nvPr>
        </p:nvSpPr>
        <p:spPr>
          <a:xfrm>
            <a:off x="387900" y="608900"/>
            <a:ext cx="20067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Propuestas: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66" name="Google Shape;266;p23" title="ChatGPT Image 7 d’oct. del 2025, 21_12_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3699" y="234175"/>
            <a:ext cx="2206499" cy="147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/>
        </p:nvSpPr>
        <p:spPr>
          <a:xfrm>
            <a:off x="387900" y="1318375"/>
            <a:ext cx="7991100" cy="4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9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Hábitos Sociales (Fumadores o Bebedores Sociales)</a:t>
            </a: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Objetivo:</a:t>
            </a:r>
            <a:r>
              <a:rPr lang="ca" sz="16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Promover un entorno que valore la salud física y mental.</a:t>
            </a:r>
            <a:endParaRPr sz="1650">
              <a:solidFill>
                <a:srgbClr val="2D374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Medio</a:t>
            </a: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r>
              <a:rPr b="1" lang="ca" sz="18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Programa de Estilo de </a:t>
            </a:r>
            <a:r>
              <a:rPr b="1" lang="ca" sz="18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Vida Equilibrado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Talleres de rendimiento y  recuperación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Espacios saludables en centros logísticos (ej: zonas de descanso sin humo).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Mentores de bienestar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Ayuda especializada y confidencial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Recursos necesarios</a:t>
            </a:r>
            <a:r>
              <a:rPr b="1" lang="ca" sz="1850"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Colaboración con el departamento de Comunicación Interna y Salud Laboral y  presupuesto para actividades y mejora de espacios.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Prioridad: </a:t>
            </a: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Alta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2" name="Google Shape;272;p24"/>
          <p:cNvSpPr txBox="1"/>
          <p:nvPr>
            <p:ph type="title"/>
          </p:nvPr>
        </p:nvSpPr>
        <p:spPr>
          <a:xfrm>
            <a:off x="387900" y="158400"/>
            <a:ext cx="52587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73" name="Google Shape;273;p24"/>
          <p:cNvSpPr txBox="1"/>
          <p:nvPr>
            <p:ph type="title"/>
          </p:nvPr>
        </p:nvSpPr>
        <p:spPr>
          <a:xfrm>
            <a:off x="387900" y="608900"/>
            <a:ext cx="2364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Propuestas: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74" name="Google Shape;274;p24" title="ChatGPT Image 8 d’oct. del 2025, 14_31_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3300" y="96925"/>
            <a:ext cx="2436376" cy="162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" name="Google Shape;279;p25"/>
          <p:cNvGraphicFramePr/>
          <p:nvPr/>
        </p:nvGraphicFramePr>
        <p:xfrm>
          <a:off x="3782400" y="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{531A1DC8-63C5-4761-988C-A1D7F07EBCC6}</a:tableStyleId>
              </a:tblPr>
              <a:tblGrid>
                <a:gridCol w="2202150"/>
              </a:tblGrid>
              <a:tr h="136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Índice de Eficiencia Relativa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0.465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Sector 0.7 -0.9 o +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6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Motivo Modal Absentismo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Consulta Médica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161x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6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Porcentaje de empleados ausentes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94.85%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5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Mes pico de ausencias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Marzo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861h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0" name="Google Shape;280;p25"/>
          <p:cNvSpPr txBox="1"/>
          <p:nvPr/>
        </p:nvSpPr>
        <p:spPr>
          <a:xfrm rot="-5400000">
            <a:off x="-18540" y="2223576"/>
            <a:ext cx="11214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3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KPI’s</a:t>
            </a:r>
            <a:endParaRPr i="1" sz="3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1" name="Google Shape;281;p25" title="ChatGPT Image 22 de set. del 2025, 22_03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50" y="91025"/>
            <a:ext cx="1682108" cy="1121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25"/>
          <p:cNvGraphicFramePr/>
          <p:nvPr/>
        </p:nvGraphicFramePr>
        <p:xfrm>
          <a:off x="1530100" y="87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{531A1DC8-63C5-4761-988C-A1D7F07EBCC6}</a:tableStyleId>
              </a:tblPr>
              <a:tblGrid>
                <a:gridCol w="2237975"/>
              </a:tblGrid>
              <a:tr h="136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Índice de Eficiencia Relativa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0.3475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Sector 0.7 -0.9 o +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6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Motivo Modal Absentismo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Consulta Médica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142x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6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Porcentaje de empleados ausentes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91.67%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6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Mes pico de ausencias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Marzo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755h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3" name="Google Shape;283;p25"/>
          <p:cNvGraphicFramePr/>
          <p:nvPr/>
        </p:nvGraphicFramePr>
        <p:xfrm>
          <a:off x="5998875" y="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{531A1DC8-63C5-4761-988C-A1D7F07EBCC6}</a:tableStyleId>
              </a:tblPr>
              <a:tblGrid>
                <a:gridCol w="2202150"/>
              </a:tblGrid>
              <a:tr h="136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Índice de Eficiencia Relativa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0.348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Sector 0.7 -0.9 o +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6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Motivo Modal Absentismo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Consulta Médica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214x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6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Porcentaje de empleados ausentes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95.85%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5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</a:rPr>
                        <a:t>Mes pico de ausencias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Julio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1241h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>
            <p:ph idx="1" type="subTitle"/>
          </p:nvPr>
        </p:nvSpPr>
        <p:spPr>
          <a:xfrm>
            <a:off x="1680302" y="344950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Departamento de Análisis de Datos de RRHH</a:t>
            </a:r>
            <a:endParaRPr/>
          </a:p>
        </p:txBody>
      </p:sp>
      <p:sp>
        <p:nvSpPr>
          <p:cNvPr id="289" name="Google Shape;289;p26"/>
          <p:cNvSpPr txBox="1"/>
          <p:nvPr>
            <p:ph type="ctrTitle"/>
          </p:nvPr>
        </p:nvSpPr>
        <p:spPr>
          <a:xfrm>
            <a:off x="6097050" y="4686950"/>
            <a:ext cx="3047100" cy="3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000"/>
              <a:t>14</a:t>
            </a:r>
            <a:r>
              <a:rPr lang="ca" sz="2000"/>
              <a:t> de Octubre de 2025</a:t>
            </a:r>
            <a:endParaRPr sz="2000"/>
          </a:p>
        </p:txBody>
      </p:sp>
      <p:sp>
        <p:nvSpPr>
          <p:cNvPr id="290" name="Google Shape;290;p26"/>
          <p:cNvSpPr txBox="1"/>
          <p:nvPr>
            <p:ph type="ctrTitle"/>
          </p:nvPr>
        </p:nvSpPr>
        <p:spPr>
          <a:xfrm>
            <a:off x="958350" y="1562096"/>
            <a:ext cx="7227300" cy="64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Equipo de Analistas de datos</a:t>
            </a:r>
            <a:endParaRPr sz="30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91" name="Google Shape;291;p26" title="ChatGPT Image 22 de set. del 2025, 22_03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450" y="-617225"/>
            <a:ext cx="4393098" cy="288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2412275" y="2447200"/>
            <a:ext cx="41340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aleway"/>
                <a:ea typeface="Raleway"/>
                <a:cs typeface="Raleway"/>
                <a:sym typeface="Raleway"/>
              </a:rPr>
              <a:t>Joel Gallarte</a:t>
            </a:r>
            <a:endParaRPr sz="1800">
              <a:solidFill>
                <a:srgbClr val="151517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aleway"/>
                <a:ea typeface="Raleway"/>
                <a:cs typeface="Raleway"/>
                <a:sym typeface="Raleway"/>
              </a:rPr>
              <a:t>Gemma Cardona</a:t>
            </a:r>
            <a:endParaRPr sz="18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aleway"/>
                <a:ea typeface="Raleway"/>
                <a:cs typeface="Raleway"/>
                <a:sym typeface="Raleway"/>
              </a:rPr>
              <a:t>Oriac Gimeno</a:t>
            </a:r>
            <a:endParaRPr sz="1800">
              <a:solidFill>
                <a:srgbClr val="15151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4328525" y="2586750"/>
            <a:ext cx="1132200" cy="547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