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SemiBold" pitchFamily="2" charset="0"/>
      <p:regular r:id="rId25"/>
      <p:bold r:id="rId26"/>
      <p:italic r:id="rId27"/>
      <p:boldItalic r:id="rId28"/>
    </p:embeddedFont>
    <p:embeddedFont>
      <p:font typeface="Roboto" panose="02000000000000000000" pitchFamily="2" charset="0"/>
      <p:regular r:id="rId29"/>
      <p:bold r:id="rId30"/>
      <p:italic r:id="rId31"/>
      <p:boldItalic r:id="rId32"/>
    </p:embeddedFont>
    <p:embeddedFont>
      <p:font typeface="Roboto Slab" pitchFamily="2" charset="0"/>
      <p:regular r:id="rId33"/>
      <p:bold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C3D904-1C3A-4C4E-94A3-C165CD08D503}">
  <a:tblStyle styleId="{DAC3D904-1C3A-4C4E-94A3-C165CD08D50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948" y="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font" Target="fonts/font1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font" Target="fonts/font17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1c3372df9_0_6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81c3372df9_0_6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1c3372df9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1c3372df9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8981a98774_1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8981a98774_1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89cbdc4be8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89cbdc4be8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8981a98774_1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8981a98774_1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1c3372df9_0_7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81c3372df9_0_7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81c3372df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81c3372df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87cf5afc1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87cf5afc1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8981a98774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8981a98774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87cf5afc14_3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87cf5afc14_3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8907d77797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8907d77797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981a98774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8981a98774_1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84f02e878d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7" name="Google Shape;277;g384f02e878d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8981a98774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8981a98774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ca-ES"/>
          </a:p>
        </p:txBody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ca-ES"/>
          </a:p>
        </p:txBody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rgbClr val="CFE2F3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/>
              <a:t>Departamento de Análisis de Datos de RRHH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ctrTitle"/>
          </p:nvPr>
        </p:nvSpPr>
        <p:spPr>
          <a:xfrm>
            <a:off x="6097050" y="4686950"/>
            <a:ext cx="3047100" cy="37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000"/>
              <a:t>14 de Octubre de 2025</a:t>
            </a:r>
            <a:endParaRPr sz="2000"/>
          </a:p>
        </p:txBody>
      </p:sp>
      <p:sp>
        <p:nvSpPr>
          <p:cNvPr id="65" name="Google Shape;65;p13"/>
          <p:cNvSpPr txBox="1">
            <a:spLocks noGrp="1"/>
          </p:cNvSpPr>
          <p:nvPr>
            <p:ph type="ctrTitle"/>
          </p:nvPr>
        </p:nvSpPr>
        <p:spPr>
          <a:xfrm>
            <a:off x="958350" y="1114342"/>
            <a:ext cx="72273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30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Insights y propuestas de negocio</a:t>
            </a:r>
            <a:endParaRPr sz="30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pic>
        <p:nvPicPr>
          <p:cNvPr id="66" name="Google Shape;66;p13" title="ChatGPT Image 22 de set. del 2025, 22_03_0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5450" y="0"/>
            <a:ext cx="4393098" cy="292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Perfil y desempeño profesional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1722150" y="1783052"/>
            <a:ext cx="7090800" cy="10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ca" sz="2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Investigar el efecto de la antigüedad, la carga laboral diaria y la distancia al trabajo en el rendimiento de los trabajadores</a:t>
            </a:r>
            <a:endParaRPr sz="2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387900" y="608893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Objetivos</a:t>
            </a:r>
            <a:endParaRPr sz="2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pic>
        <p:nvPicPr>
          <p:cNvPr id="74" name="Google Shape;7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38" y="1897362"/>
            <a:ext cx="846578" cy="846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4"/>
          <p:cNvSpPr txBox="1">
            <a:spLocks noGrp="1"/>
          </p:cNvSpPr>
          <p:nvPr>
            <p:ph type="body" idx="1"/>
          </p:nvPr>
        </p:nvSpPr>
        <p:spPr>
          <a:xfrm>
            <a:off x="1722150" y="3085752"/>
            <a:ext cx="6838500" cy="9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2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Identificar perfiles con mayor riesgo de bajo rendimiento </a:t>
            </a:r>
            <a:endParaRPr sz="2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431325" y="1001400"/>
            <a:ext cx="6764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759350" y="3877400"/>
            <a:ext cx="67641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sz="2000">
                <a:latin typeface="Raleway"/>
                <a:ea typeface="Raleway"/>
                <a:cs typeface="Raleway"/>
                <a:sym typeface="Raleway"/>
              </a:rPr>
              <a:t>Crear propuestas para aumentar el rendimiento de los trabajadores</a:t>
            </a:r>
            <a:endParaRPr/>
          </a:p>
        </p:txBody>
      </p:sp>
      <p:pic>
        <p:nvPicPr>
          <p:cNvPr id="78" name="Google Shape;7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38" y="2909526"/>
            <a:ext cx="846578" cy="846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38" y="3870437"/>
            <a:ext cx="846578" cy="846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Perfil y desempeño profesional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85" name="Google Shape;85;p15"/>
          <p:cNvSpPr txBox="1">
            <a:spLocks noGrp="1"/>
          </p:cNvSpPr>
          <p:nvPr>
            <p:ph type="title"/>
          </p:nvPr>
        </p:nvSpPr>
        <p:spPr>
          <a:xfrm>
            <a:off x="387900" y="608900"/>
            <a:ext cx="87561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4125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Análisis: </a:t>
            </a:r>
            <a:r>
              <a:rPr lang="ca" sz="1400" i="1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Investigando el efecto de antigüedad, carga laboral diaria y distancia al trabajo sobre rendimiento</a:t>
            </a:r>
            <a:endParaRPr sz="1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" name="Google Shape;86;p15"/>
          <p:cNvGrpSpPr/>
          <p:nvPr/>
        </p:nvGrpSpPr>
        <p:grpSpPr>
          <a:xfrm>
            <a:off x="517786" y="1751532"/>
            <a:ext cx="4058700" cy="3235132"/>
            <a:chOff x="517786" y="1751532"/>
            <a:chExt cx="4058700" cy="3235132"/>
          </a:xfrm>
        </p:grpSpPr>
        <p:pic>
          <p:nvPicPr>
            <p:cNvPr id="87" name="Google Shape;87;p15"/>
            <p:cNvPicPr preferRelativeResize="0"/>
            <p:nvPr/>
          </p:nvPicPr>
          <p:blipFill rotWithShape="1">
            <a:blip r:embed="rId3">
              <a:alphaModFix/>
            </a:blip>
            <a:srcRect l="86574" t="6074" r="2840" b="22204"/>
            <a:stretch/>
          </p:blipFill>
          <p:spPr>
            <a:xfrm>
              <a:off x="3928150" y="1751532"/>
              <a:ext cx="417226" cy="26180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88" name="Google Shape;88;p15"/>
            <p:cNvGrpSpPr/>
            <p:nvPr/>
          </p:nvGrpSpPr>
          <p:grpSpPr>
            <a:xfrm>
              <a:off x="695465" y="1918000"/>
              <a:ext cx="3028179" cy="3068664"/>
              <a:chOff x="695475" y="1563450"/>
              <a:chExt cx="3122800" cy="3164550"/>
            </a:xfrm>
          </p:grpSpPr>
          <p:grpSp>
            <p:nvGrpSpPr>
              <p:cNvPr id="89" name="Google Shape;89;p15"/>
              <p:cNvGrpSpPr/>
              <p:nvPr/>
            </p:nvGrpSpPr>
            <p:grpSpPr>
              <a:xfrm>
                <a:off x="695475" y="1663175"/>
                <a:ext cx="3122800" cy="3064825"/>
                <a:chOff x="695475" y="1663175"/>
                <a:chExt cx="3122800" cy="3064825"/>
              </a:xfrm>
            </p:grpSpPr>
            <p:pic>
              <p:nvPicPr>
                <p:cNvPr id="90" name="Google Shape;90;p15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24930" r="30771"/>
                <a:stretch/>
              </p:blipFill>
              <p:spPr>
                <a:xfrm>
                  <a:off x="695475" y="1663175"/>
                  <a:ext cx="3051825" cy="30648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91" name="Google Shape;91;p15"/>
                <p:cNvSpPr/>
                <p:nvPr/>
              </p:nvSpPr>
              <p:spPr>
                <a:xfrm>
                  <a:off x="3422575" y="3888800"/>
                  <a:ext cx="395700" cy="415500"/>
                </a:xfrm>
                <a:prstGeom prst="rect">
                  <a:avLst/>
                </a:prstGeom>
                <a:solidFill>
                  <a:schemeClr val="dk1"/>
                </a:solidFill>
                <a:ln w="92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88650" tIns="88650" rIns="88650" bIns="88650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357"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  <p:sp>
            <p:nvSpPr>
              <p:cNvPr id="92" name="Google Shape;92;p15"/>
              <p:cNvSpPr/>
              <p:nvPr/>
            </p:nvSpPr>
            <p:spPr>
              <a:xfrm>
                <a:off x="695475" y="1563450"/>
                <a:ext cx="395700" cy="415500"/>
              </a:xfrm>
              <a:prstGeom prst="rect">
                <a:avLst/>
              </a:prstGeom>
              <a:solidFill>
                <a:schemeClr val="dk1"/>
              </a:solidFill>
              <a:ln w="92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650" tIns="88650" rIns="88650" bIns="8865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7"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93" name="Google Shape;93;p15"/>
            <p:cNvSpPr/>
            <p:nvPr/>
          </p:nvSpPr>
          <p:spPr>
            <a:xfrm>
              <a:off x="625775" y="3267967"/>
              <a:ext cx="3262200" cy="683400"/>
            </a:xfrm>
            <a:prstGeom prst="rect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" name="Google Shape;94;p15"/>
            <p:cNvSpPr txBox="1"/>
            <p:nvPr/>
          </p:nvSpPr>
          <p:spPr>
            <a:xfrm>
              <a:off x="517786" y="1751541"/>
              <a:ext cx="4058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200"/>
                <a:t>Heatmap de correlaciones significativas (p&lt;0.05)</a:t>
              </a:r>
              <a:endParaRPr sz="600"/>
            </a:p>
          </p:txBody>
        </p:sp>
      </p:grpSp>
      <p:sp>
        <p:nvSpPr>
          <p:cNvPr id="95" name="Google Shape;95;p15"/>
          <p:cNvSpPr txBox="1"/>
          <p:nvPr/>
        </p:nvSpPr>
        <p:spPr>
          <a:xfrm rot="-720">
            <a:off x="383939" y="1280264"/>
            <a:ext cx="8592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b="1">
                <a:latin typeface="Raleway"/>
                <a:ea typeface="Raleway"/>
                <a:cs typeface="Raleway"/>
                <a:sym typeface="Raleway"/>
              </a:rPr>
              <a:t>Rendimiento: </a:t>
            </a:r>
            <a:r>
              <a:rPr lang="ca">
                <a:latin typeface="Raleway"/>
                <a:ea typeface="Raleway"/>
                <a:cs typeface="Raleway"/>
                <a:sym typeface="Raleway"/>
              </a:rPr>
              <a:t>Hit_target_avg (media del porcentaje de paquetes entregados cada día de trabajo)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387900" y="4814591"/>
            <a:ext cx="8057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sz="1300" u="sng">
                <a:latin typeface="Raleway"/>
                <a:ea typeface="Raleway"/>
                <a:cs typeface="Raleway"/>
                <a:sym typeface="Raleway"/>
              </a:rPr>
              <a:t>Metodología utilizada:</a:t>
            </a:r>
            <a:r>
              <a:rPr lang="ca" sz="1300">
                <a:latin typeface="Raleway"/>
                <a:ea typeface="Raleway"/>
                <a:cs typeface="Raleway"/>
                <a:sym typeface="Raleway"/>
              </a:rPr>
              <a:t> correlaciones de Spearman y modelo de regresión multivariante</a:t>
            </a:r>
            <a:endParaRPr sz="700"/>
          </a:p>
        </p:txBody>
      </p:sp>
      <p:grpSp>
        <p:nvGrpSpPr>
          <p:cNvPr id="97" name="Google Shape;97;p15"/>
          <p:cNvGrpSpPr/>
          <p:nvPr/>
        </p:nvGrpSpPr>
        <p:grpSpPr>
          <a:xfrm>
            <a:off x="4748500" y="2307606"/>
            <a:ext cx="3788100" cy="890100"/>
            <a:chOff x="4748500" y="2307606"/>
            <a:chExt cx="3788100" cy="890100"/>
          </a:xfrm>
        </p:grpSpPr>
        <p:sp>
          <p:nvSpPr>
            <p:cNvPr id="98" name="Google Shape;98;p15"/>
            <p:cNvSpPr txBox="1"/>
            <p:nvPr/>
          </p:nvSpPr>
          <p:spPr>
            <a:xfrm>
              <a:off x="4748500" y="2307606"/>
              <a:ext cx="3788100" cy="89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32385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SzPts val="1500"/>
                <a:buFont typeface="Raleway"/>
                <a:buChar char="●"/>
              </a:pPr>
              <a:r>
                <a:rPr lang="ca" sz="1500">
                  <a:latin typeface="Raleway"/>
                  <a:ea typeface="Raleway"/>
                  <a:cs typeface="Raleway"/>
                  <a:sym typeface="Raleway"/>
                </a:rPr>
                <a:t>carga laboral  →     rendimiento</a:t>
              </a:r>
              <a:endParaRPr sz="1500">
                <a:latin typeface="Raleway"/>
                <a:ea typeface="Raleway"/>
                <a:cs typeface="Raleway"/>
                <a:sym typeface="Raleway"/>
              </a:endParaRPr>
            </a:p>
            <a:p>
              <a:pPr marL="457200" lvl="0" indent="-323850" algn="l" rtl="0">
                <a:lnSpc>
                  <a:spcPct val="150000"/>
                </a:lnSpc>
                <a:spcBef>
                  <a:spcPts val="1000"/>
                </a:spcBef>
                <a:spcAft>
                  <a:spcPts val="1000"/>
                </a:spcAft>
                <a:buSzPts val="1500"/>
                <a:buFont typeface="Raleway"/>
                <a:buChar char="●"/>
              </a:pPr>
              <a:r>
                <a:rPr lang="ca" sz="1500">
                  <a:latin typeface="Raleway"/>
                  <a:ea typeface="Raleway"/>
                  <a:cs typeface="Raleway"/>
                  <a:sym typeface="Raleway"/>
                </a:rPr>
                <a:t>antigüedad  →     rendimiento</a:t>
              </a:r>
              <a:endParaRPr sz="1500">
                <a:latin typeface="Raleway"/>
                <a:ea typeface="Raleway"/>
                <a:cs typeface="Raleway"/>
                <a:sym typeface="Raleway"/>
              </a:endParaRPr>
            </a:p>
          </p:txBody>
        </p:sp>
        <p:cxnSp>
          <p:nvCxnSpPr>
            <p:cNvPr id="99" name="Google Shape;99;p15"/>
            <p:cNvCxnSpPr/>
            <p:nvPr/>
          </p:nvCxnSpPr>
          <p:spPr>
            <a:xfrm rot="10800000">
              <a:off x="5203774" y="2363664"/>
              <a:ext cx="0" cy="259800"/>
            </a:xfrm>
            <a:prstGeom prst="straightConnector1">
              <a:avLst/>
            </a:prstGeom>
            <a:noFill/>
            <a:ln w="19050" cap="flat" cmpd="sng">
              <a:solidFill>
                <a:srgbClr val="1F1F1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0" name="Google Shape;100;p15"/>
            <p:cNvCxnSpPr/>
            <p:nvPr/>
          </p:nvCxnSpPr>
          <p:spPr>
            <a:xfrm flipH="1">
              <a:off x="6857739" y="2347183"/>
              <a:ext cx="600" cy="281700"/>
            </a:xfrm>
            <a:prstGeom prst="straightConnector1">
              <a:avLst/>
            </a:prstGeom>
            <a:noFill/>
            <a:ln w="19050" cap="flat" cmpd="sng">
              <a:solidFill>
                <a:srgbClr val="1F1F1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1" name="Google Shape;101;p15"/>
            <p:cNvCxnSpPr/>
            <p:nvPr/>
          </p:nvCxnSpPr>
          <p:spPr>
            <a:xfrm rot="10800000">
              <a:off x="5208117" y="2825627"/>
              <a:ext cx="0" cy="259800"/>
            </a:xfrm>
            <a:prstGeom prst="straightConnector1">
              <a:avLst/>
            </a:prstGeom>
            <a:noFill/>
            <a:ln w="19050" cap="flat" cmpd="sng">
              <a:solidFill>
                <a:srgbClr val="1F1F1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2" name="Google Shape;102;p15"/>
            <p:cNvCxnSpPr/>
            <p:nvPr/>
          </p:nvCxnSpPr>
          <p:spPr>
            <a:xfrm rot="10800000">
              <a:off x="6723005" y="2825627"/>
              <a:ext cx="0" cy="259800"/>
            </a:xfrm>
            <a:prstGeom prst="straightConnector1">
              <a:avLst/>
            </a:prstGeom>
            <a:noFill/>
            <a:ln w="19050" cap="flat" cmpd="sng">
              <a:solidFill>
                <a:srgbClr val="1F1F1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03" name="Google Shape;103;p15"/>
          <p:cNvGrpSpPr/>
          <p:nvPr/>
        </p:nvGrpSpPr>
        <p:grpSpPr>
          <a:xfrm>
            <a:off x="2294812" y="2590112"/>
            <a:ext cx="6322238" cy="1623794"/>
            <a:chOff x="2294812" y="2590112"/>
            <a:chExt cx="6322238" cy="1623794"/>
          </a:xfrm>
        </p:grpSpPr>
        <p:grpSp>
          <p:nvGrpSpPr>
            <p:cNvPr id="104" name="Google Shape;104;p15"/>
            <p:cNvGrpSpPr/>
            <p:nvPr/>
          </p:nvGrpSpPr>
          <p:grpSpPr>
            <a:xfrm>
              <a:off x="4828950" y="2769288"/>
              <a:ext cx="3788100" cy="1444618"/>
              <a:chOff x="4828950" y="2769288"/>
              <a:chExt cx="3788100" cy="1444618"/>
            </a:xfrm>
          </p:grpSpPr>
          <p:pic>
            <p:nvPicPr>
              <p:cNvPr id="105" name="Google Shape;105;p15" descr="Ícono de alerta | Canva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8119375" y="2769288"/>
                <a:ext cx="417224" cy="372462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106" name="Google Shape;106;p15"/>
              <p:cNvGrpSpPr/>
              <p:nvPr/>
            </p:nvGrpSpPr>
            <p:grpSpPr>
              <a:xfrm>
                <a:off x="4828950" y="3798400"/>
                <a:ext cx="3788100" cy="415506"/>
                <a:chOff x="4828950" y="3798400"/>
                <a:chExt cx="3788100" cy="415506"/>
              </a:xfrm>
            </p:grpSpPr>
            <p:sp>
              <p:nvSpPr>
                <p:cNvPr id="107" name="Google Shape;107;p15"/>
                <p:cNvSpPr txBox="1"/>
                <p:nvPr/>
              </p:nvSpPr>
              <p:spPr>
                <a:xfrm>
                  <a:off x="4828950" y="3798406"/>
                  <a:ext cx="3788100" cy="415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457200" lvl="0" indent="-323850" algn="l" rtl="0">
                    <a:lnSpc>
                      <a:spcPct val="150000"/>
                    </a:lnSpc>
                    <a:spcBef>
                      <a:spcPts val="0"/>
                    </a:spcBef>
                    <a:spcAft>
                      <a:spcPts val="1000"/>
                    </a:spcAft>
                    <a:buSzPts val="1500"/>
                    <a:buFont typeface="Raleway"/>
                    <a:buChar char="●"/>
                  </a:pPr>
                  <a:r>
                    <a:rPr lang="ca" sz="1500">
                      <a:latin typeface="Raleway"/>
                      <a:ea typeface="Raleway"/>
                      <a:cs typeface="Raleway"/>
                      <a:sym typeface="Raleway"/>
                    </a:rPr>
                    <a:t>antigüedad  →     carga laboral</a:t>
                  </a:r>
                  <a:endParaRPr sz="1500">
                    <a:latin typeface="Raleway"/>
                    <a:ea typeface="Raleway"/>
                    <a:cs typeface="Raleway"/>
                    <a:sym typeface="Raleway"/>
                  </a:endParaRPr>
                </a:p>
              </p:txBody>
            </p:sp>
            <p:cxnSp>
              <p:nvCxnSpPr>
                <p:cNvPr id="108" name="Google Shape;108;p15"/>
                <p:cNvCxnSpPr/>
                <p:nvPr/>
              </p:nvCxnSpPr>
              <p:spPr>
                <a:xfrm rot="10800000">
                  <a:off x="5284736" y="3909095"/>
                  <a:ext cx="0" cy="259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1F1F1F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sp>
              <p:nvSpPr>
                <p:cNvPr id="109" name="Google Shape;109;p15"/>
                <p:cNvSpPr/>
                <p:nvPr/>
              </p:nvSpPr>
              <p:spPr>
                <a:xfrm>
                  <a:off x="4880214" y="3798400"/>
                  <a:ext cx="3470100" cy="415500"/>
                </a:xfrm>
                <a:prstGeom prst="rect">
                  <a:avLst/>
                </a:prstGeom>
                <a:noFill/>
                <a:ln w="9525" cap="flat" cmpd="sng">
                  <a:solidFill>
                    <a:srgbClr val="F1C23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cxnSp>
              <p:nvCxnSpPr>
                <p:cNvPr id="110" name="Google Shape;110;p15"/>
                <p:cNvCxnSpPr/>
                <p:nvPr/>
              </p:nvCxnSpPr>
              <p:spPr>
                <a:xfrm flipH="1">
                  <a:off x="6812480" y="3892614"/>
                  <a:ext cx="600" cy="2817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1F1F1F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111" name="Google Shape;111;p15"/>
            <p:cNvSpPr/>
            <p:nvPr/>
          </p:nvSpPr>
          <p:spPr>
            <a:xfrm>
              <a:off x="2294812" y="2590112"/>
              <a:ext cx="803100" cy="789300"/>
            </a:xfrm>
            <a:prstGeom prst="ellipse">
              <a:avLst/>
            </a:prstGeom>
            <a:noFill/>
            <a:ln w="19050" cap="flat" cmpd="sng">
              <a:solidFill>
                <a:srgbClr val="F1C23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Perfil y desempeño profesional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17" name="Google Shape;117;p16"/>
          <p:cNvSpPr txBox="1">
            <a:spLocks noGrp="1"/>
          </p:cNvSpPr>
          <p:nvPr>
            <p:ph type="title"/>
          </p:nvPr>
        </p:nvSpPr>
        <p:spPr>
          <a:xfrm>
            <a:off x="387900" y="608900"/>
            <a:ext cx="87561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4125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Análisis: </a:t>
            </a:r>
            <a:r>
              <a:rPr lang="ca" sz="1400" i="1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Investigando el efecto de antigüedad, carga laboral diaria y distancia al trabajo sobre rendimiento</a:t>
            </a:r>
            <a:endParaRPr sz="1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 rot="-720">
            <a:off x="383939" y="1280264"/>
            <a:ext cx="8592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b="1">
                <a:latin typeface="Raleway"/>
                <a:ea typeface="Raleway"/>
                <a:cs typeface="Raleway"/>
                <a:sym typeface="Raleway"/>
              </a:rPr>
              <a:t>Rendimiento: </a:t>
            </a:r>
            <a:r>
              <a:rPr lang="ca">
                <a:latin typeface="Raleway"/>
                <a:ea typeface="Raleway"/>
                <a:cs typeface="Raleway"/>
                <a:sym typeface="Raleway"/>
              </a:rPr>
              <a:t>Hit_target_avg (media del porcentaje de paquetes entregados cada día de trabajo)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387900" y="4814591"/>
            <a:ext cx="8057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sz="1300" u="sng">
                <a:latin typeface="Raleway"/>
                <a:ea typeface="Raleway"/>
                <a:cs typeface="Raleway"/>
                <a:sym typeface="Raleway"/>
              </a:rPr>
              <a:t>Metodología utilizada:</a:t>
            </a:r>
            <a:r>
              <a:rPr lang="ca" sz="1300">
                <a:latin typeface="Raleway"/>
                <a:ea typeface="Raleway"/>
                <a:cs typeface="Raleway"/>
                <a:sym typeface="Raleway"/>
              </a:rPr>
              <a:t> correlaciones de Spearman y modelo de regresión multivariante</a:t>
            </a:r>
            <a:endParaRPr sz="700"/>
          </a:p>
        </p:txBody>
      </p:sp>
      <p:sp>
        <p:nvSpPr>
          <p:cNvPr id="120" name="Google Shape;120;p16"/>
          <p:cNvSpPr txBox="1"/>
          <p:nvPr/>
        </p:nvSpPr>
        <p:spPr>
          <a:xfrm rot="-904">
            <a:off x="600604" y="1904697"/>
            <a:ext cx="22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b="1">
                <a:latin typeface="Raleway"/>
                <a:ea typeface="Raleway"/>
                <a:cs typeface="Raleway"/>
                <a:sym typeface="Raleway"/>
              </a:rPr>
              <a:t>Regresión multivariante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21" name="Google Shape;121;p16"/>
          <p:cNvCxnSpPr/>
          <p:nvPr/>
        </p:nvCxnSpPr>
        <p:spPr>
          <a:xfrm flipH="1">
            <a:off x="1605105" y="2309820"/>
            <a:ext cx="600" cy="281700"/>
          </a:xfrm>
          <a:prstGeom prst="straightConnector1">
            <a:avLst/>
          </a:prstGeom>
          <a:noFill/>
          <a:ln w="19050" cap="flat" cmpd="sng">
            <a:solidFill>
              <a:srgbClr val="1F1F1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" name="Google Shape;122;p16"/>
          <p:cNvSpPr txBox="1"/>
          <p:nvPr/>
        </p:nvSpPr>
        <p:spPr>
          <a:xfrm rot="-764">
            <a:off x="392255" y="2583532"/>
            <a:ext cx="269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>
                <a:latin typeface="Raleway"/>
                <a:ea typeface="Raleway"/>
                <a:cs typeface="Raleway"/>
                <a:sym typeface="Raleway"/>
              </a:rPr>
              <a:t>Ningún predictor significativo</a:t>
            </a: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grpSp>
        <p:nvGrpSpPr>
          <p:cNvPr id="123" name="Google Shape;123;p16"/>
          <p:cNvGrpSpPr/>
          <p:nvPr/>
        </p:nvGrpSpPr>
        <p:grpSpPr>
          <a:xfrm>
            <a:off x="6755043" y="2352025"/>
            <a:ext cx="2281800" cy="1820400"/>
            <a:chOff x="6862200" y="2352025"/>
            <a:chExt cx="2281800" cy="1820400"/>
          </a:xfrm>
        </p:grpSpPr>
        <p:sp>
          <p:nvSpPr>
            <p:cNvPr id="124" name="Google Shape;124;p16"/>
            <p:cNvSpPr txBox="1"/>
            <p:nvPr/>
          </p:nvSpPr>
          <p:spPr>
            <a:xfrm rot="-452">
              <a:off x="6862200" y="2442636"/>
              <a:ext cx="2281800" cy="16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i="1">
                  <a:latin typeface="Raleway"/>
                  <a:ea typeface="Raleway"/>
                  <a:cs typeface="Raleway"/>
                  <a:sym typeface="Raleway"/>
                </a:rPr>
                <a:t>Debido a la falta de variabilidad en el rendimiento de los trabajadores no se pueden extraer conclusiones relevantes</a:t>
              </a:r>
              <a:endParaRPr i="1">
                <a:latin typeface="Raleway"/>
                <a:ea typeface="Raleway"/>
                <a:cs typeface="Raleway"/>
                <a:sym typeface="Raleway"/>
              </a:endParaRPr>
            </a:p>
          </p:txBody>
        </p:sp>
        <p:sp>
          <p:nvSpPr>
            <p:cNvPr id="125" name="Google Shape;125;p16"/>
            <p:cNvSpPr/>
            <p:nvPr/>
          </p:nvSpPr>
          <p:spPr>
            <a:xfrm>
              <a:off x="6968625" y="2352025"/>
              <a:ext cx="2149500" cy="1820400"/>
            </a:xfrm>
            <a:prstGeom prst="rect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6" name="Google Shape;126;p16"/>
          <p:cNvGrpSpPr/>
          <p:nvPr/>
        </p:nvGrpSpPr>
        <p:grpSpPr>
          <a:xfrm>
            <a:off x="291055" y="3061816"/>
            <a:ext cx="2698500" cy="1781098"/>
            <a:chOff x="291055" y="3061816"/>
            <a:chExt cx="2698500" cy="1781098"/>
          </a:xfrm>
        </p:grpSpPr>
        <p:sp>
          <p:nvSpPr>
            <p:cNvPr id="127" name="Google Shape;127;p16"/>
            <p:cNvSpPr txBox="1"/>
            <p:nvPr/>
          </p:nvSpPr>
          <p:spPr>
            <a:xfrm rot="-764">
              <a:off x="291055" y="3451214"/>
              <a:ext cx="2698500" cy="1391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400"/>
                <a:buFont typeface="Raleway"/>
                <a:buChar char="●"/>
              </a:pPr>
              <a:r>
                <a:rPr lang="ca">
                  <a:latin typeface="Raleway"/>
                  <a:ea typeface="Raleway"/>
                  <a:cs typeface="Raleway"/>
                  <a:sym typeface="Raleway"/>
                </a:rPr>
                <a:t>Colinealidad</a:t>
              </a:r>
              <a:endParaRPr>
                <a:latin typeface="Raleway"/>
                <a:ea typeface="Raleway"/>
                <a:cs typeface="Raleway"/>
                <a:sym typeface="Raleway"/>
              </a:endParaRPr>
            </a:p>
            <a:p>
              <a:pPr marL="457200" lvl="0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400"/>
                <a:buFont typeface="Raleway"/>
                <a:buChar char="●"/>
              </a:pPr>
              <a:r>
                <a:rPr lang="ca">
                  <a:latin typeface="Raleway"/>
                  <a:ea typeface="Raleway"/>
                  <a:cs typeface="Raleway"/>
                  <a:sym typeface="Raleway"/>
                </a:rPr>
                <a:t>Pocas observaciones</a:t>
              </a:r>
              <a:endParaRPr>
                <a:latin typeface="Raleway"/>
                <a:ea typeface="Raleway"/>
                <a:cs typeface="Raleway"/>
                <a:sym typeface="Raleway"/>
              </a:endParaRPr>
            </a:p>
            <a:p>
              <a:pPr marL="457200" lvl="0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400"/>
                <a:buFont typeface="Raleway"/>
                <a:buChar char="●"/>
              </a:pPr>
              <a:r>
                <a:rPr lang="ca">
                  <a:latin typeface="Raleway"/>
                  <a:ea typeface="Raleway"/>
                  <a:cs typeface="Raleway"/>
                  <a:sym typeface="Raleway"/>
                </a:rPr>
                <a:t>Interacción entre predictores</a:t>
              </a:r>
              <a:endParaRPr>
                <a:latin typeface="Raleway"/>
                <a:ea typeface="Raleway"/>
                <a:cs typeface="Raleway"/>
                <a:sym typeface="Raleway"/>
              </a:endParaRPr>
            </a:p>
            <a:p>
              <a:pPr marL="457200" lvl="0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400"/>
                <a:buFont typeface="Raleway"/>
                <a:buChar char="●"/>
              </a:pPr>
              <a:r>
                <a:rPr lang="ca">
                  <a:latin typeface="Raleway"/>
                  <a:ea typeface="Raleway"/>
                  <a:cs typeface="Raleway"/>
                  <a:sym typeface="Raleway"/>
                </a:rPr>
                <a:t>Falta de variabilidad</a:t>
              </a:r>
              <a:endParaRPr>
                <a:latin typeface="Raleway"/>
                <a:ea typeface="Raleway"/>
                <a:cs typeface="Raleway"/>
                <a:sym typeface="Raleway"/>
              </a:endParaRPr>
            </a:p>
          </p:txBody>
        </p:sp>
        <p:sp>
          <p:nvSpPr>
            <p:cNvPr id="128" name="Google Shape;128;p16"/>
            <p:cNvSpPr txBox="1"/>
            <p:nvPr/>
          </p:nvSpPr>
          <p:spPr>
            <a:xfrm rot="-904">
              <a:off x="410104" y="3062116"/>
              <a:ext cx="22818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>
                  <a:latin typeface="Raleway"/>
                  <a:ea typeface="Raleway"/>
                  <a:cs typeface="Raleway"/>
                  <a:sym typeface="Raleway"/>
                </a:rPr>
                <a:t>Posibles causas:</a:t>
              </a:r>
              <a:endParaRPr>
                <a:latin typeface="Raleway"/>
                <a:ea typeface="Raleway"/>
                <a:cs typeface="Raleway"/>
                <a:sym typeface="Raleway"/>
              </a:endParaRPr>
            </a:p>
          </p:txBody>
        </p:sp>
      </p:grpSp>
      <p:pic>
        <p:nvPicPr>
          <p:cNvPr id="129" name="Google Shape;12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5423" y="1904389"/>
            <a:ext cx="2834210" cy="2828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7"/>
          <p:cNvSpPr/>
          <p:nvPr/>
        </p:nvSpPr>
        <p:spPr>
          <a:xfrm>
            <a:off x="402259" y="2157525"/>
            <a:ext cx="2222700" cy="2268000"/>
          </a:xfrm>
          <a:prstGeom prst="ellipse">
            <a:avLst/>
          </a:prstGeom>
          <a:noFill/>
          <a:ln w="19050" cap="flat" cmpd="sng">
            <a:solidFill>
              <a:srgbClr val="99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" name="Google Shape;135;p17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Perfil y desempeño profesional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36" name="Google Shape;136;p17"/>
          <p:cNvSpPr txBox="1">
            <a:spLocks noGrp="1"/>
          </p:cNvSpPr>
          <p:nvPr>
            <p:ph type="title"/>
          </p:nvPr>
        </p:nvSpPr>
        <p:spPr>
          <a:xfrm>
            <a:off x="387900" y="608900"/>
            <a:ext cx="87561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Análisis: </a:t>
            </a:r>
            <a:r>
              <a:rPr lang="ca" sz="1400" i="1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Identificando perfiles con mayor riesgo de bajo rendimiento</a:t>
            </a:r>
            <a:endParaRPr sz="1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387900" y="4799413"/>
            <a:ext cx="89130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sz="1300" u="sng">
                <a:latin typeface="Raleway"/>
                <a:ea typeface="Raleway"/>
                <a:cs typeface="Raleway"/>
                <a:sym typeface="Raleway"/>
              </a:rPr>
              <a:t>Metodología utilizada:</a:t>
            </a:r>
            <a:r>
              <a:rPr lang="ca" sz="1300">
                <a:latin typeface="Raleway"/>
                <a:ea typeface="Raleway"/>
                <a:cs typeface="Raleway"/>
                <a:sym typeface="Raleway"/>
              </a:rPr>
              <a:t> clustering con K-prototypes y Kruskal-Wallis + Post-hoc Dunn test para testear diferencias </a:t>
            </a:r>
            <a:endParaRPr sz="1300">
              <a:latin typeface="Raleway"/>
              <a:ea typeface="Raleway"/>
              <a:cs typeface="Raleway"/>
              <a:sym typeface="Raleway"/>
            </a:endParaRPr>
          </a:p>
        </p:txBody>
      </p:sp>
      <p:grpSp>
        <p:nvGrpSpPr>
          <p:cNvPr id="138" name="Google Shape;138;p17"/>
          <p:cNvGrpSpPr/>
          <p:nvPr/>
        </p:nvGrpSpPr>
        <p:grpSpPr>
          <a:xfrm>
            <a:off x="7048445" y="2128833"/>
            <a:ext cx="1474018" cy="2321887"/>
            <a:chOff x="6672513" y="1221495"/>
            <a:chExt cx="1474018" cy="2321887"/>
          </a:xfrm>
        </p:grpSpPr>
        <p:pic>
          <p:nvPicPr>
            <p:cNvPr id="139" name="Google Shape;139;p17"/>
            <p:cNvPicPr preferRelativeResize="0"/>
            <p:nvPr/>
          </p:nvPicPr>
          <p:blipFill rotWithShape="1">
            <a:blip r:embed="rId3">
              <a:alphaModFix/>
            </a:blip>
            <a:srcRect l="70598" r="1838"/>
            <a:stretch/>
          </p:blipFill>
          <p:spPr>
            <a:xfrm>
              <a:off x="6672513" y="1597463"/>
              <a:ext cx="408526" cy="1397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7"/>
            <p:cNvPicPr preferRelativeResize="0"/>
            <p:nvPr/>
          </p:nvPicPr>
          <p:blipFill rotWithShape="1">
            <a:blip r:embed="rId4">
              <a:alphaModFix/>
            </a:blip>
            <a:srcRect r="63695"/>
            <a:stretch/>
          </p:blipFill>
          <p:spPr>
            <a:xfrm>
              <a:off x="7266497" y="2281420"/>
              <a:ext cx="297650" cy="8198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41" name="Google Shape;141;p17"/>
            <p:cNvCxnSpPr/>
            <p:nvPr/>
          </p:nvCxnSpPr>
          <p:spPr>
            <a:xfrm flipH="1">
              <a:off x="7244454" y="2615238"/>
              <a:ext cx="341700" cy="256200"/>
            </a:xfrm>
            <a:prstGeom prst="straightConnector1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142" name="Google Shape;142;p1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738006" y="1933453"/>
              <a:ext cx="408525" cy="4085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p1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181050" y="1877063"/>
              <a:ext cx="521275" cy="5212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44" name="Google Shape;144;p17"/>
            <p:cNvCxnSpPr/>
            <p:nvPr/>
          </p:nvCxnSpPr>
          <p:spPr>
            <a:xfrm flipH="1">
              <a:off x="7314013" y="2009586"/>
              <a:ext cx="341700" cy="256200"/>
            </a:xfrm>
            <a:prstGeom prst="straightConnector1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145" name="Google Shape;145;p17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7732455" y="2491225"/>
              <a:ext cx="408525" cy="5212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46" name="Google Shape;146;p17"/>
            <p:cNvCxnSpPr/>
            <p:nvPr/>
          </p:nvCxnSpPr>
          <p:spPr>
            <a:xfrm flipH="1">
              <a:off x="7774860" y="2726291"/>
              <a:ext cx="341700" cy="256200"/>
            </a:xfrm>
            <a:prstGeom prst="straightConnector1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7" name="Google Shape;147;p17"/>
            <p:cNvSpPr txBox="1"/>
            <p:nvPr/>
          </p:nvSpPr>
          <p:spPr>
            <a:xfrm>
              <a:off x="6970080" y="3127882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500" dirty="0">
                  <a:latin typeface="Raleway"/>
                  <a:ea typeface="Raleway"/>
                  <a:cs typeface="Raleway"/>
                  <a:sym typeface="Raleway"/>
                </a:rPr>
                <a:t>N = 69</a:t>
              </a:r>
              <a:endParaRPr sz="900" dirty="0"/>
            </a:p>
          </p:txBody>
        </p:sp>
        <p:sp>
          <p:nvSpPr>
            <p:cNvPr id="148" name="Google Shape;148;p17"/>
            <p:cNvSpPr txBox="1"/>
            <p:nvPr/>
          </p:nvSpPr>
          <p:spPr>
            <a:xfrm>
              <a:off x="6900505" y="1221495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500" b="1">
                  <a:latin typeface="Raleway"/>
                  <a:ea typeface="Raleway"/>
                  <a:cs typeface="Raleway"/>
                  <a:sym typeface="Raleway"/>
                </a:rPr>
                <a:t>Manuel</a:t>
              </a:r>
              <a:endParaRPr sz="900" b="1"/>
            </a:p>
          </p:txBody>
        </p:sp>
      </p:grpSp>
      <p:grpSp>
        <p:nvGrpSpPr>
          <p:cNvPr id="149" name="Google Shape;149;p17"/>
          <p:cNvGrpSpPr/>
          <p:nvPr/>
        </p:nvGrpSpPr>
        <p:grpSpPr>
          <a:xfrm>
            <a:off x="5011808" y="2145533"/>
            <a:ext cx="1508643" cy="2311992"/>
            <a:chOff x="4823850" y="1265333"/>
            <a:chExt cx="1508643" cy="2311992"/>
          </a:xfrm>
        </p:grpSpPr>
        <p:pic>
          <p:nvPicPr>
            <p:cNvPr id="150" name="Google Shape;150;p17"/>
            <p:cNvPicPr preferRelativeResize="0"/>
            <p:nvPr/>
          </p:nvPicPr>
          <p:blipFill rotWithShape="1">
            <a:blip r:embed="rId3">
              <a:alphaModFix/>
            </a:blip>
            <a:srcRect l="70598" r="1838"/>
            <a:stretch/>
          </p:blipFill>
          <p:spPr>
            <a:xfrm>
              <a:off x="4823850" y="1645563"/>
              <a:ext cx="408526" cy="1397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1" name="Google Shape;151;p17"/>
            <p:cNvPicPr preferRelativeResize="0"/>
            <p:nvPr/>
          </p:nvPicPr>
          <p:blipFill rotWithShape="1">
            <a:blip r:embed="rId4">
              <a:alphaModFix/>
            </a:blip>
            <a:srcRect r="63695"/>
            <a:stretch/>
          </p:blipFill>
          <p:spPr>
            <a:xfrm>
              <a:off x="5446044" y="2341965"/>
              <a:ext cx="297650" cy="8198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17"/>
            <p:cNvPicPr preferRelativeResize="0"/>
            <p:nvPr/>
          </p:nvPicPr>
          <p:blipFill>
            <a:blip r:embed="rId5">
              <a:alphaModFix amt="55000"/>
            </a:blip>
            <a:stretch>
              <a:fillRect/>
            </a:stretch>
          </p:blipFill>
          <p:spPr>
            <a:xfrm>
              <a:off x="5923968" y="1933468"/>
              <a:ext cx="408525" cy="4085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" name="Google Shape;153;p17"/>
            <p:cNvPicPr preferRelativeResize="0"/>
            <p:nvPr/>
          </p:nvPicPr>
          <p:blipFill>
            <a:blip r:embed="rId7">
              <a:alphaModFix amt="25000"/>
            </a:blip>
            <a:stretch>
              <a:fillRect/>
            </a:stretch>
          </p:blipFill>
          <p:spPr>
            <a:xfrm>
              <a:off x="5919092" y="2491265"/>
              <a:ext cx="408525" cy="521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17"/>
            <p:cNvPicPr preferRelativeResize="0"/>
            <p:nvPr/>
          </p:nvPicPr>
          <p:blipFill>
            <a:blip r:embed="rId6">
              <a:alphaModFix amt="30000"/>
            </a:blip>
            <a:stretch>
              <a:fillRect/>
            </a:stretch>
          </p:blipFill>
          <p:spPr>
            <a:xfrm>
              <a:off x="5367012" y="1877079"/>
              <a:ext cx="521275" cy="521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 txBox="1"/>
            <p:nvPr/>
          </p:nvSpPr>
          <p:spPr>
            <a:xfrm>
              <a:off x="5080080" y="3161825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500">
                  <a:latin typeface="Raleway"/>
                  <a:ea typeface="Raleway"/>
                  <a:cs typeface="Raleway"/>
                  <a:sym typeface="Raleway"/>
                </a:rPr>
                <a:t>N = 106</a:t>
              </a:r>
              <a:endParaRPr sz="900"/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5056271" y="1265333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500" b="1">
                  <a:latin typeface="Raleway"/>
                  <a:ea typeface="Raleway"/>
                  <a:cs typeface="Raleway"/>
                  <a:sym typeface="Raleway"/>
                </a:rPr>
                <a:t>José</a:t>
              </a:r>
              <a:endParaRPr sz="900" b="1"/>
            </a:p>
          </p:txBody>
        </p:sp>
      </p:grpSp>
      <p:grpSp>
        <p:nvGrpSpPr>
          <p:cNvPr id="157" name="Google Shape;157;p17"/>
          <p:cNvGrpSpPr/>
          <p:nvPr/>
        </p:nvGrpSpPr>
        <p:grpSpPr>
          <a:xfrm>
            <a:off x="746733" y="2148395"/>
            <a:ext cx="1512521" cy="2314880"/>
            <a:chOff x="507500" y="2329270"/>
            <a:chExt cx="1512521" cy="2314880"/>
          </a:xfrm>
        </p:grpSpPr>
        <p:grpSp>
          <p:nvGrpSpPr>
            <p:cNvPr id="158" name="Google Shape;158;p17"/>
            <p:cNvGrpSpPr/>
            <p:nvPr/>
          </p:nvGrpSpPr>
          <p:grpSpPr>
            <a:xfrm>
              <a:off x="507500" y="2778075"/>
              <a:ext cx="1512521" cy="1450586"/>
              <a:chOff x="507500" y="2778075"/>
              <a:chExt cx="1512521" cy="1450586"/>
            </a:xfrm>
          </p:grpSpPr>
          <p:pic>
            <p:nvPicPr>
              <p:cNvPr id="159" name="Google Shape;159;p17"/>
              <p:cNvPicPr preferRelativeResize="0"/>
              <p:nvPr/>
            </p:nvPicPr>
            <p:blipFill rotWithShape="1">
              <a:blip r:embed="rId3">
                <a:alphaModFix/>
              </a:blip>
              <a:srcRect r="65769"/>
              <a:stretch/>
            </p:blipFill>
            <p:spPr>
              <a:xfrm>
                <a:off x="507500" y="2778075"/>
                <a:ext cx="521275" cy="13297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0" name="Google Shape;160;p17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1028763" y="2938778"/>
                <a:ext cx="521275" cy="5212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1" name="Google Shape;161;p17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611496" y="2995153"/>
                <a:ext cx="408525" cy="4085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2" name="Google Shape;162;p17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148885" y="3408787"/>
                <a:ext cx="819875" cy="8198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63" name="Google Shape;163;p17"/>
            <p:cNvSpPr txBox="1"/>
            <p:nvPr/>
          </p:nvSpPr>
          <p:spPr>
            <a:xfrm>
              <a:off x="890563" y="4228650"/>
              <a:ext cx="7464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500">
                  <a:latin typeface="Raleway"/>
                  <a:ea typeface="Raleway"/>
                  <a:cs typeface="Raleway"/>
                  <a:sym typeface="Raleway"/>
                </a:rPr>
                <a:t>N = 68</a:t>
              </a:r>
              <a:endParaRPr sz="900"/>
            </a:p>
          </p:txBody>
        </p:sp>
        <p:sp>
          <p:nvSpPr>
            <p:cNvPr id="164" name="Google Shape;164;p17"/>
            <p:cNvSpPr txBox="1"/>
            <p:nvPr/>
          </p:nvSpPr>
          <p:spPr>
            <a:xfrm>
              <a:off x="748967" y="2329270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500" b="1">
                  <a:latin typeface="Raleway"/>
                  <a:ea typeface="Raleway"/>
                  <a:cs typeface="Raleway"/>
                  <a:sym typeface="Raleway"/>
                </a:rPr>
                <a:t>Kevin</a:t>
              </a:r>
              <a:endParaRPr sz="900" b="1"/>
            </a:p>
          </p:txBody>
        </p:sp>
      </p:grpSp>
      <p:grpSp>
        <p:nvGrpSpPr>
          <p:cNvPr id="165" name="Google Shape;165;p17"/>
          <p:cNvGrpSpPr/>
          <p:nvPr/>
        </p:nvGrpSpPr>
        <p:grpSpPr>
          <a:xfrm>
            <a:off x="2778808" y="2148394"/>
            <a:ext cx="1555769" cy="2296406"/>
            <a:chOff x="2539575" y="2329269"/>
            <a:chExt cx="1555769" cy="2296406"/>
          </a:xfrm>
        </p:grpSpPr>
        <p:pic>
          <p:nvPicPr>
            <p:cNvPr id="166" name="Google Shape;166;p17"/>
            <p:cNvPicPr preferRelativeResize="0"/>
            <p:nvPr/>
          </p:nvPicPr>
          <p:blipFill rotWithShape="1">
            <a:blip r:embed="rId3">
              <a:alphaModFix/>
            </a:blip>
            <a:srcRect r="65769"/>
            <a:stretch/>
          </p:blipFill>
          <p:spPr>
            <a:xfrm>
              <a:off x="2539575" y="2778075"/>
              <a:ext cx="521275" cy="1329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7" name="Google Shape;167;p17"/>
            <p:cNvPicPr preferRelativeResize="0"/>
            <p:nvPr/>
          </p:nvPicPr>
          <p:blipFill rotWithShape="1">
            <a:blip r:embed="rId4">
              <a:alphaModFix/>
            </a:blip>
            <a:srcRect r="63695"/>
            <a:stretch/>
          </p:blipFill>
          <p:spPr>
            <a:xfrm>
              <a:off x="3191807" y="3408775"/>
              <a:ext cx="297650" cy="8198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8" name="Google Shape;168;p1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686819" y="3000278"/>
              <a:ext cx="408525" cy="40852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69" name="Google Shape;169;p17"/>
            <p:cNvCxnSpPr/>
            <p:nvPr/>
          </p:nvCxnSpPr>
          <p:spPr>
            <a:xfrm flipH="1">
              <a:off x="3720236" y="3076438"/>
              <a:ext cx="341700" cy="256200"/>
            </a:xfrm>
            <a:prstGeom prst="straightConnector1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170" name="Google Shape;170;p17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681943" y="3558075"/>
              <a:ext cx="408525" cy="5212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71" name="Google Shape;171;p17"/>
            <p:cNvCxnSpPr/>
            <p:nvPr/>
          </p:nvCxnSpPr>
          <p:spPr>
            <a:xfrm flipH="1">
              <a:off x="3724348" y="3793141"/>
              <a:ext cx="341700" cy="256200"/>
            </a:xfrm>
            <a:prstGeom prst="straightConnector1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172" name="Google Shape;172;p1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112775" y="2943888"/>
              <a:ext cx="521275" cy="5212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73" name="Google Shape;173;p17"/>
            <p:cNvCxnSpPr/>
            <p:nvPr/>
          </p:nvCxnSpPr>
          <p:spPr>
            <a:xfrm flipH="1">
              <a:off x="3245738" y="3076411"/>
              <a:ext cx="341700" cy="256200"/>
            </a:xfrm>
            <a:prstGeom prst="straightConnector1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4" name="Google Shape;174;p17"/>
            <p:cNvSpPr txBox="1"/>
            <p:nvPr/>
          </p:nvSpPr>
          <p:spPr>
            <a:xfrm>
              <a:off x="2825830" y="4210175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500">
                  <a:latin typeface="Raleway"/>
                  <a:ea typeface="Raleway"/>
                  <a:cs typeface="Raleway"/>
                  <a:sym typeface="Raleway"/>
                </a:rPr>
                <a:t>N = 143</a:t>
              </a:r>
              <a:endParaRPr sz="900"/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2802650" y="2329269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1500" b="1">
                  <a:latin typeface="Raleway"/>
                  <a:ea typeface="Raleway"/>
                  <a:cs typeface="Raleway"/>
                  <a:sym typeface="Raleway"/>
                </a:rPr>
                <a:t>Carlos</a:t>
              </a:r>
              <a:endParaRPr sz="900" b="1"/>
            </a:p>
          </p:txBody>
        </p:sp>
      </p:grpSp>
      <p:grpSp>
        <p:nvGrpSpPr>
          <p:cNvPr id="176" name="Google Shape;176;p17"/>
          <p:cNvGrpSpPr/>
          <p:nvPr/>
        </p:nvGrpSpPr>
        <p:grpSpPr>
          <a:xfrm>
            <a:off x="1515550" y="1358364"/>
            <a:ext cx="6286500" cy="846600"/>
            <a:chOff x="1515550" y="1102044"/>
            <a:chExt cx="6286500" cy="846600"/>
          </a:xfrm>
        </p:grpSpPr>
        <p:cxnSp>
          <p:nvCxnSpPr>
            <p:cNvPr id="177" name="Google Shape;177;p17"/>
            <p:cNvCxnSpPr/>
            <p:nvPr/>
          </p:nvCxnSpPr>
          <p:spPr>
            <a:xfrm rot="10800000" flipH="1">
              <a:off x="1515550" y="1551900"/>
              <a:ext cx="6286500" cy="12000"/>
            </a:xfrm>
            <a:prstGeom prst="straightConnector1">
              <a:avLst/>
            </a:prstGeom>
            <a:noFill/>
            <a:ln w="19050" cap="flat" cmpd="sng">
              <a:solidFill>
                <a:srgbClr val="1F1F1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8" name="Google Shape;178;p17"/>
            <p:cNvCxnSpPr/>
            <p:nvPr/>
          </p:nvCxnSpPr>
          <p:spPr>
            <a:xfrm flipH="1">
              <a:off x="1524000" y="1551821"/>
              <a:ext cx="3600" cy="293100"/>
            </a:xfrm>
            <a:prstGeom prst="straightConnector1">
              <a:avLst/>
            </a:prstGeom>
            <a:noFill/>
            <a:ln w="19050" cap="flat" cmpd="sng">
              <a:solidFill>
                <a:srgbClr val="1F1F1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9" name="Google Shape;179;p17"/>
            <p:cNvCxnSpPr/>
            <p:nvPr/>
          </p:nvCxnSpPr>
          <p:spPr>
            <a:xfrm flipH="1">
              <a:off x="7788169" y="1540009"/>
              <a:ext cx="3600" cy="281100"/>
            </a:xfrm>
            <a:prstGeom prst="straightConnector1">
              <a:avLst/>
            </a:prstGeom>
            <a:noFill/>
            <a:ln w="19050" cap="flat" cmpd="sng">
              <a:solidFill>
                <a:srgbClr val="1F1F1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80" name="Google Shape;180;p17"/>
            <p:cNvSpPr txBox="1"/>
            <p:nvPr/>
          </p:nvSpPr>
          <p:spPr>
            <a:xfrm>
              <a:off x="4358850" y="1102044"/>
              <a:ext cx="426300" cy="84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ca" sz="4300">
                  <a:latin typeface="Raleway"/>
                  <a:ea typeface="Raleway"/>
                  <a:cs typeface="Raleway"/>
                  <a:sym typeface="Raleway"/>
                </a:rPr>
                <a:t>*</a:t>
              </a:r>
              <a:endParaRPr sz="3700"/>
            </a:p>
          </p:txBody>
        </p:sp>
      </p:grpSp>
      <p:sp>
        <p:nvSpPr>
          <p:cNvPr id="181" name="Google Shape;181;p17"/>
          <p:cNvSpPr txBox="1"/>
          <p:nvPr/>
        </p:nvSpPr>
        <p:spPr>
          <a:xfrm>
            <a:off x="1326716" y="2429591"/>
            <a:ext cx="995400" cy="2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500">
                <a:solidFill>
                  <a:srgbClr val="1F1F1F"/>
                </a:solidFill>
                <a:latin typeface="Raleway"/>
                <a:ea typeface="Raleway"/>
                <a:cs typeface="Raleway"/>
                <a:sym typeface="Raleway"/>
              </a:rPr>
              <a:t>33 años</a:t>
            </a:r>
            <a:endParaRPr sz="1500">
              <a:solidFill>
                <a:srgbClr val="1F1F1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82" name="Google Shape;182;p17"/>
          <p:cNvSpPr txBox="1"/>
          <p:nvPr/>
        </p:nvSpPr>
        <p:spPr>
          <a:xfrm>
            <a:off x="3412213" y="2429591"/>
            <a:ext cx="995400" cy="2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500">
                <a:solidFill>
                  <a:srgbClr val="1F1F1F"/>
                </a:solidFill>
                <a:latin typeface="Raleway"/>
                <a:ea typeface="Raleway"/>
                <a:cs typeface="Raleway"/>
                <a:sym typeface="Raleway"/>
              </a:rPr>
              <a:t>32 años</a:t>
            </a:r>
            <a:endParaRPr sz="1500">
              <a:solidFill>
                <a:srgbClr val="1F1F1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5617150" y="2410730"/>
            <a:ext cx="995400" cy="2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500">
                <a:solidFill>
                  <a:srgbClr val="1F1F1F"/>
                </a:solidFill>
                <a:latin typeface="Raleway"/>
                <a:ea typeface="Raleway"/>
                <a:cs typeface="Raleway"/>
                <a:sym typeface="Raleway"/>
              </a:rPr>
              <a:t>45 años</a:t>
            </a:r>
            <a:endParaRPr sz="1500">
              <a:solidFill>
                <a:srgbClr val="1F1F1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84" name="Google Shape;184;p17"/>
          <p:cNvSpPr txBox="1"/>
          <p:nvPr/>
        </p:nvSpPr>
        <p:spPr>
          <a:xfrm>
            <a:off x="7625925" y="2429591"/>
            <a:ext cx="995400" cy="2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500">
                <a:solidFill>
                  <a:srgbClr val="1F1F1F"/>
                </a:solidFill>
                <a:latin typeface="Raleway"/>
                <a:ea typeface="Raleway"/>
                <a:cs typeface="Raleway"/>
                <a:sym typeface="Raleway"/>
              </a:rPr>
              <a:t>38 años</a:t>
            </a:r>
            <a:endParaRPr sz="1500">
              <a:solidFill>
                <a:srgbClr val="1F1F1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8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Perfil y desempeño profesional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90" name="Google Shape;190;p18"/>
          <p:cNvSpPr txBox="1">
            <a:spLocks noGrp="1"/>
          </p:cNvSpPr>
          <p:nvPr>
            <p:ph type="title"/>
          </p:nvPr>
        </p:nvSpPr>
        <p:spPr>
          <a:xfrm>
            <a:off x="387900" y="608893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Propuestas de negocio</a:t>
            </a:r>
            <a:endParaRPr sz="2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387900" y="1318375"/>
            <a:ext cx="7991100" cy="3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Trabajadores con bajo rendimiento:</a:t>
            </a:r>
            <a:endParaRPr sz="2100" u="sng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24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	</a:t>
            </a: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Objetivo: </a:t>
            </a:r>
            <a:r>
              <a:rPr lang="ca" sz="1850">
                <a:solidFill>
                  <a:srgbClr val="2D3748"/>
                </a:solidFill>
                <a:latin typeface="Raleway"/>
                <a:ea typeface="Raleway"/>
                <a:cs typeface="Raleway"/>
                <a:sym typeface="Raleway"/>
              </a:rPr>
              <a:t>Potenciar sus resultados</a:t>
            </a:r>
            <a:endParaRPr sz="1850">
              <a:solidFill>
                <a:srgbClr val="2D3748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50">
                <a:solidFill>
                  <a:srgbClr val="2D3748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	</a:t>
            </a:r>
            <a:endParaRPr sz="1850">
              <a:solidFill>
                <a:srgbClr val="2D3748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Medio</a:t>
            </a:r>
            <a:r>
              <a:rPr lang="ca" sz="1850">
                <a:solidFill>
                  <a:srgbClr val="2D3748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: </a:t>
            </a:r>
            <a:r>
              <a:rPr lang="ca" sz="1850" b="1">
                <a:solidFill>
                  <a:srgbClr val="2D3748"/>
                </a:solidFill>
                <a:latin typeface="Raleway"/>
                <a:ea typeface="Raleway"/>
                <a:cs typeface="Raleway"/>
                <a:sym typeface="Raleway"/>
              </a:rPr>
              <a:t>Cambios en la organización de la empresa </a:t>
            </a:r>
            <a:endParaRPr sz="1850" b="1">
              <a:solidFill>
                <a:srgbClr val="2D3748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1800000" lvl="0" indent="-298225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850"/>
              <a:buFont typeface="Raleway"/>
              <a:buChar char="●"/>
            </a:pPr>
            <a:r>
              <a:rPr lang="ca" sz="1850">
                <a:latin typeface="Raleway"/>
                <a:ea typeface="Raleway"/>
                <a:cs typeface="Raleway"/>
                <a:sym typeface="Raleway"/>
              </a:rPr>
              <a:t>Turnos flexibles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  <a:p>
            <a:pPr marL="1800000" lvl="0" indent="-297474" algn="l" rtl="0">
              <a:spcBef>
                <a:spcPts val="0"/>
              </a:spcBef>
              <a:spcAft>
                <a:spcPts val="0"/>
              </a:spcAft>
              <a:buSzPts val="1850"/>
              <a:buFont typeface="Raleway"/>
              <a:buChar char="●"/>
            </a:pPr>
            <a:r>
              <a:rPr lang="ca" sz="1850">
                <a:latin typeface="Raleway"/>
                <a:ea typeface="Raleway"/>
                <a:cs typeface="Raleway"/>
                <a:sym typeface="Raleway"/>
              </a:rPr>
              <a:t>Implementar beneficios para familias jóvenes (guarderías, ayuda escolar, permisos flexibles).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  <a:p>
            <a:pPr marL="1800000" marR="0" lvl="0" indent="-2974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50"/>
              <a:buFont typeface="Raleway"/>
              <a:buChar char="●"/>
            </a:pPr>
            <a:r>
              <a:rPr lang="ca" sz="1850">
                <a:latin typeface="Raleway"/>
                <a:ea typeface="Raleway"/>
                <a:cs typeface="Raleway"/>
                <a:sym typeface="Raleway"/>
              </a:rPr>
              <a:t>Revisar convenios con transporte corporativo o ayudas económicas.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  <a:p>
            <a:pPr marL="1800000" marR="0" lvl="0" indent="-2974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50"/>
              <a:buFont typeface="Raleway"/>
              <a:buChar char="●"/>
            </a:pPr>
            <a:r>
              <a:rPr lang="ca" sz="1850">
                <a:latin typeface="Raleway"/>
                <a:ea typeface="Raleway"/>
                <a:cs typeface="Raleway"/>
                <a:sym typeface="Raleway"/>
              </a:rPr>
              <a:t>Mentorías o programas de acompañamiento con empleados de mejor rendimiento.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50">
                <a:latin typeface="Raleway"/>
                <a:ea typeface="Raleway"/>
                <a:cs typeface="Raleway"/>
                <a:sym typeface="Raleway"/>
              </a:rPr>
              <a:t>			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</p:txBody>
      </p:sp>
      <p:grpSp>
        <p:nvGrpSpPr>
          <p:cNvPr id="192" name="Google Shape;192;p18"/>
          <p:cNvGrpSpPr/>
          <p:nvPr/>
        </p:nvGrpSpPr>
        <p:grpSpPr>
          <a:xfrm>
            <a:off x="6158500" y="559275"/>
            <a:ext cx="1512521" cy="1450586"/>
            <a:chOff x="507500" y="2778075"/>
            <a:chExt cx="1512521" cy="1450586"/>
          </a:xfrm>
        </p:grpSpPr>
        <p:pic>
          <p:nvPicPr>
            <p:cNvPr id="193" name="Google Shape;193;p18"/>
            <p:cNvPicPr preferRelativeResize="0"/>
            <p:nvPr/>
          </p:nvPicPr>
          <p:blipFill rotWithShape="1">
            <a:blip r:embed="rId3">
              <a:alphaModFix/>
            </a:blip>
            <a:srcRect r="65769"/>
            <a:stretch/>
          </p:blipFill>
          <p:spPr>
            <a:xfrm>
              <a:off x="507500" y="2778075"/>
              <a:ext cx="521275" cy="1329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4" name="Google Shape;194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28763" y="2938778"/>
              <a:ext cx="521275" cy="521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5" name="Google Shape;195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611496" y="2995153"/>
              <a:ext cx="408525" cy="4085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6" name="Google Shape;196;p1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148885" y="3408787"/>
              <a:ext cx="819875" cy="8198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7" name="Google Shape;197;p18"/>
          <p:cNvSpPr txBox="1"/>
          <p:nvPr/>
        </p:nvSpPr>
        <p:spPr>
          <a:xfrm>
            <a:off x="6541563" y="1840515"/>
            <a:ext cx="746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sz="1500" dirty="0">
                <a:latin typeface="Raleway"/>
                <a:ea typeface="Raleway"/>
                <a:cs typeface="Raleway"/>
                <a:sym typeface="Raleway"/>
              </a:rPr>
              <a:t>N = 68</a:t>
            </a:r>
            <a:endParaRPr sz="900" dirty="0"/>
          </a:p>
        </p:txBody>
      </p:sp>
      <p:sp>
        <p:nvSpPr>
          <p:cNvPr id="198" name="Google Shape;198;p18"/>
          <p:cNvSpPr txBox="1"/>
          <p:nvPr/>
        </p:nvSpPr>
        <p:spPr>
          <a:xfrm>
            <a:off x="6399975" y="143771"/>
            <a:ext cx="1029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Kevin</a:t>
            </a:r>
            <a:endParaRPr sz="900" b="1"/>
          </a:p>
        </p:txBody>
      </p:sp>
      <p:pic>
        <p:nvPicPr>
          <p:cNvPr id="199" name="Google Shape;199;p18" descr="Ícono de alerta | Canva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804200" y="224175"/>
            <a:ext cx="779450" cy="6958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0" name="Google Shape;200;p18"/>
          <p:cNvGrpSpPr/>
          <p:nvPr/>
        </p:nvGrpSpPr>
        <p:grpSpPr>
          <a:xfrm>
            <a:off x="8038372" y="1848807"/>
            <a:ext cx="886916" cy="1273433"/>
            <a:chOff x="6672513" y="1249788"/>
            <a:chExt cx="1474018" cy="2116394"/>
          </a:xfrm>
        </p:grpSpPr>
        <p:pic>
          <p:nvPicPr>
            <p:cNvPr id="201" name="Google Shape;201;p18"/>
            <p:cNvPicPr preferRelativeResize="0"/>
            <p:nvPr/>
          </p:nvPicPr>
          <p:blipFill rotWithShape="1">
            <a:blip r:embed="rId3">
              <a:alphaModFix/>
            </a:blip>
            <a:srcRect l="70598" r="1838"/>
            <a:stretch/>
          </p:blipFill>
          <p:spPr>
            <a:xfrm>
              <a:off x="6672513" y="1597463"/>
              <a:ext cx="408526" cy="1397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18"/>
            <p:cNvPicPr preferRelativeResize="0"/>
            <p:nvPr/>
          </p:nvPicPr>
          <p:blipFill rotWithShape="1">
            <a:blip r:embed="rId6">
              <a:alphaModFix/>
            </a:blip>
            <a:srcRect r="63695"/>
            <a:stretch/>
          </p:blipFill>
          <p:spPr>
            <a:xfrm>
              <a:off x="7266497" y="2281420"/>
              <a:ext cx="297650" cy="8198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03" name="Google Shape;203;p18"/>
            <p:cNvCxnSpPr/>
            <p:nvPr/>
          </p:nvCxnSpPr>
          <p:spPr>
            <a:xfrm flipH="1">
              <a:off x="7244454" y="2615238"/>
              <a:ext cx="341700" cy="256200"/>
            </a:xfrm>
            <a:prstGeom prst="straightConnector1">
              <a:avLst/>
            </a:prstGeom>
            <a:noFill/>
            <a:ln w="229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204" name="Google Shape;204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738006" y="1933453"/>
              <a:ext cx="408525" cy="4085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5" name="Google Shape;205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181050" y="1877063"/>
              <a:ext cx="521275" cy="5212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06" name="Google Shape;206;p18"/>
            <p:cNvCxnSpPr/>
            <p:nvPr/>
          </p:nvCxnSpPr>
          <p:spPr>
            <a:xfrm flipH="1">
              <a:off x="7314013" y="2009586"/>
              <a:ext cx="341700" cy="256200"/>
            </a:xfrm>
            <a:prstGeom prst="straightConnector1">
              <a:avLst/>
            </a:prstGeom>
            <a:noFill/>
            <a:ln w="229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207" name="Google Shape;207;p18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732455" y="2491225"/>
              <a:ext cx="408525" cy="521275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08" name="Google Shape;208;p18"/>
            <p:cNvCxnSpPr/>
            <p:nvPr/>
          </p:nvCxnSpPr>
          <p:spPr>
            <a:xfrm flipH="1">
              <a:off x="7774860" y="2726291"/>
              <a:ext cx="341700" cy="256200"/>
            </a:xfrm>
            <a:prstGeom prst="straightConnector1">
              <a:avLst/>
            </a:prstGeom>
            <a:noFill/>
            <a:ln w="229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9" name="Google Shape;209;p18"/>
            <p:cNvSpPr txBox="1"/>
            <p:nvPr/>
          </p:nvSpPr>
          <p:spPr>
            <a:xfrm>
              <a:off x="6970080" y="2950682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5000" tIns="55000" rIns="55000" bIns="55000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722"/>
                </a:spcAft>
                <a:buNone/>
              </a:pPr>
              <a:r>
                <a:rPr lang="ca" sz="902" dirty="0">
                  <a:latin typeface="Raleway"/>
                  <a:ea typeface="Raleway"/>
                  <a:cs typeface="Raleway"/>
                  <a:sym typeface="Raleway"/>
                </a:rPr>
                <a:t>N = 69</a:t>
              </a:r>
              <a:endParaRPr sz="541" dirty="0"/>
            </a:p>
          </p:txBody>
        </p:sp>
        <p:sp>
          <p:nvSpPr>
            <p:cNvPr id="210" name="Google Shape;210;p18"/>
            <p:cNvSpPr txBox="1"/>
            <p:nvPr/>
          </p:nvSpPr>
          <p:spPr>
            <a:xfrm>
              <a:off x="6900505" y="1249788"/>
              <a:ext cx="1029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5000" tIns="55000" rIns="55000" bIns="55000" anchor="t" anchorCtr="0">
              <a:sp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722"/>
                </a:spcAft>
                <a:buNone/>
              </a:pPr>
              <a:r>
                <a:rPr lang="ca" sz="902" b="1">
                  <a:latin typeface="Raleway"/>
                  <a:ea typeface="Raleway"/>
                  <a:cs typeface="Raleway"/>
                  <a:sym typeface="Raleway"/>
                </a:rPr>
                <a:t>Manuel</a:t>
              </a:r>
              <a:endParaRPr sz="541" b="1"/>
            </a:p>
          </p:txBody>
        </p:sp>
      </p:grpSp>
      <p:sp>
        <p:nvSpPr>
          <p:cNvPr id="211" name="Google Shape;211;p18"/>
          <p:cNvSpPr txBox="1"/>
          <p:nvPr/>
        </p:nvSpPr>
        <p:spPr>
          <a:xfrm>
            <a:off x="6735892" y="394100"/>
            <a:ext cx="995400" cy="2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500" dirty="0">
                <a:solidFill>
                  <a:srgbClr val="1F1F1F"/>
                </a:solidFill>
                <a:latin typeface="Raleway"/>
                <a:ea typeface="Raleway"/>
                <a:cs typeface="Raleway"/>
                <a:sym typeface="Raleway"/>
              </a:rPr>
              <a:t>33 años</a:t>
            </a:r>
            <a:endParaRPr sz="1500" dirty="0">
              <a:solidFill>
                <a:srgbClr val="1F1F1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18"/>
          <p:cNvSpPr txBox="1"/>
          <p:nvPr/>
        </p:nvSpPr>
        <p:spPr>
          <a:xfrm>
            <a:off x="8336703" y="1971525"/>
            <a:ext cx="664800" cy="1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900" dirty="0">
                <a:solidFill>
                  <a:srgbClr val="1F1F1F"/>
                </a:solidFill>
                <a:latin typeface="Raleway"/>
                <a:ea typeface="Raleway"/>
                <a:cs typeface="Raleway"/>
                <a:sym typeface="Raleway"/>
              </a:rPr>
              <a:t>38 años</a:t>
            </a:r>
            <a:endParaRPr sz="900" dirty="0">
              <a:solidFill>
                <a:srgbClr val="1F1F1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9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Absentismo y bienestar laboral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18" name="Google Shape;218;p19"/>
          <p:cNvSpPr txBox="1">
            <a:spLocks noGrp="1"/>
          </p:cNvSpPr>
          <p:nvPr>
            <p:ph type="body" idx="1"/>
          </p:nvPr>
        </p:nvSpPr>
        <p:spPr>
          <a:xfrm>
            <a:off x="1722150" y="1783038"/>
            <a:ext cx="7090800" cy="9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ca" sz="2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¿Cómo influyen factores como el consumo social de alcohol o tabaco y los antecedentes disciplinarios en los niveles de absentismo?</a:t>
            </a:r>
            <a:endParaRPr sz="2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9" name="Google Shape;219;p19"/>
          <p:cNvSpPr txBox="1">
            <a:spLocks noGrp="1"/>
          </p:cNvSpPr>
          <p:nvPr>
            <p:ph type="title"/>
          </p:nvPr>
        </p:nvSpPr>
        <p:spPr>
          <a:xfrm>
            <a:off x="387900" y="608893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Objetivos</a:t>
            </a:r>
            <a:endParaRPr sz="2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pic>
        <p:nvPicPr>
          <p:cNvPr id="220" name="Google Shape;22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900" y="1783037"/>
            <a:ext cx="933301" cy="933301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9"/>
          <p:cNvSpPr txBox="1">
            <a:spLocks noGrp="1"/>
          </p:cNvSpPr>
          <p:nvPr>
            <p:ph type="body" idx="1"/>
          </p:nvPr>
        </p:nvSpPr>
        <p:spPr>
          <a:xfrm>
            <a:off x="1722150" y="3017400"/>
            <a:ext cx="6838500" cy="9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ca" sz="20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¿Cómo podríamos diseñar acciones preventivas y culturales para promover un entorno laboral más saludable y minimizar el impacto del absentismo?</a:t>
            </a:r>
            <a:endParaRPr sz="2000">
              <a:solidFill>
                <a:srgbClr val="000000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22" name="Google Shape;22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900" y="3017408"/>
            <a:ext cx="933301" cy="933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24425" y="1209200"/>
            <a:ext cx="5397951" cy="35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0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Absentismo y bienestar laboral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29" name="Google Shape;229;p20"/>
          <p:cNvSpPr txBox="1">
            <a:spLocks noGrp="1"/>
          </p:cNvSpPr>
          <p:nvPr>
            <p:ph type="title"/>
          </p:nvPr>
        </p:nvSpPr>
        <p:spPr>
          <a:xfrm>
            <a:off x="387900" y="608893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El análisis</a:t>
            </a:r>
            <a:endParaRPr sz="2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30" name="Google Shape;230;p20"/>
          <p:cNvSpPr txBox="1"/>
          <p:nvPr/>
        </p:nvSpPr>
        <p:spPr>
          <a:xfrm>
            <a:off x="1930600" y="677450"/>
            <a:ext cx="69009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¿Cómo influyen factores como el consumo social de </a:t>
            </a: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alcohol</a:t>
            </a: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 o </a:t>
            </a: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tabaco</a:t>
            </a: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 y las </a:t>
            </a: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faltas disciplinarias</a:t>
            </a: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 en los niveles de </a:t>
            </a: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absentismo</a:t>
            </a: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?</a:t>
            </a:r>
            <a:endParaRPr sz="6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1" name="Google Shape;231;p20"/>
          <p:cNvSpPr txBox="1"/>
          <p:nvPr/>
        </p:nvSpPr>
        <p:spPr>
          <a:xfrm>
            <a:off x="3175875" y="4732700"/>
            <a:ext cx="3946500" cy="3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000" u="sng">
                <a:solidFill>
                  <a:srgbClr val="2D3748"/>
                </a:solidFill>
                <a:latin typeface="Roboto"/>
                <a:ea typeface="Roboto"/>
                <a:cs typeface="Roboto"/>
                <a:sym typeface="Roboto"/>
              </a:rPr>
              <a:t>Metodología utilizada: </a:t>
            </a:r>
            <a:r>
              <a:rPr lang="ca" sz="1000">
                <a:solidFill>
                  <a:srgbClr val="2D3748"/>
                </a:solidFill>
                <a:latin typeface="Roboto"/>
                <a:ea typeface="Roboto"/>
                <a:cs typeface="Roboto"/>
                <a:sym typeface="Roboto"/>
              </a:rPr>
              <a:t>regresión lineal multivariable</a:t>
            </a:r>
            <a:endParaRPr sz="1000">
              <a:solidFill>
                <a:srgbClr val="2D374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p20"/>
          <p:cNvSpPr txBox="1"/>
          <p:nvPr/>
        </p:nvSpPr>
        <p:spPr>
          <a:xfrm>
            <a:off x="7637800" y="1827825"/>
            <a:ext cx="11937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00">
                <a:solidFill>
                  <a:srgbClr val="151517"/>
                </a:solidFill>
                <a:latin typeface="Roboto"/>
                <a:ea typeface="Roboto"/>
                <a:cs typeface="Roboto"/>
                <a:sym typeface="Roboto"/>
              </a:rPr>
              <a:t>Bebedor Social</a:t>
            </a:r>
            <a:endParaRPr sz="18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7637800" y="2836250"/>
            <a:ext cx="11937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00">
                <a:solidFill>
                  <a:srgbClr val="151517"/>
                </a:solidFill>
                <a:latin typeface="Roboto"/>
                <a:ea typeface="Roboto"/>
                <a:cs typeface="Roboto"/>
                <a:sym typeface="Roboto"/>
              </a:rPr>
              <a:t> Fumador Social</a:t>
            </a:r>
            <a:endParaRPr sz="18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0"/>
          <p:cNvSpPr txBox="1"/>
          <p:nvPr/>
        </p:nvSpPr>
        <p:spPr>
          <a:xfrm>
            <a:off x="109925" y="3868800"/>
            <a:ext cx="17517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00">
                <a:solidFill>
                  <a:srgbClr val="151517"/>
                </a:solidFill>
                <a:latin typeface="Roboto"/>
                <a:ea typeface="Roboto"/>
                <a:cs typeface="Roboto"/>
                <a:sym typeface="Roboto"/>
              </a:rPr>
              <a:t> Falta disciplinaria</a:t>
            </a:r>
            <a:endParaRPr sz="18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5" name="Google Shape;235;p20"/>
          <p:cNvCxnSpPr/>
          <p:nvPr/>
        </p:nvCxnSpPr>
        <p:spPr>
          <a:xfrm rot="10800000" flipH="1">
            <a:off x="1778900" y="4206475"/>
            <a:ext cx="981000" cy="3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6" name="Google Shape;236;p20"/>
          <p:cNvCxnSpPr/>
          <p:nvPr/>
        </p:nvCxnSpPr>
        <p:spPr>
          <a:xfrm flipH="1">
            <a:off x="6551875" y="2188350"/>
            <a:ext cx="1249500" cy="9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20"/>
          <p:cNvCxnSpPr/>
          <p:nvPr/>
        </p:nvCxnSpPr>
        <p:spPr>
          <a:xfrm flipH="1">
            <a:off x="5611825" y="2958100"/>
            <a:ext cx="1914000" cy="3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dk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1" title="4_fuerza_estandarizada_significancia_combinad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1138" y="1243475"/>
            <a:ext cx="6261714" cy="345495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1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Absentismo y bienestar laboral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44" name="Google Shape;244;p21"/>
          <p:cNvSpPr txBox="1">
            <a:spLocks noGrp="1"/>
          </p:cNvSpPr>
          <p:nvPr>
            <p:ph type="title"/>
          </p:nvPr>
        </p:nvSpPr>
        <p:spPr>
          <a:xfrm>
            <a:off x="387900" y="608893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El análisis</a:t>
            </a:r>
            <a:endParaRPr sz="2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45" name="Google Shape;245;p21"/>
          <p:cNvSpPr txBox="1"/>
          <p:nvPr/>
        </p:nvSpPr>
        <p:spPr>
          <a:xfrm>
            <a:off x="1930600" y="677450"/>
            <a:ext cx="69009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¿Cómo influyen factores como el consumo social de </a:t>
            </a: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alcohol</a:t>
            </a: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 o </a:t>
            </a: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tabaco</a:t>
            </a: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 y las </a:t>
            </a: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faltas disciplinarias</a:t>
            </a: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 en los niveles de </a:t>
            </a:r>
            <a:r>
              <a:rPr lang="ca" sz="1500" b="1">
                <a:latin typeface="Raleway"/>
                <a:ea typeface="Raleway"/>
                <a:cs typeface="Raleway"/>
                <a:sym typeface="Raleway"/>
              </a:rPr>
              <a:t>absentismo</a:t>
            </a:r>
            <a:r>
              <a:rPr lang="ca" sz="1500">
                <a:latin typeface="Raleway"/>
                <a:ea typeface="Raleway"/>
                <a:cs typeface="Raleway"/>
                <a:sym typeface="Raleway"/>
              </a:rPr>
              <a:t>?</a:t>
            </a:r>
            <a:endParaRPr sz="6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21"/>
          <p:cNvSpPr txBox="1"/>
          <p:nvPr/>
        </p:nvSpPr>
        <p:spPr>
          <a:xfrm>
            <a:off x="3175875" y="4732700"/>
            <a:ext cx="3946500" cy="3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000" u="sng">
                <a:solidFill>
                  <a:srgbClr val="2D3748"/>
                </a:solidFill>
                <a:latin typeface="Roboto"/>
                <a:ea typeface="Roboto"/>
                <a:cs typeface="Roboto"/>
                <a:sym typeface="Roboto"/>
              </a:rPr>
              <a:t>Metodología utilizada: </a:t>
            </a:r>
            <a:r>
              <a:rPr lang="ca" sz="1000">
                <a:solidFill>
                  <a:srgbClr val="2D3748"/>
                </a:solidFill>
                <a:latin typeface="Roboto"/>
                <a:ea typeface="Roboto"/>
                <a:cs typeface="Roboto"/>
                <a:sym typeface="Roboto"/>
              </a:rPr>
              <a:t>regresión lineal multivariable</a:t>
            </a:r>
            <a:endParaRPr sz="1000">
              <a:solidFill>
                <a:srgbClr val="2D374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7" name="Google Shape;247;p21"/>
          <p:cNvSpPr txBox="1"/>
          <p:nvPr/>
        </p:nvSpPr>
        <p:spPr>
          <a:xfrm>
            <a:off x="7851850" y="2087075"/>
            <a:ext cx="11937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00">
                <a:solidFill>
                  <a:srgbClr val="151517"/>
                </a:solidFill>
                <a:latin typeface="Roboto"/>
                <a:ea typeface="Roboto"/>
                <a:cs typeface="Roboto"/>
                <a:sym typeface="Roboto"/>
              </a:rPr>
              <a:t>Hábitos Sociales</a:t>
            </a:r>
            <a:endParaRPr sz="18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1"/>
          <p:cNvSpPr txBox="1"/>
          <p:nvPr/>
        </p:nvSpPr>
        <p:spPr>
          <a:xfrm>
            <a:off x="77825" y="3611950"/>
            <a:ext cx="17517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00">
                <a:solidFill>
                  <a:srgbClr val="151517"/>
                </a:solidFill>
                <a:latin typeface="Roboto"/>
                <a:ea typeface="Roboto"/>
                <a:cs typeface="Roboto"/>
                <a:sym typeface="Roboto"/>
              </a:rPr>
              <a:t> Falta disciplinaria</a:t>
            </a:r>
            <a:endParaRPr sz="1800">
              <a:solidFill>
                <a:srgbClr val="15151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9" name="Google Shape;249;p21"/>
          <p:cNvCxnSpPr/>
          <p:nvPr/>
        </p:nvCxnSpPr>
        <p:spPr>
          <a:xfrm rot="10800000">
            <a:off x="7076650" y="2483450"/>
            <a:ext cx="775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0" name="Google Shape;250;p21"/>
          <p:cNvCxnSpPr/>
          <p:nvPr/>
        </p:nvCxnSpPr>
        <p:spPr>
          <a:xfrm>
            <a:off x="1500450" y="3889200"/>
            <a:ext cx="1310100" cy="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2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Absentismo y bienestar laboral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56" name="Google Shape;256;p22"/>
          <p:cNvSpPr txBox="1">
            <a:spLocks noGrp="1"/>
          </p:cNvSpPr>
          <p:nvPr>
            <p:ph type="title"/>
          </p:nvPr>
        </p:nvSpPr>
        <p:spPr>
          <a:xfrm>
            <a:off x="387900" y="608900"/>
            <a:ext cx="19401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Propuestas:</a:t>
            </a:r>
            <a:endParaRPr sz="2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387900" y="1318375"/>
            <a:ext cx="7991100" cy="3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Bebedores Sociales:</a:t>
            </a:r>
            <a:endParaRPr sz="2100" u="sng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24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	</a:t>
            </a: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Objetivo:</a:t>
            </a:r>
            <a:r>
              <a:rPr lang="ca" sz="1650">
                <a:solidFill>
                  <a:srgbClr val="2D3748"/>
                </a:solidFill>
                <a:latin typeface="Raleway"/>
                <a:ea typeface="Raleway"/>
                <a:cs typeface="Raleway"/>
                <a:sym typeface="Raleway"/>
              </a:rPr>
              <a:t>Reducir absentismo mediante prevención y apoyo en consumo responsable</a:t>
            </a:r>
            <a:endParaRPr sz="1650">
              <a:solidFill>
                <a:srgbClr val="2D3748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1850">
                <a:solidFill>
                  <a:srgbClr val="2D3748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	</a:t>
            </a: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Medio</a:t>
            </a:r>
            <a:r>
              <a:rPr lang="ca" sz="1850">
                <a:solidFill>
                  <a:srgbClr val="2D3748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: </a:t>
            </a:r>
            <a:r>
              <a:rPr lang="ca" sz="1650" b="1">
                <a:latin typeface="Raleway"/>
                <a:ea typeface="Raleway"/>
                <a:cs typeface="Raleway"/>
                <a:sym typeface="Raleway"/>
              </a:rPr>
              <a:t>Programa de Bienestar y Concienciación sobre Consumo Responsable</a:t>
            </a:r>
            <a:endParaRPr sz="1650" b="1">
              <a:latin typeface="Raleway"/>
              <a:ea typeface="Raleway"/>
              <a:cs typeface="Raleway"/>
              <a:sym typeface="Raleway"/>
            </a:endParaRPr>
          </a:p>
          <a:p>
            <a:pPr marL="182880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Campañas internas sobre consumo responsable.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182880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Charlas especializadas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182880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Asesoramiento confidencial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Recursos necesarios</a:t>
            </a:r>
            <a:r>
              <a:rPr lang="ca" sz="1850" b="1">
                <a:latin typeface="Raleway"/>
                <a:ea typeface="Raleway"/>
                <a:cs typeface="Raleway"/>
                <a:sym typeface="Raleway"/>
              </a:rPr>
              <a:t>: </a:t>
            </a: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Colaboración con el departamento de Comunicación Interna y de Salud Laboral</a:t>
            </a:r>
            <a:r>
              <a:rPr lang="ca" sz="900">
                <a:latin typeface="Raleway"/>
                <a:ea typeface="Raleway"/>
                <a:cs typeface="Raleway"/>
                <a:sym typeface="Raleway"/>
              </a:rPr>
              <a:t>.</a:t>
            </a:r>
            <a:endParaRPr sz="900">
              <a:latin typeface="Raleway"/>
              <a:ea typeface="Raleway"/>
              <a:cs typeface="Raleway"/>
              <a:sym typeface="Raleway"/>
            </a:endParaRPr>
          </a:p>
          <a:p>
            <a:pPr marL="0" lvl="0" indent="4572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Prioridad: </a:t>
            </a: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Alta</a:t>
            </a:r>
            <a:endParaRPr sz="900"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850"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50">
                <a:latin typeface="Raleway"/>
                <a:ea typeface="Raleway"/>
                <a:cs typeface="Raleway"/>
                <a:sym typeface="Raleway"/>
              </a:rPr>
              <a:t>			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50">
                <a:latin typeface="Raleway"/>
                <a:ea typeface="Raleway"/>
                <a:cs typeface="Raleway"/>
                <a:sym typeface="Raleway"/>
              </a:rPr>
              <a:t>			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58" name="Google Shape;258;p22" title="ChatGPT Image 7 d’oct. del 2025, 21_12_3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6175" y="234175"/>
            <a:ext cx="2258100" cy="150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 txBox="1"/>
          <p:nvPr/>
        </p:nvSpPr>
        <p:spPr>
          <a:xfrm>
            <a:off x="147375" y="1318375"/>
            <a:ext cx="8680500" cy="41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Trabajadores con faltas disciplinarias :</a:t>
            </a:r>
            <a:endParaRPr sz="2100" u="sng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24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	</a:t>
            </a: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Objetivo:</a:t>
            </a:r>
            <a:r>
              <a:rPr lang="ca" sz="1650">
                <a:solidFill>
                  <a:srgbClr val="2D3748"/>
                </a:solidFill>
                <a:latin typeface="Raleway"/>
                <a:ea typeface="Raleway"/>
                <a:cs typeface="Raleway"/>
                <a:sym typeface="Raleway"/>
              </a:rPr>
              <a:t>Entender por qué los antecedentes disciplinarios reducen el ausentismo y replicar ese efecto de manera ética.</a:t>
            </a:r>
            <a:endParaRPr sz="1650">
              <a:solidFill>
                <a:srgbClr val="2D3748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Medio</a:t>
            </a:r>
            <a:r>
              <a:rPr lang="ca" sz="1850">
                <a:solidFill>
                  <a:srgbClr val="2D3748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: </a:t>
            </a:r>
            <a:r>
              <a:rPr lang="ca" sz="1850" b="1">
                <a:solidFill>
                  <a:srgbClr val="2D3748"/>
                </a:solidFill>
                <a:latin typeface="Raleway"/>
                <a:ea typeface="Raleway"/>
                <a:cs typeface="Raleway"/>
                <a:sym typeface="Raleway"/>
              </a:rPr>
              <a:t>Revisión del Sistema Disciplinario como Herramienta de Gestión</a:t>
            </a:r>
            <a:endParaRPr sz="1850" b="1">
              <a:solidFill>
                <a:srgbClr val="2D3748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1828800" marR="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Análisis cualitativo con mandos intermedios.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1828800" marR="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Revisar si el proceso disciplinario actúa como “llamada de atención”.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1828800" marR="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Evaluar si hay un sesgo (ej: los que más faltan son despedidos antes de tener una falta disciplinaria).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1828800" marR="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Valorar Programa de reconocimiento por buena asistencia.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Recursos necesarios</a:t>
            </a:r>
            <a:r>
              <a:rPr lang="ca" sz="1850" b="1">
                <a:latin typeface="Raleway"/>
                <a:ea typeface="Raleway"/>
                <a:cs typeface="Raleway"/>
                <a:sym typeface="Raleway"/>
              </a:rPr>
              <a:t>: </a:t>
            </a: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Colaboración con el área Legal y de Operaciones</a:t>
            </a:r>
            <a:r>
              <a:rPr lang="ca" sz="1000"/>
              <a:t>.</a:t>
            </a:r>
            <a:endParaRPr sz="900">
              <a:latin typeface="Raleway"/>
              <a:ea typeface="Raleway"/>
              <a:cs typeface="Raleway"/>
              <a:sym typeface="Raleway"/>
            </a:endParaRPr>
          </a:p>
          <a:p>
            <a:pPr marL="0" lvl="0" indent="4572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Prioridad: </a:t>
            </a:r>
            <a:r>
              <a:rPr lang="ca" sz="1750">
                <a:latin typeface="Raleway"/>
                <a:ea typeface="Raleway"/>
                <a:cs typeface="Raleway"/>
                <a:sym typeface="Raleway"/>
              </a:rPr>
              <a:t>Media</a:t>
            </a:r>
            <a:r>
              <a:rPr lang="ca" sz="20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 </a:t>
            </a:r>
            <a:r>
              <a:rPr lang="ca" sz="1750">
                <a:latin typeface="Raleway"/>
                <a:ea typeface="Raleway"/>
                <a:cs typeface="Raleway"/>
                <a:sym typeface="Raleway"/>
              </a:rPr>
              <a:t>Alta</a:t>
            </a:r>
            <a:endParaRPr sz="1750"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ca" sz="1850">
                <a:latin typeface="Raleway"/>
                <a:ea typeface="Raleway"/>
                <a:cs typeface="Raleway"/>
                <a:sym typeface="Raleway"/>
              </a:rPr>
              <a:t>			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64" name="Google Shape;264;p23"/>
          <p:cNvSpPr txBox="1">
            <a:spLocks noGrp="1"/>
          </p:cNvSpPr>
          <p:nvPr>
            <p:ph type="title"/>
          </p:nvPr>
        </p:nvSpPr>
        <p:spPr>
          <a:xfrm>
            <a:off x="387900" y="158404"/>
            <a:ext cx="70908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Absentismo y bienestar laboral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65" name="Google Shape;265;p23"/>
          <p:cNvSpPr txBox="1">
            <a:spLocks noGrp="1"/>
          </p:cNvSpPr>
          <p:nvPr>
            <p:ph type="title"/>
          </p:nvPr>
        </p:nvSpPr>
        <p:spPr>
          <a:xfrm>
            <a:off x="387900" y="608900"/>
            <a:ext cx="20067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Propuestas:</a:t>
            </a:r>
            <a:endParaRPr sz="2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pic>
        <p:nvPicPr>
          <p:cNvPr id="266" name="Google Shape;266;p23" title="ChatGPT Image 7 d’oct. del 2025, 21_12_2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3699" y="234175"/>
            <a:ext cx="2206499" cy="1470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dk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4"/>
          <p:cNvSpPr txBox="1"/>
          <p:nvPr/>
        </p:nvSpPr>
        <p:spPr>
          <a:xfrm>
            <a:off x="387900" y="1318375"/>
            <a:ext cx="7991100" cy="40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19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Hábitos Sociales (Fumadores o Bebedores Sociales)</a:t>
            </a:r>
            <a:r>
              <a:rPr lang="ca" sz="21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:</a:t>
            </a:r>
            <a:endParaRPr sz="2100" u="sng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2400" u="sng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	</a:t>
            </a: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Objetivo:</a:t>
            </a:r>
            <a:r>
              <a:rPr lang="ca" sz="1650">
                <a:solidFill>
                  <a:srgbClr val="2D3748"/>
                </a:solidFill>
                <a:latin typeface="Raleway"/>
                <a:ea typeface="Raleway"/>
                <a:cs typeface="Raleway"/>
                <a:sym typeface="Raleway"/>
              </a:rPr>
              <a:t>Promover un entorno que valore la salud física y mental.</a:t>
            </a:r>
            <a:endParaRPr sz="1650">
              <a:solidFill>
                <a:srgbClr val="2D3748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Medio</a:t>
            </a:r>
            <a:r>
              <a:rPr lang="ca" sz="1850">
                <a:solidFill>
                  <a:srgbClr val="2D3748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: </a:t>
            </a:r>
            <a:r>
              <a:rPr lang="ca" sz="1850" b="1">
                <a:solidFill>
                  <a:srgbClr val="2D3748"/>
                </a:solidFill>
                <a:latin typeface="Raleway"/>
                <a:ea typeface="Raleway"/>
                <a:cs typeface="Raleway"/>
                <a:sym typeface="Raleway"/>
              </a:rPr>
              <a:t>Programa de Estilo de Vida Equilibrado</a:t>
            </a:r>
            <a:endParaRPr sz="1850">
              <a:latin typeface="Raleway"/>
              <a:ea typeface="Raleway"/>
              <a:cs typeface="Raleway"/>
              <a:sym typeface="Raleway"/>
            </a:endParaRPr>
          </a:p>
          <a:p>
            <a:pPr marL="1828800" marR="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Talleres de rendimiento y  recuperación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1828800" marR="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Espacios saludables en centros logísticos (ej: zonas de descanso sin humo).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1828800" marR="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Mentores de bienestar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1828800" marR="0" lvl="0" indent="-3333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Font typeface="Raleway"/>
              <a:buChar char="●"/>
            </a:pP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Ayuda especializada y confidencial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Recursos necesarios</a:t>
            </a:r>
            <a:r>
              <a:rPr lang="ca" sz="1850" b="1">
                <a:latin typeface="Raleway"/>
                <a:ea typeface="Raleway"/>
                <a:cs typeface="Raleway"/>
                <a:sym typeface="Raleway"/>
              </a:rPr>
              <a:t>: </a:t>
            </a: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Colaboración con el departamento de Comunicación Interna y Salud Laboral y  presupuesto para actividades y mejora de espacios.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0" lvl="0" indent="4572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ca" sz="21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Prioridad: </a:t>
            </a:r>
            <a:r>
              <a:rPr lang="ca" sz="1650">
                <a:latin typeface="Raleway"/>
                <a:ea typeface="Raleway"/>
                <a:cs typeface="Raleway"/>
                <a:sym typeface="Raleway"/>
              </a:rPr>
              <a:t>Alta</a:t>
            </a:r>
            <a:endParaRPr sz="1650">
              <a:latin typeface="Raleway"/>
              <a:ea typeface="Raleway"/>
              <a:cs typeface="Raleway"/>
              <a:sym typeface="Ralewa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5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72" name="Google Shape;272;p24"/>
          <p:cNvSpPr txBox="1">
            <a:spLocks noGrp="1"/>
          </p:cNvSpPr>
          <p:nvPr>
            <p:ph type="title"/>
          </p:nvPr>
        </p:nvSpPr>
        <p:spPr>
          <a:xfrm>
            <a:off x="387900" y="158400"/>
            <a:ext cx="52587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Absentismo y bienestar laboral</a:t>
            </a:r>
            <a:endParaRPr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273" name="Google Shape;273;p24"/>
          <p:cNvSpPr txBox="1">
            <a:spLocks noGrp="1"/>
          </p:cNvSpPr>
          <p:nvPr>
            <p:ph type="title"/>
          </p:nvPr>
        </p:nvSpPr>
        <p:spPr>
          <a:xfrm>
            <a:off x="387900" y="608900"/>
            <a:ext cx="2364600" cy="6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4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Propuestas:</a:t>
            </a:r>
            <a:endParaRPr sz="24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pic>
        <p:nvPicPr>
          <p:cNvPr id="274" name="Google Shape;274;p24" title="ChatGPT Image 8 d’oct. del 2025, 14_31_0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03300" y="96925"/>
            <a:ext cx="2436376" cy="1624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9" name="Google Shape;279;p25"/>
          <p:cNvGraphicFramePr/>
          <p:nvPr/>
        </p:nvGraphicFramePr>
        <p:xfrm>
          <a:off x="3782400" y="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{DAC3D904-1C3A-4C4E-94A3-C165CD08D503}</a:tableStyleId>
              </a:tblPr>
              <a:tblGrid>
                <a:gridCol w="2202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6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Índice de Eficiencia Relativa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0.465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Sector 0.7 -0.9 o +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5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Motivo Modal Absentismo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Consulta Médica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161x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5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Porcentaje de empleados ausentes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94.85%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7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Mes pico de ausencias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Marzo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861h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0" name="Google Shape;280;p25"/>
          <p:cNvSpPr txBox="1"/>
          <p:nvPr/>
        </p:nvSpPr>
        <p:spPr>
          <a:xfrm rot="-5400000">
            <a:off x="-18540" y="2223576"/>
            <a:ext cx="1121400" cy="4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3300" i="1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KPI’s</a:t>
            </a:r>
            <a:endParaRPr sz="3300" i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81" name="Google Shape;281;p25" title="ChatGPT Image 22 de set. del 2025, 22_03_0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50" y="91025"/>
            <a:ext cx="1682108" cy="11214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82" name="Google Shape;282;p25"/>
          <p:cNvGraphicFramePr/>
          <p:nvPr/>
        </p:nvGraphicFramePr>
        <p:xfrm>
          <a:off x="1530100" y="873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{DAC3D904-1C3A-4C4E-94A3-C165CD08D503}</a:tableStyleId>
              </a:tblPr>
              <a:tblGrid>
                <a:gridCol w="2237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6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Índice de Eficiencia Relativa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0.3475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Sector 0.7 -0.9 o +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5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Motivo Modal Absentismo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Consulta Médica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142x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5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Porcentaje de empleados ausentes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91.67%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5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Mes pico de ausencias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Marzo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755h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3" name="Google Shape;283;p25"/>
          <p:cNvGraphicFramePr/>
          <p:nvPr/>
        </p:nvGraphicFramePr>
        <p:xfrm>
          <a:off x="5998875" y="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{DAC3D904-1C3A-4C4E-94A3-C165CD08D503}</a:tableStyleId>
              </a:tblPr>
              <a:tblGrid>
                <a:gridCol w="2202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6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Índice de Eficiencia Relativa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0.348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Sector 0.7 -0.9 o +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5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Motivo Modal Absentismo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Consulta Médica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214x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5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Porcentaje de empleados ausentes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95.85%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7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 sz="1300">
                          <a:solidFill>
                            <a:schemeClr val="lt1"/>
                          </a:solidFill>
                        </a:rPr>
                        <a:t>Mes pico de ausencias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Julio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a">
                          <a:solidFill>
                            <a:schemeClr val="lt1"/>
                          </a:solidFill>
                        </a:rPr>
                        <a:t>1241h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6"/>
          <p:cNvSpPr txBox="1">
            <a:spLocks noGrp="1"/>
          </p:cNvSpPr>
          <p:nvPr>
            <p:ph type="subTitle" idx="1"/>
          </p:nvPr>
        </p:nvSpPr>
        <p:spPr>
          <a:xfrm>
            <a:off x="1680302" y="344950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/>
              <a:t>Departamento de Análisis de Datos de RRHH</a:t>
            </a:r>
            <a:endParaRPr/>
          </a:p>
        </p:txBody>
      </p:sp>
      <p:sp>
        <p:nvSpPr>
          <p:cNvPr id="289" name="Google Shape;289;p26"/>
          <p:cNvSpPr txBox="1">
            <a:spLocks noGrp="1"/>
          </p:cNvSpPr>
          <p:nvPr>
            <p:ph type="ctrTitle"/>
          </p:nvPr>
        </p:nvSpPr>
        <p:spPr>
          <a:xfrm>
            <a:off x="6097050" y="4686950"/>
            <a:ext cx="3047100" cy="37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ca" sz="2000"/>
              <a:t>14 de Octubre de 2025</a:t>
            </a:r>
            <a:endParaRPr sz="2000"/>
          </a:p>
        </p:txBody>
      </p:sp>
      <p:sp>
        <p:nvSpPr>
          <p:cNvPr id="290" name="Google Shape;290;p26"/>
          <p:cNvSpPr txBox="1">
            <a:spLocks noGrp="1"/>
          </p:cNvSpPr>
          <p:nvPr>
            <p:ph type="ctrTitle"/>
          </p:nvPr>
        </p:nvSpPr>
        <p:spPr>
          <a:xfrm>
            <a:off x="958350" y="1562096"/>
            <a:ext cx="7227300" cy="64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" sz="3000">
                <a:solidFill>
                  <a:schemeClr val="lt1"/>
                </a:solidFill>
                <a:latin typeface="Raleway SemiBold"/>
                <a:ea typeface="Raleway SemiBold"/>
                <a:cs typeface="Raleway SemiBold"/>
                <a:sym typeface="Raleway SemiBold"/>
              </a:rPr>
              <a:t>Equipo de Analistas de datos</a:t>
            </a:r>
            <a:endParaRPr sz="3000">
              <a:solidFill>
                <a:schemeClr val="l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pic>
        <p:nvPicPr>
          <p:cNvPr id="291" name="Google Shape;291;p26" title="ChatGPT Image 22 de set. del 2025, 22_03_0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5450" y="-617225"/>
            <a:ext cx="4393098" cy="288875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6"/>
          <p:cNvSpPr txBox="1"/>
          <p:nvPr/>
        </p:nvSpPr>
        <p:spPr>
          <a:xfrm>
            <a:off x="2412275" y="2447200"/>
            <a:ext cx="4134000" cy="12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00">
                <a:solidFill>
                  <a:srgbClr val="151517"/>
                </a:solidFill>
                <a:latin typeface="Raleway"/>
                <a:ea typeface="Raleway"/>
                <a:cs typeface="Raleway"/>
                <a:sym typeface="Raleway"/>
              </a:rPr>
              <a:t>Joel Gallarte</a:t>
            </a:r>
            <a:endParaRPr sz="1800">
              <a:solidFill>
                <a:srgbClr val="151517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00">
                <a:solidFill>
                  <a:srgbClr val="151517"/>
                </a:solidFill>
                <a:latin typeface="Raleway"/>
                <a:ea typeface="Raleway"/>
                <a:cs typeface="Raleway"/>
                <a:sym typeface="Raleway"/>
              </a:rPr>
              <a:t>Gemma Cardona</a:t>
            </a:r>
            <a:endParaRPr sz="1800">
              <a:solidFill>
                <a:srgbClr val="1F1F1F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ca" sz="1800">
                <a:solidFill>
                  <a:srgbClr val="151517"/>
                </a:solidFill>
                <a:latin typeface="Raleway"/>
                <a:ea typeface="Raleway"/>
                <a:cs typeface="Raleway"/>
                <a:sym typeface="Raleway"/>
              </a:rPr>
              <a:t>Oriac Gimeno</a:t>
            </a:r>
            <a:endParaRPr sz="1800">
              <a:solidFill>
                <a:srgbClr val="15151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93" name="Google Shape;293;p26"/>
          <p:cNvSpPr/>
          <p:nvPr/>
        </p:nvSpPr>
        <p:spPr>
          <a:xfrm>
            <a:off x="4328525" y="2586750"/>
            <a:ext cx="1132200" cy="547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852</Words>
  <Application>Microsoft Office PowerPoint</Application>
  <PresentationFormat>On-screen Show (16:9)</PresentationFormat>
  <Paragraphs>168</Paragraphs>
  <Slides>14</Slides>
  <Notes>14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Lato</vt:lpstr>
      <vt:lpstr>Roboto</vt:lpstr>
      <vt:lpstr>Raleway</vt:lpstr>
      <vt:lpstr>Raleway SemiBold</vt:lpstr>
      <vt:lpstr>Roboto Slab</vt:lpstr>
      <vt:lpstr>Arial</vt:lpstr>
      <vt:lpstr>Marina</vt:lpstr>
      <vt:lpstr>14 de Octubre de 2025</vt:lpstr>
      <vt:lpstr>Perfil y desempeño profesional</vt:lpstr>
      <vt:lpstr>Perfil y desempeño profesional</vt:lpstr>
      <vt:lpstr>Perfil y desempeño profesional</vt:lpstr>
      <vt:lpstr>Perfil y desempeño profesional</vt:lpstr>
      <vt:lpstr>Perfil y desempeño profesional</vt:lpstr>
      <vt:lpstr>Absentismo y bienestar laboral</vt:lpstr>
      <vt:lpstr>Absentismo y bienestar laboral</vt:lpstr>
      <vt:lpstr>Absentismo y bienestar laboral</vt:lpstr>
      <vt:lpstr>Absentismo y bienestar laboral</vt:lpstr>
      <vt:lpstr>Absentismo y bienestar laboral</vt:lpstr>
      <vt:lpstr>Absentismo y bienestar laboral</vt:lpstr>
      <vt:lpstr>PowerPoint Presentation</vt:lpstr>
      <vt:lpstr>14 de Octubre de 2025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GEMMA CARDONA CABALLERO</cp:lastModifiedBy>
  <cp:revision>1</cp:revision>
  <dcterms:modified xsi:type="dcterms:W3CDTF">2025-10-09T14:33:36Z</dcterms:modified>
</cp:coreProperties>
</file>