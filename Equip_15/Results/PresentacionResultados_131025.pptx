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oboto Slab"/>
      <p:regular r:id="rId15"/>
      <p:bold r:id="rId16"/>
    </p:embeddedFont>
    <p:embeddedFont>
      <p:font typeface="Raleway SemiBold"/>
      <p:regular r:id="rId17"/>
      <p:bold r:id="rId18"/>
      <p:italic r:id="rId19"/>
      <p:boldItalic r:id="rId20"/>
    </p:embeddedFont>
    <p:embeddedFont>
      <p:font typeface="Raleway"/>
      <p:regular r:id="rId21"/>
      <p:bold r:id="rId22"/>
      <p:italic r:id="rId23"/>
      <p:boldItalic r:id="rId24"/>
    </p:embeddedFont>
    <p:embeddedFont>
      <p:font typeface="Robo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SemiBold-boldItalic.fntdata"/><Relationship Id="rId22" Type="http://schemas.openxmlformats.org/officeDocument/2006/relationships/font" Target="fonts/Raleway-bold.fntdata"/><Relationship Id="rId21" Type="http://schemas.openxmlformats.org/officeDocument/2006/relationships/font" Target="fonts/Raleway-regular.fntdata"/><Relationship Id="rId24" Type="http://schemas.openxmlformats.org/officeDocument/2006/relationships/font" Target="fonts/Raleway-boldItalic.fntdata"/><Relationship Id="rId23" Type="http://schemas.openxmlformats.org/officeDocument/2006/relationships/font" Target="fonts/Raleway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RobotoSlab-regular.fntdata"/><Relationship Id="rId14" Type="http://schemas.openxmlformats.org/officeDocument/2006/relationships/slide" Target="slides/slide9.xml"/><Relationship Id="rId17" Type="http://schemas.openxmlformats.org/officeDocument/2006/relationships/font" Target="fonts/RalewaySemiBold-regular.fntdata"/><Relationship Id="rId16" Type="http://schemas.openxmlformats.org/officeDocument/2006/relationships/font" Target="fonts/RobotoSlab-bold.fntdata"/><Relationship Id="rId19" Type="http://schemas.openxmlformats.org/officeDocument/2006/relationships/font" Target="fonts/RalewaySemiBold-italic.fntdata"/><Relationship Id="rId18" Type="http://schemas.openxmlformats.org/officeDocument/2006/relationships/font" Target="fonts/Raleway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81c3372df9_0_6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81c3372df9_0_6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81c3372df9_0_6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81c3372df9_0_6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8cac4d1515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8cac4d1515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8c67cc991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8c67cc991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8cac4d1515_2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8cac4d1515_2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8cac4d1515_2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8cac4d1515_2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8cac4d1515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8cac4d1515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8d7c4bf3c8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8d7c4bf3c8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8981a98774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8981a98774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rgbClr val="CFE2F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5.jpg"/><Relationship Id="rId5" Type="http://schemas.openxmlformats.org/officeDocument/2006/relationships/image" Target="../media/image2.jpg"/><Relationship Id="rId6" Type="http://schemas.openxmlformats.org/officeDocument/2006/relationships/image" Target="../media/image11.jpg"/><Relationship Id="rId7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1680302" y="3457675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Departamento de Análisis de Datos de RRHH</a:t>
            </a:r>
            <a:endParaRPr/>
          </a:p>
        </p:txBody>
      </p:sp>
      <p:sp>
        <p:nvSpPr>
          <p:cNvPr id="64" name="Google Shape;64;p13"/>
          <p:cNvSpPr txBox="1"/>
          <p:nvPr>
            <p:ph type="ctrTitle"/>
          </p:nvPr>
        </p:nvSpPr>
        <p:spPr>
          <a:xfrm>
            <a:off x="6097050" y="4686950"/>
            <a:ext cx="3047100" cy="37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a" sz="2000"/>
              <a:t>20</a:t>
            </a:r>
            <a:r>
              <a:rPr lang="ca" sz="2000"/>
              <a:t> de Octubre de 2025</a:t>
            </a:r>
            <a:endParaRPr sz="2000"/>
          </a:p>
        </p:txBody>
      </p:sp>
      <p:sp>
        <p:nvSpPr>
          <p:cNvPr id="65" name="Google Shape;65;p13"/>
          <p:cNvSpPr txBox="1"/>
          <p:nvPr>
            <p:ph type="ctrTitle"/>
          </p:nvPr>
        </p:nvSpPr>
        <p:spPr>
          <a:xfrm>
            <a:off x="958350" y="1114342"/>
            <a:ext cx="72273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30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Insights y propuestas de n</a:t>
            </a:r>
            <a:r>
              <a:rPr lang="ca" sz="30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e</a:t>
            </a:r>
            <a:r>
              <a:rPr lang="ca" sz="30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gocio</a:t>
            </a:r>
            <a:endParaRPr sz="3000"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pic>
        <p:nvPicPr>
          <p:cNvPr id="66" name="Google Shape;66;p13" title="ChatGPT Image 22 de set. del 2025, 22_03_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5450" y="0"/>
            <a:ext cx="4393098" cy="29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3"/>
          <p:cNvSpPr txBox="1"/>
          <p:nvPr/>
        </p:nvSpPr>
        <p:spPr>
          <a:xfrm>
            <a:off x="1779400" y="3108700"/>
            <a:ext cx="5568600" cy="5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300">
                <a:latin typeface="Raleway"/>
                <a:ea typeface="Raleway"/>
                <a:cs typeface="Raleway"/>
                <a:sym typeface="Raleway"/>
              </a:rPr>
              <a:t>RapidExpress es una empresa de logística y transporte de paquetes a nivel nacional</a:t>
            </a:r>
            <a:endParaRPr sz="13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87900" y="158404"/>
            <a:ext cx="7090800" cy="60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Objetivos</a:t>
            </a:r>
            <a:endParaRPr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1683850" y="2365825"/>
            <a:ext cx="6871200" cy="273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b="1" lang="ca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¿Cómo?</a:t>
            </a:r>
            <a:r>
              <a:rPr lang="ca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Identificando las tendencias en políticas de formación dentro del sector de transporte y almacenamiento. </a:t>
            </a:r>
            <a:endParaRPr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rPr lang="ca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Analizar específicamente: </a:t>
            </a:r>
            <a:endParaRPr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aleway"/>
              <a:buAutoNum type="arabicPeriod"/>
            </a:pPr>
            <a:r>
              <a:rPr lang="ca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Competencias clave</a:t>
            </a:r>
            <a:endParaRPr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aleway"/>
              <a:buAutoNum type="arabicPeriod"/>
            </a:pPr>
            <a:r>
              <a:rPr lang="ca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Medios utilizados</a:t>
            </a:r>
            <a:endParaRPr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aleway"/>
              <a:buAutoNum type="arabicPeriod"/>
            </a:pPr>
            <a:r>
              <a:rPr lang="ca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Barreras más comunes</a:t>
            </a:r>
            <a:endParaRPr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ca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Basado en la Encuesta anual laboral (EAL) del Ministerio de Trabajo y Economia Social</a:t>
            </a:r>
            <a:endParaRPr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74" name="Google Shape;7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513" y="1233787"/>
            <a:ext cx="846578" cy="8466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4"/>
          <p:cNvSpPr txBox="1"/>
          <p:nvPr/>
        </p:nvSpPr>
        <p:spPr>
          <a:xfrm>
            <a:off x="1683850" y="1266925"/>
            <a:ext cx="68712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ca" sz="1800">
                <a:latin typeface="Raleway"/>
                <a:ea typeface="Raleway"/>
                <a:cs typeface="Raleway"/>
                <a:sym typeface="Raleway"/>
              </a:rPr>
              <a:t>Objetivo:</a:t>
            </a:r>
            <a:r>
              <a:rPr lang="ca" sz="1800">
                <a:latin typeface="Raleway"/>
                <a:ea typeface="Raleway"/>
                <a:cs typeface="Raleway"/>
                <a:sym typeface="Raleway"/>
              </a:rPr>
              <a:t> Proponer ajustes en las políticas de formación para aumentar el impacto del desarrollo profesional en nuestra organización</a:t>
            </a:r>
            <a:endParaRPr sz="1200"/>
          </a:p>
        </p:txBody>
      </p:sp>
      <p:sp>
        <p:nvSpPr>
          <p:cNvPr id="76" name="Google Shape;76;p14"/>
          <p:cNvSpPr/>
          <p:nvPr/>
        </p:nvSpPr>
        <p:spPr>
          <a:xfrm>
            <a:off x="387900" y="1130400"/>
            <a:ext cx="587100" cy="280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type="title"/>
          </p:nvPr>
        </p:nvSpPr>
        <p:spPr>
          <a:xfrm>
            <a:off x="387900" y="5250"/>
            <a:ext cx="4771200" cy="60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Análisis del sector servicios</a:t>
            </a:r>
            <a:endParaRPr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82" name="Google Shape;82;p15"/>
          <p:cNvSpPr txBox="1"/>
          <p:nvPr>
            <p:ph type="title"/>
          </p:nvPr>
        </p:nvSpPr>
        <p:spPr>
          <a:xfrm>
            <a:off x="387900" y="391925"/>
            <a:ext cx="3069900" cy="60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41250"/>
              <a:buNone/>
            </a:pPr>
            <a:r>
              <a:rPr lang="ca" sz="24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Competencias clave</a:t>
            </a:r>
            <a:endParaRPr sz="1400"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5947950" y="1162863"/>
            <a:ext cx="30699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700">
                <a:solidFill>
                  <a:srgbClr val="151517"/>
                </a:solidFill>
                <a:latin typeface="Roboto"/>
                <a:ea typeface="Roboto"/>
                <a:cs typeface="Roboto"/>
                <a:sym typeface="Roboto"/>
              </a:rPr>
              <a:t>3 Competencias más importantes</a:t>
            </a:r>
            <a:endParaRPr b="1" sz="1700">
              <a:solidFill>
                <a:srgbClr val="15151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5802775" y="1731638"/>
            <a:ext cx="2805300" cy="10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700">
                <a:solidFill>
                  <a:srgbClr val="151517"/>
                </a:solidFill>
                <a:latin typeface="Roboto"/>
                <a:ea typeface="Roboto"/>
                <a:cs typeface="Roboto"/>
                <a:sym typeface="Roboto"/>
              </a:rPr>
              <a:t>Trabajo en equipo</a:t>
            </a:r>
            <a:endParaRPr sz="1700">
              <a:solidFill>
                <a:srgbClr val="15151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700">
                <a:solidFill>
                  <a:srgbClr val="151517"/>
                </a:solidFill>
                <a:latin typeface="Roboto"/>
                <a:ea typeface="Roboto"/>
                <a:cs typeface="Roboto"/>
                <a:sym typeface="Roboto"/>
              </a:rPr>
              <a:t>Atención al cliente</a:t>
            </a:r>
            <a:endParaRPr sz="1700">
              <a:solidFill>
                <a:srgbClr val="15151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700">
                <a:solidFill>
                  <a:srgbClr val="151517"/>
                </a:solidFill>
                <a:latin typeface="Roboto"/>
                <a:ea typeface="Roboto"/>
                <a:cs typeface="Roboto"/>
                <a:sym typeface="Roboto"/>
              </a:rPr>
              <a:t>Resolución de problemas</a:t>
            </a:r>
            <a:endParaRPr sz="1700">
              <a:solidFill>
                <a:srgbClr val="15151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5"/>
          <p:cNvSpPr txBox="1"/>
          <p:nvPr/>
        </p:nvSpPr>
        <p:spPr>
          <a:xfrm>
            <a:off x="5614500" y="2784663"/>
            <a:ext cx="35295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700">
                <a:solidFill>
                  <a:srgbClr val="151517"/>
                </a:solidFill>
                <a:latin typeface="Roboto"/>
                <a:ea typeface="Roboto"/>
                <a:cs typeface="Roboto"/>
                <a:sym typeface="Roboto"/>
              </a:rPr>
              <a:t>3 Competencias con mayores incrementos</a:t>
            </a:r>
            <a:endParaRPr b="1" sz="1700">
              <a:solidFill>
                <a:srgbClr val="15151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5"/>
          <p:cNvSpPr txBox="1"/>
          <p:nvPr/>
        </p:nvSpPr>
        <p:spPr>
          <a:xfrm>
            <a:off x="5895700" y="3387372"/>
            <a:ext cx="28053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700">
                <a:solidFill>
                  <a:srgbClr val="151517"/>
                </a:solidFill>
                <a:latin typeface="Roboto"/>
                <a:ea typeface="Roboto"/>
                <a:cs typeface="Roboto"/>
                <a:sym typeface="Roboto"/>
              </a:rPr>
              <a:t>Competencias técnicas</a:t>
            </a:r>
            <a:endParaRPr sz="1700">
              <a:solidFill>
                <a:srgbClr val="151517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700">
                <a:solidFill>
                  <a:srgbClr val="151517"/>
                </a:solidFill>
                <a:latin typeface="Roboto"/>
                <a:ea typeface="Roboto"/>
                <a:cs typeface="Roboto"/>
                <a:sym typeface="Roboto"/>
              </a:rPr>
              <a:t>Básicas de cálculo y/o comunicación</a:t>
            </a:r>
            <a:endParaRPr sz="1050">
              <a:solidFill>
                <a:srgbClr val="CE9178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700">
                <a:solidFill>
                  <a:srgbClr val="151517"/>
                </a:solidFill>
                <a:latin typeface="Roboto"/>
                <a:ea typeface="Roboto"/>
                <a:cs typeface="Roboto"/>
                <a:sym typeface="Roboto"/>
              </a:rPr>
              <a:t>Generales de TI</a:t>
            </a:r>
            <a:endParaRPr sz="1700">
              <a:solidFill>
                <a:srgbClr val="15151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7" name="Google Shape;8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44625"/>
            <a:ext cx="5106976" cy="3846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type="title"/>
          </p:nvPr>
        </p:nvSpPr>
        <p:spPr>
          <a:xfrm>
            <a:off x="387900" y="158400"/>
            <a:ext cx="6453900" cy="60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Análisis del sector transporte</a:t>
            </a:r>
            <a:endParaRPr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93" name="Google Shape;93;p16"/>
          <p:cNvSpPr txBox="1"/>
          <p:nvPr>
            <p:ph type="title"/>
          </p:nvPr>
        </p:nvSpPr>
        <p:spPr>
          <a:xfrm>
            <a:off x="387900" y="608900"/>
            <a:ext cx="6580800" cy="60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41250"/>
              <a:buNone/>
            </a:pPr>
            <a:r>
              <a:rPr lang="ca" sz="24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Medios</a:t>
            </a:r>
            <a:r>
              <a:rPr lang="ca" sz="24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: </a:t>
            </a:r>
            <a:r>
              <a:rPr i="1" lang="ca" sz="1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Qué medios se utilizan en el sector para impartir la formación. </a:t>
            </a:r>
            <a:r>
              <a:rPr b="1" lang="ca" sz="1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2023</a:t>
            </a:r>
            <a:endParaRPr b="1" sz="14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94" name="Google Shape;9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8000" y="1939403"/>
            <a:ext cx="1075300" cy="724572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La política de comunicación interna: oportunidades y amenazas. |  RaúlGONZÁLEZROMERO" id="95" name="Google Shape;9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92088" y="2535638"/>
            <a:ext cx="1075301" cy="716875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6" name="Google Shape;9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90638" y="3358300"/>
            <a:ext cx="1075313" cy="7168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7" name="Google Shape;97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50763" y="4163150"/>
            <a:ext cx="1061384" cy="7168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Los 8 principales tipos de capacitaciones en una empresa" id="98" name="Google Shape;98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03875" y="3093825"/>
            <a:ext cx="858973" cy="716876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9" name="Google Shape;99;p16"/>
          <p:cNvSpPr txBox="1"/>
          <p:nvPr/>
        </p:nvSpPr>
        <p:spPr>
          <a:xfrm>
            <a:off x="387900" y="1572475"/>
            <a:ext cx="1075200" cy="366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Cursos de formación diseñados y gestionados por otra organización</a:t>
            </a:r>
            <a:endParaRPr b="1" sz="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0" name="Google Shape;100;p16"/>
          <p:cNvSpPr txBox="1"/>
          <p:nvPr/>
        </p:nvSpPr>
        <p:spPr>
          <a:xfrm>
            <a:off x="1463300" y="1572475"/>
            <a:ext cx="555000" cy="366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62,4%</a:t>
            </a:r>
            <a:endParaRPr b="1" sz="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" name="Google Shape;101;p16"/>
          <p:cNvSpPr txBox="1"/>
          <p:nvPr/>
        </p:nvSpPr>
        <p:spPr>
          <a:xfrm>
            <a:off x="1463300" y="1939438"/>
            <a:ext cx="555000" cy="724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16"/>
          <p:cNvSpPr txBox="1"/>
          <p:nvPr/>
        </p:nvSpPr>
        <p:spPr>
          <a:xfrm>
            <a:off x="1203775" y="3628663"/>
            <a:ext cx="1075200" cy="366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En cuanto más trabajadores más se usa</a:t>
            </a:r>
            <a:endParaRPr b="1" sz="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2279175" y="3628663"/>
            <a:ext cx="555000" cy="366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16"/>
          <p:cNvSpPr txBox="1"/>
          <p:nvPr/>
        </p:nvSpPr>
        <p:spPr>
          <a:xfrm>
            <a:off x="1203775" y="3995563"/>
            <a:ext cx="1075200" cy="366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En cuanto a menos trabajadores menos se usa</a:t>
            </a:r>
            <a:endParaRPr b="1" sz="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" name="Google Shape;105;p16"/>
          <p:cNvSpPr txBox="1"/>
          <p:nvPr/>
        </p:nvSpPr>
        <p:spPr>
          <a:xfrm>
            <a:off x="2279175" y="3995563"/>
            <a:ext cx="555000" cy="366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6" name="Google Shape;106;p16"/>
          <p:cNvSpPr txBox="1"/>
          <p:nvPr/>
        </p:nvSpPr>
        <p:spPr>
          <a:xfrm>
            <a:off x="1203775" y="4352963"/>
            <a:ext cx="1075200" cy="366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No hay relación</a:t>
            </a:r>
            <a:endParaRPr b="1" sz="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2279175" y="4352963"/>
            <a:ext cx="555000" cy="366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2483475" y="3703713"/>
            <a:ext cx="146400" cy="1839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2483475" y="4082313"/>
            <a:ext cx="146400" cy="1839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2483475" y="4444463"/>
            <a:ext cx="146400" cy="183900"/>
          </a:xfrm>
          <a:prstGeom prst="upDown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16"/>
          <p:cNvSpPr/>
          <p:nvPr/>
        </p:nvSpPr>
        <p:spPr>
          <a:xfrm>
            <a:off x="1667600" y="2209738"/>
            <a:ext cx="146400" cy="1839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2192138" y="2122113"/>
            <a:ext cx="1075200" cy="409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Formación planificada en el puesto de trabajo, utilizando los medios habituales de trabajo</a:t>
            </a:r>
            <a:endParaRPr b="1" sz="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3267538" y="2122250"/>
            <a:ext cx="555000" cy="409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42,2%</a:t>
            </a:r>
            <a:endParaRPr b="1" sz="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3267538" y="2531813"/>
            <a:ext cx="555000" cy="724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3472950" y="2801263"/>
            <a:ext cx="146400" cy="1839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3996325" y="2571750"/>
            <a:ext cx="868200" cy="518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Cursos de formación diseñados y gestionados por su empresa</a:t>
            </a:r>
            <a:endParaRPr b="1" sz="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4872075" y="2571750"/>
            <a:ext cx="555000" cy="518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23,8%</a:t>
            </a:r>
            <a:endParaRPr b="1" sz="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4874350" y="3093850"/>
            <a:ext cx="555000" cy="724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5076388" y="3364150"/>
            <a:ext cx="146400" cy="1839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5590650" y="2840200"/>
            <a:ext cx="1075200" cy="518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Participación en conferencias, seminarios, grupos de trabajo, talleres o ferias de </a:t>
            </a:r>
            <a:r>
              <a:rPr b="1" lang="ca" sz="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muestras</a:t>
            </a:r>
            <a:endParaRPr b="1" sz="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6666050" y="2840200"/>
            <a:ext cx="555000" cy="5181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13,8%</a:t>
            </a:r>
            <a:endParaRPr b="1" sz="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6666038" y="3358375"/>
            <a:ext cx="555000" cy="724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6870338" y="3628663"/>
            <a:ext cx="146400" cy="1839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7350775" y="3753650"/>
            <a:ext cx="1075200" cy="409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Aprendizaje planificado a partir de rotación de puestos de trabajo, intercambios, etc</a:t>
            </a:r>
            <a:endParaRPr b="1" sz="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8426200" y="3753650"/>
            <a:ext cx="555000" cy="409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6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1,6%</a:t>
            </a:r>
            <a:endParaRPr b="1" sz="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8426163" y="4163213"/>
            <a:ext cx="555000" cy="724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6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8630463" y="4433513"/>
            <a:ext cx="146400" cy="1839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/>
          <p:nvPr>
            <p:ph type="title"/>
          </p:nvPr>
        </p:nvSpPr>
        <p:spPr>
          <a:xfrm>
            <a:off x="387900" y="5244"/>
            <a:ext cx="6453900" cy="60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Análisis del sector servicios</a:t>
            </a:r>
            <a:endParaRPr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pic>
        <p:nvPicPr>
          <p:cNvPr id="133" name="Google Shape;13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68675"/>
            <a:ext cx="8338774" cy="4262826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>
            <p:ph type="title"/>
          </p:nvPr>
        </p:nvSpPr>
        <p:spPr>
          <a:xfrm>
            <a:off x="387900" y="391929"/>
            <a:ext cx="6580800" cy="60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a" sz="24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Barreras</a:t>
            </a:r>
            <a:endParaRPr sz="1400"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246250" y="1206962"/>
            <a:ext cx="8244900" cy="1250700"/>
          </a:xfrm>
          <a:prstGeom prst="rect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" name="Google Shape;136;p17"/>
          <p:cNvSpPr/>
          <p:nvPr/>
        </p:nvSpPr>
        <p:spPr>
          <a:xfrm>
            <a:off x="245500" y="2457655"/>
            <a:ext cx="8244900" cy="739500"/>
          </a:xfrm>
          <a:prstGeom prst="rect">
            <a:avLst/>
          </a:prstGeom>
          <a:noFill/>
          <a:ln cap="flat" cmpd="sng" w="19050">
            <a:solidFill>
              <a:srgbClr val="E691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 txBox="1"/>
          <p:nvPr>
            <p:ph type="title"/>
          </p:nvPr>
        </p:nvSpPr>
        <p:spPr>
          <a:xfrm>
            <a:off x="387900" y="5244"/>
            <a:ext cx="6453900" cy="60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Análisis del sector servicios</a:t>
            </a:r>
            <a:endParaRPr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142" name="Google Shape;142;p18"/>
          <p:cNvSpPr txBox="1"/>
          <p:nvPr>
            <p:ph type="title"/>
          </p:nvPr>
        </p:nvSpPr>
        <p:spPr>
          <a:xfrm>
            <a:off x="387900" y="391929"/>
            <a:ext cx="6580800" cy="60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a" sz="24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Barreras</a:t>
            </a:r>
            <a:endParaRPr sz="1400"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pic>
        <p:nvPicPr>
          <p:cNvPr id="143" name="Google Shape;143;p18"/>
          <p:cNvPicPr preferRelativeResize="0"/>
          <p:nvPr/>
        </p:nvPicPr>
        <p:blipFill rotWithShape="1">
          <a:blip r:embed="rId3">
            <a:alphaModFix/>
          </a:blip>
          <a:srcRect b="0" l="0" r="0" t="12899"/>
          <a:stretch/>
        </p:blipFill>
        <p:spPr>
          <a:xfrm>
            <a:off x="216975" y="4048100"/>
            <a:ext cx="5849225" cy="1095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4" name="Google Shape;144;p18"/>
          <p:cNvGrpSpPr/>
          <p:nvPr/>
        </p:nvGrpSpPr>
        <p:grpSpPr>
          <a:xfrm>
            <a:off x="4802647" y="1136713"/>
            <a:ext cx="1365498" cy="2027948"/>
            <a:chOff x="4802647" y="1136713"/>
            <a:chExt cx="1365498" cy="2027948"/>
          </a:xfrm>
        </p:grpSpPr>
        <p:cxnSp>
          <p:nvCxnSpPr>
            <p:cNvPr id="145" name="Google Shape;145;p18"/>
            <p:cNvCxnSpPr/>
            <p:nvPr/>
          </p:nvCxnSpPr>
          <p:spPr>
            <a:xfrm>
              <a:off x="4802647" y="1372876"/>
              <a:ext cx="344700" cy="0"/>
            </a:xfrm>
            <a:prstGeom prst="straightConnector1">
              <a:avLst/>
            </a:prstGeom>
            <a:noFill/>
            <a:ln cap="flat" cmpd="sng" w="9525">
              <a:solidFill>
                <a:srgbClr val="1F77B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46" name="Google Shape;146;p18"/>
            <p:cNvCxnSpPr/>
            <p:nvPr/>
          </p:nvCxnSpPr>
          <p:spPr>
            <a:xfrm>
              <a:off x="4802647" y="2150674"/>
              <a:ext cx="344700" cy="0"/>
            </a:xfrm>
            <a:prstGeom prst="straightConnector1">
              <a:avLst/>
            </a:prstGeom>
            <a:noFill/>
            <a:ln cap="flat" cmpd="sng" w="9525">
              <a:solidFill>
                <a:srgbClr val="2CA02C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47" name="Google Shape;147;p18"/>
            <p:cNvCxnSpPr/>
            <p:nvPr/>
          </p:nvCxnSpPr>
          <p:spPr>
            <a:xfrm>
              <a:off x="4802647" y="2992273"/>
              <a:ext cx="344700" cy="0"/>
            </a:xfrm>
            <a:prstGeom prst="straightConnector1">
              <a:avLst/>
            </a:prstGeom>
            <a:noFill/>
            <a:ln cap="flat" cmpd="sng" w="9525">
              <a:solidFill>
                <a:srgbClr val="8C564B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48" name="Google Shape;148;p18"/>
            <p:cNvSpPr txBox="1"/>
            <p:nvPr/>
          </p:nvSpPr>
          <p:spPr>
            <a:xfrm>
              <a:off x="5287645" y="1136713"/>
              <a:ext cx="880500" cy="42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a" sz="1800">
                  <a:solidFill>
                    <a:srgbClr val="1F1F1F"/>
                  </a:solidFill>
                  <a:latin typeface="Roboto"/>
                  <a:ea typeface="Roboto"/>
                  <a:cs typeface="Roboto"/>
                  <a:sym typeface="Roboto"/>
                </a:rPr>
                <a:t>16%</a:t>
              </a:r>
              <a:endParaRPr sz="18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49" name="Google Shape;149;p18"/>
            <p:cNvCxnSpPr/>
            <p:nvPr/>
          </p:nvCxnSpPr>
          <p:spPr>
            <a:xfrm rot="10800000">
              <a:off x="5287643" y="1219651"/>
              <a:ext cx="0" cy="255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0" name="Google Shape;150;p18"/>
            <p:cNvSpPr txBox="1"/>
            <p:nvPr/>
          </p:nvSpPr>
          <p:spPr>
            <a:xfrm>
              <a:off x="5287645" y="1940087"/>
              <a:ext cx="880500" cy="42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a" sz="1800">
                  <a:solidFill>
                    <a:srgbClr val="1F1F1F"/>
                  </a:solidFill>
                  <a:latin typeface="Roboto"/>
                  <a:ea typeface="Roboto"/>
                  <a:cs typeface="Roboto"/>
                  <a:sym typeface="Roboto"/>
                </a:rPr>
                <a:t>7</a:t>
              </a:r>
              <a:r>
                <a:rPr lang="ca" sz="1800">
                  <a:solidFill>
                    <a:srgbClr val="1F1F1F"/>
                  </a:solidFill>
                  <a:latin typeface="Roboto"/>
                  <a:ea typeface="Roboto"/>
                  <a:cs typeface="Roboto"/>
                  <a:sym typeface="Roboto"/>
                </a:rPr>
                <a:t>%</a:t>
              </a:r>
              <a:endParaRPr sz="18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51" name="Google Shape;151;p18"/>
            <p:cNvCxnSpPr/>
            <p:nvPr/>
          </p:nvCxnSpPr>
          <p:spPr>
            <a:xfrm rot="10800000">
              <a:off x="5287643" y="2023025"/>
              <a:ext cx="0" cy="255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2" name="Google Shape;152;p18"/>
            <p:cNvSpPr txBox="1"/>
            <p:nvPr/>
          </p:nvSpPr>
          <p:spPr>
            <a:xfrm>
              <a:off x="5287645" y="2743461"/>
              <a:ext cx="880500" cy="42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a" sz="1800">
                  <a:solidFill>
                    <a:srgbClr val="1F1F1F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r>
                <a:rPr lang="ca" sz="1800">
                  <a:solidFill>
                    <a:srgbClr val="1F1F1F"/>
                  </a:solidFill>
                  <a:latin typeface="Roboto"/>
                  <a:ea typeface="Roboto"/>
                  <a:cs typeface="Roboto"/>
                  <a:sym typeface="Roboto"/>
                </a:rPr>
                <a:t>%</a:t>
              </a:r>
              <a:endParaRPr sz="18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153" name="Google Shape;153;p18"/>
            <p:cNvCxnSpPr/>
            <p:nvPr/>
          </p:nvCxnSpPr>
          <p:spPr>
            <a:xfrm rot="10800000">
              <a:off x="5287643" y="2826399"/>
              <a:ext cx="0" cy="255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54" name="Google Shape;154;p18"/>
          <p:cNvSpPr txBox="1"/>
          <p:nvPr/>
        </p:nvSpPr>
        <p:spPr>
          <a:xfrm>
            <a:off x="6002375" y="719567"/>
            <a:ext cx="30759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7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Principales motivos para no implementar formación:</a:t>
            </a:r>
            <a:endParaRPr b="1" i="1" sz="17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" name="Google Shape;155;p18"/>
          <p:cNvSpPr txBox="1"/>
          <p:nvPr/>
        </p:nvSpPr>
        <p:spPr>
          <a:xfrm>
            <a:off x="6002375" y="1465792"/>
            <a:ext cx="30759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ca" sz="17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El personal tiene los conocimientos necesarios</a:t>
            </a:r>
            <a:endParaRPr i="1" sz="17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" name="Google Shape;156;p18"/>
          <p:cNvSpPr txBox="1"/>
          <p:nvPr/>
        </p:nvSpPr>
        <p:spPr>
          <a:xfrm>
            <a:off x="6002375" y="3050104"/>
            <a:ext cx="30759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ca" sz="17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Otros </a:t>
            </a:r>
            <a:r>
              <a:rPr b="1" lang="ca" sz="17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motivos:</a:t>
            </a:r>
            <a:endParaRPr b="1" i="1" sz="17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57" name="Google Shape;157;p18"/>
          <p:cNvGrpSpPr/>
          <p:nvPr/>
        </p:nvGrpSpPr>
        <p:grpSpPr>
          <a:xfrm>
            <a:off x="6002375" y="3535442"/>
            <a:ext cx="3075900" cy="776072"/>
            <a:chOff x="6002375" y="3535442"/>
            <a:chExt cx="3075900" cy="776072"/>
          </a:xfrm>
        </p:grpSpPr>
        <p:sp>
          <p:nvSpPr>
            <p:cNvPr id="158" name="Google Shape;158;p18"/>
            <p:cNvSpPr txBox="1"/>
            <p:nvPr/>
          </p:nvSpPr>
          <p:spPr>
            <a:xfrm>
              <a:off x="6002375" y="3535442"/>
              <a:ext cx="3075900" cy="42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ca" sz="1700">
                  <a:solidFill>
                    <a:srgbClr val="1F1F1F"/>
                  </a:solidFill>
                  <a:latin typeface="Roboto"/>
                  <a:ea typeface="Roboto"/>
                  <a:cs typeface="Roboto"/>
                  <a:sym typeface="Roboto"/>
                </a:rPr>
                <a:t>Económicos:</a:t>
              </a:r>
              <a:endParaRPr i="1" sz="17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9" name="Google Shape;159;p18"/>
            <p:cNvSpPr txBox="1"/>
            <p:nvPr/>
          </p:nvSpPr>
          <p:spPr>
            <a:xfrm>
              <a:off x="6002375" y="3890314"/>
              <a:ext cx="3075900" cy="42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-323850" lvl="0" marL="457200" rtl="0" algn="ctr">
                <a:spcBef>
                  <a:spcPts val="0"/>
                </a:spcBef>
                <a:spcAft>
                  <a:spcPts val="0"/>
                </a:spcAft>
                <a:buClr>
                  <a:srgbClr val="1F1F1F"/>
                </a:buClr>
                <a:buSzPts val="1500"/>
                <a:buFont typeface="Roboto"/>
                <a:buChar char="❏"/>
              </a:pPr>
              <a:r>
                <a:rPr i="1" lang="ca" sz="1500">
                  <a:solidFill>
                    <a:srgbClr val="1F1F1F"/>
                  </a:solidFill>
                  <a:latin typeface="Roboto"/>
                  <a:ea typeface="Roboto"/>
                  <a:cs typeface="Roboto"/>
                  <a:sym typeface="Roboto"/>
                </a:rPr>
                <a:t>Alto coste de los cursos</a:t>
              </a:r>
              <a:endParaRPr i="1" sz="15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23850" lvl="0" marL="457200" rtl="0" algn="ctr">
                <a:spcBef>
                  <a:spcPts val="0"/>
                </a:spcBef>
                <a:spcAft>
                  <a:spcPts val="0"/>
                </a:spcAft>
                <a:buClr>
                  <a:srgbClr val="1F1F1F"/>
                </a:buClr>
                <a:buSzPts val="1500"/>
                <a:buFont typeface="Roboto"/>
                <a:buChar char="❏"/>
              </a:pPr>
              <a:r>
                <a:rPr i="1" lang="ca" sz="1500">
                  <a:solidFill>
                    <a:srgbClr val="1F1F1F"/>
                  </a:solidFill>
                  <a:latin typeface="Roboto"/>
                  <a:ea typeface="Roboto"/>
                  <a:cs typeface="Roboto"/>
                  <a:sym typeface="Roboto"/>
                </a:rPr>
                <a:t>Dificultad para acceder a ayudas</a:t>
              </a:r>
              <a:endParaRPr i="1" sz="15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160" name="Google Shape;16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975" y="1100090"/>
            <a:ext cx="4585675" cy="2960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2099" y="926303"/>
            <a:ext cx="4718575" cy="25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6002375" y="2230664"/>
            <a:ext cx="3075900" cy="4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ca" sz="1700">
                <a:solidFill>
                  <a:srgbClr val="1F1F1F"/>
                </a:solidFill>
                <a:latin typeface="Roboto"/>
                <a:ea typeface="Roboto"/>
                <a:cs typeface="Roboto"/>
                <a:sym typeface="Roboto"/>
              </a:rPr>
              <a:t>Elevada carga de trabajo y escaso tiempo</a:t>
            </a:r>
            <a:endParaRPr i="1" sz="1700">
              <a:solidFill>
                <a:srgbClr val="1F1F1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9"/>
          <p:cNvSpPr txBox="1"/>
          <p:nvPr>
            <p:ph type="title"/>
          </p:nvPr>
        </p:nvSpPr>
        <p:spPr>
          <a:xfrm>
            <a:off x="387900" y="158400"/>
            <a:ext cx="6453900" cy="60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Propuestas de negocio</a:t>
            </a:r>
            <a:endParaRPr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168" name="Google Shape;168;p19"/>
          <p:cNvSpPr txBox="1"/>
          <p:nvPr>
            <p:ph type="title"/>
          </p:nvPr>
        </p:nvSpPr>
        <p:spPr>
          <a:xfrm>
            <a:off x="387900" y="608900"/>
            <a:ext cx="8415000" cy="51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41250"/>
              <a:buNone/>
            </a:pPr>
            <a:r>
              <a:rPr lang="ca" sz="24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Resumen de las tendencias observadas en el sector</a:t>
            </a:r>
            <a:endParaRPr sz="2400"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169" name="Google Shape;169;p19"/>
          <p:cNvSpPr txBox="1"/>
          <p:nvPr/>
        </p:nvSpPr>
        <p:spPr>
          <a:xfrm>
            <a:off x="214725" y="1318375"/>
            <a:ext cx="8881500" cy="38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2400" u="sng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	</a:t>
            </a:r>
            <a:r>
              <a:rPr lang="ca" sz="21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Competencias clave</a:t>
            </a:r>
            <a:r>
              <a:rPr lang="ca" sz="1850">
                <a:solidFill>
                  <a:srgbClr val="2D3748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: </a:t>
            </a:r>
            <a:endParaRPr b="1" sz="1650">
              <a:latin typeface="Raleway"/>
              <a:ea typeface="Raleway"/>
              <a:cs typeface="Raleway"/>
              <a:sym typeface="Raleway"/>
            </a:endParaRPr>
          </a:p>
          <a:p>
            <a:pPr indent="-333375" lvl="0" marL="18288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50"/>
              <a:buFont typeface="Raleway"/>
              <a:buChar char="●"/>
            </a:pPr>
            <a:r>
              <a:rPr lang="ca" sz="1650">
                <a:latin typeface="Raleway"/>
                <a:ea typeface="Raleway"/>
                <a:cs typeface="Raleway"/>
                <a:sym typeface="Raleway"/>
              </a:rPr>
              <a:t>Atención al cliente</a:t>
            </a:r>
            <a:endParaRPr sz="1650">
              <a:latin typeface="Raleway"/>
              <a:ea typeface="Raleway"/>
              <a:cs typeface="Raleway"/>
              <a:sym typeface="Raleway"/>
            </a:endParaRPr>
          </a:p>
          <a:p>
            <a:pPr indent="-333375" lvl="0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Font typeface="Raleway"/>
              <a:buChar char="●"/>
            </a:pPr>
            <a:r>
              <a:rPr lang="ca" sz="1650">
                <a:latin typeface="Raleway"/>
                <a:ea typeface="Raleway"/>
                <a:cs typeface="Raleway"/>
                <a:sym typeface="Raleway"/>
              </a:rPr>
              <a:t>Resolución de problemas</a:t>
            </a:r>
            <a:endParaRPr sz="1650">
              <a:latin typeface="Raleway"/>
              <a:ea typeface="Raleway"/>
              <a:cs typeface="Raleway"/>
              <a:sym typeface="Raleway"/>
            </a:endParaRPr>
          </a:p>
          <a:p>
            <a:pPr indent="-333375" lvl="0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Font typeface="Raleway"/>
              <a:buChar char="●"/>
            </a:pPr>
            <a:r>
              <a:rPr lang="ca" sz="1650">
                <a:latin typeface="Raleway"/>
                <a:ea typeface="Raleway"/>
                <a:cs typeface="Raleway"/>
                <a:sym typeface="Raleway"/>
              </a:rPr>
              <a:t>Tecnologías utilizadas</a:t>
            </a:r>
            <a:endParaRPr sz="1650">
              <a:latin typeface="Raleway"/>
              <a:ea typeface="Raleway"/>
              <a:cs typeface="Raleway"/>
              <a:sym typeface="Raleway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ca" sz="21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Medios utilizados</a:t>
            </a:r>
            <a:r>
              <a:rPr b="1" lang="ca" sz="1850">
                <a:latin typeface="Raleway"/>
                <a:ea typeface="Raleway"/>
                <a:cs typeface="Raleway"/>
                <a:sym typeface="Raleway"/>
              </a:rPr>
              <a:t>:</a:t>
            </a:r>
            <a:endParaRPr b="1" sz="1850">
              <a:latin typeface="Raleway"/>
              <a:ea typeface="Raleway"/>
              <a:cs typeface="Raleway"/>
              <a:sym typeface="Raleway"/>
            </a:endParaRPr>
          </a:p>
          <a:p>
            <a:pPr indent="-333375" lvl="0" marL="1828800" rtl="0" algn="l">
              <a:spcBef>
                <a:spcPts val="1200"/>
              </a:spcBef>
              <a:spcAft>
                <a:spcPts val="0"/>
              </a:spcAft>
              <a:buSzPts val="1650"/>
              <a:buFont typeface="Raleway"/>
              <a:buChar char="●"/>
            </a:pPr>
            <a:r>
              <a:rPr lang="ca" sz="1650">
                <a:latin typeface="Raleway"/>
                <a:ea typeface="Raleway"/>
                <a:cs typeface="Raleway"/>
                <a:sym typeface="Raleway"/>
              </a:rPr>
              <a:t>Empresas externas especializadas en formación en el sector Transporte</a:t>
            </a:r>
            <a:endParaRPr sz="1650">
              <a:latin typeface="Raleway"/>
              <a:ea typeface="Raleway"/>
              <a:cs typeface="Raleway"/>
              <a:sym typeface="Raleway"/>
            </a:endParaRPr>
          </a:p>
          <a:p>
            <a:pPr indent="-320675" lvl="0" marL="1828800" rtl="0" algn="l">
              <a:spcBef>
                <a:spcPts val="0"/>
              </a:spcBef>
              <a:spcAft>
                <a:spcPts val="0"/>
              </a:spcAft>
              <a:buSzPts val="1450"/>
              <a:buFont typeface="Raleway"/>
              <a:buChar char="●"/>
            </a:pPr>
            <a:r>
              <a:rPr lang="ca" sz="1650">
                <a:latin typeface="Raleway"/>
                <a:ea typeface="Raleway"/>
                <a:cs typeface="Raleway"/>
                <a:sym typeface="Raleway"/>
              </a:rPr>
              <a:t>Mentoring</a:t>
            </a:r>
            <a:endParaRPr sz="1650">
              <a:latin typeface="Raleway"/>
              <a:ea typeface="Raleway"/>
              <a:cs typeface="Raleway"/>
              <a:sym typeface="Raleway"/>
            </a:endParaRPr>
          </a:p>
          <a:p>
            <a:pPr indent="45720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ca" sz="21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Posibles barreras</a:t>
            </a:r>
            <a:r>
              <a:rPr b="1" lang="ca" sz="1850">
                <a:latin typeface="Raleway"/>
                <a:ea typeface="Raleway"/>
                <a:cs typeface="Raleway"/>
                <a:sym typeface="Raleway"/>
              </a:rPr>
              <a:t>:</a:t>
            </a:r>
            <a:endParaRPr sz="1650"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18288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Raleway"/>
              <a:buChar char="●"/>
            </a:pPr>
            <a:r>
              <a:rPr lang="ca" sz="1650">
                <a:latin typeface="Raleway"/>
                <a:ea typeface="Raleway"/>
                <a:cs typeface="Raleway"/>
                <a:sym typeface="Raleway"/>
              </a:rPr>
              <a:t>El personal tiene el conocimiento necesario </a:t>
            </a:r>
            <a:endParaRPr sz="1650">
              <a:latin typeface="Raleway"/>
              <a:ea typeface="Raleway"/>
              <a:cs typeface="Raleway"/>
              <a:sym typeface="Raleway"/>
            </a:endParaRPr>
          </a:p>
          <a:p>
            <a:pPr indent="-333375" lvl="0" marL="1828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Font typeface="Raleway"/>
              <a:buChar char="●"/>
            </a:pPr>
            <a:r>
              <a:rPr lang="ca" sz="1650">
                <a:latin typeface="Raleway"/>
                <a:ea typeface="Raleway"/>
                <a:cs typeface="Raleway"/>
                <a:sym typeface="Raleway"/>
              </a:rPr>
              <a:t>Elevada carga de trabajo y escaso tiempo</a:t>
            </a:r>
            <a:endParaRPr sz="165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5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850">
                <a:latin typeface="Raleway"/>
                <a:ea typeface="Raleway"/>
                <a:cs typeface="Raleway"/>
                <a:sym typeface="Raleway"/>
              </a:rPr>
              <a:t>			</a:t>
            </a:r>
            <a:endParaRPr sz="185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850">
                <a:latin typeface="Raleway"/>
                <a:ea typeface="Raleway"/>
                <a:cs typeface="Raleway"/>
                <a:sym typeface="Raleway"/>
              </a:rPr>
              <a:t>			</a:t>
            </a:r>
            <a:endParaRPr sz="185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"/>
          <p:cNvSpPr txBox="1"/>
          <p:nvPr>
            <p:ph type="title"/>
          </p:nvPr>
        </p:nvSpPr>
        <p:spPr>
          <a:xfrm>
            <a:off x="387900" y="158400"/>
            <a:ext cx="6453900" cy="60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Propuestas de negocio</a:t>
            </a:r>
            <a:endParaRPr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sp>
        <p:nvSpPr>
          <p:cNvPr id="175" name="Google Shape;175;p20"/>
          <p:cNvSpPr txBox="1"/>
          <p:nvPr>
            <p:ph type="title"/>
          </p:nvPr>
        </p:nvSpPr>
        <p:spPr>
          <a:xfrm>
            <a:off x="387900" y="608900"/>
            <a:ext cx="7420500" cy="70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a" sz="24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Ajustes en las políticas de formación</a:t>
            </a:r>
            <a:endParaRPr sz="2400"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grpSp>
        <p:nvGrpSpPr>
          <p:cNvPr id="176" name="Google Shape;176;p20"/>
          <p:cNvGrpSpPr/>
          <p:nvPr/>
        </p:nvGrpSpPr>
        <p:grpSpPr>
          <a:xfrm>
            <a:off x="2458576" y="2556329"/>
            <a:ext cx="1834900" cy="1582600"/>
            <a:chOff x="1083025" y="2306625"/>
            <a:chExt cx="1834900" cy="1582600"/>
          </a:xfrm>
        </p:grpSpPr>
        <p:sp>
          <p:nvSpPr>
            <p:cNvPr id="177" name="Google Shape;177;p20"/>
            <p:cNvSpPr txBox="1"/>
            <p:nvPr/>
          </p:nvSpPr>
          <p:spPr>
            <a:xfrm>
              <a:off x="1235825" y="2695025"/>
              <a:ext cx="1505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ca" sz="13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Semana 1</a:t>
              </a:r>
              <a:endParaRPr b="1" sz="13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8" name="Google Shape;178;p20"/>
            <p:cNvSpPr txBox="1"/>
            <p:nvPr/>
          </p:nvSpPr>
          <p:spPr>
            <a:xfrm>
              <a:off x="1215700" y="3151825"/>
              <a:ext cx="15456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ca" sz="11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Mentoring con otro trabajador más experimentado.</a:t>
              </a:r>
              <a:endParaRPr sz="11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9" name="Google Shape;179;p20"/>
            <p:cNvSpPr/>
            <p:nvPr/>
          </p:nvSpPr>
          <p:spPr>
            <a:xfrm flipH="1">
              <a:off x="1083025" y="2306625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0D5C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a" sz="1700"/>
                <a:t>  </a:t>
              </a:r>
              <a:endParaRPr sz="1700"/>
            </a:p>
          </p:txBody>
        </p:sp>
        <p:sp>
          <p:nvSpPr>
            <p:cNvPr id="180" name="Google Shape;180;p20"/>
            <p:cNvSpPr/>
            <p:nvPr/>
          </p:nvSpPr>
          <p:spPr>
            <a:xfrm>
              <a:off x="1083125" y="2460449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0942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/>
            </a:p>
          </p:txBody>
        </p:sp>
      </p:grpSp>
      <p:grpSp>
        <p:nvGrpSpPr>
          <p:cNvPr id="181" name="Google Shape;181;p20"/>
          <p:cNvGrpSpPr/>
          <p:nvPr/>
        </p:nvGrpSpPr>
        <p:grpSpPr>
          <a:xfrm>
            <a:off x="4171430" y="2556329"/>
            <a:ext cx="4167425" cy="1582600"/>
            <a:chOff x="1083025" y="2306625"/>
            <a:chExt cx="1834900" cy="1582600"/>
          </a:xfrm>
        </p:grpSpPr>
        <p:sp>
          <p:nvSpPr>
            <p:cNvPr id="182" name="Google Shape;182;p20"/>
            <p:cNvSpPr txBox="1"/>
            <p:nvPr/>
          </p:nvSpPr>
          <p:spPr>
            <a:xfrm>
              <a:off x="1235825" y="2695025"/>
              <a:ext cx="1505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ca" sz="13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Posterior</a:t>
              </a:r>
              <a:endParaRPr b="1" sz="13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3" name="Google Shape;183;p20"/>
            <p:cNvSpPr txBox="1"/>
            <p:nvPr/>
          </p:nvSpPr>
          <p:spPr>
            <a:xfrm>
              <a:off x="1215700" y="3151825"/>
              <a:ext cx="15456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ca" sz="11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Reciclaje formativo ocasional en relación a nuevos cambios </a:t>
              </a:r>
              <a:r>
                <a:rPr lang="ca" sz="1100">
                  <a:solidFill>
                    <a:srgbClr val="858585"/>
                  </a:solidFill>
                  <a:latin typeface="Roboto"/>
                  <a:ea typeface="Roboto"/>
                  <a:cs typeface="Roboto"/>
                  <a:sym typeface="Roboto"/>
                </a:rPr>
                <a:t>tecnológicos o estructurales (online, ajuste de turnos para facilitar formación).</a:t>
              </a:r>
              <a:endParaRPr sz="1100">
                <a:solidFill>
                  <a:srgbClr val="85858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4" name="Google Shape;184;p20"/>
            <p:cNvSpPr/>
            <p:nvPr/>
          </p:nvSpPr>
          <p:spPr>
            <a:xfrm flipH="1">
              <a:off x="1083025" y="2306625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C2C2C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a" sz="1700"/>
                <a:t>  </a:t>
              </a:r>
              <a:endParaRPr sz="1700"/>
            </a:p>
          </p:txBody>
        </p:sp>
        <p:sp>
          <p:nvSpPr>
            <p:cNvPr id="185" name="Google Shape;185;p20"/>
            <p:cNvSpPr/>
            <p:nvPr/>
          </p:nvSpPr>
          <p:spPr>
            <a:xfrm>
              <a:off x="1083125" y="2460449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85858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/>
            </a:p>
          </p:txBody>
        </p:sp>
      </p:grpSp>
      <p:grpSp>
        <p:nvGrpSpPr>
          <p:cNvPr id="186" name="Google Shape;186;p20"/>
          <p:cNvGrpSpPr/>
          <p:nvPr/>
        </p:nvGrpSpPr>
        <p:grpSpPr>
          <a:xfrm>
            <a:off x="387900" y="2556334"/>
            <a:ext cx="2197614" cy="1582600"/>
            <a:chOff x="50100" y="2306625"/>
            <a:chExt cx="2867825" cy="1582600"/>
          </a:xfrm>
        </p:grpSpPr>
        <p:sp>
          <p:nvSpPr>
            <p:cNvPr id="187" name="Google Shape;187;p20"/>
            <p:cNvSpPr txBox="1"/>
            <p:nvPr/>
          </p:nvSpPr>
          <p:spPr>
            <a:xfrm>
              <a:off x="1235825" y="2695025"/>
              <a:ext cx="15051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ca" sz="13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Día 1</a:t>
              </a:r>
              <a:endParaRPr b="1" sz="13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8" name="Google Shape;188;p20"/>
            <p:cNvSpPr txBox="1"/>
            <p:nvPr/>
          </p:nvSpPr>
          <p:spPr>
            <a:xfrm>
              <a:off x="50100" y="3151825"/>
              <a:ext cx="27111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a" sz="11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Programa de autoformación online:</a:t>
              </a:r>
              <a:endParaRPr sz="11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84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57D3"/>
                </a:buClr>
                <a:buSzPts val="1100"/>
                <a:buFont typeface="Roboto"/>
                <a:buChar char="●"/>
              </a:pPr>
              <a:r>
                <a:rPr lang="ca" sz="11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Políticas de empresa</a:t>
              </a:r>
              <a:endParaRPr sz="11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84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57D3"/>
                </a:buClr>
                <a:buSzPts val="1100"/>
                <a:buFont typeface="Roboto"/>
                <a:buChar char="●"/>
              </a:pPr>
              <a:r>
                <a:rPr lang="ca" sz="11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Tecnologías</a:t>
              </a:r>
              <a:endParaRPr sz="11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2984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C57D3"/>
                </a:buClr>
                <a:buSzPts val="1100"/>
                <a:buFont typeface="Roboto"/>
                <a:buChar char="●"/>
              </a:pPr>
              <a:r>
                <a:rPr lang="ca" sz="11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Atención al cliente y resolución de conflictos</a:t>
              </a:r>
              <a:endParaRPr sz="11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ca" sz="11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Welcome </a:t>
              </a:r>
              <a:endParaRPr sz="11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9" name="Google Shape;189;p20"/>
            <p:cNvSpPr/>
            <p:nvPr/>
          </p:nvSpPr>
          <p:spPr>
            <a:xfrm flipH="1">
              <a:off x="1083025" y="2306625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0D5C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ca" sz="1700"/>
                <a:t>  </a:t>
              </a:r>
              <a:endParaRPr sz="1700"/>
            </a:p>
          </p:txBody>
        </p:sp>
        <p:sp>
          <p:nvSpPr>
            <p:cNvPr id="190" name="Google Shape;190;p20"/>
            <p:cNvSpPr/>
            <p:nvPr/>
          </p:nvSpPr>
          <p:spPr>
            <a:xfrm>
              <a:off x="1083125" y="2460449"/>
              <a:ext cx="1834800" cy="143400"/>
            </a:xfrm>
            <a:prstGeom prst="parallelogram">
              <a:avLst>
                <a:gd fmla="val 96952" name="adj"/>
              </a:avLst>
            </a:prstGeom>
            <a:solidFill>
              <a:srgbClr val="0942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/>
            </a:p>
          </p:txBody>
        </p:sp>
      </p:grpSp>
      <p:sp>
        <p:nvSpPr>
          <p:cNvPr id="191" name="Google Shape;191;p20"/>
          <p:cNvSpPr txBox="1"/>
          <p:nvPr/>
        </p:nvSpPr>
        <p:spPr>
          <a:xfrm>
            <a:off x="387900" y="1395650"/>
            <a:ext cx="1377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21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Objetivo: </a:t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1548550" y="1445962"/>
            <a:ext cx="7721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700">
                <a:latin typeface="Raleway"/>
                <a:ea typeface="Raleway"/>
                <a:cs typeface="Raleway"/>
                <a:sym typeface="Raleway"/>
              </a:rPr>
              <a:t>F</a:t>
            </a:r>
            <a:r>
              <a:rPr lang="ca" sz="1700">
                <a:latin typeface="Raleway"/>
                <a:ea typeface="Raleway"/>
                <a:cs typeface="Raleway"/>
                <a:sym typeface="Raleway"/>
              </a:rPr>
              <a:t>acilitar la formación de personal y fomentar su desarrollo profesional</a:t>
            </a:r>
            <a:endParaRPr sz="1550">
              <a:solidFill>
                <a:srgbClr val="2D3748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1625125" y="2173800"/>
            <a:ext cx="30189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600">
                <a:solidFill>
                  <a:srgbClr val="0942A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Nuevos trabajadores</a:t>
            </a:r>
            <a:r>
              <a:rPr lang="ca" sz="16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 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5172500" y="2173800"/>
            <a:ext cx="30189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600">
                <a:solidFill>
                  <a:srgbClr val="858585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Todos los </a:t>
            </a:r>
            <a:r>
              <a:rPr lang="ca" sz="1600">
                <a:solidFill>
                  <a:srgbClr val="858585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trabajadores </a:t>
            </a:r>
            <a:endParaRPr sz="1300">
              <a:solidFill>
                <a:srgbClr val="8585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1"/>
          <p:cNvSpPr txBox="1"/>
          <p:nvPr>
            <p:ph idx="1" type="subTitle"/>
          </p:nvPr>
        </p:nvSpPr>
        <p:spPr>
          <a:xfrm>
            <a:off x="1680302" y="344950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Departamento de Análisis de Datos de RRHH</a:t>
            </a:r>
            <a:endParaRPr/>
          </a:p>
        </p:txBody>
      </p:sp>
      <p:sp>
        <p:nvSpPr>
          <p:cNvPr id="200" name="Google Shape;200;p21"/>
          <p:cNvSpPr txBox="1"/>
          <p:nvPr>
            <p:ph type="ctrTitle"/>
          </p:nvPr>
        </p:nvSpPr>
        <p:spPr>
          <a:xfrm>
            <a:off x="6097050" y="4686950"/>
            <a:ext cx="3047100" cy="378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ca" sz="2000"/>
              <a:t>20</a:t>
            </a:r>
            <a:r>
              <a:rPr lang="ca" sz="2000"/>
              <a:t> de Octubre de 2025</a:t>
            </a:r>
            <a:endParaRPr sz="2000"/>
          </a:p>
        </p:txBody>
      </p:sp>
      <p:sp>
        <p:nvSpPr>
          <p:cNvPr id="201" name="Google Shape;201;p21"/>
          <p:cNvSpPr txBox="1"/>
          <p:nvPr>
            <p:ph type="ctrTitle"/>
          </p:nvPr>
        </p:nvSpPr>
        <p:spPr>
          <a:xfrm>
            <a:off x="958350" y="1562096"/>
            <a:ext cx="7227300" cy="64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ca" sz="3000">
                <a:solidFill>
                  <a:schemeClr val="lt1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Equipo de Analistas de datos</a:t>
            </a:r>
            <a:endParaRPr sz="3000">
              <a:solidFill>
                <a:schemeClr val="lt1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</p:txBody>
      </p:sp>
      <p:pic>
        <p:nvPicPr>
          <p:cNvPr id="202" name="Google Shape;202;p21" title="ChatGPT Image 22 de set. del 2025, 22_03_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5450" y="-617225"/>
            <a:ext cx="4393098" cy="2888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1"/>
          <p:cNvSpPr txBox="1"/>
          <p:nvPr/>
        </p:nvSpPr>
        <p:spPr>
          <a:xfrm>
            <a:off x="2412275" y="2447200"/>
            <a:ext cx="4134000" cy="12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>
                <a:solidFill>
                  <a:srgbClr val="151517"/>
                </a:solidFill>
                <a:latin typeface="Raleway"/>
                <a:ea typeface="Raleway"/>
                <a:cs typeface="Raleway"/>
                <a:sym typeface="Raleway"/>
              </a:rPr>
              <a:t>Joel Gallarte</a:t>
            </a:r>
            <a:endParaRPr sz="1800">
              <a:solidFill>
                <a:srgbClr val="151517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>
                <a:solidFill>
                  <a:srgbClr val="151517"/>
                </a:solidFill>
                <a:latin typeface="Raleway"/>
                <a:ea typeface="Raleway"/>
                <a:cs typeface="Raleway"/>
                <a:sym typeface="Raleway"/>
              </a:rPr>
              <a:t>Gemma Cardona</a:t>
            </a:r>
            <a:endParaRPr sz="1800">
              <a:solidFill>
                <a:srgbClr val="1F1F1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 sz="1800">
                <a:solidFill>
                  <a:srgbClr val="151517"/>
                </a:solidFill>
                <a:latin typeface="Raleway"/>
                <a:ea typeface="Raleway"/>
                <a:cs typeface="Raleway"/>
                <a:sym typeface="Raleway"/>
              </a:rPr>
              <a:t>Oriac Gimeno</a:t>
            </a:r>
            <a:endParaRPr sz="1800">
              <a:solidFill>
                <a:srgbClr val="151517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4328525" y="2586750"/>
            <a:ext cx="1132200" cy="547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