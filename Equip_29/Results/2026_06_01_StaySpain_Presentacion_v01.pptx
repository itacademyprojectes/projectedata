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1" r:id="rId7"/>
    <p:sldId id="262" r:id="rId8"/>
    <p:sldId id="263" r:id="rId9"/>
    <p:sldId id="264" r:id="rId10"/>
    <p:sldId id="269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10.9</c:v>
                </c:pt>
                <c:pt idx="1">
                  <c:v>14.6</c:v>
                </c:pt>
                <c:pt idx="2">
                  <c:v>10.9</c:v>
                </c:pt>
                <c:pt idx="3">
                  <c:v>12.2</c:v>
                </c:pt>
                <c:pt idx="4">
                  <c:v>13.3</c:v>
                </c:pt>
                <c:pt idx="5">
                  <c:v>14.6</c:v>
                </c:pt>
                <c:pt idx="6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EC-4ACE-936F-660B0E134F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F18F0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11.2</c:v>
                </c:pt>
                <c:pt idx="1">
                  <c:v>15.7</c:v>
                </c:pt>
                <c:pt idx="2">
                  <c:v>9.4</c:v>
                </c:pt>
                <c:pt idx="3">
                  <c:v>11.9</c:v>
                </c:pt>
                <c:pt idx="4">
                  <c:v>15.6</c:v>
                </c:pt>
                <c:pt idx="5">
                  <c:v>12</c:v>
                </c:pt>
                <c:pt idx="6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EC-4ACE-936F-660B0E134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213.2</c:v>
                </c:pt>
                <c:pt idx="1">
                  <c:v>192.7</c:v>
                </c:pt>
                <c:pt idx="2">
                  <c:v>173.2</c:v>
                </c:pt>
                <c:pt idx="3">
                  <c:v>206.9</c:v>
                </c:pt>
                <c:pt idx="4">
                  <c:v>210.9</c:v>
                </c:pt>
                <c:pt idx="5">
                  <c:v>203.1</c:v>
                </c:pt>
                <c:pt idx="6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B9-404A-AA0B-E084028F0E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F18F0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153.1</c:v>
                </c:pt>
                <c:pt idx="1">
                  <c:v>246.7</c:v>
                </c:pt>
                <c:pt idx="2">
                  <c:v>143.6</c:v>
                </c:pt>
                <c:pt idx="3">
                  <c:v>191.5</c:v>
                </c:pt>
                <c:pt idx="4">
                  <c:v>217.2</c:v>
                </c:pt>
                <c:pt idx="5">
                  <c:v>189.7</c:v>
                </c:pt>
                <c:pt idx="6">
                  <c:v>181.2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B9-404A-AA0B-E084028F0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70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47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Nº 1 · DEPARTAMENTO DE ANALISTAS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StaySpain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inventario de alojamientos turísticos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6400800" cy="1280160"/>
          </a:xfrm>
          <a:prstGeom prst="rect">
            <a:avLst/>
          </a:prstGeom>
          <a:solidFill>
            <a:srgbClr val="26487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ANALISTAS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Alexei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Levitchi</a:t>
            </a:r>
            <a:endParaRPr lang="en-US" sz="1500" dirty="0"/>
          </a:p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Plaza</a:t>
            </a:r>
            <a:endParaRPr lang="en-US" sz="1500" dirty="0"/>
          </a:p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Soldevilla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29  ·  Junio 2026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9896478-069A-128A-C109-AD3AD049D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4" t="25211" r="17962" b="35260"/>
          <a:stretch>
            <a:fillRect/>
          </a:stretch>
        </p:blipFill>
        <p:spPr>
          <a:xfrm>
            <a:off x="2663688" y="1188720"/>
            <a:ext cx="3806686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negocio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plataforma digital que conecta anfitriones y huéspedes en toda España.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Departamento de Analistas de Datos, nuestro trabajo es transformar la información de los anuncios en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estratégico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 dirección.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una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anuncios publicados — no una serie temporal — con información de ubicación, capacidad, calendario y valoraciones.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415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74920" y="1507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1745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7.001 registros iniciales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2092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variables · 8 ciudades españolas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558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74920" y="2650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888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Distribuciones asimétricas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3235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Calendarios polarizados (saturados o vacíos)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701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74920" y="3793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· Hallazgo clave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4031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268 filas eliminadas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74920" y="4378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anuncio en distintas fechas de extracción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6.733 alojamientos únicos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incluye además: cadenas vacías → NaN, conversión de tipos (fechas, booleanos), ceros de score sin reseña → NaN.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</a:t>
            </a:r>
            <a:endParaRPr lang="en-US" sz="3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04ACEC-C411-4246-BC5D-DCBBD59BB872}"/>
              </a:ext>
            </a:extLst>
          </p:cNvPr>
          <p:cNvGrpSpPr/>
          <p:nvPr/>
        </p:nvGrpSpPr>
        <p:grpSpPr>
          <a:xfrm>
            <a:off x="457200" y="1182190"/>
            <a:ext cx="3362597" cy="640080"/>
            <a:chOff x="457200" y="1182190"/>
            <a:chExt cx="8229600" cy="640080"/>
          </a:xfrm>
        </p:grpSpPr>
        <p:sp>
          <p:nvSpPr>
            <p:cNvPr id="4" name="Shape 2"/>
            <p:cNvSpPr/>
            <p:nvPr/>
          </p:nvSpPr>
          <p:spPr>
            <a:xfrm>
              <a:off x="457200" y="1182190"/>
              <a:ext cx="8229600" cy="640080"/>
            </a:xfrm>
            <a:prstGeom prst="roundRect">
              <a:avLst>
                <a:gd name="adj" fmla="val 11429"/>
              </a:avLst>
            </a:prstGeom>
            <a:solidFill>
              <a:srgbClr val="F7F9FC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 3"/>
            <p:cNvSpPr/>
            <p:nvPr/>
          </p:nvSpPr>
          <p:spPr>
            <a:xfrm>
              <a:off x="685800" y="122791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Pregunta de negocio:  </a:t>
              </a:r>
              <a:r>
                <a:rPr lang="en-US" sz="13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¿Cuál es el precio medio de los alojamientos por tipo de alojamiento en cada ciudad?</a:t>
              </a:r>
              <a:endParaRPr lang="en-US" sz="13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457200" y="1861455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63ED48-D6A7-49C3-95E5-A89C530EA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202" y="666204"/>
            <a:ext cx="5151025" cy="4410341"/>
          </a:xfrm>
          <a:prstGeom prst="rect">
            <a:avLst/>
          </a:prstGeom>
          <a:ln>
            <a:solidFill>
              <a:srgbClr val="1E3A5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D11CE4-C6AC-4E34-8BD9-8654B888F976}"/>
              </a:ext>
            </a:extLst>
          </p:cNvPr>
          <p:cNvSpPr/>
          <p:nvPr/>
        </p:nvSpPr>
        <p:spPr>
          <a:xfrm>
            <a:off x="156090" y="3208023"/>
            <a:ext cx="1548613" cy="844015"/>
          </a:xfrm>
          <a:prstGeom prst="roundRect">
            <a:avLst/>
          </a:prstGeom>
          <a:solidFill>
            <a:srgbClr val="1E3A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Georgia" panose="02040502050405020303" pitchFamily="18" charset="0"/>
              </a:rPr>
              <a:t>Media: 1012 €</a:t>
            </a:r>
          </a:p>
          <a:p>
            <a:pPr algn="ctr"/>
            <a:r>
              <a:rPr lang="es-ES" sz="1400" dirty="0">
                <a:latin typeface="Georgia" panose="02040502050405020303" pitchFamily="18" charset="0"/>
              </a:rPr>
              <a:t>Mediana</a:t>
            </a:r>
            <a:r>
              <a:rPr lang="en-US" sz="1400" dirty="0">
                <a:latin typeface="Georgia" panose="02040502050405020303" pitchFamily="18" charset="0"/>
              </a:rPr>
              <a:t>: 750 €</a:t>
            </a:r>
          </a:p>
          <a:p>
            <a:pPr algn="ctr"/>
            <a:r>
              <a:rPr lang="en-US" sz="1200" dirty="0">
                <a:latin typeface="Georgia" panose="02040502050405020303" pitchFamily="18" charset="0"/>
              </a:rPr>
              <a:t>entre 460 y 1250 €</a:t>
            </a:r>
            <a:endParaRPr lang="en-GB" sz="1200" dirty="0">
              <a:latin typeface="Georgia" panose="02040502050405020303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BC635F-F45D-432A-B61F-61607D4FFD4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704703" y="3630031"/>
            <a:ext cx="181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C51B43-2044-46E3-86B3-8328E234FA50}"/>
              </a:ext>
            </a:extLst>
          </p:cNvPr>
          <p:cNvGrpSpPr/>
          <p:nvPr/>
        </p:nvGrpSpPr>
        <p:grpSpPr>
          <a:xfrm>
            <a:off x="1885806" y="2227216"/>
            <a:ext cx="1802273" cy="2805628"/>
            <a:chOff x="1885806" y="2227216"/>
            <a:chExt cx="1802273" cy="280562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469C38B-A3EB-4A66-8441-CD269933F06A}"/>
                </a:ext>
              </a:extLst>
            </p:cNvPr>
            <p:cNvSpPr/>
            <p:nvPr/>
          </p:nvSpPr>
          <p:spPr>
            <a:xfrm>
              <a:off x="2081348" y="2227216"/>
              <a:ext cx="1606731" cy="684000"/>
            </a:xfrm>
            <a:prstGeom prst="roundRect">
              <a:avLst/>
            </a:prstGeom>
            <a:solidFill>
              <a:srgbClr val="1E3A5F">
                <a:alpha val="74902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u="sng" dirty="0">
                  <a:latin typeface="Georgia" panose="02040502050405020303" pitchFamily="18" charset="0"/>
                </a:rPr>
                <a:t>Entire home/apt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Media: 1239 €</a:t>
              </a:r>
            </a:p>
            <a:p>
              <a:pPr algn="ctr"/>
              <a:r>
                <a:rPr lang="en-US" sz="1100" dirty="0" err="1">
                  <a:latin typeface="Georgia" panose="02040502050405020303" pitchFamily="18" charset="0"/>
                </a:rPr>
                <a:t>Mediana</a:t>
              </a:r>
              <a:r>
                <a:rPr lang="en-US" sz="1100" dirty="0">
                  <a:latin typeface="Georgia" panose="02040502050405020303" pitchFamily="18" charset="0"/>
                </a:rPr>
                <a:t>: 980 €</a:t>
              </a:r>
            </a:p>
            <a:p>
              <a:pPr algn="ctr"/>
              <a:r>
                <a:rPr lang="en-US" sz="1050" dirty="0">
                  <a:latin typeface="Georgia" panose="02040502050405020303" pitchFamily="18" charset="0"/>
                </a:rPr>
                <a:t>entre 660 y 1500 €</a:t>
              </a:r>
              <a:endParaRPr lang="en-GB" sz="1050" dirty="0">
                <a:latin typeface="Georgia" panose="02040502050405020303" pitchFamily="18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B288502-E1B2-42E7-864D-8ED6890D3D5B}"/>
                </a:ext>
              </a:extLst>
            </p:cNvPr>
            <p:cNvSpPr/>
            <p:nvPr/>
          </p:nvSpPr>
          <p:spPr>
            <a:xfrm>
              <a:off x="2081348" y="2934425"/>
              <a:ext cx="1606731" cy="684000"/>
            </a:xfrm>
            <a:prstGeom prst="roundRect">
              <a:avLst/>
            </a:prstGeom>
            <a:solidFill>
              <a:srgbClr val="1E3A5F">
                <a:alpha val="74902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u="sng" dirty="0">
                  <a:latin typeface="Georgia" panose="02040502050405020303" pitchFamily="18" charset="0"/>
                </a:rPr>
                <a:t>Hotel room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Media: 1063 €</a:t>
              </a:r>
            </a:p>
            <a:p>
              <a:pPr algn="ctr"/>
              <a:r>
                <a:rPr lang="en-US" sz="1100" dirty="0" err="1">
                  <a:latin typeface="Georgia" panose="02040502050405020303" pitchFamily="18" charset="0"/>
                </a:rPr>
                <a:t>Mediana</a:t>
              </a:r>
              <a:r>
                <a:rPr lang="en-US" sz="1100" dirty="0">
                  <a:latin typeface="Georgia" panose="02040502050405020303" pitchFamily="18" charset="0"/>
                </a:rPr>
                <a:t>: 1150 €</a:t>
              </a:r>
            </a:p>
            <a:p>
              <a:pPr algn="ctr"/>
              <a:r>
                <a:rPr lang="en-US" sz="1050" dirty="0">
                  <a:latin typeface="Georgia" panose="02040502050405020303" pitchFamily="18" charset="0"/>
                </a:rPr>
                <a:t>entre 642 y 1490 €</a:t>
              </a:r>
              <a:endParaRPr lang="en-GB" sz="1050" dirty="0">
                <a:latin typeface="Georgia" panose="02040502050405020303" pitchFamily="18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4B8F816-5682-480C-ADAF-C50B073685AD}"/>
                </a:ext>
              </a:extLst>
            </p:cNvPr>
            <p:cNvSpPr/>
            <p:nvPr/>
          </p:nvSpPr>
          <p:spPr>
            <a:xfrm>
              <a:off x="2081347" y="3641634"/>
              <a:ext cx="1606731" cy="684000"/>
            </a:xfrm>
            <a:prstGeom prst="roundRect">
              <a:avLst/>
            </a:prstGeom>
            <a:solidFill>
              <a:srgbClr val="1E3A5F">
                <a:alpha val="74902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u="sng" dirty="0">
                  <a:latin typeface="Georgia" panose="02040502050405020303" pitchFamily="18" charset="0"/>
                </a:rPr>
                <a:t>Private room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Media: 448 €</a:t>
              </a:r>
            </a:p>
            <a:p>
              <a:pPr algn="ctr"/>
              <a:r>
                <a:rPr lang="en-US" sz="1100" dirty="0" err="1">
                  <a:latin typeface="Georgia" panose="02040502050405020303" pitchFamily="18" charset="0"/>
                </a:rPr>
                <a:t>Mediana</a:t>
              </a:r>
              <a:r>
                <a:rPr lang="en-US" sz="1100" dirty="0">
                  <a:latin typeface="Georgia" panose="02040502050405020303" pitchFamily="18" charset="0"/>
                </a:rPr>
                <a:t>: 350 €</a:t>
              </a:r>
            </a:p>
            <a:p>
              <a:pPr algn="ctr"/>
              <a:r>
                <a:rPr lang="en-US" sz="1050" dirty="0">
                  <a:latin typeface="Georgia" panose="02040502050405020303" pitchFamily="18" charset="0"/>
                </a:rPr>
                <a:t>entre 250 y 500 €</a:t>
              </a:r>
              <a:endParaRPr lang="en-GB" sz="1050" dirty="0">
                <a:latin typeface="Georgia" panose="02040502050405020303" pitchFamily="18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E9E9E2B-FD76-427A-B00A-23EE08A49CE3}"/>
                </a:ext>
              </a:extLst>
            </p:cNvPr>
            <p:cNvSpPr/>
            <p:nvPr/>
          </p:nvSpPr>
          <p:spPr>
            <a:xfrm>
              <a:off x="2081348" y="4348844"/>
              <a:ext cx="1606731" cy="684000"/>
            </a:xfrm>
            <a:prstGeom prst="roundRect">
              <a:avLst/>
            </a:prstGeom>
            <a:solidFill>
              <a:srgbClr val="1E3A5F">
                <a:alpha val="74902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u="sng" dirty="0">
                  <a:latin typeface="Georgia" panose="02040502050405020303" pitchFamily="18" charset="0"/>
                </a:rPr>
                <a:t>Shared room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Media: 325 €</a:t>
              </a:r>
            </a:p>
            <a:p>
              <a:pPr algn="ctr"/>
              <a:r>
                <a:rPr lang="en-US" sz="1100" dirty="0" err="1">
                  <a:latin typeface="Georgia" panose="02040502050405020303" pitchFamily="18" charset="0"/>
                </a:rPr>
                <a:t>Mediana</a:t>
              </a:r>
              <a:r>
                <a:rPr lang="en-US" sz="1100" dirty="0">
                  <a:latin typeface="Georgia" panose="02040502050405020303" pitchFamily="18" charset="0"/>
                </a:rPr>
                <a:t>: 250 €</a:t>
              </a:r>
            </a:p>
            <a:p>
              <a:pPr algn="ctr"/>
              <a:r>
                <a:rPr lang="en-US" sz="1050" dirty="0">
                  <a:latin typeface="Georgia" panose="02040502050405020303" pitchFamily="18" charset="0"/>
                </a:rPr>
                <a:t>entre 150 y 420 €</a:t>
              </a:r>
              <a:endParaRPr lang="en-GB" sz="1050" dirty="0">
                <a:latin typeface="Georgia" panose="02040502050405020303" pitchFamily="18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E45D908-B49B-461B-99FA-149990949017}"/>
                </a:ext>
              </a:extLst>
            </p:cNvPr>
            <p:cNvGrpSpPr/>
            <p:nvPr/>
          </p:nvGrpSpPr>
          <p:grpSpPr>
            <a:xfrm>
              <a:off x="1885806" y="2569216"/>
              <a:ext cx="195542" cy="2128817"/>
              <a:chOff x="1885806" y="2569216"/>
              <a:chExt cx="195542" cy="2128817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9DDD94C-4E36-4749-8383-AB40635E5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950" y="3278822"/>
                <a:ext cx="19539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D96B564-551A-4C7E-A09E-2DEEE8D69B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950" y="2569216"/>
                <a:ext cx="194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6B8AE80-9B90-4E85-80F1-B77C84393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950" y="3988428"/>
                <a:ext cx="194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6DF3F3C-E5FC-446D-AABA-6D46DEF39A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950" y="4698033"/>
                <a:ext cx="194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7141BD1-5212-4BD8-8102-B7F14C14DC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5806" y="2569217"/>
                <a:ext cx="0" cy="21288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</a:t>
            </a:r>
            <a:endParaRPr lang="en-US" sz="3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F7E8B0-2FA4-4A30-A417-C547003D4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01" y="1234440"/>
            <a:ext cx="3240000" cy="19229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79089A-19F4-48E1-B132-072C3C31C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520" y="1234440"/>
            <a:ext cx="3240000" cy="19229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D7ED8D-C744-49D5-8632-B0697446D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01" y="3157367"/>
            <a:ext cx="3240000" cy="19229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815E3B-20BD-42E4-BD95-ABC0BDCBD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520" y="3157366"/>
            <a:ext cx="3240000" cy="1922927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88ACA488-55F8-43C0-B615-D2394A19E69B}"/>
              </a:ext>
            </a:extLst>
          </p:cNvPr>
          <p:cNvGrpSpPr/>
          <p:nvPr/>
        </p:nvGrpSpPr>
        <p:grpSpPr>
          <a:xfrm>
            <a:off x="407205" y="1362775"/>
            <a:ext cx="2868115" cy="1412109"/>
            <a:chOff x="407205" y="1362775"/>
            <a:chExt cx="2868115" cy="141210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A2B6DFD-87B2-405A-BC63-4375E6B69317}"/>
                </a:ext>
              </a:extLst>
            </p:cNvPr>
            <p:cNvSpPr/>
            <p:nvPr/>
          </p:nvSpPr>
          <p:spPr>
            <a:xfrm>
              <a:off x="407205" y="1362775"/>
              <a:ext cx="1619794" cy="594360"/>
            </a:xfrm>
            <a:prstGeom prst="rect">
              <a:avLst/>
            </a:prstGeom>
            <a:solidFill>
              <a:srgbClr val="C0392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Mallorca: 1694 €</a:t>
              </a:r>
            </a:p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Menorca: 1650 €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494685-2B42-4BB3-9058-714EEAA53BD8}"/>
                </a:ext>
              </a:extLst>
            </p:cNvPr>
            <p:cNvSpPr/>
            <p:nvPr/>
          </p:nvSpPr>
          <p:spPr>
            <a:xfrm>
              <a:off x="1655526" y="2049250"/>
              <a:ext cx="1619794" cy="725634"/>
            </a:xfrm>
            <a:prstGeom prst="rect">
              <a:avLst/>
            </a:prstGeom>
            <a:solidFill>
              <a:srgbClr val="27AE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ctr"/>
            <a:lstStyle/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Sevilla: 1033 €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Madrid: 938 €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Malaga: 815 €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Valencia: 794 €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C2996B0-6519-45AA-9F9C-45B2E4D3812E}"/>
              </a:ext>
            </a:extLst>
          </p:cNvPr>
          <p:cNvGrpSpPr/>
          <p:nvPr/>
        </p:nvGrpSpPr>
        <p:grpSpPr>
          <a:xfrm>
            <a:off x="372530" y="3282746"/>
            <a:ext cx="2902790" cy="1404615"/>
            <a:chOff x="372530" y="3282746"/>
            <a:chExt cx="2902790" cy="140461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0280357-6C64-4B46-A8F3-3539EF8A236B}"/>
                </a:ext>
              </a:extLst>
            </p:cNvPr>
            <p:cNvSpPr/>
            <p:nvPr/>
          </p:nvSpPr>
          <p:spPr>
            <a:xfrm>
              <a:off x="372530" y="3282746"/>
              <a:ext cx="1619794" cy="594360"/>
            </a:xfrm>
            <a:prstGeom prst="rect">
              <a:avLst/>
            </a:prstGeom>
            <a:solidFill>
              <a:srgbClr val="C0392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Mallorca: 698 €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E3BF608-A76C-4DA2-958F-36D91606BF5D}"/>
                </a:ext>
              </a:extLst>
            </p:cNvPr>
            <p:cNvSpPr/>
            <p:nvPr/>
          </p:nvSpPr>
          <p:spPr>
            <a:xfrm>
              <a:off x="1655526" y="3961727"/>
              <a:ext cx="1619794" cy="725634"/>
            </a:xfrm>
            <a:prstGeom prst="rect">
              <a:avLst/>
            </a:prstGeom>
            <a:solidFill>
              <a:srgbClr val="27AE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ctr"/>
            <a:lstStyle/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Barcelona: 455 €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Madrid: 373 €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Malaga: 357 €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Valencia: 339 €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39FAADC-95C2-4D45-B912-527EFF0A189B}"/>
              </a:ext>
            </a:extLst>
          </p:cNvPr>
          <p:cNvSpPr/>
          <p:nvPr/>
        </p:nvSpPr>
        <p:spPr>
          <a:xfrm>
            <a:off x="3778264" y="3313350"/>
            <a:ext cx="1619794" cy="594360"/>
          </a:xfrm>
          <a:prstGeom prst="rect">
            <a:avLst/>
          </a:prstGeom>
          <a:solidFill>
            <a:srgbClr val="F39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Georgia" panose="02040502050405020303" pitchFamily="18" charset="0"/>
              </a:rPr>
              <a:t>Barcelona: 369 €</a:t>
            </a:r>
          </a:p>
          <a:p>
            <a:pPr algn="ctr"/>
            <a:r>
              <a:rPr lang="en-US" sz="1400" dirty="0">
                <a:latin typeface="Georgia" panose="02040502050405020303" pitchFamily="18" charset="0"/>
              </a:rPr>
              <a:t>Madrid: 313 €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E860344-B934-46FD-AF37-1DED3D316626}"/>
              </a:ext>
            </a:extLst>
          </p:cNvPr>
          <p:cNvGrpSpPr/>
          <p:nvPr/>
        </p:nvGrpSpPr>
        <p:grpSpPr>
          <a:xfrm>
            <a:off x="3778264" y="1362775"/>
            <a:ext cx="2488343" cy="1208300"/>
            <a:chOff x="3778264" y="1362775"/>
            <a:chExt cx="2488343" cy="12083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6D7185-7991-478A-9802-48D662E6604E}"/>
                </a:ext>
              </a:extLst>
            </p:cNvPr>
            <p:cNvSpPr/>
            <p:nvPr/>
          </p:nvSpPr>
          <p:spPr>
            <a:xfrm>
              <a:off x="3778264" y="1362775"/>
              <a:ext cx="1619794" cy="594360"/>
            </a:xfrm>
            <a:prstGeom prst="rect">
              <a:avLst/>
            </a:prstGeom>
            <a:solidFill>
              <a:srgbClr val="C0392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Barcelona: 1444 €</a:t>
              </a:r>
            </a:p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Mallorca: 1410 €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1967826-B5F8-41F3-9DFC-420DB15247DE}"/>
                </a:ext>
              </a:extLst>
            </p:cNvPr>
            <p:cNvSpPr/>
            <p:nvPr/>
          </p:nvSpPr>
          <p:spPr>
            <a:xfrm>
              <a:off x="5051938" y="2125370"/>
              <a:ext cx="1214669" cy="445705"/>
            </a:xfrm>
            <a:prstGeom prst="rect">
              <a:avLst/>
            </a:prstGeom>
            <a:solidFill>
              <a:srgbClr val="F39C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Georgia" panose="02040502050405020303" pitchFamily="18" charset="0"/>
                </a:rPr>
                <a:t>Sevilla: 919 €</a:t>
              </a:r>
              <a:endParaRPr lang="en-US" sz="1400" dirty="0">
                <a:latin typeface="Georgia" panose="02040502050405020303" pitchFamily="18" charset="0"/>
              </a:endParaRP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27667005-1190-456D-B576-364D0F35C3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9080" y="274320"/>
            <a:ext cx="3178220" cy="4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1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</a:t>
            </a:r>
            <a:endParaRPr lang="en-US" sz="3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A3D1D0-67CF-4556-A9E5-FB85974EE474}"/>
              </a:ext>
            </a:extLst>
          </p:cNvPr>
          <p:cNvGrpSpPr/>
          <p:nvPr/>
        </p:nvGrpSpPr>
        <p:grpSpPr>
          <a:xfrm>
            <a:off x="365760" y="1318259"/>
            <a:ext cx="1905000" cy="2118360"/>
            <a:chOff x="3246120" y="1828800"/>
            <a:chExt cx="2651760" cy="3017520"/>
          </a:xfrm>
        </p:grpSpPr>
        <p:sp>
          <p:nvSpPr>
            <p:cNvPr id="8" name="Shape 6"/>
            <p:cNvSpPr/>
            <p:nvPr/>
          </p:nvSpPr>
          <p:spPr>
            <a:xfrm>
              <a:off x="3246120" y="1828800"/>
              <a:ext cx="2651760" cy="301752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2E86AB"/>
              </a:solidFill>
              <a:prstDash val="dash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 7"/>
            <p:cNvSpPr/>
            <p:nvPr/>
          </p:nvSpPr>
          <p:spPr>
            <a:xfrm>
              <a:off x="3429000" y="201168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2E86AB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PERFIL DE ALOJAMIENTO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429000" y="2377440"/>
              <a:ext cx="2286000" cy="228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accomodates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,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bedrooms,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bathrooms,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beds,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availability_90,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availability_365,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reviews per month,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number of reviews,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is_instant_bookable</a:t>
              </a:r>
              <a:endParaRPr lang="en-US" sz="11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04494E-1F26-4566-9B92-DD2E3911FF76}"/>
              </a:ext>
            </a:extLst>
          </p:cNvPr>
          <p:cNvGrpSpPr/>
          <p:nvPr/>
        </p:nvGrpSpPr>
        <p:grpSpPr>
          <a:xfrm>
            <a:off x="6762680" y="1318259"/>
            <a:ext cx="1905000" cy="1253491"/>
            <a:chOff x="3246120" y="1828800"/>
            <a:chExt cx="2651760" cy="1785548"/>
          </a:xfrm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69F170A4-0EDF-45B8-B533-156ABD7654C7}"/>
                </a:ext>
              </a:extLst>
            </p:cNvPr>
            <p:cNvSpPr/>
            <p:nvPr/>
          </p:nvSpPr>
          <p:spPr>
            <a:xfrm>
              <a:off x="3246120" y="1828800"/>
              <a:ext cx="2651760" cy="1785547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2E86AB"/>
              </a:solidFill>
              <a:prstDash val="dash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8B855F86-1633-40EC-9845-BF6A9FB47DB7}"/>
                </a:ext>
              </a:extLst>
            </p:cNvPr>
            <p:cNvSpPr/>
            <p:nvPr/>
          </p:nvSpPr>
          <p:spPr>
            <a:xfrm>
              <a:off x="3293853" y="2011679"/>
              <a:ext cx="255629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2E86AB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ESTACIONALIDAD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D44257D9-1733-4D27-AE65-F3F5EA892DE1}"/>
                </a:ext>
              </a:extLst>
            </p:cNvPr>
            <p:cNvSpPr/>
            <p:nvPr/>
          </p:nvSpPr>
          <p:spPr>
            <a:xfrm>
              <a:off x="3429000" y="2377441"/>
              <a:ext cx="2285999" cy="1236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0" dirty="0">
                  <a:effectLst/>
                  <a:latin typeface="Georgia" panose="02040502050405020303" pitchFamily="18" charset="0"/>
                </a:rPr>
                <a:t>proxy:</a:t>
              </a:r>
            </a:p>
            <a:p>
              <a:endParaRPr lang="en-US" sz="1100" b="0" dirty="0">
                <a:effectLst/>
                <a:latin typeface="Georgia" panose="02040502050405020303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first_review_date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insert_date</a:t>
              </a:r>
              <a:endParaRPr lang="en-US" sz="1100" b="0" dirty="0">
                <a:effectLst/>
                <a:latin typeface="Georgia" panose="02040502050405020303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D8C5E4-55F0-4E56-85CA-C46B03AFE983}"/>
              </a:ext>
            </a:extLst>
          </p:cNvPr>
          <p:cNvGrpSpPr/>
          <p:nvPr/>
        </p:nvGrpSpPr>
        <p:grpSpPr>
          <a:xfrm>
            <a:off x="2499359" y="1318259"/>
            <a:ext cx="1905000" cy="1633947"/>
            <a:chOff x="3246120" y="1828800"/>
            <a:chExt cx="2651760" cy="1785548"/>
          </a:xfrm>
        </p:grpSpPr>
        <p:sp>
          <p:nvSpPr>
            <p:cNvPr id="24" name="Shape 6">
              <a:extLst>
                <a:ext uri="{FF2B5EF4-FFF2-40B4-BE49-F238E27FC236}">
                  <a16:creationId xmlns:a16="http://schemas.microsoft.com/office/drawing/2014/main" id="{018E260F-FD4E-4521-B1C6-7FF05511ECD9}"/>
                </a:ext>
              </a:extLst>
            </p:cNvPr>
            <p:cNvSpPr/>
            <p:nvPr/>
          </p:nvSpPr>
          <p:spPr>
            <a:xfrm>
              <a:off x="3246120" y="1828800"/>
              <a:ext cx="2651760" cy="1785547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2E86AB"/>
              </a:solidFill>
              <a:prstDash val="dash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00C7E105-62E9-4E7D-938D-7A2AE0878BD9}"/>
                </a:ext>
              </a:extLst>
            </p:cNvPr>
            <p:cNvSpPr/>
            <p:nvPr/>
          </p:nvSpPr>
          <p:spPr>
            <a:xfrm>
              <a:off x="3293853" y="1965660"/>
              <a:ext cx="2556295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2E86AB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DISPONIBILIDAD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E3CEB4B0-A76A-4DFA-AF5A-D6EC9582E0A7}"/>
                </a:ext>
              </a:extLst>
            </p:cNvPr>
            <p:cNvSpPr/>
            <p:nvPr/>
          </p:nvSpPr>
          <p:spPr>
            <a:xfrm>
              <a:off x="3429000" y="2377441"/>
              <a:ext cx="2285999" cy="1236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Georgia" panose="02040502050405020303" pitchFamily="18" charset="0"/>
                </a:rPr>
                <a:t>a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vailability_30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Georgia" panose="02040502050405020303" pitchFamily="18" charset="0"/>
                </a:rPr>
                <a:t>availability_60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Georgia" panose="02040502050405020303" pitchFamily="18" charset="0"/>
                </a:rPr>
                <a:t>availability_90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Georgia" panose="02040502050405020303" pitchFamily="18" charset="0"/>
                </a:rPr>
                <a:t>availability_365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insert_date</a:t>
              </a:r>
              <a:endParaRPr lang="en-US" sz="11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D8B81C9-AA7B-4C1B-AF0C-95F0D3195380}"/>
              </a:ext>
            </a:extLst>
          </p:cNvPr>
          <p:cNvGrpSpPr/>
          <p:nvPr/>
        </p:nvGrpSpPr>
        <p:grpSpPr>
          <a:xfrm>
            <a:off x="4632957" y="1318259"/>
            <a:ext cx="1905000" cy="1911469"/>
            <a:chOff x="3246120" y="1828800"/>
            <a:chExt cx="2651760" cy="3017520"/>
          </a:xfrm>
        </p:grpSpPr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A19DF887-A8DE-41B6-B70D-7D860E1FA0C6}"/>
                </a:ext>
              </a:extLst>
            </p:cNvPr>
            <p:cNvSpPr/>
            <p:nvPr/>
          </p:nvSpPr>
          <p:spPr>
            <a:xfrm>
              <a:off x="3246120" y="1828800"/>
              <a:ext cx="2651760" cy="301752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2E86AB"/>
              </a:solidFill>
              <a:prstDash val="dash"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EC7905A5-690F-4B7A-B54C-324C4A5E3A3A}"/>
                </a:ext>
              </a:extLst>
            </p:cNvPr>
            <p:cNvSpPr/>
            <p:nvPr/>
          </p:nvSpPr>
          <p:spPr>
            <a:xfrm>
              <a:off x="3429000" y="201168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2E86AB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SEGMENTACIÓN GEOGRÁFICA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DBABECBC-E83E-47C8-8AA2-814EB370427D}"/>
                </a:ext>
              </a:extLst>
            </p:cNvPr>
            <p:cNvSpPr/>
            <p:nvPr/>
          </p:nvSpPr>
          <p:spPr>
            <a:xfrm>
              <a:off x="3429000" y="2377440"/>
              <a:ext cx="2286000" cy="228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city,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err="1">
                  <a:latin typeface="Georgia" panose="02040502050405020303" pitchFamily="18" charset="0"/>
                </a:rPr>
                <a:t>n</a:t>
              </a: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eighbourhood_name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neighbourhood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 _district,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distance between the cities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333BD17-BE67-4913-B734-B7574E333AFA}"/>
              </a:ext>
            </a:extLst>
          </p:cNvPr>
          <p:cNvGrpSpPr/>
          <p:nvPr/>
        </p:nvGrpSpPr>
        <p:grpSpPr>
          <a:xfrm>
            <a:off x="5061855" y="3694066"/>
            <a:ext cx="2011680" cy="914400"/>
            <a:chOff x="1542602" y="3665316"/>
            <a:chExt cx="2011680" cy="914400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102E0F78-B001-4EC0-8087-74E61E183D8E}"/>
                </a:ext>
              </a:extLst>
            </p:cNvPr>
            <p:cNvSpPr/>
            <p:nvPr/>
          </p:nvSpPr>
          <p:spPr>
            <a:xfrm>
              <a:off x="1542602" y="3665316"/>
              <a:ext cx="54864" cy="914400"/>
            </a:xfrm>
            <a:prstGeom prst="rect">
              <a:avLst/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Text 4">
              <a:extLst>
                <a:ext uri="{FF2B5EF4-FFF2-40B4-BE49-F238E27FC236}">
                  <a16:creationId xmlns:a16="http://schemas.microsoft.com/office/drawing/2014/main" id="{412F740A-09DE-4AE5-B1D4-45B8A473F18D}"/>
                </a:ext>
              </a:extLst>
            </p:cNvPr>
            <p:cNvSpPr/>
            <p:nvPr/>
          </p:nvSpPr>
          <p:spPr>
            <a:xfrm>
              <a:off x="1707194" y="3939636"/>
              <a:ext cx="184708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Sistema de </a:t>
              </a:r>
              <a:r>
                <a:rPr lang="en-US" sz="2100" b="1" dirty="0" err="1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valoración</a:t>
              </a:r>
              <a:r>
                <a:rPr lang="en-US" sz="21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endParaRPr lang="en-US" sz="21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18486F-DC4C-444D-8369-7C6B524693D2}"/>
              </a:ext>
            </a:extLst>
          </p:cNvPr>
          <p:cNvGrpSpPr/>
          <p:nvPr/>
        </p:nvGrpSpPr>
        <p:grpSpPr>
          <a:xfrm>
            <a:off x="2446018" y="3694066"/>
            <a:ext cx="2011680" cy="914400"/>
            <a:chOff x="1542602" y="3665316"/>
            <a:chExt cx="2011680" cy="914400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790304EE-D66D-4CDB-837B-E593DFE66356}"/>
                </a:ext>
              </a:extLst>
            </p:cNvPr>
            <p:cNvSpPr/>
            <p:nvPr/>
          </p:nvSpPr>
          <p:spPr>
            <a:xfrm>
              <a:off x="1542602" y="3665316"/>
              <a:ext cx="54864" cy="914400"/>
            </a:xfrm>
            <a:prstGeom prst="rect">
              <a:avLst/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2C5EC044-B8E3-4DC3-A28E-09D92007ECE0}"/>
                </a:ext>
              </a:extLst>
            </p:cNvPr>
            <p:cNvSpPr/>
            <p:nvPr/>
          </p:nvSpPr>
          <p:spPr>
            <a:xfrm>
              <a:off x="1707194" y="3939636"/>
              <a:ext cx="184708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Sistema de </a:t>
              </a:r>
              <a:r>
                <a:rPr lang="en-US" sz="2100" b="1" dirty="0" err="1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clasificación</a:t>
              </a:r>
              <a:r>
                <a:rPr lang="en-US" sz="21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endParaRPr lang="en-US" sz="21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 y respuesta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6945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0877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negocio: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disponibilidad media de los alojamientos en los diferentes horizontes (30, 60, 90 y 365 días) en cada ciudad?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180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media (días libres en el calendario) varía entre </a:t>
            </a:r>
            <a:r>
              <a:rPr lang="en-US" sz="1050" b="1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</a:t>
            </a: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Madrid y </a:t>
            </a:r>
            <a:r>
              <a:rPr lang="en-US" sz="1050" b="1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</a:t>
            </a: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Mallorca a 365 días.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21792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GLOBAL · 30d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59 %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puntos bajo objetivo (70 %)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87752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52344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MÁS TENSO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52344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Madrid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52344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 libres a 30d · mediana 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18304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82896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HOLGADO · 365d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82896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Mallorca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2896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 libres anuales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48856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013448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ANALIZADO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13448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6.733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13448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alojamientos únicos · 8 ciudades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8068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ciudad y horizonte (días libres en el calendario)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92540"/>
              </p:ext>
            </p:extLst>
          </p:nvPr>
        </p:nvGraphicFramePr>
        <p:xfrm>
          <a:off x="914400" y="3035412"/>
          <a:ext cx="7315200" cy="20040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Mallorca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Sevilla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por segmento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del inventario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alojamiento · 6.733 anuncios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4114800" cy="1280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Anuncios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home/apt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98,8 %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inventario se concentra en los dos primeros segmentos. Las decisiones operativas deben centrarse en ellos.</a:t>
            </a:r>
            <a:endParaRPr lang="en-US" sz="1000" dirty="0"/>
          </a:p>
        </p:txBody>
      </p:sp>
      <p:sp>
        <p:nvSpPr>
          <p:cNvPr id="6" name="Shape 5"/>
          <p:cNvSpPr/>
          <p:nvPr/>
        </p:nvSpPr>
        <p:spPr>
          <a:xfrm>
            <a:off x="457200" y="3749040"/>
            <a:ext cx="411480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RELEVANTE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4069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mercados tensos (Madrid, Barcelona),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actúa como válvula de demanda: está </a:t>
            </a: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ocupado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(Madrid a 365d: 143,6 vs 173,2 días libres).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por segmento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1481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vs. Private room por ciudad — el patrón se mantiene en ambos horizontes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17556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 días (corto plazo)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1899625347"/>
              </p:ext>
            </p:extLst>
          </p:nvPr>
        </p:nvGraphicFramePr>
        <p:xfrm>
          <a:off x="4754880" y="2011680"/>
          <a:ext cx="4114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1"/>
          <p:cNvSpPr/>
          <p:nvPr/>
        </p:nvSpPr>
        <p:spPr>
          <a:xfrm>
            <a:off x="475488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365 días (largo plazo)</a:t>
            </a:r>
            <a:endParaRPr lang="en-US" sz="1000" dirty="0"/>
          </a:p>
        </p:txBody>
      </p:sp>
      <p:graphicFrame>
        <p:nvGraphicFramePr>
          <p:cNvPr id="16" name="Chart 1"/>
          <p:cNvGraphicFramePr/>
          <p:nvPr>
            <p:extLst>
              <p:ext uri="{D42A27DB-BD31-4B8C-83A1-F6EECF244321}">
                <p14:modId xmlns:p14="http://schemas.microsoft.com/office/powerpoint/2010/main" val="3596299434"/>
              </p:ext>
            </p:extLst>
          </p:nvPr>
        </p:nvGraphicFramePr>
        <p:xfrm>
          <a:off x="4754880" y="3730752"/>
          <a:ext cx="4114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Propuestas para la directora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acciones operativas para cerrar la brecha de ocupación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777240" cy="24688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19456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inventario en mercados tensos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presenta 10,4 días libres a 30d (mediana 7) y Barcelona 11,1 (mediana 8). Demanda no satisfecha en zonas urbanas.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+ Marketing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291840" y="16002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52044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5029200" y="1874520"/>
            <a:ext cx="777240" cy="2468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Reactivación operativa del inventario estacional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Mallorca, Málaga, Sevilla y Girona superan los 195-215 días libres anuales en Entire home/apt. Calendarios poco gestionados fuera de temporada.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2044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anfitrión + Contenidos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126480" y="16002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5508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7863840" y="1874520"/>
            <a:ext cx="777240" cy="2468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86384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5508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diferenciadas según composición del inventario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508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71% es Entire home/apt y el 28% Private room. Estos dos segmentos requieren acompañamiento distinto, especialmente en mercados tensos.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 Contenidos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38912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IT/Sistemas: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tabla de reservas reales (distinguir ocupación de bloqueos) · datos longitudinales para estacionalidad · métricas de actividad del anfitrión.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Reflexiones conjuntas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TRANSVERSALES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cartera presenta una clara dualidad: mercados urbanos tensos vs. destinos estacionales holgados.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inventario se concentra en dos tipologías (Entire 71% y Private 28%): las decisiones operativas deben centrarse en estos segmentos.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análisis de inventario gana solidez al integrarse con los datos de demanda y precio del perfil comercial.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204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ANÁLISIS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dataset es una fotografía estática (insert_date): no permite estudiar estacionalidad ni evolución temporal real.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Disponibilidad ≠ ocupación real: un día "no disponible" puede ser una reserva o un bloqueo voluntario del anfitrión.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Tamaños muestrales desiguales por ciudad (Menorca, Valencia, Málaga con poco volumen).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5508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IT/Sistemas: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Acceso a la tabla de reservas reales (distinguir ocupación de bloqueos).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Datos longitudinales (varias capturas en el tiempo) para estacionalidad.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Métricas de actividad del anfitrión (frecuencia de edición del calendario, tasa de respuesta).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Reflexiones conjuntas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60426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55154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HALLAZGOS TRANSVERSALES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978374"/>
            <a:ext cx="2240280" cy="2890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La cartera presenta una clara </a:t>
            </a:r>
            <a:r>
              <a:rPr lang="en-U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dualidad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: mercados urbanos tensos vs. destinos estacionales holgados.</a:t>
            </a:r>
            <a:endParaRPr lang="en-US" sz="1050" dirty="0">
              <a:latin typeface="Georgia" panose="02040502050405020303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 Existe inventario potencialmente </a:t>
            </a:r>
            <a:r>
              <a:rPr lang="en-U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inactivo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que infla la oferta sin convertir.</a:t>
            </a:r>
            <a:endParaRPr lang="en-US" sz="1050" dirty="0">
              <a:latin typeface="Georgia" panose="02040502050405020303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 Las </a:t>
            </a:r>
            <a:r>
              <a:rPr lang="en-U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decisiones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de precio y de inventario deben tomarse de </a:t>
            </a:r>
            <a:r>
              <a:rPr lang="en-U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forma coordinada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: oferta y demanda son dos caras de la misma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cartera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El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tipo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alojamiento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el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número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huéspedes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el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número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camas, los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cuartos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baño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los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dormitorios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y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el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nivel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ocupación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anual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son los </a:t>
            </a:r>
            <a:r>
              <a:rPr kumimoji="0" lang="en-US" altLang="en-US" sz="105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factores</a:t>
            </a:r>
            <a:r>
              <a:rPr kumimoji="0" lang="en-US" altLang="en-US" sz="105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que </a:t>
            </a:r>
            <a:r>
              <a:rPr kumimoji="0" lang="en-US" altLang="en-US" sz="105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más</a:t>
            </a:r>
            <a:r>
              <a:rPr kumimoji="0" lang="en-US" altLang="en-US" sz="105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105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influyen</a:t>
            </a:r>
            <a:r>
              <a:rPr kumimoji="0" lang="en-US" altLang="en-US" sz="105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la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fijación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</a:t>
            </a:r>
            <a:r>
              <a:rPr kumimoji="0" lang="en-US" altLang="en-US" sz="105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precios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y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permiten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la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segmentación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97480" cy="360426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20440" y="155154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LIMITACIONES DEL ANÁLISIS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0440" y="1978374"/>
            <a:ext cx="224028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•  El dataset es my </a:t>
            </a:r>
            <a:r>
              <a:rPr lang="en-US" sz="1050" b="1" i="1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sesgado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por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parametro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‘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insert_date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’: es una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fotografía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estática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que no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estudiar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estacionalidad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evolución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temporal real.</a:t>
            </a:r>
            <a:endParaRPr lang="en-US" sz="1050" dirty="0">
              <a:latin typeface="Georgia" panose="02040502050405020303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 </a:t>
            </a:r>
            <a:r>
              <a:rPr lang="en-US" sz="1050" b="1" i="1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Disponibilidad</a:t>
            </a:r>
            <a:r>
              <a:rPr lang="en-U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≠ </a:t>
            </a:r>
            <a:r>
              <a:rPr lang="en-US" sz="1050" b="1" i="1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ocupación</a:t>
            </a:r>
            <a:r>
              <a:rPr lang="en-U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real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: un día "no disponible"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ser una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reserva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o un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bloqueo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voluntario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>
              <a:latin typeface="Georgia" panose="02040502050405020303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s-E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La aplicación de herramientas estadísticas es </a:t>
            </a:r>
            <a:r>
              <a:rPr lang="es-E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limitada</a:t>
            </a:r>
            <a:r>
              <a:rPr lang="es-E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debido a la </a:t>
            </a:r>
            <a:r>
              <a:rPr lang="es-E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distribución asimétrica</a:t>
            </a:r>
            <a:r>
              <a:rPr lang="es-E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de la mayoría de los parámetros numéricos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s-E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La distribución geográfica produce </a:t>
            </a:r>
            <a:r>
              <a:rPr lang="es-E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tamaños </a:t>
            </a:r>
            <a:r>
              <a:rPr lang="es-E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 muestra </a:t>
            </a:r>
            <a:r>
              <a:rPr lang="es-ES" sz="1050" b="1" i="1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desiguales</a:t>
            </a:r>
            <a:r>
              <a:rPr lang="es-E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en todo el mercado y no considera el efecto de vecindad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97480" cy="360426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55080" y="155154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5080" y="1978374"/>
            <a:ext cx="224028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u="sng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Solicitar a IT/Sistemas:</a:t>
            </a:r>
            <a:endParaRPr lang="en-US" sz="1050" u="sng" dirty="0">
              <a:latin typeface="Georgia" panose="02040502050405020303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 Acceso a la tabla de reservas reales (distinguir ocupación de bloqueos).</a:t>
            </a:r>
            <a:endParaRPr lang="en-US" sz="1050" dirty="0">
              <a:latin typeface="Georgia" panose="02040502050405020303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 Datos longitudinales (varias capturas en el tiempo) para estacionalidad.</a:t>
            </a:r>
            <a:endParaRPr lang="en-US" sz="1050" dirty="0">
              <a:latin typeface="Georgia" panose="02040502050405020303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 Métricas de actividad del anfitrión para identificar inventario activo vs. </a:t>
            </a:r>
            <a:r>
              <a:rPr lang="en-US" sz="1050" dirty="0" err="1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fantasma</a:t>
            </a: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050" u="sng" dirty="0">
                <a:latin typeface="Georgia" panose="02040502050405020303" pitchFamily="18" charset="0"/>
              </a:rPr>
              <a:t>Realizar un análisis de segmentación: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E</a:t>
            </a:r>
            <a:r>
              <a:rPr lang="es-ES" sz="1050" dirty="0">
                <a:latin typeface="Georgia" panose="02040502050405020303" pitchFamily="18" charset="0"/>
              </a:rPr>
              <a:t>laborar un perfil detallado de la oferta de alojamiento para cada tipo en cada ubicación, utilizando los parámetros más significativos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s-ES" sz="1050" dirty="0">
                <a:latin typeface="Georgia" panose="02040502050405020303" pitchFamily="18" charset="0"/>
              </a:rPr>
              <a:t>Crear una sistema de </a:t>
            </a:r>
            <a:r>
              <a:rPr lang="es-ES" sz="1050" dirty="0" err="1">
                <a:latin typeface="Georgia" panose="02040502050405020303" pitchFamily="18" charset="0"/>
              </a:rPr>
              <a:t>de</a:t>
            </a:r>
            <a:r>
              <a:rPr lang="es-ES" sz="1050" dirty="0">
                <a:latin typeface="Georgia" panose="02040502050405020303" pitchFamily="18" charset="0"/>
              </a:rPr>
              <a:t> clasificación de alojamientos y de propuesta de precios</a:t>
            </a:r>
            <a:endParaRPr lang="en-US" sz="10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29 · Departamento de Analistas de Datos · StaySpain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1440</Words>
  <Application>Microsoft Office PowerPoint</Application>
  <PresentationFormat>On-screen Show (16:9)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StaySpain · Análisis Operacional</dc:title>
  <dc:subject>PptxGenJS Presentation</dc:subject>
  <dc:creator>Equip 29</dc:creator>
  <cp:lastModifiedBy>JobComp</cp:lastModifiedBy>
  <cp:revision>5</cp:revision>
  <dcterms:created xsi:type="dcterms:W3CDTF">2026-05-31T10:25:18Z</dcterms:created>
  <dcterms:modified xsi:type="dcterms:W3CDTF">2026-05-31T20:20:02Z</dcterms:modified>
</cp:coreProperties>
</file>