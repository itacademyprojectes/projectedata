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81" r:id="rId3"/>
    <p:sldId id="257" r:id="rId4"/>
    <p:sldId id="271" r:id="rId5"/>
    <p:sldId id="272" r:id="rId6"/>
    <p:sldId id="274" r:id="rId7"/>
    <p:sldId id="275" r:id="rId8"/>
    <p:sldId id="258" r:id="rId9"/>
    <p:sldId id="259" r:id="rId10"/>
    <p:sldId id="260" r:id="rId11"/>
    <p:sldId id="276" r:id="rId12"/>
    <p:sldId id="280" r:id="rId13"/>
    <p:sldId id="277" r:id="rId14"/>
    <p:sldId id="278" r:id="rId15"/>
    <p:sldId id="279" r:id="rId16"/>
    <p:sldId id="266" r:id="rId17"/>
    <p:sldId id="265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46" autoAdjust="0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9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970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91CCA-3FA2-3CFF-4760-EEAA2C83B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8DD48-4553-79A6-526C-BEEBA4A28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ED563-8AB6-B578-8FDA-00A7E5D38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3E66C-FDEF-B37E-146F-4C3A084183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4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C7623-FACD-0C2C-9D37-0210C4CD4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AA0A6-D1D1-77B2-D063-110ED3428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9E451-D0D6-9619-2C31-5882DA91E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6662F-AB01-7689-AC4F-F84D4B296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7521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49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StaySpain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inventario de alojamientos turísticos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3108960"/>
            <a:ext cx="6400800" cy="1280160"/>
          </a:xfrm>
          <a:prstGeom prst="rect">
            <a:avLst/>
          </a:prstGeom>
          <a:solidFill>
            <a:srgbClr val="26487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ANALISTAS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71600" y="35204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Alexei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Levitchi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Vanessa Plaza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Soldevilla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</a:t>
            </a:r>
            <a:endParaRPr lang="en-US" sz="11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9896478-069A-128A-C109-AD3AD049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4" t="25211" r="17962" b="35260"/>
          <a:stretch>
            <a:fillRect/>
          </a:stretch>
        </p:blipFill>
        <p:spPr>
          <a:xfrm>
            <a:off x="2663688" y="1188720"/>
            <a:ext cx="3806686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3771" cy="92583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Text 1"/>
          <p:cNvSpPr/>
          <p:nvPr/>
        </p:nvSpPr>
        <p:spPr>
          <a:xfrm>
            <a:off x="377190" y="137160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3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</a:t>
            </a:r>
            <a:r>
              <a:rPr lang="en-US" sz="2325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Evolución de KPIs</a:t>
            </a:r>
            <a:endParaRPr lang="en-US" sz="23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390906" y="569214"/>
            <a:ext cx="6377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75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creció +14% y la ocupación se mantuvo estable: la cartera absorbió 960 anuncios nuevos sin perder rendimiento.</a:t>
            </a:r>
            <a:endParaRPr lang="en-US" sz="9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60870" y="294894"/>
            <a:ext cx="1817370" cy="411480"/>
          </a:xfrm>
          <a:prstGeom prst="roundRect">
            <a:avLst>
              <a:gd name="adj" fmla="val 50000"/>
            </a:avLst>
          </a:prstGeom>
          <a:solidFill>
            <a:srgbClr val="1B3A5B"/>
          </a:solidFill>
          <a:ln w="15875">
            <a:solidFill>
              <a:srgbClr val="C890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60870" y="294894"/>
            <a:ext cx="181737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75" b="1" dirty="0">
                <a:solidFill>
                  <a:srgbClr val="9FB4CC"/>
                </a:solidFill>
                <a:latin typeface="Calibri" panose="020F0502020204030204"/>
              </a:rPr>
              <a:t>MAYO</a:t>
            </a:r>
            <a:r>
              <a:rPr lang="en-US" sz="975" b="1" dirty="0">
                <a:solidFill>
                  <a:srgbClr val="C8901A"/>
                </a:solidFill>
                <a:latin typeface="Calibri" panose="020F0502020204030204"/>
              </a:rPr>
              <a:t>  →  </a:t>
            </a:r>
            <a:r>
              <a:rPr lang="en-US" sz="975" b="1" dirty="0">
                <a:solidFill>
                  <a:srgbClr val="FFFFFF"/>
                </a:solidFill>
                <a:latin typeface="Calibri" panose="020F0502020204030204"/>
              </a:rPr>
              <a:t>JUNIO </a:t>
            </a:r>
            <a:r>
              <a:rPr lang="en-US" sz="975" dirty="0">
                <a:solidFill>
                  <a:srgbClr val="CADCFC"/>
                </a:solidFill>
                <a:latin typeface="Calibri" panose="020F0502020204030204"/>
              </a:rPr>
              <a:t>2026</a:t>
            </a:r>
            <a:endParaRPr lang="en-US" sz="9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7190" y="1110996"/>
            <a:ext cx="2722626" cy="1659636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A3A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77190" y="1110996"/>
            <a:ext cx="2722626" cy="493776"/>
          </a:xfrm>
          <a:prstGeom prst="roundRect">
            <a:avLst>
              <a:gd name="adj" fmla="val 13889"/>
            </a:avLst>
          </a:prstGeom>
          <a:solidFill>
            <a:srgbClr val="13315C"/>
          </a:solidFill>
          <a:ln/>
        </p:spPr>
      </p:sp>
      <p:sp>
        <p:nvSpPr>
          <p:cNvPr id="9" name="Shape 7"/>
          <p:cNvSpPr/>
          <p:nvPr/>
        </p:nvSpPr>
        <p:spPr>
          <a:xfrm>
            <a:off x="377190" y="1351026"/>
            <a:ext cx="2722626" cy="253746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0" name="Shape 8"/>
          <p:cNvSpPr/>
          <p:nvPr/>
        </p:nvSpPr>
        <p:spPr>
          <a:xfrm>
            <a:off x="555498" y="1200150"/>
            <a:ext cx="315468" cy="3154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" y="1268730"/>
            <a:ext cx="178308" cy="1783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39546" y="1124712"/>
            <a:ext cx="20711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Anuncios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82930" y="1741932"/>
            <a:ext cx="23111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9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 </a:t>
            </a:r>
            <a:r>
              <a:rPr lang="en-US" sz="1125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6.733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62356" y="1933956"/>
            <a:ext cx="1659636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3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7.693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125980" y="2105406"/>
            <a:ext cx="768096" cy="425196"/>
          </a:xfrm>
          <a:prstGeom prst="roundRect">
            <a:avLst>
              <a:gd name="adj" fmla="val 14516"/>
            </a:avLst>
          </a:prstGeom>
          <a:solidFill>
            <a:srgbClr val="E4F4EC"/>
          </a:solidFill>
          <a:ln w="12700">
            <a:solidFill>
              <a:srgbClr val="1E8E5A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0" y="2194560"/>
            <a:ext cx="164592" cy="16459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414016" y="2105406"/>
            <a:ext cx="44577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>
              <a:lnSpc>
                <a:spcPct val="95000"/>
              </a:lnSpc>
            </a:pPr>
            <a:r>
              <a:rPr lang="en-US" sz="975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+960</a:t>
            </a:r>
            <a:endParaRPr lang="en-US" sz="97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685800">
              <a:lnSpc>
                <a:spcPct val="95000"/>
              </a:lnSpc>
            </a:pPr>
            <a:r>
              <a:rPr lang="en-US" sz="713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+14,3%</a:t>
            </a:r>
            <a:endParaRPr lang="en-US" sz="9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284982" y="1110996"/>
            <a:ext cx="2722626" cy="1659636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A3A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284982" y="1110996"/>
            <a:ext cx="2722626" cy="493776"/>
          </a:xfrm>
          <a:prstGeom prst="roundRect">
            <a:avLst>
              <a:gd name="adj" fmla="val 13889"/>
            </a:avLst>
          </a:prstGeom>
          <a:solidFill>
            <a:srgbClr val="13315C"/>
          </a:solidFill>
          <a:ln/>
        </p:spPr>
      </p:sp>
      <p:sp>
        <p:nvSpPr>
          <p:cNvPr id="20" name="Shape 16"/>
          <p:cNvSpPr/>
          <p:nvPr/>
        </p:nvSpPr>
        <p:spPr>
          <a:xfrm>
            <a:off x="3284982" y="1351026"/>
            <a:ext cx="2722626" cy="253746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1" name="Shape 17"/>
          <p:cNvSpPr/>
          <p:nvPr/>
        </p:nvSpPr>
        <p:spPr>
          <a:xfrm>
            <a:off x="3463290" y="1200150"/>
            <a:ext cx="315468" cy="3154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870" y="1268730"/>
            <a:ext cx="178308" cy="17830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847338" y="1124712"/>
            <a:ext cx="20711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Ocupación Mensual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6432" y="1687068"/>
            <a:ext cx="1611630" cy="102184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102352" y="1762506"/>
            <a:ext cx="78867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88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78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5102352" y="1920240"/>
            <a:ext cx="7886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575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5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5081778" y="2221992"/>
            <a:ext cx="809244" cy="329184"/>
          </a:xfrm>
          <a:prstGeom prst="roundRect">
            <a:avLst>
              <a:gd name="adj" fmla="val 16667"/>
            </a:avLst>
          </a:prstGeom>
          <a:solidFill>
            <a:srgbClr val="FBF1DA"/>
          </a:solidFill>
          <a:ln w="12700">
            <a:solidFill>
              <a:srgbClr val="C8901A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5081778" y="2221992"/>
            <a:ext cx="80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00" b="1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825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−0,3 pp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192774" y="1110996"/>
            <a:ext cx="2722626" cy="1659636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A3A">
                <a:alpha val="16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192774" y="1110996"/>
            <a:ext cx="2722626" cy="493776"/>
          </a:xfrm>
          <a:prstGeom prst="roundRect">
            <a:avLst>
              <a:gd name="adj" fmla="val 13889"/>
            </a:avLst>
          </a:prstGeom>
          <a:solidFill>
            <a:srgbClr val="13315C"/>
          </a:solidFill>
          <a:ln/>
        </p:spPr>
      </p:sp>
      <p:sp>
        <p:nvSpPr>
          <p:cNvPr id="31" name="Shape 25"/>
          <p:cNvSpPr/>
          <p:nvPr/>
        </p:nvSpPr>
        <p:spPr>
          <a:xfrm>
            <a:off x="6192774" y="1351026"/>
            <a:ext cx="2722626" cy="253746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32" name="Shape 26"/>
          <p:cNvSpPr/>
          <p:nvPr/>
        </p:nvSpPr>
        <p:spPr>
          <a:xfrm>
            <a:off x="6371082" y="1200150"/>
            <a:ext cx="315468" cy="3154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9662" y="1268730"/>
            <a:ext cx="178308" cy="17830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755130" y="1124712"/>
            <a:ext cx="20711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con Mayor Ocupación</a:t>
            </a:r>
            <a:endParaRPr lang="en-US" sz="11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6329934" y="1700784"/>
            <a:ext cx="244830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3750" b="1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Madrid</a:t>
            </a:r>
            <a:endParaRPr lang="en-US" sz="3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29"/>
          <p:cNvSpPr/>
          <p:nvPr/>
        </p:nvSpPr>
        <p:spPr>
          <a:xfrm>
            <a:off x="6329934" y="2331720"/>
            <a:ext cx="24483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16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64,1%</a:t>
            </a:r>
            <a:r>
              <a:rPr lang="en-US" sz="975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ocupación</a:t>
            </a:r>
            <a:endParaRPr lang="en-US" sz="16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6329934" y="2564892"/>
            <a:ext cx="2448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825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65,3%    </a:t>
            </a:r>
            <a:r>
              <a:rPr lang="en-US" sz="825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 −1,2 pp</a:t>
            </a:r>
            <a:endParaRPr lang="en-US" sz="8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377190" y="2962656"/>
            <a:ext cx="2722626" cy="1796796"/>
          </a:xfrm>
          <a:prstGeom prst="roundRect">
            <a:avLst>
              <a:gd name="adj" fmla="val 3817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A3A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377190" y="2962656"/>
            <a:ext cx="2722626" cy="493776"/>
          </a:xfrm>
          <a:prstGeom prst="roundRect">
            <a:avLst>
              <a:gd name="adj" fmla="val 13889"/>
            </a:avLst>
          </a:prstGeom>
          <a:solidFill>
            <a:srgbClr val="13315C"/>
          </a:solidFill>
          <a:ln/>
        </p:spPr>
      </p:sp>
      <p:sp>
        <p:nvSpPr>
          <p:cNvPr id="40" name="Shape 33"/>
          <p:cNvSpPr/>
          <p:nvPr/>
        </p:nvSpPr>
        <p:spPr>
          <a:xfrm>
            <a:off x="377190" y="3202686"/>
            <a:ext cx="2722626" cy="253746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41" name="Shape 34"/>
          <p:cNvSpPr/>
          <p:nvPr/>
        </p:nvSpPr>
        <p:spPr>
          <a:xfrm>
            <a:off x="555498" y="3051810"/>
            <a:ext cx="315468" cy="3154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078" y="3120390"/>
            <a:ext cx="178308" cy="178308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939546" y="2976372"/>
            <a:ext cx="20711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Satisfacción General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4350" y="3497580"/>
            <a:ext cx="1611630" cy="1021842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2160270" y="3614166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88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78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37"/>
          <p:cNvSpPr/>
          <p:nvPr/>
        </p:nvSpPr>
        <p:spPr>
          <a:xfrm>
            <a:off x="2160270" y="37719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575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5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38"/>
          <p:cNvSpPr/>
          <p:nvPr/>
        </p:nvSpPr>
        <p:spPr>
          <a:xfrm>
            <a:off x="2146554" y="4073652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E4F4EC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48" name="Text 39"/>
          <p:cNvSpPr/>
          <p:nvPr/>
        </p:nvSpPr>
        <p:spPr>
          <a:xfrm>
            <a:off x="2146554" y="407365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13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sobre obj.</a:t>
            </a:r>
            <a:endParaRPr lang="en-US" sz="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0"/>
          <p:cNvSpPr/>
          <p:nvPr/>
        </p:nvSpPr>
        <p:spPr>
          <a:xfrm>
            <a:off x="514350" y="4498848"/>
            <a:ext cx="244830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85800"/>
            <a:r>
              <a:rPr lang="en-US" sz="7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cambios vs. mayo (92)</a:t>
            </a:r>
            <a:endParaRPr lang="en-US" sz="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1"/>
          <p:cNvSpPr/>
          <p:nvPr/>
        </p:nvSpPr>
        <p:spPr>
          <a:xfrm>
            <a:off x="3284983" y="2962656"/>
            <a:ext cx="5481599" cy="1796796"/>
          </a:xfrm>
          <a:prstGeom prst="roundRect">
            <a:avLst>
              <a:gd name="adj" fmla="val 3817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A3A">
                <a:alpha val="16000"/>
              </a:srgbClr>
            </a:outerShdw>
          </a:effectLst>
        </p:spPr>
      </p:sp>
      <p:sp>
        <p:nvSpPr>
          <p:cNvPr id="51" name="Shape 42"/>
          <p:cNvSpPr/>
          <p:nvPr/>
        </p:nvSpPr>
        <p:spPr>
          <a:xfrm>
            <a:off x="3284983" y="2962656"/>
            <a:ext cx="5481599" cy="493776"/>
          </a:xfrm>
          <a:prstGeom prst="roundRect">
            <a:avLst>
              <a:gd name="adj" fmla="val 13889"/>
            </a:avLst>
          </a:prstGeom>
          <a:solidFill>
            <a:srgbClr val="13315C"/>
          </a:solidFill>
          <a:ln/>
        </p:spPr>
      </p:sp>
      <p:sp>
        <p:nvSpPr>
          <p:cNvPr id="52" name="Shape 43"/>
          <p:cNvSpPr/>
          <p:nvPr/>
        </p:nvSpPr>
        <p:spPr>
          <a:xfrm>
            <a:off x="3284983" y="3202686"/>
            <a:ext cx="5481599" cy="253746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53" name="Shape 44"/>
          <p:cNvSpPr/>
          <p:nvPr/>
        </p:nvSpPr>
        <p:spPr>
          <a:xfrm>
            <a:off x="3463290" y="3051810"/>
            <a:ext cx="315468" cy="3154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1870" y="3120390"/>
            <a:ext cx="178308" cy="178308"/>
          </a:xfrm>
          <a:prstGeom prst="rect">
            <a:avLst/>
          </a:prstGeom>
        </p:spPr>
      </p:pic>
      <p:sp>
        <p:nvSpPr>
          <p:cNvPr id="55" name="Text 45"/>
          <p:cNvSpPr/>
          <p:nvPr/>
        </p:nvSpPr>
        <p:spPr>
          <a:xfrm>
            <a:off x="3847339" y="2976372"/>
            <a:ext cx="48300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11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Ítem con Mayor Satisfacción Promedio</a:t>
            </a:r>
            <a:endParaRPr lang="en-US" sz="116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Shape 46"/>
          <p:cNvSpPr/>
          <p:nvPr/>
        </p:nvSpPr>
        <p:spPr>
          <a:xfrm>
            <a:off x="3490722" y="3579876"/>
            <a:ext cx="2023110" cy="1028700"/>
          </a:xfrm>
          <a:prstGeom prst="roundRect">
            <a:avLst>
              <a:gd name="adj" fmla="val 6667"/>
            </a:avLst>
          </a:prstGeom>
          <a:solidFill>
            <a:srgbClr val="FBF1DA"/>
          </a:solidFill>
          <a:ln w="19050">
            <a:solidFill>
              <a:srgbClr val="C8901A"/>
            </a:solidFill>
            <a:prstDash val="solid"/>
          </a:ln>
        </p:spPr>
      </p:sp>
      <p:pic>
        <p:nvPicPr>
          <p:cNvPr id="5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1598" y="3717036"/>
            <a:ext cx="205740" cy="205740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3902202" y="3689604"/>
            <a:ext cx="15087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825" b="1" kern="0" spc="75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VALORADO</a:t>
            </a:r>
            <a:endParaRPr lang="en-US" sz="8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48"/>
          <p:cNvSpPr/>
          <p:nvPr/>
        </p:nvSpPr>
        <p:spPr>
          <a:xfrm>
            <a:off x="3641598" y="3936492"/>
            <a:ext cx="17487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025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20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49"/>
          <p:cNvSpPr/>
          <p:nvPr/>
        </p:nvSpPr>
        <p:spPr>
          <a:xfrm>
            <a:off x="3641598" y="4279392"/>
            <a:ext cx="17487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2250" b="1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96,3</a:t>
            </a:r>
            <a:r>
              <a:rPr lang="en-US" sz="975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100</a:t>
            </a: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▾ −0,1</a:t>
            </a:r>
            <a:endParaRPr lang="en-US" sz="2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Text 50"/>
          <p:cNvSpPr/>
          <p:nvPr/>
        </p:nvSpPr>
        <p:spPr>
          <a:xfrm>
            <a:off x="5753863" y="3566160"/>
            <a:ext cx="277268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825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 de ítems (junio)</a:t>
            </a:r>
            <a:endParaRPr lang="en-US" sz="82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1"/>
          <p:cNvSpPr/>
          <p:nvPr/>
        </p:nvSpPr>
        <p:spPr>
          <a:xfrm>
            <a:off x="5753862" y="3785616"/>
            <a:ext cx="78867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88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</a:t>
            </a:r>
            <a:endParaRPr lang="en-US" sz="78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Shape 52"/>
          <p:cNvSpPr/>
          <p:nvPr/>
        </p:nvSpPr>
        <p:spPr>
          <a:xfrm>
            <a:off x="6576823" y="3833622"/>
            <a:ext cx="1298219" cy="109728"/>
          </a:xfrm>
          <a:prstGeom prst="roundRect">
            <a:avLst>
              <a:gd name="adj" fmla="val 50000"/>
            </a:avLst>
          </a:prstGeom>
          <a:solidFill>
            <a:srgbClr val="E3E9EF"/>
          </a:solidFill>
          <a:ln/>
        </p:spPr>
      </p:sp>
      <p:sp>
        <p:nvSpPr>
          <p:cNvPr id="64" name="Shape 53"/>
          <p:cNvSpPr/>
          <p:nvPr/>
        </p:nvSpPr>
        <p:spPr>
          <a:xfrm>
            <a:off x="6576822" y="3833622"/>
            <a:ext cx="1106083" cy="109728"/>
          </a:xfrm>
          <a:prstGeom prst="roundRect">
            <a:avLst>
              <a:gd name="adj" fmla="val 50000"/>
            </a:avLst>
          </a:prstGeom>
          <a:solidFill>
            <a:srgbClr val="9DB4C9"/>
          </a:solidFill>
          <a:ln/>
        </p:spPr>
      </p:sp>
      <p:sp>
        <p:nvSpPr>
          <p:cNvPr id="65" name="Text 54"/>
          <p:cNvSpPr/>
          <p:nvPr/>
        </p:nvSpPr>
        <p:spPr>
          <a:xfrm>
            <a:off x="7909331" y="3785616"/>
            <a:ext cx="65151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96.26</a:t>
            </a:r>
            <a:r>
              <a:rPr lang="en-US" sz="6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▾-0.02</a:t>
            </a:r>
            <a:endParaRPr lang="en-US" sz="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55"/>
          <p:cNvSpPr/>
          <p:nvPr/>
        </p:nvSpPr>
        <p:spPr>
          <a:xfrm>
            <a:off x="5753862" y="4011930"/>
            <a:ext cx="78867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88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78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56"/>
          <p:cNvSpPr/>
          <p:nvPr/>
        </p:nvSpPr>
        <p:spPr>
          <a:xfrm>
            <a:off x="6576823" y="4059936"/>
            <a:ext cx="1298219" cy="109728"/>
          </a:xfrm>
          <a:prstGeom prst="roundRect">
            <a:avLst>
              <a:gd name="adj" fmla="val 50000"/>
            </a:avLst>
          </a:prstGeom>
          <a:solidFill>
            <a:srgbClr val="E3E9EF"/>
          </a:solidFill>
          <a:ln/>
        </p:spPr>
      </p:sp>
      <p:sp>
        <p:nvSpPr>
          <p:cNvPr id="68" name="Shape 57"/>
          <p:cNvSpPr/>
          <p:nvPr/>
        </p:nvSpPr>
        <p:spPr>
          <a:xfrm>
            <a:off x="6576822" y="4059936"/>
            <a:ext cx="856825" cy="109728"/>
          </a:xfrm>
          <a:prstGeom prst="roundRect">
            <a:avLst>
              <a:gd name="adj" fmla="val 50000"/>
            </a:avLst>
          </a:prstGeom>
          <a:solidFill>
            <a:srgbClr val="9DB4C9"/>
          </a:solidFill>
          <a:ln/>
        </p:spPr>
      </p:sp>
      <p:sp>
        <p:nvSpPr>
          <p:cNvPr id="69" name="Text 58"/>
          <p:cNvSpPr/>
          <p:nvPr/>
        </p:nvSpPr>
        <p:spPr>
          <a:xfrm>
            <a:off x="7909331" y="4011930"/>
            <a:ext cx="65151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95.30</a:t>
            </a:r>
            <a:r>
              <a:rPr lang="en-US" sz="600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▴+0.01</a:t>
            </a:r>
            <a:endParaRPr lang="en-US" sz="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59"/>
          <p:cNvSpPr/>
          <p:nvPr/>
        </p:nvSpPr>
        <p:spPr>
          <a:xfrm>
            <a:off x="5753862" y="4238244"/>
            <a:ext cx="78867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88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</a:t>
            </a:r>
            <a:endParaRPr lang="en-US" sz="78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Shape 60"/>
          <p:cNvSpPr/>
          <p:nvPr/>
        </p:nvSpPr>
        <p:spPr>
          <a:xfrm>
            <a:off x="6576823" y="4286250"/>
            <a:ext cx="1298219" cy="109728"/>
          </a:xfrm>
          <a:prstGeom prst="roundRect">
            <a:avLst>
              <a:gd name="adj" fmla="val 50000"/>
            </a:avLst>
          </a:prstGeom>
          <a:solidFill>
            <a:srgbClr val="E3E9EF"/>
          </a:solidFill>
          <a:ln/>
        </p:spPr>
      </p:sp>
      <p:sp>
        <p:nvSpPr>
          <p:cNvPr id="72" name="Shape 61"/>
          <p:cNvSpPr/>
          <p:nvPr/>
        </p:nvSpPr>
        <p:spPr>
          <a:xfrm>
            <a:off x="6576823" y="4286250"/>
            <a:ext cx="659495" cy="109728"/>
          </a:xfrm>
          <a:prstGeom prst="roundRect">
            <a:avLst>
              <a:gd name="adj" fmla="val 50000"/>
            </a:avLst>
          </a:prstGeom>
          <a:solidFill>
            <a:srgbClr val="9DB4C9"/>
          </a:solidFill>
          <a:ln/>
        </p:spPr>
      </p:sp>
      <p:sp>
        <p:nvSpPr>
          <p:cNvPr id="73" name="Text 62"/>
          <p:cNvSpPr/>
          <p:nvPr/>
        </p:nvSpPr>
        <p:spPr>
          <a:xfrm>
            <a:off x="7909331" y="4238244"/>
            <a:ext cx="65151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94.54</a:t>
            </a:r>
            <a:r>
              <a:rPr lang="en-US" sz="6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</a:t>
            </a:r>
            <a:endParaRPr lang="en-US" sz="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63"/>
          <p:cNvSpPr/>
          <p:nvPr/>
        </p:nvSpPr>
        <p:spPr>
          <a:xfrm>
            <a:off x="5753862" y="4464558"/>
            <a:ext cx="78867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88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</a:t>
            </a:r>
            <a:endParaRPr lang="en-US" sz="788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64"/>
          <p:cNvSpPr/>
          <p:nvPr/>
        </p:nvSpPr>
        <p:spPr>
          <a:xfrm>
            <a:off x="6576823" y="4512564"/>
            <a:ext cx="1298219" cy="109728"/>
          </a:xfrm>
          <a:prstGeom prst="roundRect">
            <a:avLst>
              <a:gd name="adj" fmla="val 50000"/>
            </a:avLst>
          </a:prstGeom>
          <a:solidFill>
            <a:srgbClr val="E3E9EF"/>
          </a:solidFill>
          <a:ln/>
        </p:spPr>
      </p:sp>
      <p:sp>
        <p:nvSpPr>
          <p:cNvPr id="76" name="Shape 65"/>
          <p:cNvSpPr/>
          <p:nvPr/>
        </p:nvSpPr>
        <p:spPr>
          <a:xfrm>
            <a:off x="6576823" y="4512564"/>
            <a:ext cx="285608" cy="109728"/>
          </a:xfrm>
          <a:prstGeom prst="roundRect">
            <a:avLst>
              <a:gd name="adj" fmla="val 50000"/>
            </a:avLst>
          </a:prstGeom>
          <a:solidFill>
            <a:srgbClr val="9DB4C9"/>
          </a:solidFill>
          <a:ln/>
        </p:spPr>
      </p:sp>
      <p:sp>
        <p:nvSpPr>
          <p:cNvPr id="77" name="Text 66"/>
          <p:cNvSpPr/>
          <p:nvPr/>
        </p:nvSpPr>
        <p:spPr>
          <a:xfrm>
            <a:off x="7909331" y="4464558"/>
            <a:ext cx="65151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7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93.10</a:t>
            </a:r>
            <a:r>
              <a:rPr lang="en-US" sz="6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▾-0.05</a:t>
            </a:r>
            <a:endParaRPr lang="en-US" sz="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67"/>
          <p:cNvSpPr/>
          <p:nvPr/>
        </p:nvSpPr>
        <p:spPr>
          <a:xfrm>
            <a:off x="377190" y="4896612"/>
            <a:ext cx="4800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85800"/>
            <a:r>
              <a:rPr lang="en-US" sz="675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 · StaySpain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68"/>
          <p:cNvSpPr/>
          <p:nvPr/>
        </p:nvSpPr>
        <p:spPr>
          <a:xfrm>
            <a:off x="5829300" y="4896612"/>
            <a:ext cx="29489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85800"/>
            <a:r>
              <a:rPr lang="en-US" sz="675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675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   </a:t>
            </a:r>
            <a:r>
              <a:rPr lang="en-US" sz="675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675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    </a:t>
            </a:r>
            <a:r>
              <a:rPr lang="en-US" sz="675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675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Descenso</a:t>
            </a:r>
            <a:endParaRPr lang="en-US" sz="675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PUNTO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Dataset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484370" y="1324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4712970" y="1415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12970" y="1653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8.000 registros iniciales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12970" y="2001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variables · 8 ciudades españolas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84370" y="2467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712970" y="2558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12970" y="2796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Distribuciones asimétricas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2970" y="3144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Calendarios polarizados (saturados o vacíos)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4370" y="3610556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712970" y="37019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· Hallazgo clave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12970" y="39397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307 filas eliminadas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12970" y="428721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anuncio en distintas fechas de extracción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7.693 alojamientos únicos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incluye además: cadenas vacías → NaN, conversión de tipos (fechas, booleanos), ceros de score sin reseña → NaN.</a:t>
            </a:r>
            <a:endParaRPr lang="en-US" sz="9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F7879402-34C4-2EEA-651A-4585A5071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5890"/>
            <a:ext cx="3195337" cy="3628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8AC23-49FF-F344-75A0-DD9555310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4EC7ECF-551C-ED3A-62BB-038BB450B7B6}"/>
              </a:ext>
            </a:extLst>
          </p:cNvPr>
          <p:cNvSpPr/>
          <p:nvPr/>
        </p:nvSpPr>
        <p:spPr>
          <a:xfrm>
            <a:off x="362373" y="1354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Lógica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limpieza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depuración</a:t>
            </a:r>
            <a:endParaRPr lang="en-US" sz="38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0752296-0699-9D64-A4FF-787B5C4DE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549" y="699347"/>
            <a:ext cx="5791894" cy="443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79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09F7-6F3C-C870-7A82-EBD05E136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2A384BD-9687-02BB-8C32-4EE3B229256A}"/>
              </a:ext>
            </a:extLst>
          </p:cNvPr>
          <p:cNvSpPr/>
          <p:nvPr/>
        </p:nvSpPr>
        <p:spPr>
          <a:xfrm>
            <a:off x="362373" y="1354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Tratamiento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valores</a:t>
            </a:r>
            <a:r>
              <a:rPr lang="en-US" sz="3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800" b="1" dirty="0" err="1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nulos</a:t>
            </a:r>
            <a:endParaRPr lang="en-US" sz="38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D250CA-61B4-E134-DF52-88BA15F3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924" y="571925"/>
            <a:ext cx="4664075" cy="4558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23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8FAC3-8B44-8A22-5D4F-85BF427BD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2C0C515C-9593-2CF3-96D1-07CFEFBE72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98"/>
          <a:stretch>
            <a:fillRect/>
          </a:stretch>
        </p:blipFill>
        <p:spPr>
          <a:xfrm>
            <a:off x="0" y="13586"/>
            <a:ext cx="9144000" cy="512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90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2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546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COMERCIAL ·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pregunta</a:t>
            </a:r>
            <a:endParaRPr lang="en-US" sz="3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 · StaySpain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270</Words>
  <Application>Microsoft Office PowerPoint</Application>
  <PresentationFormat>Presentación en pantalla (16:9)</PresentationFormat>
  <Paragraphs>71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StaySpain · Análisis Operacional</dc:title>
  <dc:subject>PptxGenJS Presentation</dc:subject>
  <dc:creator>Equip 29</dc:creator>
  <cp:lastModifiedBy>Ignacio Soldevilla</cp:lastModifiedBy>
  <cp:revision>25</cp:revision>
  <dcterms:created xsi:type="dcterms:W3CDTF">2026-05-31T10:25:18Z</dcterms:created>
  <dcterms:modified xsi:type="dcterms:W3CDTF">2026-06-08T07:35:35Z</dcterms:modified>
</cp:coreProperties>
</file>