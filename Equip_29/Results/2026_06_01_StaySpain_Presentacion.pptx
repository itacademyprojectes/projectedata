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5"/>
  </p:notesMasterIdLst>
  <p:sldIdLst>
    <p:sldId id="256" r:id="rId2"/>
    <p:sldId id="273" r:id="rId3"/>
    <p:sldId id="257" r:id="rId4"/>
    <p:sldId id="271" r:id="rId5"/>
    <p:sldId id="272" r:id="rId6"/>
    <p:sldId id="266" r:id="rId7"/>
    <p:sldId id="267" r:id="rId8"/>
    <p:sldId id="268" r:id="rId9"/>
    <p:sldId id="261" r:id="rId10"/>
    <p:sldId id="262" r:id="rId11"/>
    <p:sldId id="263" r:id="rId12"/>
    <p:sldId id="264" r:id="rId13"/>
    <p:sldId id="265" r:id="rId14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8046" autoAdjust="0"/>
    <p:restoredTop sz="94610"/>
  </p:normalViewPr>
  <p:slideViewPr>
    <p:cSldViewPr snapToGrid="0" snapToObjects="1">
      <p:cViewPr varScale="1">
        <p:scale>
          <a:sx n="150" d="100"/>
          <a:sy n="150" d="100"/>
        </p:scale>
        <p:origin x="912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5970736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D91CCA-3FA2-3CFF-4760-EEAA2C83BC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F68DD48-4553-79A6-526C-BEEBA4A286D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BBED563-8AB6-B578-8FDA-00A7E5D389D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593E66C-FDEF-B37E-146F-4C3A0841830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3602483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0C7623-FACD-0C2C-9D37-0210C4CD47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21AA0A6-D1D1-77B2-D063-110ED3428F3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F89E451-D0D6-9619-2C31-5882DA91E71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486662F-AB01-7689-AC4F-F84D4B2968A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375219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9264793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3A5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822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kern="0" spc="400" dirty="0">
                <a:solidFill>
                  <a:srgbClr val="F18F0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DEPARTAMENTO DE ANALISTAS DE DATOS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128016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5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StaySpain</a:t>
            </a:r>
            <a:endParaRPr lang="en-US" sz="5600" dirty="0"/>
          </a:p>
        </p:txBody>
      </p:sp>
      <p:sp>
        <p:nvSpPr>
          <p:cNvPr id="4" name="Text 2"/>
          <p:cNvSpPr/>
          <p:nvPr/>
        </p:nvSpPr>
        <p:spPr>
          <a:xfrm>
            <a:off x="457200" y="214884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Análisis del inventario de alojamientos turísticos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1371600" y="3108960"/>
            <a:ext cx="6400800" cy="1280160"/>
          </a:xfrm>
          <a:prstGeom prst="rect">
            <a:avLst/>
          </a:prstGeom>
          <a:solidFill>
            <a:srgbClr val="264870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6" name="Text 4"/>
          <p:cNvSpPr/>
          <p:nvPr/>
        </p:nvSpPr>
        <p:spPr>
          <a:xfrm>
            <a:off x="1371600" y="32004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kern="0" spc="400" dirty="0">
                <a:solidFill>
                  <a:srgbClr val="F18F0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EQUIPO DE ANALISTAS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1371600" y="3520440"/>
            <a:ext cx="6400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spcAft>
                <a:spcPts val="200"/>
              </a:spcAft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Alexei </a:t>
            </a:r>
            <a:r>
              <a:rPr lang="en-US" sz="15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Levitchi</a:t>
            </a:r>
            <a:endParaRPr lang="en-US" sz="1500" dirty="0"/>
          </a:p>
          <a:p>
            <a:pPr algn="ctr">
              <a:spcAft>
                <a:spcPts val="200"/>
              </a:spcAft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Vanessa Plaza</a:t>
            </a:r>
            <a:endParaRPr lang="en-US" sz="1500" dirty="0"/>
          </a:p>
          <a:p>
            <a:pPr algn="ctr">
              <a:spcAft>
                <a:spcPts val="200"/>
              </a:spcAft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Ignacio Soldevilla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457200" y="46177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kern="0" spc="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Junio 2026</a:t>
            </a:r>
            <a:endParaRPr lang="en-US" sz="1100" dirty="0"/>
          </a:p>
        </p:txBody>
      </p:sp>
      <p:pic>
        <p:nvPicPr>
          <p:cNvPr id="9" name="Imagen 8">
            <a:extLst>
              <a:ext uri="{FF2B5EF4-FFF2-40B4-BE49-F238E27FC236}">
                <a16:creationId xmlns:a16="http://schemas.microsoft.com/office/drawing/2014/main" id="{09896478-069A-128A-C109-AD3AD049D3B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484" t="25211" r="17962" b="35260"/>
          <a:stretch>
            <a:fillRect/>
          </a:stretch>
        </p:blipFill>
        <p:spPr>
          <a:xfrm>
            <a:off x="2663688" y="1188720"/>
            <a:ext cx="3806686" cy="105156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n 2">
            <a:extLst>
              <a:ext uri="{FF2B5EF4-FFF2-40B4-BE49-F238E27FC236}">
                <a16:creationId xmlns:a16="http://schemas.microsoft.com/office/drawing/2014/main" id="{5CBA5976-3C73-70EF-275F-54BFCE19AB5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6334"/>
            <a:ext cx="9144000" cy="51108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7627208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400" dirty="0">
                <a:solidFill>
                  <a:srgbClr val="F18F0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· PUNTO DE PARTIDA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4864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1E3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El Dataset</a:t>
            </a:r>
            <a:endParaRPr lang="en-US" sz="3800" dirty="0"/>
          </a:p>
        </p:txBody>
      </p:sp>
      <p:sp>
        <p:nvSpPr>
          <p:cNvPr id="6" name="Shape 4"/>
          <p:cNvSpPr/>
          <p:nvPr/>
        </p:nvSpPr>
        <p:spPr>
          <a:xfrm>
            <a:off x="4484370" y="1324556"/>
            <a:ext cx="3840480" cy="1051560"/>
          </a:xfrm>
          <a:prstGeom prst="roundRect">
            <a:avLst>
              <a:gd name="adj" fmla="val 6957"/>
            </a:avLst>
          </a:prstGeom>
          <a:solidFill>
            <a:srgbClr val="F7F9FC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7" name="Text 5"/>
          <p:cNvSpPr/>
          <p:nvPr/>
        </p:nvSpPr>
        <p:spPr>
          <a:xfrm>
            <a:off x="4712970" y="1415996"/>
            <a:ext cx="3383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300" dirty="0">
                <a:solidFill>
                  <a:srgbClr val="F18F0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ORIGEN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712970" y="1653740"/>
            <a:ext cx="3383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E3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8.000 registros iniciales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4712970" y="2001212"/>
            <a:ext cx="3383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 variables · 8 ciudades españolas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484370" y="2467556"/>
            <a:ext cx="3840480" cy="1051560"/>
          </a:xfrm>
          <a:prstGeom prst="roundRect">
            <a:avLst>
              <a:gd name="adj" fmla="val 6957"/>
            </a:avLst>
          </a:prstGeom>
          <a:solidFill>
            <a:srgbClr val="F7F9FC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1" name="Text 9"/>
          <p:cNvSpPr/>
          <p:nvPr/>
        </p:nvSpPr>
        <p:spPr>
          <a:xfrm>
            <a:off x="4712970" y="2558996"/>
            <a:ext cx="3383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300" dirty="0">
                <a:solidFill>
                  <a:srgbClr val="F18F0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EDA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712970" y="2796740"/>
            <a:ext cx="3383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E3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Distribuciones asimétricas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4712970" y="3144212"/>
            <a:ext cx="3383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Calendarios polarizados (saturados o vacíos)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484370" y="3610556"/>
            <a:ext cx="3840480" cy="1051560"/>
          </a:xfrm>
          <a:prstGeom prst="roundRect">
            <a:avLst>
              <a:gd name="adj" fmla="val 6957"/>
            </a:avLst>
          </a:prstGeom>
          <a:solidFill>
            <a:srgbClr val="F7F9FC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5" name="Text 13"/>
          <p:cNvSpPr/>
          <p:nvPr/>
        </p:nvSpPr>
        <p:spPr>
          <a:xfrm>
            <a:off x="4712970" y="3701996"/>
            <a:ext cx="3383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300" dirty="0">
                <a:solidFill>
                  <a:srgbClr val="F18F0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LIMPIEZA · Hallazgo clave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712970" y="3939740"/>
            <a:ext cx="3383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E3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307 filas eliminadas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4712970" y="4287212"/>
            <a:ext cx="3383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Mismo anuncio en distintas fechas de extracción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Resultado: 7.693 alojamientos únicos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57200" y="47548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Limpieza incluye además: cadenas vacías → NaN, conversión de tipos (fechas, booleanos), ceros de score sin reseña → NaN.</a:t>
            </a:r>
            <a:endParaRPr lang="en-US" sz="900" dirty="0"/>
          </a:p>
        </p:txBody>
      </p:sp>
      <p:pic>
        <p:nvPicPr>
          <p:cNvPr id="20" name="Imagen 19">
            <a:extLst>
              <a:ext uri="{FF2B5EF4-FFF2-40B4-BE49-F238E27FC236}">
                <a16:creationId xmlns:a16="http://schemas.microsoft.com/office/drawing/2014/main" id="{F7879402-34C4-2EEA-651A-4585A5071D6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125890"/>
            <a:ext cx="3195337" cy="362899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88AC23-49FF-F344-75A0-DD9555310F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>
            <a:extLst>
              <a:ext uri="{FF2B5EF4-FFF2-40B4-BE49-F238E27FC236}">
                <a16:creationId xmlns:a16="http://schemas.microsoft.com/office/drawing/2014/main" id="{A4EC7ECF-551C-ED3A-62BB-038BB450B7B6}"/>
              </a:ext>
            </a:extLst>
          </p:cNvPr>
          <p:cNvSpPr/>
          <p:nvPr/>
        </p:nvSpPr>
        <p:spPr>
          <a:xfrm>
            <a:off x="362373" y="13547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0" b="1" dirty="0" err="1">
                <a:solidFill>
                  <a:srgbClr val="1E3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Lógica</a:t>
            </a:r>
            <a:r>
              <a:rPr lang="en-US" sz="3800" b="1" dirty="0">
                <a:solidFill>
                  <a:srgbClr val="1E3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de </a:t>
            </a:r>
            <a:r>
              <a:rPr lang="en-US" sz="3800" b="1" dirty="0" err="1">
                <a:solidFill>
                  <a:srgbClr val="1E3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limpieza</a:t>
            </a:r>
            <a:r>
              <a:rPr lang="en-US" sz="3800" b="1" dirty="0">
                <a:solidFill>
                  <a:srgbClr val="1E3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y </a:t>
            </a:r>
            <a:r>
              <a:rPr lang="en-US" sz="3800" b="1" dirty="0" err="1">
                <a:solidFill>
                  <a:srgbClr val="1E3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depuración</a:t>
            </a:r>
            <a:endParaRPr lang="en-US" sz="3800" dirty="0"/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70752296-0699-9D64-A4FF-787B5C4DE55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06549" y="699347"/>
            <a:ext cx="5791894" cy="44306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3879650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B909F7-6F3C-C870-7A82-EBD05E1368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>
            <a:extLst>
              <a:ext uri="{FF2B5EF4-FFF2-40B4-BE49-F238E27FC236}">
                <a16:creationId xmlns:a16="http://schemas.microsoft.com/office/drawing/2014/main" id="{32A384BD-9687-02BB-8C32-4EE3B229256A}"/>
              </a:ext>
            </a:extLst>
          </p:cNvPr>
          <p:cNvSpPr/>
          <p:nvPr/>
        </p:nvSpPr>
        <p:spPr>
          <a:xfrm>
            <a:off x="362373" y="13547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0" b="1" dirty="0" err="1">
                <a:solidFill>
                  <a:srgbClr val="1E3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Tratamiento</a:t>
            </a:r>
            <a:r>
              <a:rPr lang="en-US" sz="3800" b="1" dirty="0">
                <a:solidFill>
                  <a:srgbClr val="1E3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de </a:t>
            </a:r>
            <a:r>
              <a:rPr lang="en-US" sz="3800" b="1" dirty="0" err="1">
                <a:solidFill>
                  <a:srgbClr val="1E3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valores</a:t>
            </a:r>
            <a:r>
              <a:rPr lang="en-US" sz="3800" b="1" dirty="0">
                <a:solidFill>
                  <a:srgbClr val="1E3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</a:t>
            </a:r>
            <a:r>
              <a:rPr lang="en-US" sz="3800" b="1" dirty="0" err="1">
                <a:solidFill>
                  <a:srgbClr val="1E3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nulos</a:t>
            </a:r>
            <a:endParaRPr lang="en-US" sz="3800" dirty="0"/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CBD250CA-61B4-E134-DF52-88BA15F3E9F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101" y="571925"/>
            <a:ext cx="3994150" cy="45013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7523001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400" dirty="0">
                <a:solidFill>
                  <a:srgbClr val="F18F0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ANÁLISIS COMERCIAL · MARKETING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4864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E3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La pregunta</a:t>
            </a:r>
            <a:endParaRPr lang="en-US" sz="3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400" dirty="0">
                <a:solidFill>
                  <a:srgbClr val="F18F0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· ANÁLISIS COMERCIAL · MARKETING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4864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 err="1">
                <a:solidFill>
                  <a:srgbClr val="1E3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Hallazgos</a:t>
            </a:r>
            <a:endParaRPr lang="en-US" sz="3000" dirty="0"/>
          </a:p>
        </p:txBody>
      </p:sp>
    </p:spTree>
    <p:extLst>
      <p:ext uri="{BB962C8B-B14F-4D97-AF65-F5344CB8AC3E}">
        <p14:creationId xmlns:p14="http://schemas.microsoft.com/office/powerpoint/2010/main" val="155131806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400" dirty="0">
                <a:solidFill>
                  <a:srgbClr val="F18F0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· ANÁLISIS COMERCIAL · MARKETING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4864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 err="1">
                <a:solidFill>
                  <a:srgbClr val="1E3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Recomendaciones</a:t>
            </a:r>
            <a:endParaRPr lang="en-US" sz="3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400" dirty="0">
                <a:solidFill>
                  <a:srgbClr val="F18F0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· ANÁLISIS OPERACIONAL · OPERACIONES E INVENTARIO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E3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La pregunta y respuesta</a:t>
            </a:r>
            <a:endParaRPr lang="en-US" sz="2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400" dirty="0">
                <a:solidFill>
                  <a:srgbClr val="F18F0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· ANÁLISIS OPERACIONAL · OPERACIONES E INVENTARIO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E3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Análisis por segmento</a:t>
            </a:r>
            <a:endParaRPr lang="en-US" sz="3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400" dirty="0">
                <a:solidFill>
                  <a:srgbClr val="F18F0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 · ANÁLISIS OPERACIONAL · OPERACIONES E INVENTARIO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E3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Propuestas para la directora</a:t>
            </a:r>
            <a:endParaRPr lang="en-US" sz="3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400" dirty="0">
                <a:solidFill>
                  <a:srgbClr val="F18F0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 · CONCLUSIONES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4864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E3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Reflexiones conjuntas del equipo</a:t>
            </a:r>
            <a:endParaRPr lang="en-US" sz="3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E3A5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0"/>
            <a:ext cx="8229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Gracias</a:t>
            </a:r>
            <a:endParaRPr lang="en-US" sz="7200" dirty="0"/>
          </a:p>
        </p:txBody>
      </p:sp>
      <p:sp>
        <p:nvSpPr>
          <p:cNvPr id="3" name="Text 1"/>
          <p:cNvSpPr/>
          <p:nvPr/>
        </p:nvSpPr>
        <p:spPr>
          <a:xfrm>
            <a:off x="457200" y="29260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i="1" dirty="0">
                <a:solidFill>
                  <a:srgbClr val="F18F0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¿Preguntas?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43891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kern="0" spc="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Equipo 29 · Departamento de Analistas de Datos · StaySpain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214</TotalTime>
  <Words>193</Words>
  <Application>Microsoft Office PowerPoint</Application>
  <PresentationFormat>Presentación en pantalla (16:9)</PresentationFormat>
  <Paragraphs>52</Paragraphs>
  <Slides>13</Slides>
  <Notes>12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13</vt:i4>
      </vt:variant>
    </vt:vector>
  </HeadingPairs>
  <TitlesOfParts>
    <vt:vector size="17" baseType="lpstr">
      <vt:lpstr>Arial</vt:lpstr>
      <vt:lpstr>Calibri</vt:lpstr>
      <vt:lpstr>Georgia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StaySpain · Análisis Operacional</dc:title>
  <dc:subject>PptxGenJS Presentation</dc:subject>
  <dc:creator>Equip 29</dc:creator>
  <cp:lastModifiedBy>Ignacio Soldevilla</cp:lastModifiedBy>
  <cp:revision>20</cp:revision>
  <dcterms:created xsi:type="dcterms:W3CDTF">2026-05-31T10:25:18Z</dcterms:created>
  <dcterms:modified xsi:type="dcterms:W3CDTF">2026-06-05T10:35:47Z</dcterms:modified>
</cp:coreProperties>
</file>