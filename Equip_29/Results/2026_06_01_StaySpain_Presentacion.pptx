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62" y="6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Entire home/apt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Barcelona</c:v>
                </c:pt>
                <c:pt idx="1">
                  <c:v>Girona</c:v>
                </c:pt>
                <c:pt idx="2">
                  <c:v>Madrid</c:v>
                </c:pt>
                <c:pt idx="3">
                  <c:v>Málaga</c:v>
                </c:pt>
                <c:pt idx="4">
                  <c:v>Mallorca</c:v>
                </c:pt>
                <c:pt idx="5">
                  <c:v>Sevilla</c:v>
                </c:pt>
                <c:pt idx="6">
                  <c:v>Valencia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10.9</c:v>
                </c:pt>
                <c:pt idx="1">
                  <c:v>14.6</c:v>
                </c:pt>
                <c:pt idx="2">
                  <c:v>10.9</c:v>
                </c:pt>
                <c:pt idx="3">
                  <c:v>12.2</c:v>
                </c:pt>
                <c:pt idx="4">
                  <c:v>13.3</c:v>
                </c:pt>
                <c:pt idx="5">
                  <c:v>14.6</c:v>
                </c:pt>
                <c:pt idx="6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EC-4ACE-936F-660B0E134F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Private room</c:v>
                </c:pt>
              </c:strCache>
            </c:strRef>
          </c:tx>
          <c:spPr>
            <a:solidFill>
              <a:srgbClr val="F18F01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Barcelona</c:v>
                </c:pt>
                <c:pt idx="1">
                  <c:v>Girona</c:v>
                </c:pt>
                <c:pt idx="2">
                  <c:v>Madrid</c:v>
                </c:pt>
                <c:pt idx="3">
                  <c:v>Málaga</c:v>
                </c:pt>
                <c:pt idx="4">
                  <c:v>Mallorca</c:v>
                </c:pt>
                <c:pt idx="5">
                  <c:v>Sevilla</c:v>
                </c:pt>
                <c:pt idx="6">
                  <c:v>Valencia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11.2</c:v>
                </c:pt>
                <c:pt idx="1">
                  <c:v>15.7</c:v>
                </c:pt>
                <c:pt idx="2">
                  <c:v>9.4</c:v>
                </c:pt>
                <c:pt idx="3">
                  <c:v>11.9</c:v>
                </c:pt>
                <c:pt idx="4">
                  <c:v>15.6</c:v>
                </c:pt>
                <c:pt idx="5">
                  <c:v>12</c:v>
                </c:pt>
                <c:pt idx="6">
                  <c:v>15.6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DEC-4ACE-936F-660B0E134F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1F5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Entire home/apt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Barcelona</c:v>
                </c:pt>
                <c:pt idx="1">
                  <c:v>Girona</c:v>
                </c:pt>
                <c:pt idx="2">
                  <c:v>Madrid</c:v>
                </c:pt>
                <c:pt idx="3">
                  <c:v>Málaga</c:v>
                </c:pt>
                <c:pt idx="4">
                  <c:v>Mallorca</c:v>
                </c:pt>
                <c:pt idx="5">
                  <c:v>Sevilla</c:v>
                </c:pt>
                <c:pt idx="6">
                  <c:v>Valencia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213.2</c:v>
                </c:pt>
                <c:pt idx="1">
                  <c:v>192.7</c:v>
                </c:pt>
                <c:pt idx="2">
                  <c:v>173.2</c:v>
                </c:pt>
                <c:pt idx="3">
                  <c:v>206.9</c:v>
                </c:pt>
                <c:pt idx="4">
                  <c:v>210.9</c:v>
                </c:pt>
                <c:pt idx="5">
                  <c:v>203.1</c:v>
                </c:pt>
                <c:pt idx="6">
                  <c:v>184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B9-404A-AA0B-E084028F0E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Private room</c:v>
                </c:pt>
              </c:strCache>
            </c:strRef>
          </c:tx>
          <c:spPr>
            <a:solidFill>
              <a:srgbClr val="F18F01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Barcelona</c:v>
                </c:pt>
                <c:pt idx="1">
                  <c:v>Girona</c:v>
                </c:pt>
                <c:pt idx="2">
                  <c:v>Madrid</c:v>
                </c:pt>
                <c:pt idx="3">
                  <c:v>Málaga</c:v>
                </c:pt>
                <c:pt idx="4">
                  <c:v>Mallorca</c:v>
                </c:pt>
                <c:pt idx="5">
                  <c:v>Sevilla</c:v>
                </c:pt>
                <c:pt idx="6">
                  <c:v>Valencia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153.1</c:v>
                </c:pt>
                <c:pt idx="1">
                  <c:v>246.7</c:v>
                </c:pt>
                <c:pt idx="2">
                  <c:v>143.6</c:v>
                </c:pt>
                <c:pt idx="3">
                  <c:v>191.5</c:v>
                </c:pt>
                <c:pt idx="4">
                  <c:v>217.2</c:v>
                </c:pt>
                <c:pt idx="5">
                  <c:v>189.7</c:v>
                </c:pt>
                <c:pt idx="6">
                  <c:v>181.2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B9-404A-AA0B-E084028F0E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1F5F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707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 Nº 1 · DEPARTAMENTO DE ANALISTAS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StaySpain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inventario de alojamientos turísticos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3108960"/>
            <a:ext cx="6400800" cy="1280160"/>
          </a:xfrm>
          <a:prstGeom prst="rect">
            <a:avLst/>
          </a:prstGeom>
          <a:solidFill>
            <a:srgbClr val="26487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371600" y="3200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ANALISTAS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0" y="35204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200"/>
              </a:spcAft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Alexei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Levitchi</a:t>
            </a:r>
            <a:endParaRPr lang="en-US" sz="1500" dirty="0"/>
          </a:p>
          <a:p>
            <a:pPr algn="ctr">
              <a:spcAft>
                <a:spcPts val="200"/>
              </a:spcAft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Vanessa Plaza</a:t>
            </a:r>
            <a:endParaRPr lang="en-US" sz="1500" dirty="0"/>
          </a:p>
          <a:p>
            <a:pPr algn="ctr">
              <a:spcAft>
                <a:spcPts val="200"/>
              </a:spcAft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Ignacio Soldevilla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29  ·  Junio 2026</a:t>
            </a:r>
            <a:endParaRPr lang="en-US" sz="11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9896478-069A-128A-C109-AD3AD049D3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84" t="25211" r="17962" b="35260"/>
          <a:stretch>
            <a:fillRect/>
          </a:stretch>
        </p:blipFill>
        <p:spPr>
          <a:xfrm>
            <a:off x="2663688" y="1188720"/>
            <a:ext cx="3806686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PUNTO DE PARTIDA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Dataset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negocio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StaySpain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una plataforma digital que conecta anfitriones y huéspedes en toda España.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Departamento de Analistas de Datos, nuestro trabajo es transformar la información de los anuncios en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estratégico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la dirección.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 es una 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fotografía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los anuncios publicados — no una serie temporal — con información de ubicación, capacidad, calendario y valoraciones.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415996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074920" y="15074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4920" y="17451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7.001 registros iniciales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74920" y="20926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variables · 8 ciudades españolas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2558996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074920" y="26504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4920" y="28881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Distribuciones asimétricas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74920" y="32356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Calendarios polarizados (saturados o vacíos)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3701996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074920" y="379343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· Hallazgo clave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4920" y="40311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268 filas eliminadas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74920" y="43786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anuncio en distintas fechas de extracción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6.733 alojamientos únicos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incluye además: cadenas vacías → NaN, conversión de tipos (fechas, booleanos), ceros de score sin reseña → NaN.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ANÁLISIS COMERCIAL · MARKETING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pregunta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negocio:  </a:t>
            </a: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precio medio de los alojamientos por tipo de alojamiento en cada ciudad?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2E86AB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Sección a completar por la analista de Marketing 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Pegar aquí la respuesta directa con datos: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Una matriz/tabla con el precio medio por city × room_type (8 ciudades × 4 tipos).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 una visualización equivalente (heatmap, barras agrupadas).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 párrafo breve que indique la cifra más alta y más baja para responder literalmente la pregunta.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ANÁLISIS COMERCIAL · MARKETING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Hallazgos y recomendaciones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Sección a completar por la analista de Marketing ]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2E86AB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más relevante que encontraste: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Ciudad con precio más alto/bajo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Tipo de alojamiento que marca tendencia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Brechas notables por destino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82880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2E86AB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42900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DE NEGOCIO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29000" y="23774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para StaySpain: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Posicionamiento de precio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Segmentos con margen alto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Mercados con tarifa baja a revisar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82880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2E86AB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21792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 PRIORIZADAS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0" y="23774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Propuesta principal (Prioridad: Alta)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Recursos: …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Segunda propuesta (Prioridad: Media)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Recursos: …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ANÁLISIS COMERCIAL · MARKETING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complementario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Sección a completar por la analista de Marketing — opcional según contenido del notebook ]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2E86AB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SUGERENCIAS DE CONTENIDO PARA ESTA SLIDE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Algunas ideas según lo que hayas explorado en tu notebook: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Distribución del precio: histograma, outliers, mediana vs media.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Comparación de precio por tipo de habitación a nivel global.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Relación entre precio y nº de reseñas o rating (¿más caro = mejor valorado?).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Análisis de elasticidad por destino: dónde un precio alto es habitual y dónde es excepcional.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Detección de outliers de precio que conviene revisar manualmente.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ANÁLISIS OPERACIONAL · OPERACIONES E INVENTARIO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pregunta y respuesta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69452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85800" y="10877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negocio:  </a:t>
            </a: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disponibilidad media de los alojamientos en los diferentes horizontes (30, 60, 90 y 365 días) en cada ciudad?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180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disponibilidad media (días libres en el calendario) varía entre </a:t>
            </a:r>
            <a:r>
              <a:rPr lang="en-US" sz="1050" b="1" i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 días</a:t>
            </a: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Madrid y </a:t>
            </a:r>
            <a:r>
              <a:rPr lang="en-US" sz="1050" b="1" i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210,9 días</a:t>
            </a: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Mallorca a 365 días.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938132"/>
            <a:ext cx="54864" cy="7772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21792" y="196556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OCUPACIÓN GLOBAL · 30d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1792" y="214844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59 %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792" y="250506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puntos bajo objetivo (70 %)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87752" y="1938132"/>
            <a:ext cx="54864" cy="7772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752344" y="196556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MÁS TENSO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52344" y="214844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Madrid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52344" y="250506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 días libres a 30d · mediana 7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18304" y="1938132"/>
            <a:ext cx="54864" cy="7772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882896" y="196556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HOLGADO · 365d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82896" y="214844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Mallorca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82896" y="250506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210,9 días libres anuales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48856" y="1938132"/>
            <a:ext cx="54864" cy="77724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7013448" y="196556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ANALIZADO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013448" y="2148444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6.733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13448" y="250506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alojamientos únicos · 8 ciudades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280681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por ciudad y horizonte (días libres en el calendario)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892540"/>
              </p:ext>
            </p:extLst>
          </p:nvPr>
        </p:nvGraphicFramePr>
        <p:xfrm>
          <a:off x="914400" y="3035412"/>
          <a:ext cx="7315200" cy="20040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Ciudad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días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días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días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 días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Barcelona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Girona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18F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Madrid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18F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Málaga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18F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Mallorca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18F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210,9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Menorca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199,5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Sevilla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199,8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Valencia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183,8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ANÁLISIS OPERACIONAL · OPERACIONES E INVENTARIO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por segmento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del inventario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alojamiento · 6.733 anuncios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4114800" cy="12801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Anuncios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del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Entire home/apt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18F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room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18F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27,8 %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room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 room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154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0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98,8 %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inventario se concentra en los dos primeros segmentos. Las decisiones operativas deben centrarse en ellos.</a:t>
            </a:r>
            <a:endParaRPr lang="en-US" sz="1000" dirty="0"/>
          </a:p>
        </p:txBody>
      </p:sp>
      <p:sp>
        <p:nvSpPr>
          <p:cNvPr id="6" name="Shape 5"/>
          <p:cNvSpPr/>
          <p:nvPr/>
        </p:nvSpPr>
        <p:spPr>
          <a:xfrm>
            <a:off x="457200" y="3749040"/>
            <a:ext cx="4114800" cy="1280160"/>
          </a:xfrm>
          <a:prstGeom prst="roundRect">
            <a:avLst>
              <a:gd name="adj" fmla="val 3571"/>
            </a:avLst>
          </a:prstGeom>
          <a:solidFill>
            <a:srgbClr val="F7F9FC"/>
          </a:solidFill>
          <a:ln w="12700">
            <a:solidFill>
              <a:srgbClr val="F18F0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RELEVANTE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40690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mercados tensos (Madrid, Barcelona), </a:t>
            </a: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room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actúa como válvula de demanda: está </a:t>
            </a:r>
            <a:r>
              <a:rPr lang="en-US" sz="10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ocupado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</a:t>
            </a: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home/apt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(Madrid a 365d: 143,6 vs 173,2 días libres).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5488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por segmento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754880" y="148132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home/apt vs. Private room por ciudad — el patrón se mantiene en ambos horizontes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754880" y="17556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 días (corto plazo)</a:t>
            </a:r>
            <a:endParaRPr lang="en-US" sz="1000" dirty="0"/>
          </a:p>
        </p:txBody>
      </p:sp>
      <p:graphicFrame>
        <p:nvGraphicFramePr>
          <p:cNvPr id="14" name="Chart 0"/>
          <p:cNvGraphicFramePr/>
          <p:nvPr>
            <p:extLst>
              <p:ext uri="{D42A27DB-BD31-4B8C-83A1-F6EECF244321}">
                <p14:modId xmlns:p14="http://schemas.microsoft.com/office/powerpoint/2010/main" val="1899625347"/>
              </p:ext>
            </p:extLst>
          </p:nvPr>
        </p:nvGraphicFramePr>
        <p:xfrm>
          <a:off x="4754880" y="2011680"/>
          <a:ext cx="411480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1"/>
          <p:cNvSpPr/>
          <p:nvPr/>
        </p:nvSpPr>
        <p:spPr>
          <a:xfrm>
            <a:off x="4754880" y="34747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365 días (largo plazo)</a:t>
            </a:r>
            <a:endParaRPr lang="en-US" sz="1000" dirty="0"/>
          </a:p>
        </p:txBody>
      </p:sp>
      <p:graphicFrame>
        <p:nvGraphicFramePr>
          <p:cNvPr id="16" name="Chart 1"/>
          <p:cNvGraphicFramePr/>
          <p:nvPr>
            <p:extLst>
              <p:ext uri="{D42A27DB-BD31-4B8C-83A1-F6EECF244321}">
                <p14:modId xmlns:p14="http://schemas.microsoft.com/office/powerpoint/2010/main" val="3596299434"/>
              </p:ext>
            </p:extLst>
          </p:nvPr>
        </p:nvGraphicFramePr>
        <p:xfrm>
          <a:off x="4754880" y="3730752"/>
          <a:ext cx="411480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ANÁLISIS OPERACIONAL · OPERACIONES E INVENTARIO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Propuestas para la directora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acciones operativas para cerrar la brecha de ocupación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97480" cy="7315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5800" y="1764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8F0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194560" y="1874520"/>
            <a:ext cx="777240" cy="246888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194560" y="187452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 de inventario en mercados tensos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9718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" y="3172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Madrid presenta 10,4 días libres a 30d (mediana 7) y Barcelona 11,1 (mediana 8). Demanda no satisfecha en zonas urbanas.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5800" y="388620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402336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 + Marketing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91840" y="160020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3291840" y="1600200"/>
            <a:ext cx="269748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520440" y="1764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5029200" y="1874520"/>
            <a:ext cx="777240" cy="2468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029200" y="187452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20440" y="2286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Reactivación operativa del inventario estacional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20440" y="29718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520440" y="3172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Mallorca, Málaga, Sevilla y Girona superan los 195-215 días libres anuales en Entire home/apt. Calendarios poco gestionados fuera de temporada.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20440" y="388620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520440" y="402336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al anfitrión + Contenidos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1600200"/>
            <a:ext cx="269748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6126480" y="1600200"/>
            <a:ext cx="269748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355080" y="1764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28" name="Shape 26"/>
          <p:cNvSpPr/>
          <p:nvPr/>
        </p:nvSpPr>
        <p:spPr>
          <a:xfrm>
            <a:off x="7863840" y="1874520"/>
            <a:ext cx="777240" cy="246888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7863840" y="187452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55080" y="2286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diferenciadas según composición del inventario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55080" y="29718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355080" y="317296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71% es Entire home/apt y el 28% Private room. Estos dos segmentos requieren acompañamiento distinto, especialmente en mercados tensos.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55080" y="388620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55080" y="402336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+ Contenidos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389120"/>
            <a:ext cx="8229600" cy="3657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457200" y="44988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736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a IT/Sistemas: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la tabla de reservas reales (distinguir ocupación de bloqueos) · datos longitudinales para estacionalidad · métricas de actividad del anfitrión.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CONCLUSIONES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Reflexiones conjuntas del equipo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7315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TRANSVERSALES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 cartera presenta una clara dualidad: mercados urbanos tensos vs. destinos estacionales holgados.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 inventario se concentra en dos tipologías (Entire 71% y Private 28%): las decisiones operativas deben centrarse en estos segmentos.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 análisis de inventario gana solidez al integrarse con los datos de demanda y precio del perfil comercial.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9748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52044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DEL ANÁLISIS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201168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 dataset es una fotografía estática (insert_date): no permite estudiar estacionalidad ni evolución temporal real.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Disponibilidad ≠ ocupación real: un día "no disponible" puede ser una reserva o un bloqueo voluntario del anfitrión.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Tamaños muestrales desiguales por ciudad (Menorca, Valencia, Málaga con poco volumen).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97480" cy="731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35508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201168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a IT/Sistemas: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Acceso a la tabla de reservas reales (distinguir ocupación de bloqueos).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Datos longitudinales (varias capturas en el tiempo) para estacionalidad.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Métricas de actividad del anfitrión (frecuencia de edición del calendario, tasa de respuesta).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29 · Departamento de Analistas de Datos · StaySpain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1184</Words>
  <Application>Microsoft Office PowerPoint</Application>
  <PresentationFormat>Presentación en pantalla (16:9)</PresentationFormat>
  <Paragraphs>218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StaySpain · Análisis Operacional</dc:title>
  <dc:subject>PptxGenJS Presentation</dc:subject>
  <dc:creator>Equip 29</dc:creator>
  <cp:lastModifiedBy>vanessa plaza</cp:lastModifiedBy>
  <cp:revision>4</cp:revision>
  <dcterms:created xsi:type="dcterms:W3CDTF">2026-05-31T10:25:18Z</dcterms:created>
  <dcterms:modified xsi:type="dcterms:W3CDTF">2026-05-31T15:43:59Z</dcterms:modified>
</cp:coreProperties>
</file>