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7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30 días</c:v>
                </c:pt>
              </c:strCache>
            </c:strRef>
          </c:tx>
          <c:spPr>
            <a:solidFill>
              <a:srgbClr val="BFDBFE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Menorca</c:v>
                </c:pt>
                <c:pt idx="6">
                  <c:v>Sevilla</c:v>
                </c:pt>
                <c:pt idx="7">
                  <c:v>Valencia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11.1</c:v>
                </c:pt>
                <c:pt idx="1">
                  <c:v>14.6</c:v>
                </c:pt>
                <c:pt idx="2">
                  <c:v>10.4</c:v>
                </c:pt>
                <c:pt idx="3">
                  <c:v>12.1</c:v>
                </c:pt>
                <c:pt idx="4">
                  <c:v>13.4</c:v>
                </c:pt>
                <c:pt idx="5">
                  <c:v>15</c:v>
                </c:pt>
                <c:pt idx="6">
                  <c:v>14.1</c:v>
                </c:pt>
                <c:pt idx="7">
                  <c:v>13.6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CA-4940-A7D5-649EA362DE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60 días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Menorca</c:v>
                </c:pt>
                <c:pt idx="6">
                  <c:v>Sevilla</c:v>
                </c:pt>
                <c:pt idx="7">
                  <c:v>Valencia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25.6</c:v>
                </c:pt>
                <c:pt idx="1">
                  <c:v>31.3</c:v>
                </c:pt>
                <c:pt idx="2">
                  <c:v>24.1</c:v>
                </c:pt>
                <c:pt idx="3">
                  <c:v>28.4</c:v>
                </c:pt>
                <c:pt idx="4">
                  <c:v>28.7</c:v>
                </c:pt>
                <c:pt idx="5">
                  <c:v>30.9</c:v>
                </c:pt>
                <c:pt idx="6">
                  <c:v>30.9</c:v>
                </c:pt>
                <c:pt idx="7">
                  <c:v>29.7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CA-4940-A7D5-649EA362DE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90 días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Menorca</c:v>
                </c:pt>
                <c:pt idx="6">
                  <c:v>Sevilla</c:v>
                </c:pt>
                <c:pt idx="7">
                  <c:v>Valencia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42.5</c:v>
                </c:pt>
                <c:pt idx="1">
                  <c:v>48.4</c:v>
                </c:pt>
                <c:pt idx="2">
                  <c:v>39.9</c:v>
                </c:pt>
                <c:pt idx="3">
                  <c:v>47.1</c:v>
                </c:pt>
                <c:pt idx="4">
                  <c:v>45.2</c:v>
                </c:pt>
                <c:pt idx="5">
                  <c:v>47.5</c:v>
                </c:pt>
                <c:pt idx="6">
                  <c:v>50</c:v>
                </c:pt>
                <c:pt idx="7">
                  <c:v>47.7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3CA-4940-A7D5-649EA362DED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365 días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Barcelona</c:v>
                </c:pt>
                <c:pt idx="1">
                  <c:v>Girona</c:v>
                </c:pt>
                <c:pt idx="2">
                  <c:v>Madrid</c:v>
                </c:pt>
                <c:pt idx="3">
                  <c:v>Málaga</c:v>
                </c:pt>
                <c:pt idx="4">
                  <c:v>Mallorca</c:v>
                </c:pt>
                <c:pt idx="5">
                  <c:v>Menorca</c:v>
                </c:pt>
                <c:pt idx="6">
                  <c:v>Sevilla</c:v>
                </c:pt>
                <c:pt idx="7">
                  <c:v>Valencia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182.1</c:v>
                </c:pt>
                <c:pt idx="1">
                  <c:v>195.1</c:v>
                </c:pt>
                <c:pt idx="2">
                  <c:v>163.6</c:v>
                </c:pt>
                <c:pt idx="3">
                  <c:v>202.6</c:v>
                </c:pt>
                <c:pt idx="4">
                  <c:v>210.9</c:v>
                </c:pt>
                <c:pt idx="5">
                  <c:v>199.5</c:v>
                </c:pt>
                <c:pt idx="6">
                  <c:v>199.8</c:v>
                </c:pt>
                <c:pt idx="7">
                  <c:v>183.8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3CA-4940-A7D5-649EA362DE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340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ANALISTAS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StaySpain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8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anuncios</a:t>
            </a: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alojamientos turísticos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108960"/>
            <a:ext cx="6400800" cy="1280160"/>
          </a:xfrm>
          <a:prstGeom prst="rect">
            <a:avLst/>
          </a:prstGeom>
          <a:solidFill>
            <a:srgbClr val="26487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ANALISTAS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Alexei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Levitchi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Vanessa Plaza</a:t>
            </a:r>
            <a:endParaRPr lang="en-US" sz="1400" dirty="0"/>
          </a:p>
          <a:p>
            <a:pPr marL="0" indent="0" algn="ctr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Soldevilla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29  ·  Junio 2026</a:t>
            </a:r>
            <a:endParaRPr lang="en-US" sz="11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1089DFF-3C45-08AA-9FEA-09F5FBD214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4" t="25211" r="17962" b="35260"/>
          <a:stretch>
            <a:fillRect/>
          </a:stretch>
        </p:blipFill>
        <p:spPr>
          <a:xfrm>
            <a:off x="2663688" y="1188720"/>
            <a:ext cx="3806686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PUNTO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Dataset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negocio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StaySpain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plataforma digital que conecta anfitriones y huéspedes en toda España.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Departamento de Analistas de Datos, nuestro trabajo es transformar la información de los anuncios en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estratégico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la dirección.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es una 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fotografía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los anuncios publicados — no una serie temporal — con información de ubicación, capacidad, calendario y valoraciones.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42875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74920" y="152019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4920" y="175793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7.001 registros iniciales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74920" y="210540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variables · 8 ciudades españolas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257175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5074920" y="266319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290093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Distribuciones asimétricas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74920" y="324840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Calendarios polarizados (saturados o vacíos)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371475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5074920" y="380619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· Hallazgo clave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404393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268 </a:t>
            </a:r>
            <a:r>
              <a:rPr lang="en-US" sz="17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filas</a:t>
            </a: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700" b="1" dirty="0" err="1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eliminadas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74920" y="439140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anuncio en distintas fechas de extracción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6.733 alojamientos únicos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incluye además: cadenas vacías → NaN, conversión de tipos (fechas, booleanos), ceros de score sin reseña → NaN.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ANÁLISIS COMERCIAL · MARKETING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pregunta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negocio:  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precio medio de los alojamientos por tipo de alojamiento en cada ciudad?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Sección a completar por la analista de Marketing 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Pegar aquí la respuesta directa con datos: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Una matriz/tabla con el precio medio por city × room_type (8 ciudades × 4 tipos).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 una visualización equivalente (heatmap, barras agrupadas).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 párrafo breve que indique la cifra más alta y más baja para responder literalmente la pregunta.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ANÁLISIS COMERCIAL · MARKETING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Hallazgos y recomendaciones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Sección a completar por la analista de Marketing ]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relevante que encontraste: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Ciudad con precio más alto/bajo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Tipo de alojamiento que marca tendencia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Brechas notables por destino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4290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DE NEGOCIO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29000" y="2377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 para StaySpain: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Posicionamiento de precio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Segmentos con margen alto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Mercados con tarifa baja a revisar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PRIORIZADAS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2377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Propuesta principal (Prioridad: Alta)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Recursos: …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Segunda propuesta (Prioridad: Media)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Recursos: …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ANÁLISIS OPERACIONAL · OPERACIONES E INVENTARIO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pregunta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negocio:  </a:t>
            </a: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disponibilidad media de los alojamientos en los diferentes horizontes (30, 60, 90 y 365 días) en cada ciudad?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5453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27457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disponibilidad media (días libres en el calendario) varía entre </a:t>
            </a:r>
            <a:r>
              <a:rPr lang="en-US" sz="11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 días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30 días en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(el mercado más tenso) y </a:t>
            </a:r>
            <a:r>
              <a:rPr lang="en-US" sz="11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210,9 días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365 días en 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Mallorca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(el más holgado). El detalle completo por ciudad y horizonte: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279335"/>
              </p:ext>
            </p:extLst>
          </p:nvPr>
        </p:nvGraphicFramePr>
        <p:xfrm>
          <a:off x="914400" y="2731770"/>
          <a:ext cx="7315200" cy="22910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Ciudad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días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días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días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 días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Barcelona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Madrid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Málaga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Mallorca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18F0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Menorca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Sevilla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Valencia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183,8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ANÁLISIS OPERACIONAL · OPERACIONES E INVENTARIO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Hallazgos y propuestas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" cy="9144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21792" y="1417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 GLOBAL · 30d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1792" y="164592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59 %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21792" y="204825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puntos bajo objetivo (70 %)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87752" y="1371600"/>
            <a:ext cx="54864" cy="9144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752344" y="1417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MÁS TENSO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752344" y="164592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Madrid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752344" y="204825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 días libres a 30d · mediana 7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18304" y="1371600"/>
            <a:ext cx="54864" cy="9144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882896" y="1417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HOLGADO · 365d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82896" y="164592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Mallorca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882896" y="204825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210,9 días libres anuales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48856" y="1371600"/>
            <a:ext cx="54864" cy="9144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7013448" y="1417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ANALIZADO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013448" y="164592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6.733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013448" y="204825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alojamientos únicos · 8 ciudades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468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media por ciudad y horizonte (días libres)</a:t>
            </a:r>
            <a:endParaRPr lang="en-US" sz="11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365760" y="2743200"/>
          <a:ext cx="52120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576072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para la Directora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760720" y="2788920"/>
            <a:ext cx="502920" cy="4572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5760720" y="2788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355080" y="2788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 desactivación de inventario inactivo (anuncios fantasma)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760720" y="3291840"/>
            <a:ext cx="502920" cy="457200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5760720" y="32918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355080" y="3291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en mercados tensos (Madrid, Barcelona)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760720" y="3794760"/>
            <a:ext cx="502920" cy="4572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5760720" y="37947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355080" y="3794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Reactivación operativa del inventario estacional en costa/islas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760720" y="4297680"/>
            <a:ext cx="502920" cy="457200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5760720" y="42976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355080" y="4297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de gestión diferenciadas por segmento (Entire / Private)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CONCLUSIONES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Reflexiones conjuntas del equipo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73152"/>
          </a:xfrm>
          <a:prstGeom prst="rect">
            <a:avLst/>
          </a:prstGeom>
          <a:solidFill>
            <a:srgbClr val="F18F0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TRANSVERSALES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 cartera presenta una clara dualidad: mercados urbanos tensos vs. destinos estacionales holgados.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Existe inventario potencialmente inactivo que infla la oferta sin convertir.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Las decisiones de precio y de inventario deben tomarse de forma coordinada: oferta y demanda son dos caras de la misma cartera.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97480" cy="73152"/>
          </a:xfrm>
          <a:prstGeom prst="rect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352044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DEL ANÁLISIS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 dataset es una fotografía estática (insert_date): no permite estudiar estacionalidad ni evolución temporal real.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Disponibilidad ≠ ocupación real: un día "no disponible" puede ser una reserva o un bloqueo voluntario del anfitrión.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Tamaños muestrales desiguales por ciudad (Menorca, Valencia, Málaga con poco volumen).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97480" cy="3291840"/>
          </a:xfrm>
          <a:prstGeom prst="roundRect">
            <a:avLst>
              <a:gd name="adj" fmla="val 3390"/>
            </a:avLst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9748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355080" y="1600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a IT/Sistemas: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Acceso a la tabla de reservas reales (distinguir ocupación de bloqueos).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Datos longitudinales (varias capturas en el tiempo) para estacionalidad.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Métricas de actividad del anfitrión para identificar inventario activo vs. fantasma.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 29 · Departamento de Analistas de Datos · StaySpain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815</Words>
  <Application>Microsoft Office PowerPoint</Application>
  <PresentationFormat>Presentación en pantalla (16:9)</PresentationFormat>
  <Paragraphs>165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StaySpain · Análisis Operacional</dc:title>
  <dc:subject>PptxGenJS Presentation</dc:subject>
  <dc:creator>Equip 29</dc:creator>
  <cp:lastModifiedBy>vanessa plaza</cp:lastModifiedBy>
  <cp:revision>4</cp:revision>
  <dcterms:created xsi:type="dcterms:W3CDTF">2026-05-30T01:33:51Z</dcterms:created>
  <dcterms:modified xsi:type="dcterms:W3CDTF">2026-05-30T01:58:31Z</dcterms:modified>
</cp:coreProperties>
</file>