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83" r:id="rId3"/>
    <p:sldId id="257" r:id="rId4"/>
    <p:sldId id="285" r:id="rId5"/>
    <p:sldId id="286" r:id="rId6"/>
    <p:sldId id="287" r:id="rId7"/>
    <p:sldId id="288" r:id="rId8"/>
    <p:sldId id="290" r:id="rId9"/>
    <p:sldId id="289" r:id="rId10"/>
    <p:sldId id="291" r:id="rId11"/>
    <p:sldId id="292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0099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46" autoAdjust="0"/>
    <p:restoredTop sz="93302" autoAdjust="0"/>
  </p:normalViewPr>
  <p:slideViewPr>
    <p:cSldViewPr snapToGrid="0" snapToObjects="1">
      <p:cViewPr varScale="1">
        <p:scale>
          <a:sx n="140" d="100"/>
          <a:sy n="140" d="100"/>
        </p:scale>
        <p:origin x="12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70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4416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4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3.jpeg"/><Relationship Id="rId4" Type="http://schemas.openxmlformats.org/officeDocument/2006/relationships/image" Target="../media/image14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ANALISTAS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StaySpain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inventario de alojamientos turísticos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108960"/>
            <a:ext cx="6400800" cy="1280160"/>
          </a:xfrm>
          <a:prstGeom prst="rect">
            <a:avLst/>
          </a:prstGeom>
          <a:solidFill>
            <a:srgbClr val="26487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ANALISTAS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Alexei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Levitchi</a:t>
            </a:r>
            <a:endParaRPr lang="en-US" sz="1500" dirty="0"/>
          </a:p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Plaza</a:t>
            </a:r>
            <a:endParaRPr lang="en-US" sz="1500" dirty="0"/>
          </a:p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Soldevilla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1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9896478-069A-128A-C109-AD3AD049D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4" t="25211" r="17962" b="35260"/>
          <a:stretch>
            <a:fillRect/>
          </a:stretch>
        </p:blipFill>
        <p:spPr>
          <a:xfrm>
            <a:off x="2663688" y="1188720"/>
            <a:ext cx="3806686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973836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3" name="Text 1"/>
          <p:cNvSpPr/>
          <p:nvPr/>
        </p:nvSpPr>
        <p:spPr>
          <a:xfrm>
            <a:off x="308610" y="82296"/>
            <a:ext cx="65151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</a:t>
            </a:r>
            <a:r>
              <a:rPr lang="en-US" sz="2475" dirty="0">
                <a:solidFill>
                  <a:srgbClr val="9D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2475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KPIs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322326" y="5897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 creció +25,4% en anuncios mientras la ocupación cedió ligeramente: absorbió 1.957 anuncios nuevos.</a:t>
            </a:r>
            <a:endParaRPr lang="en-US" sz="1013" dirty="0"/>
          </a:p>
        </p:txBody>
      </p:sp>
      <p:sp>
        <p:nvSpPr>
          <p:cNvPr id="7" name="Shape 5"/>
          <p:cNvSpPr/>
          <p:nvPr/>
        </p:nvSpPr>
        <p:spPr>
          <a:xfrm>
            <a:off x="308610" y="1207008"/>
            <a:ext cx="2714168" cy="1659636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 sz="1350"/>
          </a:p>
        </p:txBody>
      </p:sp>
      <p:sp>
        <p:nvSpPr>
          <p:cNvPr id="8" name="Shape 6"/>
          <p:cNvSpPr/>
          <p:nvPr/>
        </p:nvSpPr>
        <p:spPr>
          <a:xfrm>
            <a:off x="308610" y="1179576"/>
            <a:ext cx="2714168" cy="452628"/>
          </a:xfrm>
          <a:prstGeom prst="roundRect">
            <a:avLst>
              <a:gd name="adj" fmla="val 13636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9" name="Shape 7"/>
          <p:cNvSpPr/>
          <p:nvPr/>
        </p:nvSpPr>
        <p:spPr>
          <a:xfrm>
            <a:off x="308610" y="1549908"/>
            <a:ext cx="2714168" cy="82296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10" name="Shape 8"/>
          <p:cNvSpPr/>
          <p:nvPr/>
        </p:nvSpPr>
        <p:spPr>
          <a:xfrm>
            <a:off x="432054" y="126873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135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91" y="1334567"/>
            <a:ext cx="142646" cy="14264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8670" y="1179576"/>
            <a:ext cx="213123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Anuncios</a:t>
            </a:r>
            <a:endParaRPr lang="en-US" sz="1163" dirty="0"/>
          </a:p>
        </p:txBody>
      </p:sp>
      <p:sp>
        <p:nvSpPr>
          <p:cNvPr id="13" name="Text 10"/>
          <p:cNvSpPr/>
          <p:nvPr/>
        </p:nvSpPr>
        <p:spPr>
          <a:xfrm>
            <a:off x="514350" y="1755648"/>
            <a:ext cx="23712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 </a:t>
            </a:r>
            <a:r>
              <a:rPr 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7.693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3202" y="1961388"/>
            <a:ext cx="13716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9.650</a:t>
            </a:r>
            <a:endParaRPr lang="en-US" sz="3750" dirty="0"/>
          </a:p>
        </p:txBody>
      </p:sp>
      <p:sp>
        <p:nvSpPr>
          <p:cNvPr id="15" name="Shape 12"/>
          <p:cNvSpPr/>
          <p:nvPr/>
        </p:nvSpPr>
        <p:spPr>
          <a:xfrm>
            <a:off x="1829486" y="2048256"/>
            <a:ext cx="927522" cy="483489"/>
          </a:xfrm>
          <a:prstGeom prst="roundRect">
            <a:avLst>
              <a:gd name="adj" fmla="val 9756"/>
            </a:avLst>
          </a:prstGeom>
          <a:solidFill>
            <a:srgbClr val="E4F4EC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498" y="2184273"/>
            <a:ext cx="205740" cy="2057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72386" y="2005965"/>
            <a:ext cx="63093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+1.957</a:t>
            </a:r>
            <a:endParaRPr lang="en-US" sz="1200" dirty="0"/>
          </a:p>
          <a:p>
            <a:pPr>
              <a:lnSpc>
                <a:spcPct val="95000"/>
              </a:lnSpc>
            </a:pPr>
            <a:r>
              <a:rPr lang="en-US" sz="9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+25,4%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14801" y="1179576"/>
            <a:ext cx="2714168" cy="1659636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 sz="1350"/>
          </a:p>
        </p:txBody>
      </p:sp>
      <p:sp>
        <p:nvSpPr>
          <p:cNvPr id="19" name="Shape 15"/>
          <p:cNvSpPr/>
          <p:nvPr/>
        </p:nvSpPr>
        <p:spPr>
          <a:xfrm>
            <a:off x="3214801" y="1179576"/>
            <a:ext cx="2714168" cy="452628"/>
          </a:xfrm>
          <a:prstGeom prst="roundRect">
            <a:avLst>
              <a:gd name="adj" fmla="val 13636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20" name="Shape 16"/>
          <p:cNvSpPr/>
          <p:nvPr/>
        </p:nvSpPr>
        <p:spPr>
          <a:xfrm>
            <a:off x="3214801" y="1549908"/>
            <a:ext cx="2714168" cy="82296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21" name="Shape 17"/>
          <p:cNvSpPr/>
          <p:nvPr/>
        </p:nvSpPr>
        <p:spPr>
          <a:xfrm>
            <a:off x="3338246" y="126873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135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083" y="1334567"/>
            <a:ext cx="142646" cy="14264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94861" y="1179576"/>
            <a:ext cx="213123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Ocupación Mensual</a:t>
            </a:r>
            <a:endParaRPr lang="en-US" sz="1163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678" y="1891911"/>
            <a:ext cx="1405890" cy="7698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51962" y="2648086"/>
            <a:ext cx="274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4483532" y="2648086"/>
            <a:ext cx="308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4293566" y="1768466"/>
            <a:ext cx="342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825" dirty="0"/>
          </a:p>
        </p:txBody>
      </p:sp>
      <p:sp>
        <p:nvSpPr>
          <p:cNvPr id="28" name="Text 22"/>
          <p:cNvSpPr/>
          <p:nvPr/>
        </p:nvSpPr>
        <p:spPr>
          <a:xfrm>
            <a:off x="3365678" y="2276856"/>
            <a:ext cx="14058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75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56,5%</a:t>
            </a:r>
            <a:endParaRPr lang="en-US" sz="1875" dirty="0"/>
          </a:p>
        </p:txBody>
      </p:sp>
      <p:sp>
        <p:nvSpPr>
          <p:cNvPr id="29" name="Text 23"/>
          <p:cNvSpPr/>
          <p:nvPr/>
        </p:nvSpPr>
        <p:spPr>
          <a:xfrm>
            <a:off x="4735678" y="1837944"/>
            <a:ext cx="10629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975" dirty="0"/>
          </a:p>
        </p:txBody>
      </p:sp>
      <p:sp>
        <p:nvSpPr>
          <p:cNvPr id="30" name="Text 24"/>
          <p:cNvSpPr/>
          <p:nvPr/>
        </p:nvSpPr>
        <p:spPr>
          <a:xfrm>
            <a:off x="4735678" y="2016252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25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025" dirty="0"/>
          </a:p>
        </p:txBody>
      </p:sp>
      <p:sp>
        <p:nvSpPr>
          <p:cNvPr id="31" name="Shape 25"/>
          <p:cNvSpPr/>
          <p:nvPr/>
        </p:nvSpPr>
        <p:spPr>
          <a:xfrm>
            <a:off x="4922443" y="2441448"/>
            <a:ext cx="790499" cy="342900"/>
          </a:xfrm>
          <a:prstGeom prst="roundRect">
            <a:avLst>
              <a:gd name="adj" fmla="val 15385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32" name="Text 26"/>
          <p:cNvSpPr/>
          <p:nvPr/>
        </p:nvSpPr>
        <p:spPr>
          <a:xfrm>
            <a:off x="4821403" y="2441448"/>
            <a:ext cx="8915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</a:t>
            </a:r>
            <a:r>
              <a:rPr lang="en-US" sz="975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−2,2 pp</a:t>
            </a:r>
            <a:endParaRPr lang="en-US" sz="975" dirty="0"/>
          </a:p>
        </p:txBody>
      </p:sp>
      <p:sp>
        <p:nvSpPr>
          <p:cNvPr id="33" name="Shape 27"/>
          <p:cNvSpPr/>
          <p:nvPr/>
        </p:nvSpPr>
        <p:spPr>
          <a:xfrm>
            <a:off x="6120994" y="1179576"/>
            <a:ext cx="2714168" cy="1659636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 sz="1350"/>
          </a:p>
        </p:txBody>
      </p:sp>
      <p:sp>
        <p:nvSpPr>
          <p:cNvPr id="34" name="Shape 28"/>
          <p:cNvSpPr/>
          <p:nvPr/>
        </p:nvSpPr>
        <p:spPr>
          <a:xfrm>
            <a:off x="6120994" y="1179576"/>
            <a:ext cx="2714168" cy="452628"/>
          </a:xfrm>
          <a:prstGeom prst="roundRect">
            <a:avLst>
              <a:gd name="adj" fmla="val 13636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35" name="Shape 29"/>
          <p:cNvSpPr/>
          <p:nvPr/>
        </p:nvSpPr>
        <p:spPr>
          <a:xfrm>
            <a:off x="6120994" y="1549908"/>
            <a:ext cx="2714168" cy="82296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36" name="Shape 30"/>
          <p:cNvSpPr/>
          <p:nvPr/>
        </p:nvSpPr>
        <p:spPr>
          <a:xfrm>
            <a:off x="6244438" y="126873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135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275" y="1334567"/>
            <a:ext cx="142646" cy="14264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601054" y="1179576"/>
            <a:ext cx="213123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con Mayor Ocupación</a:t>
            </a:r>
            <a:endParaRPr lang="en-US" sz="1163" dirty="0"/>
          </a:p>
        </p:txBody>
      </p:sp>
      <p:sp>
        <p:nvSpPr>
          <p:cNvPr id="39" name="Text 32"/>
          <p:cNvSpPr/>
          <p:nvPr/>
        </p:nvSpPr>
        <p:spPr>
          <a:xfrm>
            <a:off x="6189574" y="1719072"/>
            <a:ext cx="25770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 dirty="0">
                <a:solidFill>
                  <a:srgbClr val="C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</a:t>
            </a:r>
            <a:endParaRPr lang="en-US" sz="3300" dirty="0"/>
          </a:p>
        </p:txBody>
      </p:sp>
      <p:sp>
        <p:nvSpPr>
          <p:cNvPr id="40" name="Text 33"/>
          <p:cNvSpPr/>
          <p:nvPr/>
        </p:nvSpPr>
        <p:spPr>
          <a:xfrm>
            <a:off x="6189574" y="2350008"/>
            <a:ext cx="257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60,9% </a:t>
            </a: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6189574" y="2610612"/>
            <a:ext cx="257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8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64,1%   </a:t>
            </a:r>
            <a:r>
              <a:rPr lang="en-US" sz="938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</a:t>
            </a:r>
            <a:r>
              <a:rPr lang="en-US" sz="938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−3,2 pp</a:t>
            </a:r>
            <a:endParaRPr lang="en-US" sz="938" dirty="0"/>
          </a:p>
        </p:txBody>
      </p:sp>
      <p:sp>
        <p:nvSpPr>
          <p:cNvPr id="42" name="Shape 35"/>
          <p:cNvSpPr/>
          <p:nvPr/>
        </p:nvSpPr>
        <p:spPr>
          <a:xfrm>
            <a:off x="308610" y="3031236"/>
            <a:ext cx="2714168" cy="1696212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 sz="1350"/>
          </a:p>
        </p:txBody>
      </p:sp>
      <p:sp>
        <p:nvSpPr>
          <p:cNvPr id="43" name="Shape 36"/>
          <p:cNvSpPr/>
          <p:nvPr/>
        </p:nvSpPr>
        <p:spPr>
          <a:xfrm>
            <a:off x="308610" y="3031236"/>
            <a:ext cx="2714168" cy="452628"/>
          </a:xfrm>
          <a:prstGeom prst="roundRect">
            <a:avLst>
              <a:gd name="adj" fmla="val 13636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44" name="Shape 37"/>
          <p:cNvSpPr/>
          <p:nvPr/>
        </p:nvSpPr>
        <p:spPr>
          <a:xfrm>
            <a:off x="308610" y="3401568"/>
            <a:ext cx="2714168" cy="82296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45" name="Shape 38"/>
          <p:cNvSpPr/>
          <p:nvPr/>
        </p:nvSpPr>
        <p:spPr>
          <a:xfrm>
            <a:off x="432054" y="312039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135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91" y="3186227"/>
            <a:ext cx="142646" cy="142646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788670" y="3031236"/>
            <a:ext cx="213123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Satisfacción General</a:t>
            </a:r>
            <a:endParaRPr lang="en-US" sz="1163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486" y="3743571"/>
            <a:ext cx="1405890" cy="76989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445770" y="4499746"/>
            <a:ext cx="274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 dirty="0"/>
          </a:p>
        </p:txBody>
      </p:sp>
      <p:sp>
        <p:nvSpPr>
          <p:cNvPr id="50" name="Text 41"/>
          <p:cNvSpPr/>
          <p:nvPr/>
        </p:nvSpPr>
        <p:spPr>
          <a:xfrm>
            <a:off x="1577340" y="4499746"/>
            <a:ext cx="308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50" dirty="0"/>
          </a:p>
        </p:txBody>
      </p:sp>
      <p:sp>
        <p:nvSpPr>
          <p:cNvPr id="51" name="Text 42"/>
          <p:cNvSpPr/>
          <p:nvPr/>
        </p:nvSpPr>
        <p:spPr>
          <a:xfrm>
            <a:off x="1331138" y="3620126"/>
            <a:ext cx="342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25" dirty="0"/>
          </a:p>
        </p:txBody>
      </p:sp>
      <p:sp>
        <p:nvSpPr>
          <p:cNvPr id="52" name="Text 43"/>
          <p:cNvSpPr/>
          <p:nvPr/>
        </p:nvSpPr>
        <p:spPr>
          <a:xfrm>
            <a:off x="459486" y="4128516"/>
            <a:ext cx="14058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100" dirty="0"/>
          </a:p>
        </p:txBody>
      </p:sp>
      <p:sp>
        <p:nvSpPr>
          <p:cNvPr id="53" name="Text 44"/>
          <p:cNvSpPr/>
          <p:nvPr/>
        </p:nvSpPr>
        <p:spPr>
          <a:xfrm>
            <a:off x="1829486" y="3689604"/>
            <a:ext cx="10629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975" dirty="0"/>
          </a:p>
        </p:txBody>
      </p:sp>
      <p:sp>
        <p:nvSpPr>
          <p:cNvPr id="54" name="Text 45"/>
          <p:cNvSpPr/>
          <p:nvPr/>
        </p:nvSpPr>
        <p:spPr>
          <a:xfrm>
            <a:off x="1829486" y="3867912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25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025" dirty="0"/>
          </a:p>
        </p:txBody>
      </p:sp>
      <p:sp>
        <p:nvSpPr>
          <p:cNvPr id="55" name="Shape 46"/>
          <p:cNvSpPr/>
          <p:nvPr/>
        </p:nvSpPr>
        <p:spPr>
          <a:xfrm>
            <a:off x="2025396" y="4313682"/>
            <a:ext cx="713324" cy="290322"/>
          </a:xfrm>
          <a:prstGeom prst="roundRect">
            <a:avLst>
              <a:gd name="adj" fmla="val 15385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56" name="Text 47"/>
          <p:cNvSpPr/>
          <p:nvPr/>
        </p:nvSpPr>
        <p:spPr>
          <a:xfrm>
            <a:off x="1915211" y="4293108"/>
            <a:ext cx="8915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</a:t>
            </a:r>
            <a:r>
              <a:rPr lang="en-US" sz="975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−0,03</a:t>
            </a:r>
            <a:endParaRPr lang="en-US" sz="975" dirty="0"/>
          </a:p>
        </p:txBody>
      </p:sp>
      <p:sp>
        <p:nvSpPr>
          <p:cNvPr id="57" name="Shape 48"/>
          <p:cNvSpPr/>
          <p:nvPr/>
        </p:nvSpPr>
        <p:spPr>
          <a:xfrm>
            <a:off x="3214802" y="3031236"/>
            <a:ext cx="5620360" cy="1696212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 sz="1350"/>
          </a:p>
        </p:txBody>
      </p:sp>
      <p:sp>
        <p:nvSpPr>
          <p:cNvPr id="58" name="Shape 49"/>
          <p:cNvSpPr/>
          <p:nvPr/>
        </p:nvSpPr>
        <p:spPr>
          <a:xfrm>
            <a:off x="3214802" y="3031236"/>
            <a:ext cx="5620360" cy="452628"/>
          </a:xfrm>
          <a:prstGeom prst="roundRect">
            <a:avLst>
              <a:gd name="adj" fmla="val 13636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59" name="Shape 50"/>
          <p:cNvSpPr/>
          <p:nvPr/>
        </p:nvSpPr>
        <p:spPr>
          <a:xfrm>
            <a:off x="3214802" y="3401568"/>
            <a:ext cx="5620360" cy="82296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60" name="Shape 51"/>
          <p:cNvSpPr/>
          <p:nvPr/>
        </p:nvSpPr>
        <p:spPr>
          <a:xfrm>
            <a:off x="3338246" y="312039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1350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4083" y="3186227"/>
            <a:ext cx="142646" cy="142646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3694862" y="3031236"/>
            <a:ext cx="503743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 con Mayor Satisfacción Promedio</a:t>
            </a:r>
            <a:endParaRPr lang="en-US" sz="1163" dirty="0"/>
          </a:p>
        </p:txBody>
      </p:sp>
      <p:sp>
        <p:nvSpPr>
          <p:cNvPr id="63" name="Shape 53"/>
          <p:cNvSpPr/>
          <p:nvPr/>
        </p:nvSpPr>
        <p:spPr>
          <a:xfrm>
            <a:off x="3406826" y="3611880"/>
            <a:ext cx="1954530" cy="987552"/>
          </a:xfrm>
          <a:prstGeom prst="roundRect">
            <a:avLst>
              <a:gd name="adj" fmla="val 6250"/>
            </a:avLst>
          </a:prstGeom>
          <a:solidFill>
            <a:srgbClr val="FBF1DA"/>
          </a:solidFill>
          <a:ln w="19050">
            <a:solidFill>
              <a:srgbClr val="C8901A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1418" y="3643884"/>
            <a:ext cx="178308" cy="178308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3804590" y="3616452"/>
            <a:ext cx="147447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kern="0" spc="75" dirty="0">
                <a:solidFill>
                  <a:srgbClr val="C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VALORADO</a:t>
            </a:r>
            <a:endParaRPr lang="en-US" sz="938" dirty="0"/>
          </a:p>
        </p:txBody>
      </p:sp>
      <p:sp>
        <p:nvSpPr>
          <p:cNvPr id="66" name="Text 55"/>
          <p:cNvSpPr/>
          <p:nvPr/>
        </p:nvSpPr>
        <p:spPr>
          <a:xfrm>
            <a:off x="3571418" y="3877056"/>
            <a:ext cx="16802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2175" dirty="0"/>
          </a:p>
        </p:txBody>
      </p:sp>
      <p:sp>
        <p:nvSpPr>
          <p:cNvPr id="67" name="Text 56"/>
          <p:cNvSpPr/>
          <p:nvPr/>
        </p:nvSpPr>
        <p:spPr>
          <a:xfrm>
            <a:off x="3571418" y="4274820"/>
            <a:ext cx="168021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C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</a:t>
            </a:r>
            <a:r>
              <a:rPr lang="en-US" sz="1125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   </a:t>
            </a:r>
            <a:r>
              <a:rPr lang="en-US" sz="975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</a:t>
            </a:r>
            <a:r>
              <a:rPr lang="en-US" sz="975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−0,04</a:t>
            </a:r>
            <a:endParaRPr lang="en-US" sz="2100" dirty="0"/>
          </a:p>
        </p:txBody>
      </p:sp>
      <p:sp>
        <p:nvSpPr>
          <p:cNvPr id="69" name="Text 58"/>
          <p:cNvSpPr/>
          <p:nvPr/>
        </p:nvSpPr>
        <p:spPr>
          <a:xfrm>
            <a:off x="5669966" y="3630168"/>
            <a:ext cx="8572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938" dirty="0"/>
          </a:p>
        </p:txBody>
      </p:sp>
      <p:sp>
        <p:nvSpPr>
          <p:cNvPr id="70" name="Shape 59"/>
          <p:cNvSpPr/>
          <p:nvPr/>
        </p:nvSpPr>
        <p:spPr>
          <a:xfrm>
            <a:off x="6527216" y="3691890"/>
            <a:ext cx="1073506" cy="86411"/>
          </a:xfrm>
          <a:prstGeom prst="roundRect">
            <a:avLst>
              <a:gd name="adj" fmla="val 31746"/>
            </a:avLst>
          </a:prstGeom>
          <a:solidFill>
            <a:srgbClr val="E3E9EF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71" name="Shape 60"/>
          <p:cNvSpPr/>
          <p:nvPr/>
        </p:nvSpPr>
        <p:spPr>
          <a:xfrm>
            <a:off x="6527215" y="3691890"/>
            <a:ext cx="1029224" cy="86411"/>
          </a:xfrm>
          <a:prstGeom prst="roundRect">
            <a:avLst>
              <a:gd name="adj" fmla="val 31746"/>
            </a:avLst>
          </a:prstGeom>
          <a:solidFill>
            <a:srgbClr val="9DB4C9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72" name="Text 61"/>
          <p:cNvSpPr/>
          <p:nvPr/>
        </p:nvSpPr>
        <p:spPr>
          <a:xfrm>
            <a:off x="7669301" y="3630168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96,20 </a:t>
            </a: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▼−0,14</a:t>
            </a:r>
            <a:endParaRPr lang="en-US" sz="900" dirty="0"/>
          </a:p>
        </p:txBody>
      </p:sp>
      <p:sp>
        <p:nvSpPr>
          <p:cNvPr id="73" name="Text 62"/>
          <p:cNvSpPr/>
          <p:nvPr/>
        </p:nvSpPr>
        <p:spPr>
          <a:xfrm>
            <a:off x="5669966" y="3880485"/>
            <a:ext cx="8572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938" dirty="0"/>
          </a:p>
        </p:txBody>
      </p:sp>
      <p:sp>
        <p:nvSpPr>
          <p:cNvPr id="74" name="Shape 63"/>
          <p:cNvSpPr/>
          <p:nvPr/>
        </p:nvSpPr>
        <p:spPr>
          <a:xfrm>
            <a:off x="6527216" y="3942207"/>
            <a:ext cx="1073506" cy="86411"/>
          </a:xfrm>
          <a:prstGeom prst="roundRect">
            <a:avLst>
              <a:gd name="adj" fmla="val 31746"/>
            </a:avLst>
          </a:prstGeom>
          <a:solidFill>
            <a:srgbClr val="E3E9EF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75" name="Shape 64"/>
          <p:cNvSpPr/>
          <p:nvPr/>
        </p:nvSpPr>
        <p:spPr>
          <a:xfrm>
            <a:off x="6527216" y="3942207"/>
            <a:ext cx="911138" cy="86411"/>
          </a:xfrm>
          <a:prstGeom prst="roundRect">
            <a:avLst>
              <a:gd name="adj" fmla="val 31746"/>
            </a:avLst>
          </a:prstGeom>
          <a:solidFill>
            <a:srgbClr val="9DB4C9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76" name="Text 65"/>
          <p:cNvSpPr/>
          <p:nvPr/>
        </p:nvSpPr>
        <p:spPr>
          <a:xfrm>
            <a:off x="7669301" y="3880485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95,40 </a:t>
            </a:r>
            <a:r>
              <a:rPr lang="en-US" sz="7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▲+0,14</a:t>
            </a:r>
            <a:endParaRPr lang="en-US" sz="900" dirty="0"/>
          </a:p>
        </p:txBody>
      </p:sp>
      <p:sp>
        <p:nvSpPr>
          <p:cNvPr id="77" name="Text 66"/>
          <p:cNvSpPr/>
          <p:nvPr/>
        </p:nvSpPr>
        <p:spPr>
          <a:xfrm>
            <a:off x="5669966" y="4130802"/>
            <a:ext cx="8572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938" dirty="0"/>
          </a:p>
        </p:txBody>
      </p:sp>
      <p:sp>
        <p:nvSpPr>
          <p:cNvPr id="78" name="Shape 67"/>
          <p:cNvSpPr/>
          <p:nvPr/>
        </p:nvSpPr>
        <p:spPr>
          <a:xfrm>
            <a:off x="6527216" y="4192524"/>
            <a:ext cx="1073506" cy="86411"/>
          </a:xfrm>
          <a:prstGeom prst="roundRect">
            <a:avLst>
              <a:gd name="adj" fmla="val 31746"/>
            </a:avLst>
          </a:prstGeom>
          <a:solidFill>
            <a:srgbClr val="E3E9EF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79" name="Shape 68"/>
          <p:cNvSpPr/>
          <p:nvPr/>
        </p:nvSpPr>
        <p:spPr>
          <a:xfrm>
            <a:off x="6527215" y="4192524"/>
            <a:ext cx="778292" cy="86411"/>
          </a:xfrm>
          <a:prstGeom prst="roundRect">
            <a:avLst>
              <a:gd name="adj" fmla="val 31746"/>
            </a:avLst>
          </a:prstGeom>
          <a:solidFill>
            <a:srgbClr val="9DB4C9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80" name="Text 69"/>
          <p:cNvSpPr/>
          <p:nvPr/>
        </p:nvSpPr>
        <p:spPr>
          <a:xfrm>
            <a:off x="7669301" y="4130802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94,50 </a:t>
            </a: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▼−0,05</a:t>
            </a:r>
            <a:endParaRPr lang="en-US" sz="900" dirty="0"/>
          </a:p>
        </p:txBody>
      </p:sp>
      <p:sp>
        <p:nvSpPr>
          <p:cNvPr id="81" name="Text 70"/>
          <p:cNvSpPr/>
          <p:nvPr/>
        </p:nvSpPr>
        <p:spPr>
          <a:xfrm>
            <a:off x="5669966" y="4381119"/>
            <a:ext cx="8572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938" dirty="0"/>
          </a:p>
        </p:txBody>
      </p:sp>
      <p:sp>
        <p:nvSpPr>
          <p:cNvPr id="82" name="Shape 71"/>
          <p:cNvSpPr/>
          <p:nvPr/>
        </p:nvSpPr>
        <p:spPr>
          <a:xfrm>
            <a:off x="6527216" y="4442841"/>
            <a:ext cx="1073506" cy="86411"/>
          </a:xfrm>
          <a:prstGeom prst="roundRect">
            <a:avLst>
              <a:gd name="adj" fmla="val 31746"/>
            </a:avLst>
          </a:prstGeom>
          <a:solidFill>
            <a:srgbClr val="E3E9EF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83" name="Shape 72"/>
          <p:cNvSpPr/>
          <p:nvPr/>
        </p:nvSpPr>
        <p:spPr>
          <a:xfrm>
            <a:off x="6527216" y="4442841"/>
            <a:ext cx="571642" cy="86411"/>
          </a:xfrm>
          <a:prstGeom prst="roundRect">
            <a:avLst>
              <a:gd name="adj" fmla="val 31746"/>
            </a:avLst>
          </a:prstGeom>
          <a:solidFill>
            <a:srgbClr val="9DB4C9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84" name="Text 73"/>
          <p:cNvSpPr/>
          <p:nvPr/>
        </p:nvSpPr>
        <p:spPr>
          <a:xfrm>
            <a:off x="7669301" y="4381119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93,10 </a:t>
            </a:r>
            <a:r>
              <a:rPr lang="en-US" sz="7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▲+0,01</a:t>
            </a:r>
            <a:endParaRPr lang="en-US" sz="900" dirty="0"/>
          </a:p>
        </p:txBody>
      </p:sp>
      <p:sp>
        <p:nvSpPr>
          <p:cNvPr id="85" name="Text 74"/>
          <p:cNvSpPr/>
          <p:nvPr/>
        </p:nvSpPr>
        <p:spPr>
          <a:xfrm>
            <a:off x="308610" y="4841748"/>
            <a:ext cx="4114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Analistas de Datos · StaySpain</a:t>
            </a:r>
            <a:endParaRPr lang="en-US" sz="825" dirty="0"/>
          </a:p>
        </p:txBody>
      </p:sp>
      <p:sp>
        <p:nvSpPr>
          <p:cNvPr id="86" name="Text 75"/>
          <p:cNvSpPr/>
          <p:nvPr/>
        </p:nvSpPr>
        <p:spPr>
          <a:xfrm>
            <a:off x="5486400" y="4841748"/>
            <a:ext cx="33604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25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   </a:t>
            </a:r>
            <a:r>
              <a:rPr lang="en-US" sz="825" dirty="0">
                <a:solidFill>
                  <a:srgbClr val="C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25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    </a:t>
            </a:r>
            <a:r>
              <a:rPr lang="en-US" sz="825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25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Descenso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Dataset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418236" y="132455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646836" y="14159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46836" y="16537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10.000 registros iniciales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646836" y="20012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variables · 8 ciudades españolas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18236" y="246755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46836" y="25589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46836" y="27967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Distribuciones asimétricas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6836" y="31442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Calendarios polarizados (saturados o vacíos)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18236" y="361055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646836" y="37019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· Hallazgo clave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46836" y="39397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 filas eliminadas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46836" y="42872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anuncio en distintas fechas de extracción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9.650 alojamientos únicos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incluye además: cadenas vacías → NaN, conversión de tipos (fechas, booleanos), ceros de score sin reseña → NaN.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3420-8F7F-72E2-3453-8ACB892D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n 36">
            <a:extLst>
              <a:ext uri="{FF2B5EF4-FFF2-40B4-BE49-F238E27FC236}">
                <a16:creationId xmlns:a16="http://schemas.microsoft.com/office/drawing/2014/main" id="{CF33337B-F4FB-3268-A9B1-CEE152E0A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217" y="778673"/>
            <a:ext cx="3497265" cy="1407103"/>
          </a:xfrm>
          <a:prstGeom prst="rect">
            <a:avLst/>
          </a:prstGeom>
        </p:spPr>
      </p:pic>
      <p:grpSp>
        <p:nvGrpSpPr>
          <p:cNvPr id="2" name="Google Shape;86;p13">
            <a:extLst>
              <a:ext uri="{FF2B5EF4-FFF2-40B4-BE49-F238E27FC236}">
                <a16:creationId xmlns:a16="http://schemas.microsoft.com/office/drawing/2014/main" id="{26603C0F-B27F-E173-444C-BB89DC7D8C99}"/>
              </a:ext>
            </a:extLst>
          </p:cNvPr>
          <p:cNvGrpSpPr/>
          <p:nvPr/>
        </p:nvGrpSpPr>
        <p:grpSpPr>
          <a:xfrm>
            <a:off x="277813" y="2392803"/>
            <a:ext cx="8286750" cy="2521481"/>
            <a:chOff x="881836" y="3173352"/>
            <a:chExt cx="11049000" cy="3361974"/>
          </a:xfrm>
        </p:grpSpPr>
        <p:sp>
          <p:nvSpPr>
            <p:cNvPr id="3" name="Google Shape;87;p13">
              <a:extLst>
                <a:ext uri="{FF2B5EF4-FFF2-40B4-BE49-F238E27FC236}">
                  <a16:creationId xmlns:a16="http://schemas.microsoft.com/office/drawing/2014/main" id="{F3F1FB0C-BA4B-C55F-17B3-E9FD7422AA20}"/>
                </a:ext>
              </a:extLst>
            </p:cNvPr>
            <p:cNvSpPr/>
            <p:nvPr/>
          </p:nvSpPr>
          <p:spPr>
            <a:xfrm>
              <a:off x="1434286" y="4992269"/>
              <a:ext cx="99441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" name="Google Shape;88;p13" descr="image.png">
              <a:extLst>
                <a:ext uri="{FF2B5EF4-FFF2-40B4-BE49-F238E27FC236}">
                  <a16:creationId xmlns:a16="http://schemas.microsoft.com/office/drawing/2014/main" id="{17733AE9-5726-DB9C-6CD4-4F59933ADE2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652027" y="3865837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89;p13" descr="image.png">
              <a:extLst>
                <a:ext uri="{FF2B5EF4-FFF2-40B4-BE49-F238E27FC236}">
                  <a16:creationId xmlns:a16="http://schemas.microsoft.com/office/drawing/2014/main" id="{77BEF113-7ED1-2967-A1A5-6FF17DF578B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06666" y="3865837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90;p13" descr="image.png">
              <a:extLst>
                <a:ext uri="{FF2B5EF4-FFF2-40B4-BE49-F238E27FC236}">
                  <a16:creationId xmlns:a16="http://schemas.microsoft.com/office/drawing/2014/main" id="{6233E185-8FBC-7FB8-EA85-B62EB7D4125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79346" y="389652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1;p13" descr="image.png">
              <a:extLst>
                <a:ext uri="{FF2B5EF4-FFF2-40B4-BE49-F238E27FC236}">
                  <a16:creationId xmlns:a16="http://schemas.microsoft.com/office/drawing/2014/main" id="{0F7955B8-C7BB-E254-D7F4-4414B7A85DA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524707" y="389652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2;p13" descr="image.png">
              <a:extLst>
                <a:ext uri="{FF2B5EF4-FFF2-40B4-BE49-F238E27FC236}">
                  <a16:creationId xmlns:a16="http://schemas.microsoft.com/office/drawing/2014/main" id="{D80C4BC7-DCD6-EAF7-BB16-C1DECDFB2623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81836" y="4250360"/>
              <a:ext cx="2430660" cy="15028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3;p13" descr="image.png">
              <a:extLst>
                <a:ext uri="{FF2B5EF4-FFF2-40B4-BE49-F238E27FC236}">
                  <a16:creationId xmlns:a16="http://schemas.microsoft.com/office/drawing/2014/main" id="{CD249457-DD29-75C1-BCA7-3FDBD8EAD89B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754516" y="4343676"/>
              <a:ext cx="2430660" cy="13162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4;p13" descr="image.png">
              <a:extLst>
                <a:ext uri="{FF2B5EF4-FFF2-40B4-BE49-F238E27FC236}">
                  <a16:creationId xmlns:a16="http://schemas.microsoft.com/office/drawing/2014/main" id="{44225DA6-DAB2-9B14-23A9-3398CB445D49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627196" y="4250360"/>
              <a:ext cx="2430660" cy="15028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5;p13" descr="image.png">
              <a:extLst>
                <a:ext uri="{FF2B5EF4-FFF2-40B4-BE49-F238E27FC236}">
                  <a16:creationId xmlns:a16="http://schemas.microsoft.com/office/drawing/2014/main" id="{B509C550-2354-F6B3-4BB5-7FACDC252ADA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499877" y="4343676"/>
              <a:ext cx="2430660" cy="13162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96;p13">
              <a:extLst>
                <a:ext uri="{FF2B5EF4-FFF2-40B4-BE49-F238E27FC236}">
                  <a16:creationId xmlns:a16="http://schemas.microsoft.com/office/drawing/2014/main" id="{F18138BC-445B-72F4-5D2B-AA1EFA2EC089}"/>
                </a:ext>
              </a:extLst>
            </p:cNvPr>
            <p:cNvSpPr txBox="1"/>
            <p:nvPr/>
          </p:nvSpPr>
          <p:spPr>
            <a:xfrm>
              <a:off x="881836" y="6373657"/>
              <a:ext cx="11049000" cy="1616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788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Base: 7.693 anuncios | Métrica principal: availability_365 | Enfoque: Correlacional, no causal.</a:t>
              </a:r>
              <a:endParaRPr sz="1350"/>
            </a:p>
          </p:txBody>
        </p:sp>
        <p:sp>
          <p:nvSpPr>
            <p:cNvPr id="13" name="Google Shape;97;p13">
              <a:extLst>
                <a:ext uri="{FF2B5EF4-FFF2-40B4-BE49-F238E27FC236}">
                  <a16:creationId xmlns:a16="http://schemas.microsoft.com/office/drawing/2014/main" id="{D28C8B10-7EA3-514C-58FB-992030F9798E}"/>
                </a:ext>
              </a:extLst>
            </p:cNvPr>
            <p:cNvSpPr/>
            <p:nvPr/>
          </p:nvSpPr>
          <p:spPr>
            <a:xfrm>
              <a:off x="881836" y="6230782"/>
              <a:ext cx="11049000" cy="96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8;p13">
              <a:extLst>
                <a:ext uri="{FF2B5EF4-FFF2-40B4-BE49-F238E27FC236}">
                  <a16:creationId xmlns:a16="http://schemas.microsoft.com/office/drawing/2014/main" id="{738AE989-6662-3007-761D-4ACB85E26A32}"/>
                </a:ext>
              </a:extLst>
            </p:cNvPr>
            <p:cNvSpPr txBox="1"/>
            <p:nvPr/>
          </p:nvSpPr>
          <p:spPr>
            <a:xfrm>
              <a:off x="881836" y="3173352"/>
              <a:ext cx="8572500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1575" b="1" dirty="0" err="1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Metodología</a:t>
              </a:r>
              <a:r>
                <a:rPr lang="en-US" sz="1575" b="1" dirty="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 de </a:t>
              </a:r>
              <a:r>
                <a:rPr lang="en-US" sz="1575" b="1" dirty="0" err="1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análisis</a:t>
              </a:r>
              <a:r>
                <a:rPr lang="en-US" sz="1575" b="1" dirty="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:</a:t>
              </a:r>
              <a:endParaRPr sz="1575" b="1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" name="Google Shape;99;p13">
              <a:extLst>
                <a:ext uri="{FF2B5EF4-FFF2-40B4-BE49-F238E27FC236}">
                  <a16:creationId xmlns:a16="http://schemas.microsoft.com/office/drawing/2014/main" id="{AB227528-2F30-3E03-BABC-9D6648B4F15C}"/>
                </a:ext>
              </a:extLst>
            </p:cNvPr>
            <p:cNvSpPr txBox="1"/>
            <p:nvPr/>
          </p:nvSpPr>
          <p:spPr>
            <a:xfrm>
              <a:off x="1081101" y="4593260"/>
              <a:ext cx="2032200" cy="207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013" b="1">
                  <a:solidFill>
                    <a:srgbClr val="0F4C81"/>
                  </a:solidFill>
                  <a:latin typeface="Poppins"/>
                  <a:ea typeface="Poppins"/>
                  <a:cs typeface="Poppins"/>
                  <a:sym typeface="Poppins"/>
                </a:rPr>
                <a:t>Describir</a:t>
              </a:r>
              <a:endParaRPr sz="1350"/>
            </a:p>
          </p:txBody>
        </p:sp>
        <p:sp>
          <p:nvSpPr>
            <p:cNvPr id="16" name="Google Shape;100;p13">
              <a:extLst>
                <a:ext uri="{FF2B5EF4-FFF2-40B4-BE49-F238E27FC236}">
                  <a16:creationId xmlns:a16="http://schemas.microsoft.com/office/drawing/2014/main" id="{639A65D1-F9FD-9E78-0714-8D527E884C15}"/>
                </a:ext>
              </a:extLst>
            </p:cNvPr>
            <p:cNvSpPr txBox="1"/>
            <p:nvPr/>
          </p:nvSpPr>
          <p:spPr>
            <a:xfrm>
              <a:off x="1129487" y="4945685"/>
              <a:ext cx="1935300" cy="678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n-US" sz="788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Análisis de disponibilidad mediana por niveles de inventario físico.</a:t>
              </a:r>
              <a:endParaRPr sz="1350"/>
            </a:p>
          </p:txBody>
        </p:sp>
        <p:sp>
          <p:nvSpPr>
            <p:cNvPr id="17" name="Google Shape;101;p13">
              <a:extLst>
                <a:ext uri="{FF2B5EF4-FFF2-40B4-BE49-F238E27FC236}">
                  <a16:creationId xmlns:a16="http://schemas.microsoft.com/office/drawing/2014/main" id="{85421ECE-5388-9BB6-061F-95ADD47A52BC}"/>
                </a:ext>
              </a:extLst>
            </p:cNvPr>
            <p:cNvSpPr txBox="1"/>
            <p:nvPr/>
          </p:nvSpPr>
          <p:spPr>
            <a:xfrm>
              <a:off x="3953783" y="4686576"/>
              <a:ext cx="2032200" cy="207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013" b="1">
                  <a:solidFill>
                    <a:srgbClr val="0F4C81"/>
                  </a:solidFill>
                  <a:latin typeface="Poppins"/>
                  <a:ea typeface="Poppins"/>
                  <a:cs typeface="Poppins"/>
                  <a:sym typeface="Poppins"/>
                </a:rPr>
                <a:t>Asociar</a:t>
              </a:r>
              <a:endParaRPr sz="1350"/>
            </a:p>
          </p:txBody>
        </p:sp>
        <p:sp>
          <p:nvSpPr>
            <p:cNvPr id="18" name="Google Shape;102;p13">
              <a:extLst>
                <a:ext uri="{FF2B5EF4-FFF2-40B4-BE49-F238E27FC236}">
                  <a16:creationId xmlns:a16="http://schemas.microsoft.com/office/drawing/2014/main" id="{3CB51F52-8C05-B01E-5828-88D00DDA6B2B}"/>
                </a:ext>
              </a:extLst>
            </p:cNvPr>
            <p:cNvSpPr txBox="1"/>
            <p:nvPr/>
          </p:nvSpPr>
          <p:spPr>
            <a:xfrm>
              <a:off x="4002167" y="5039001"/>
              <a:ext cx="1935300" cy="452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n-US" sz="788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Correlación de Spearman para medir vínculos no lineales.</a:t>
              </a:r>
              <a:endParaRPr sz="1350"/>
            </a:p>
          </p:txBody>
        </p:sp>
        <p:sp>
          <p:nvSpPr>
            <p:cNvPr id="19" name="Google Shape;103;p13">
              <a:extLst>
                <a:ext uri="{FF2B5EF4-FFF2-40B4-BE49-F238E27FC236}">
                  <a16:creationId xmlns:a16="http://schemas.microsoft.com/office/drawing/2014/main" id="{C9CFF04B-FAE2-A972-C968-3C14F91149F8}"/>
                </a:ext>
              </a:extLst>
            </p:cNvPr>
            <p:cNvSpPr txBox="1"/>
            <p:nvPr/>
          </p:nvSpPr>
          <p:spPr>
            <a:xfrm>
              <a:off x="6826463" y="4593260"/>
              <a:ext cx="2032200" cy="207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013" b="1">
                  <a:solidFill>
                    <a:srgbClr val="0F4C81"/>
                  </a:solidFill>
                  <a:latin typeface="Poppins"/>
                  <a:ea typeface="Poppins"/>
                  <a:cs typeface="Poppins"/>
                  <a:sym typeface="Poppins"/>
                </a:rPr>
                <a:t>Aislar</a:t>
              </a:r>
              <a:endParaRPr sz="1350"/>
            </a:p>
          </p:txBody>
        </p:sp>
        <p:sp>
          <p:nvSpPr>
            <p:cNvPr id="20" name="Google Shape;104;p13">
              <a:extLst>
                <a:ext uri="{FF2B5EF4-FFF2-40B4-BE49-F238E27FC236}">
                  <a16:creationId xmlns:a16="http://schemas.microsoft.com/office/drawing/2014/main" id="{B15D81C5-1BFD-894E-C0D4-0F305E95023D}"/>
                </a:ext>
              </a:extLst>
            </p:cNvPr>
            <p:cNvSpPr txBox="1"/>
            <p:nvPr/>
          </p:nvSpPr>
          <p:spPr>
            <a:xfrm>
              <a:off x="6874847" y="4945685"/>
              <a:ext cx="1935300" cy="678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n-US" sz="788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Regresión estandarizada para cuantificar el peso de cada variable.</a:t>
              </a:r>
              <a:endParaRPr sz="1350"/>
            </a:p>
          </p:txBody>
        </p:sp>
        <p:sp>
          <p:nvSpPr>
            <p:cNvPr id="21" name="Google Shape;105;p13">
              <a:extLst>
                <a:ext uri="{FF2B5EF4-FFF2-40B4-BE49-F238E27FC236}">
                  <a16:creationId xmlns:a16="http://schemas.microsoft.com/office/drawing/2014/main" id="{7EA02B91-3B05-C6D5-D39F-BE5057730D9B}"/>
                </a:ext>
              </a:extLst>
            </p:cNvPr>
            <p:cNvSpPr txBox="1"/>
            <p:nvPr/>
          </p:nvSpPr>
          <p:spPr>
            <a:xfrm>
              <a:off x="9699143" y="4686576"/>
              <a:ext cx="2032200" cy="207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013" b="1">
                  <a:solidFill>
                    <a:srgbClr val="0F4C81"/>
                  </a:solidFill>
                  <a:latin typeface="Poppins"/>
                  <a:ea typeface="Poppins"/>
                  <a:cs typeface="Poppins"/>
                  <a:sym typeface="Poppins"/>
                </a:rPr>
                <a:t>Validar</a:t>
              </a:r>
              <a:endParaRPr sz="1350"/>
            </a:p>
          </p:txBody>
        </p:sp>
        <p:sp>
          <p:nvSpPr>
            <p:cNvPr id="22" name="Google Shape;106;p13">
              <a:extLst>
                <a:ext uri="{FF2B5EF4-FFF2-40B4-BE49-F238E27FC236}">
                  <a16:creationId xmlns:a16="http://schemas.microsoft.com/office/drawing/2014/main" id="{F9182A75-209C-CD6F-5855-0C5CC71B9985}"/>
                </a:ext>
              </a:extLst>
            </p:cNvPr>
            <p:cNvSpPr txBox="1"/>
            <p:nvPr/>
          </p:nvSpPr>
          <p:spPr>
            <a:xfrm>
              <a:off x="9747527" y="5039001"/>
              <a:ext cx="1935300" cy="452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n-US" sz="788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Ajuste por tipo de alojamiento y validación ciudad por ciudad.</a:t>
              </a:r>
              <a:endParaRPr sz="1350"/>
            </a:p>
          </p:txBody>
        </p:sp>
      </p:grpSp>
      <p:sp>
        <p:nvSpPr>
          <p:cNvPr id="25" name="Google Shape;107;p13">
            <a:extLst>
              <a:ext uri="{FF2B5EF4-FFF2-40B4-BE49-F238E27FC236}">
                <a16:creationId xmlns:a16="http://schemas.microsoft.com/office/drawing/2014/main" id="{4E46CF51-1257-F34F-176C-C63A46C6E8B4}"/>
              </a:ext>
            </a:extLst>
          </p:cNvPr>
          <p:cNvSpPr txBox="1"/>
          <p:nvPr/>
        </p:nvSpPr>
        <p:spPr>
          <a:xfrm>
            <a:off x="277813" y="252340"/>
            <a:ext cx="4880041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63" b="1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2363" b="1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63" b="1" dirty="0">
                <a:solidFill>
                  <a:srgbClr val="1E293B"/>
                </a:solidFill>
                <a:latin typeface="Poppins"/>
                <a:cs typeface="Poppins"/>
                <a:sym typeface="Poppins Light"/>
              </a:rPr>
              <a:t>de </a:t>
            </a:r>
            <a:r>
              <a:rPr lang="en-US" sz="2363" b="1" dirty="0" err="1">
                <a:solidFill>
                  <a:srgbClr val="1E293B"/>
                </a:solidFill>
                <a:latin typeface="Poppins"/>
                <a:cs typeface="Poppins"/>
                <a:sym typeface="Poppins Light"/>
              </a:rPr>
              <a:t>Operaciones</a:t>
            </a:r>
            <a:r>
              <a:rPr lang="en-US" sz="2363" b="1" dirty="0">
                <a:solidFill>
                  <a:srgbClr val="1E293B"/>
                </a:solidFill>
                <a:latin typeface="Poppins"/>
                <a:cs typeface="Poppins"/>
                <a:sym typeface="Poppins Light"/>
              </a:rPr>
              <a:t>:</a:t>
            </a:r>
            <a:endParaRPr sz="2363" b="1" dirty="0">
              <a:solidFill>
                <a:srgbClr val="1E293B"/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30239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2537" t="18845" r="3358" b="24831"/>
          <a:stretch>
            <a:fillRect/>
          </a:stretch>
        </p:blipFill>
        <p:spPr>
          <a:xfrm>
            <a:off x="1767385" y="1508078"/>
            <a:ext cx="6312088" cy="267612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EFAEB04-6CB2-7C7B-401E-76BFFD5A43AD}"/>
              </a:ext>
            </a:extLst>
          </p:cNvPr>
          <p:cNvSpPr txBox="1"/>
          <p:nvPr/>
        </p:nvSpPr>
        <p:spPr>
          <a:xfrm>
            <a:off x="846161" y="381717"/>
            <a:ext cx="6898943" cy="455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63" b="1" dirty="0" err="1">
                <a:solidFill>
                  <a:srgbClr val="1E293B"/>
                </a:solidFill>
                <a:latin typeface="Poppins"/>
                <a:cs typeface="Poppins"/>
                <a:sym typeface="Poppins"/>
              </a:rPr>
              <a:t>Hallazgo</a:t>
            </a:r>
            <a:r>
              <a:rPr lang="en-US" sz="2363" b="1" dirty="0">
                <a:solidFill>
                  <a:srgbClr val="1E293B"/>
                </a:solidFill>
                <a:latin typeface="Poppins"/>
                <a:cs typeface="Poppins"/>
                <a:sym typeface="Poppins"/>
              </a:rPr>
              <a:t>:</a:t>
            </a:r>
            <a:r>
              <a:rPr lang="es-ES" sz="2363" b="1" dirty="0">
                <a:solidFill>
                  <a:srgbClr val="1E293B"/>
                </a:solidFill>
                <a:latin typeface="Poppins"/>
                <a:cs typeface="Poppins"/>
              </a:rPr>
              <a:t> </a:t>
            </a:r>
            <a:r>
              <a:rPr lang="es-ES" sz="2363" dirty="0">
                <a:solidFill>
                  <a:srgbClr val="64748B"/>
                </a:solidFill>
                <a:latin typeface="Poppins Light"/>
                <a:cs typeface="Poppins Light"/>
              </a:rPr>
              <a:t>Factores en la Disponibilidad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350419"/>
            <a:ext cx="371475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428625" y="1600200"/>
            <a:ext cx="3714750" cy="31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tamaño físico influye poco y de forma desigual en la ocupación potencial.</a:t>
            </a:r>
            <a:endParaRPr sz="1350"/>
          </a:p>
        </p:txBody>
      </p:sp>
      <p:sp>
        <p:nvSpPr>
          <p:cNvPr id="117" name="Google Shape;117;p14"/>
          <p:cNvSpPr txBox="1"/>
          <p:nvPr/>
        </p:nvSpPr>
        <p:spPr>
          <a:xfrm>
            <a:off x="428625" y="2185988"/>
            <a:ext cx="14287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>
                <a:solidFill>
                  <a:srgbClr val="0F4C81"/>
                </a:solidFill>
                <a:latin typeface="Lato"/>
                <a:ea typeface="Lato"/>
                <a:cs typeface="Lato"/>
                <a:sym typeface="Lato"/>
              </a:rPr>
              <a:t>+7,6</a:t>
            </a:r>
            <a:endParaRPr sz="1350"/>
          </a:p>
        </p:txBody>
      </p:sp>
      <p:sp>
        <p:nvSpPr>
          <p:cNvPr id="118" name="Google Shape;118;p14"/>
          <p:cNvSpPr txBox="1"/>
          <p:nvPr/>
        </p:nvSpPr>
        <p:spPr>
          <a:xfrm>
            <a:off x="1896812" y="2550319"/>
            <a:ext cx="1428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25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Noches libres adicionales al año por cada cama añadida.</a:t>
            </a:r>
            <a:endParaRPr sz="1350"/>
          </a:p>
        </p:txBody>
      </p:sp>
      <p:sp>
        <p:nvSpPr>
          <p:cNvPr id="119" name="Google Shape;119;p14"/>
          <p:cNvSpPr txBox="1"/>
          <p:nvPr/>
        </p:nvSpPr>
        <p:spPr>
          <a:xfrm>
            <a:off x="642938" y="3529013"/>
            <a:ext cx="3487936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25" b="1" dirty="0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La </a:t>
            </a:r>
            <a:r>
              <a:rPr lang="en-US" sz="1125" b="1" dirty="0" err="1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Anomalía</a:t>
            </a:r>
            <a:r>
              <a:rPr lang="en-US" sz="1125" b="1" dirty="0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 de Barcelona</a:t>
            </a:r>
            <a:endParaRPr sz="1350" dirty="0"/>
          </a:p>
        </p:txBody>
      </p:sp>
      <p:sp>
        <p:nvSpPr>
          <p:cNvPr id="120" name="Google Shape;120;p14"/>
          <p:cNvSpPr txBox="1"/>
          <p:nvPr/>
        </p:nvSpPr>
        <p:spPr>
          <a:xfrm>
            <a:off x="642938" y="3814763"/>
            <a:ext cx="332184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7 de 8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ciudades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analizadas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efecto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nulo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900" b="1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Barcelona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la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única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excepción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clara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(+0,20),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donde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tamaño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sí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influye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 </a:t>
            </a:r>
            <a:r>
              <a:rPr lang="en-US" sz="9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disponibilidad</a:t>
            </a:r>
            <a:r>
              <a:rPr lang="en-US" sz="9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50" dirty="0"/>
          </a:p>
        </p:txBody>
      </p:sp>
      <p:sp>
        <p:nvSpPr>
          <p:cNvPr id="121" name="Google Shape;121;p14"/>
          <p:cNvSpPr txBox="1"/>
          <p:nvPr/>
        </p:nvSpPr>
        <p:spPr>
          <a:xfrm>
            <a:off x="428625" y="366888"/>
            <a:ext cx="3900488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63" b="1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Hallazgo</a:t>
            </a:r>
            <a:r>
              <a:rPr lang="en-US" sz="2363" b="1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363" dirty="0">
                <a:solidFill>
                  <a:srgbClr val="64748B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Impacto </a:t>
            </a:r>
            <a:r>
              <a:rPr lang="en-US" sz="2363" dirty="0" err="1">
                <a:solidFill>
                  <a:srgbClr val="64748B"/>
                </a:solidFill>
                <a:latin typeface="Poppins Light"/>
                <a:ea typeface="Poppins Light"/>
                <a:cs typeface="Poppins Light"/>
                <a:sym typeface="Poppins Light"/>
              </a:rPr>
              <a:t>Débil</a:t>
            </a:r>
            <a:endParaRPr sz="135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CCE312-7BD6-FD0E-CEAF-C72C7A609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5" y="1634979"/>
            <a:ext cx="4997670" cy="2616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68268"/>
            <a:ext cx="8001000" cy="86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4060"/>
            <a:ext cx="8001000" cy="86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19851"/>
            <a:ext cx="8001000" cy="86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95643"/>
            <a:ext cx="8001000" cy="86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4" y="1175412"/>
            <a:ext cx="958601" cy="8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8644" y="2151203"/>
            <a:ext cx="946881" cy="8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8644" y="3126994"/>
            <a:ext cx="969094" cy="8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8644" y="4102786"/>
            <a:ext cx="970769" cy="8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58001" y="1282568"/>
            <a:ext cx="1564481" cy="26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58001" y="2258360"/>
            <a:ext cx="1564481" cy="264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58002" y="3234151"/>
            <a:ext cx="1564480" cy="307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58002" y="4209943"/>
            <a:ext cx="1564479" cy="26431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71500" y="428626"/>
            <a:ext cx="4935617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925">
                <a:solidFill>
                  <a:srgbClr val="33333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Plan de Acción Directivo</a:t>
            </a:r>
            <a:endParaRPr sz="1350"/>
          </a:p>
        </p:txBody>
      </p:sp>
      <p:sp>
        <p:nvSpPr>
          <p:cNvPr id="97" name="Google Shape;97;p13"/>
          <p:cNvSpPr/>
          <p:nvPr/>
        </p:nvSpPr>
        <p:spPr>
          <a:xfrm>
            <a:off x="571500" y="957263"/>
            <a:ext cx="4700588" cy="7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751557" y="1318287"/>
            <a:ext cx="5170736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Segmentar gestión de inventario por ciudad y tipo, no por tamaño.</a:t>
            </a:r>
            <a:endParaRPr sz="1350"/>
          </a:p>
        </p:txBody>
      </p:sp>
      <p:sp>
        <p:nvSpPr>
          <p:cNvPr id="99" name="Google Shape;99;p13"/>
          <p:cNvSpPr txBox="1"/>
          <p:nvPr/>
        </p:nvSpPr>
        <p:spPr>
          <a:xfrm>
            <a:off x="1751557" y="1546887"/>
            <a:ext cx="6599486" cy="41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Dado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que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la ciudad y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el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room_type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explican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más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disponibilidad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que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el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tamaño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, las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políticas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revenue y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ocupación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deben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definirse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primero a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nivel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local.</a:t>
            </a:r>
            <a:endParaRPr sz="1350"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1739838" y="2294079"/>
            <a:ext cx="5182456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Activar alerta específica para pisos grandes en Barcelona.</a:t>
            </a:r>
            <a:endParaRPr sz="1350"/>
          </a:p>
        </p:txBody>
      </p:sp>
      <p:sp>
        <p:nvSpPr>
          <p:cNvPr id="101" name="Google Shape;101;p13"/>
          <p:cNvSpPr txBox="1"/>
          <p:nvPr/>
        </p:nvSpPr>
        <p:spPr>
          <a:xfrm>
            <a:off x="1739838" y="2522678"/>
            <a:ext cx="6611206" cy="41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Es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el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único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segmento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donde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el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tamaño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anticipa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más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noches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libres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. Para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alojamientos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3+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habitaciones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revisar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precio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y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reducir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estancia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mínima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para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rellenar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huecos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5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1762050" y="3269870"/>
            <a:ext cx="5160243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No </a:t>
            </a:r>
            <a:r>
              <a:rPr lang="en-US" sz="1238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esperar</a:t>
            </a:r>
            <a:r>
              <a:rPr lang="en-US" sz="1238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</a:t>
            </a:r>
            <a:r>
              <a:rPr lang="en-US" sz="1238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que</a:t>
            </a:r>
            <a:r>
              <a:rPr lang="en-US" sz="1238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</a:t>
            </a:r>
            <a:r>
              <a:rPr lang="en-US" sz="1238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el</a:t>
            </a:r>
            <a:r>
              <a:rPr lang="en-US" sz="1238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</a:t>
            </a:r>
            <a:r>
              <a:rPr lang="en-US" sz="1238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tamaño</a:t>
            </a:r>
            <a:r>
              <a:rPr lang="en-US" sz="1238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</a:t>
            </a:r>
            <a:r>
              <a:rPr lang="en-US" sz="1238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explique</a:t>
            </a:r>
            <a:r>
              <a:rPr lang="en-US" sz="1238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la </a:t>
            </a:r>
            <a:r>
              <a:rPr lang="en-US" sz="1238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disponibilidad</a:t>
            </a:r>
            <a:endParaRPr sz="1350" dirty="0"/>
          </a:p>
        </p:txBody>
      </p:sp>
      <p:sp>
        <p:nvSpPr>
          <p:cNvPr id="103" name="Google Shape;103;p13"/>
          <p:cNvSpPr txBox="1"/>
          <p:nvPr/>
        </p:nvSpPr>
        <p:spPr>
          <a:xfrm>
            <a:off x="1762050" y="3498470"/>
            <a:ext cx="6588993" cy="2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debe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priorizar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el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análisis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factores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con mayor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poder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explicativo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la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estacionalidad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y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el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precio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dinámico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50"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1763725" y="4245662"/>
            <a:ext cx="5158568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Aprovechar y escalar los destinos de costa.</a:t>
            </a:r>
            <a:endParaRPr sz="1350"/>
          </a:p>
        </p:txBody>
      </p:sp>
      <p:sp>
        <p:nvSpPr>
          <p:cNvPr id="105" name="Google Shape;105;p13"/>
          <p:cNvSpPr txBox="1"/>
          <p:nvPr/>
        </p:nvSpPr>
        <p:spPr>
          <a:xfrm>
            <a:off x="1763725" y="4474262"/>
            <a:ext cx="6587318" cy="41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 Mallorca/Málaga la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disponibilidad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es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independiente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del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tamaño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. Hay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margen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estratégico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para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escalar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inventario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grande (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familias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) sin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penalizar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 la </a:t>
            </a:r>
            <a:r>
              <a:rPr lang="en-US" sz="956" dirty="0" err="1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ocupación</a:t>
            </a:r>
            <a:r>
              <a:rPr lang="en-US" sz="956" dirty="0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50" dirty="0"/>
          </a:p>
        </p:txBody>
      </p:sp>
      <p:sp>
        <p:nvSpPr>
          <p:cNvPr id="106" name="Google Shape;106;p13"/>
          <p:cNvSpPr txBox="1"/>
          <p:nvPr/>
        </p:nvSpPr>
        <p:spPr>
          <a:xfrm>
            <a:off x="7439631" y="1318288"/>
            <a:ext cx="964406" cy="22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31" b="1" dirty="0" err="1">
                <a:solidFill>
                  <a:srgbClr val="333333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Operaciones</a:t>
            </a:r>
            <a:r>
              <a:rPr lang="en-US" sz="731" b="1" dirty="0">
                <a:solidFill>
                  <a:srgbClr val="333333"/>
                </a:solidFill>
                <a:latin typeface="Source Sans 3"/>
                <a:ea typeface="Source Sans 3"/>
                <a:cs typeface="Source Sans 3"/>
                <a:sym typeface="Source Sans 3"/>
              </a:rPr>
              <a:t> + Revenue</a:t>
            </a:r>
            <a:endParaRPr sz="1350" dirty="0"/>
          </a:p>
        </p:txBody>
      </p:sp>
      <p:sp>
        <p:nvSpPr>
          <p:cNvPr id="107" name="Google Shape;107;p13"/>
          <p:cNvSpPr txBox="1"/>
          <p:nvPr/>
        </p:nvSpPr>
        <p:spPr>
          <a:xfrm>
            <a:off x="7487399" y="2294079"/>
            <a:ext cx="964406" cy="22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31" b="1" dirty="0" err="1">
                <a:solidFill>
                  <a:srgbClr val="333333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Operaciones</a:t>
            </a:r>
            <a:r>
              <a:rPr lang="en-US" sz="731" b="1" dirty="0">
                <a:solidFill>
                  <a:srgbClr val="333333"/>
                </a:solidFill>
                <a:latin typeface="Source Sans 3"/>
                <a:ea typeface="Source Sans 3"/>
                <a:cs typeface="Source Sans 3"/>
                <a:sym typeface="Source Sans 3"/>
              </a:rPr>
              <a:t> + Revenue</a:t>
            </a:r>
            <a:endParaRPr sz="1350" dirty="0"/>
          </a:p>
        </p:txBody>
      </p:sp>
      <p:sp>
        <p:nvSpPr>
          <p:cNvPr id="108" name="Google Shape;108;p13"/>
          <p:cNvSpPr txBox="1"/>
          <p:nvPr/>
        </p:nvSpPr>
        <p:spPr>
          <a:xfrm>
            <a:off x="7753956" y="3269870"/>
            <a:ext cx="650081" cy="22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31" b="1" dirty="0">
                <a:solidFill>
                  <a:srgbClr val="333333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+ </a:t>
            </a:r>
            <a:r>
              <a:rPr lang="en-US" sz="731" b="1" dirty="0" err="1">
                <a:solidFill>
                  <a:srgbClr val="333333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Analítica</a:t>
            </a:r>
            <a:endParaRPr sz="1350" dirty="0"/>
          </a:p>
        </p:txBody>
      </p:sp>
      <p:sp>
        <p:nvSpPr>
          <p:cNvPr id="109" name="Google Shape;109;p13"/>
          <p:cNvSpPr txBox="1"/>
          <p:nvPr/>
        </p:nvSpPr>
        <p:spPr>
          <a:xfrm>
            <a:off x="7658100" y="4245662"/>
            <a:ext cx="657225" cy="22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31" b="1">
                <a:solidFill>
                  <a:srgbClr val="333333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Comercial + Op.</a:t>
            </a:r>
            <a:endParaRPr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3420-8F7F-72E2-3453-8ACB892D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86;p13">
            <a:extLst>
              <a:ext uri="{FF2B5EF4-FFF2-40B4-BE49-F238E27FC236}">
                <a16:creationId xmlns:a16="http://schemas.microsoft.com/office/drawing/2014/main" id="{26603C0F-B27F-E173-444C-BB89DC7D8C99}"/>
              </a:ext>
            </a:extLst>
          </p:cNvPr>
          <p:cNvGrpSpPr/>
          <p:nvPr/>
        </p:nvGrpSpPr>
        <p:grpSpPr>
          <a:xfrm>
            <a:off x="277813" y="2940818"/>
            <a:ext cx="8286750" cy="2087762"/>
            <a:chOff x="881836" y="3523043"/>
            <a:chExt cx="11049000" cy="2783683"/>
          </a:xfrm>
        </p:grpSpPr>
        <p:sp>
          <p:nvSpPr>
            <p:cNvPr id="3" name="Google Shape;87;p13">
              <a:extLst>
                <a:ext uri="{FF2B5EF4-FFF2-40B4-BE49-F238E27FC236}">
                  <a16:creationId xmlns:a16="http://schemas.microsoft.com/office/drawing/2014/main" id="{F3F1FB0C-BA4B-C55F-17B3-E9FD7422AA20}"/>
                </a:ext>
              </a:extLst>
            </p:cNvPr>
            <p:cNvSpPr/>
            <p:nvPr/>
          </p:nvSpPr>
          <p:spPr>
            <a:xfrm>
              <a:off x="1434286" y="4992269"/>
              <a:ext cx="99441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dk1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" name="Google Shape;88;p13" descr="image.png">
              <a:extLst>
                <a:ext uri="{FF2B5EF4-FFF2-40B4-BE49-F238E27FC236}">
                  <a16:creationId xmlns:a16="http://schemas.microsoft.com/office/drawing/2014/main" id="{17733AE9-5726-DB9C-6CD4-4F59933ADE2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652027" y="3865837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89;p13" descr="image.png">
              <a:extLst>
                <a:ext uri="{FF2B5EF4-FFF2-40B4-BE49-F238E27FC236}">
                  <a16:creationId xmlns:a16="http://schemas.microsoft.com/office/drawing/2014/main" id="{77BEF113-7ED1-2967-A1A5-6FF17DF578B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06666" y="3865837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90;p13" descr="image.png">
              <a:extLst>
                <a:ext uri="{FF2B5EF4-FFF2-40B4-BE49-F238E27FC236}">
                  <a16:creationId xmlns:a16="http://schemas.microsoft.com/office/drawing/2014/main" id="{6233E185-8FBC-7FB8-EA85-B62EB7D4125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79346" y="389652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1;p13" descr="image.png">
              <a:extLst>
                <a:ext uri="{FF2B5EF4-FFF2-40B4-BE49-F238E27FC236}">
                  <a16:creationId xmlns:a16="http://schemas.microsoft.com/office/drawing/2014/main" id="{0F7955B8-C7BB-E254-D7F4-4414B7A85DA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524707" y="3896523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2;p13" descr="image.png">
              <a:extLst>
                <a:ext uri="{FF2B5EF4-FFF2-40B4-BE49-F238E27FC236}">
                  <a16:creationId xmlns:a16="http://schemas.microsoft.com/office/drawing/2014/main" id="{D80C4BC7-DCD6-EAF7-BB16-C1DECDFB262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81836" y="4250360"/>
              <a:ext cx="2430660" cy="1502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3;p13" descr="image.png">
              <a:extLst>
                <a:ext uri="{FF2B5EF4-FFF2-40B4-BE49-F238E27FC236}">
                  <a16:creationId xmlns:a16="http://schemas.microsoft.com/office/drawing/2014/main" id="{CD249457-DD29-75C1-BCA7-3FDBD8EAD89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54516" y="4250360"/>
              <a:ext cx="2430660" cy="1502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4;p13" descr="image.png">
              <a:extLst>
                <a:ext uri="{FF2B5EF4-FFF2-40B4-BE49-F238E27FC236}">
                  <a16:creationId xmlns:a16="http://schemas.microsoft.com/office/drawing/2014/main" id="{44225DA6-DAB2-9B14-23A9-3398CB445D49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627196" y="4250360"/>
              <a:ext cx="2430660" cy="1502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5;p13" descr="image.png">
              <a:extLst>
                <a:ext uri="{FF2B5EF4-FFF2-40B4-BE49-F238E27FC236}">
                  <a16:creationId xmlns:a16="http://schemas.microsoft.com/office/drawing/2014/main" id="{B509C550-2354-F6B3-4BB5-7FACDC252ADA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499877" y="4250360"/>
              <a:ext cx="2430660" cy="17538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96;p13">
              <a:extLst>
                <a:ext uri="{FF2B5EF4-FFF2-40B4-BE49-F238E27FC236}">
                  <a16:creationId xmlns:a16="http://schemas.microsoft.com/office/drawing/2014/main" id="{F18138BC-445B-72F4-5D2B-AA1EFA2EC089}"/>
                </a:ext>
              </a:extLst>
            </p:cNvPr>
            <p:cNvSpPr txBox="1"/>
            <p:nvPr/>
          </p:nvSpPr>
          <p:spPr>
            <a:xfrm>
              <a:off x="881836" y="6145057"/>
              <a:ext cx="11049000" cy="1616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s-ES" sz="788" dirty="0">
                  <a:solidFill>
                    <a:srgbClr val="94A3B8"/>
                  </a:solidFill>
                  <a:latin typeface="Georgia" panose="02040502050405020303" pitchFamily="18" charset="0"/>
                  <a:ea typeface="Lato"/>
                  <a:cs typeface="Lato"/>
                  <a:sym typeface="Lato"/>
                </a:rPr>
                <a:t>Base: 706 anuncios | Enfoque: Descriptivo</a:t>
              </a:r>
              <a:endParaRPr lang="es-ES" sz="1350" dirty="0">
                <a:latin typeface="Georgia" panose="02040502050405020303" pitchFamily="18" charset="0"/>
              </a:endParaRPr>
            </a:p>
          </p:txBody>
        </p:sp>
        <p:sp>
          <p:nvSpPr>
            <p:cNvPr id="13" name="Google Shape;97;p13">
              <a:extLst>
                <a:ext uri="{FF2B5EF4-FFF2-40B4-BE49-F238E27FC236}">
                  <a16:creationId xmlns:a16="http://schemas.microsoft.com/office/drawing/2014/main" id="{D28C8B10-7EA3-514C-58FB-992030F9798E}"/>
                </a:ext>
              </a:extLst>
            </p:cNvPr>
            <p:cNvSpPr/>
            <p:nvPr/>
          </p:nvSpPr>
          <p:spPr>
            <a:xfrm>
              <a:off x="881836" y="6116482"/>
              <a:ext cx="11049000" cy="96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dk1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8;p13">
              <a:extLst>
                <a:ext uri="{FF2B5EF4-FFF2-40B4-BE49-F238E27FC236}">
                  <a16:creationId xmlns:a16="http://schemas.microsoft.com/office/drawing/2014/main" id="{738AE989-6662-3007-761D-4ACB85E26A32}"/>
                </a:ext>
              </a:extLst>
            </p:cNvPr>
            <p:cNvSpPr txBox="1"/>
            <p:nvPr/>
          </p:nvSpPr>
          <p:spPr>
            <a:xfrm>
              <a:off x="881836" y="3523043"/>
              <a:ext cx="8572500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1575" b="1" dirty="0" err="1">
                  <a:solidFill>
                    <a:srgbClr val="1E293B"/>
                  </a:solidFill>
                  <a:latin typeface="Georgia" panose="02040502050405020303" pitchFamily="18" charset="0"/>
                  <a:ea typeface="Poppins"/>
                  <a:cs typeface="Poppins"/>
                  <a:sym typeface="Poppins"/>
                </a:rPr>
                <a:t>Metodología</a:t>
              </a:r>
              <a:r>
                <a:rPr lang="en-US" sz="1575" b="1" dirty="0">
                  <a:solidFill>
                    <a:srgbClr val="1E293B"/>
                  </a:solidFill>
                  <a:latin typeface="Georgia" panose="02040502050405020303" pitchFamily="18" charset="0"/>
                  <a:ea typeface="Poppins"/>
                  <a:cs typeface="Poppins"/>
                  <a:sym typeface="Poppins"/>
                </a:rPr>
                <a:t> de </a:t>
              </a:r>
              <a:r>
                <a:rPr lang="en-US" sz="1575" b="1" dirty="0" err="1">
                  <a:solidFill>
                    <a:srgbClr val="1E293B"/>
                  </a:solidFill>
                  <a:latin typeface="Georgia" panose="02040502050405020303" pitchFamily="18" charset="0"/>
                  <a:ea typeface="Poppins"/>
                  <a:cs typeface="Poppins"/>
                  <a:sym typeface="Poppins"/>
                </a:rPr>
                <a:t>análisis</a:t>
              </a:r>
              <a:r>
                <a:rPr lang="en-US" sz="1575" b="1" dirty="0">
                  <a:solidFill>
                    <a:srgbClr val="1E293B"/>
                  </a:solidFill>
                  <a:latin typeface="Georgia" panose="02040502050405020303" pitchFamily="18" charset="0"/>
                  <a:ea typeface="Poppins"/>
                  <a:cs typeface="Poppins"/>
                  <a:sym typeface="Poppins"/>
                </a:rPr>
                <a:t>:</a:t>
              </a:r>
              <a:endParaRPr sz="1575" b="1" dirty="0">
                <a:solidFill>
                  <a:srgbClr val="1E293B"/>
                </a:solidFill>
                <a:latin typeface="Georgia" panose="02040502050405020303" pitchFamily="18" charset="0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" name="Google Shape;99;p13">
              <a:extLst>
                <a:ext uri="{FF2B5EF4-FFF2-40B4-BE49-F238E27FC236}">
                  <a16:creationId xmlns:a16="http://schemas.microsoft.com/office/drawing/2014/main" id="{AB227528-2F30-3E03-BABC-9D6648B4F15C}"/>
                </a:ext>
              </a:extLst>
            </p:cNvPr>
            <p:cNvSpPr txBox="1"/>
            <p:nvPr/>
          </p:nvSpPr>
          <p:spPr>
            <a:xfrm>
              <a:off x="1081101" y="4593260"/>
              <a:ext cx="2032200" cy="207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013" b="1" dirty="0" err="1">
                  <a:solidFill>
                    <a:srgbClr val="0F4C81"/>
                  </a:solidFill>
                  <a:latin typeface="Georgia" panose="02040502050405020303" pitchFamily="18" charset="0"/>
                  <a:ea typeface="Poppins"/>
                  <a:cs typeface="Poppins"/>
                  <a:sym typeface="Poppins"/>
                </a:rPr>
                <a:t>Describir</a:t>
              </a:r>
              <a:endParaRPr sz="1350" dirty="0">
                <a:latin typeface="Georgia" panose="02040502050405020303" pitchFamily="18" charset="0"/>
              </a:endParaRPr>
            </a:p>
          </p:txBody>
        </p:sp>
        <p:sp>
          <p:nvSpPr>
            <p:cNvPr id="16" name="Google Shape;100;p13">
              <a:extLst>
                <a:ext uri="{FF2B5EF4-FFF2-40B4-BE49-F238E27FC236}">
                  <a16:creationId xmlns:a16="http://schemas.microsoft.com/office/drawing/2014/main" id="{639A65D1-F9FD-9E78-0714-8D527E884C15}"/>
                </a:ext>
              </a:extLst>
            </p:cNvPr>
            <p:cNvSpPr txBox="1"/>
            <p:nvPr/>
          </p:nvSpPr>
          <p:spPr>
            <a:xfrm>
              <a:off x="1129487" y="4945684"/>
              <a:ext cx="1935300" cy="678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s-ES" sz="788" dirty="0">
                  <a:solidFill>
                    <a:srgbClr val="64748B"/>
                  </a:solidFill>
                  <a:latin typeface="Georgia" panose="02040502050405020303" pitchFamily="18" charset="0"/>
                  <a:ea typeface="Lato"/>
                  <a:cs typeface="Lato"/>
                  <a:sym typeface="Lato"/>
                </a:rPr>
                <a:t>Filtrar los anuncios de </a:t>
              </a:r>
              <a:r>
                <a:rPr lang="es-ES" sz="788" b="1" dirty="0">
                  <a:solidFill>
                    <a:srgbClr val="64748B"/>
                  </a:solidFill>
                  <a:latin typeface="Georgia" panose="02040502050405020303" pitchFamily="18" charset="0"/>
                  <a:ea typeface="Lato"/>
                  <a:cs typeface="Lato"/>
                  <a:sym typeface="Lato"/>
                </a:rPr>
                <a:t>2020</a:t>
              </a:r>
              <a:r>
                <a:rPr lang="es-ES" sz="788" dirty="0">
                  <a:solidFill>
                    <a:srgbClr val="64748B"/>
                  </a:solidFill>
                  <a:latin typeface="Georgia" panose="02040502050405020303" pitchFamily="18" charset="0"/>
                  <a:ea typeface="Lato"/>
                  <a:cs typeface="Lato"/>
                  <a:sym typeface="Lato"/>
                </a:rPr>
                <a:t> y </a:t>
              </a:r>
              <a:r>
                <a:rPr lang="es-ES" sz="788" b="1" dirty="0">
                  <a:solidFill>
                    <a:srgbClr val="64748B"/>
                  </a:solidFill>
                  <a:latin typeface="Georgia" panose="02040502050405020303" pitchFamily="18" charset="0"/>
                  <a:ea typeface="Lato"/>
                  <a:cs typeface="Lato"/>
                  <a:sym typeface="Lato"/>
                </a:rPr>
                <a:t>2021</a:t>
              </a:r>
              <a:r>
                <a:rPr lang="es-ES" sz="788" dirty="0">
                  <a:solidFill>
                    <a:srgbClr val="64748B"/>
                  </a:solidFill>
                  <a:latin typeface="Georgia" panose="02040502050405020303" pitchFamily="18" charset="0"/>
                  <a:ea typeface="Lato"/>
                  <a:cs typeface="Lato"/>
                  <a:sym typeface="Lato"/>
                </a:rPr>
                <a:t> correspondientes a alojamientos de uso turístico</a:t>
              </a:r>
            </a:p>
          </p:txBody>
        </p:sp>
        <p:sp>
          <p:nvSpPr>
            <p:cNvPr id="17" name="Google Shape;101;p13">
              <a:extLst>
                <a:ext uri="{FF2B5EF4-FFF2-40B4-BE49-F238E27FC236}">
                  <a16:creationId xmlns:a16="http://schemas.microsoft.com/office/drawing/2014/main" id="{85421ECE-5388-9BB6-061F-95ADD47A52BC}"/>
                </a:ext>
              </a:extLst>
            </p:cNvPr>
            <p:cNvSpPr txBox="1"/>
            <p:nvPr/>
          </p:nvSpPr>
          <p:spPr>
            <a:xfrm>
              <a:off x="3953783" y="4593260"/>
              <a:ext cx="2032200" cy="207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013" b="1" dirty="0" err="1">
                  <a:solidFill>
                    <a:srgbClr val="0F4C81"/>
                  </a:solidFill>
                  <a:latin typeface="Georgia" panose="02040502050405020303" pitchFamily="18" charset="0"/>
                  <a:ea typeface="Poppins"/>
                  <a:cs typeface="Poppins"/>
                  <a:sym typeface="Poppins"/>
                </a:rPr>
                <a:t>Análizar</a:t>
              </a:r>
              <a:endParaRPr sz="1350" dirty="0">
                <a:latin typeface="Georgia" panose="02040502050405020303" pitchFamily="18" charset="0"/>
              </a:endParaRPr>
            </a:p>
          </p:txBody>
        </p:sp>
        <p:sp>
          <p:nvSpPr>
            <p:cNvPr id="18" name="Google Shape;102;p13">
              <a:extLst>
                <a:ext uri="{FF2B5EF4-FFF2-40B4-BE49-F238E27FC236}">
                  <a16:creationId xmlns:a16="http://schemas.microsoft.com/office/drawing/2014/main" id="{3CB51F52-8C05-B01E-5828-88D00DDA6B2B}"/>
                </a:ext>
              </a:extLst>
            </p:cNvPr>
            <p:cNvSpPr txBox="1"/>
            <p:nvPr/>
          </p:nvSpPr>
          <p:spPr>
            <a:xfrm>
              <a:off x="4002167" y="4945684"/>
              <a:ext cx="1935300" cy="678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s-ES" sz="788" dirty="0">
                  <a:solidFill>
                    <a:srgbClr val="64748B"/>
                  </a:solidFill>
                  <a:latin typeface="Georgia" panose="02040502050405020303" pitchFamily="18" charset="0"/>
                  <a:ea typeface="Lato"/>
                  <a:cs typeface="Lato"/>
                  <a:sym typeface="Lato"/>
                </a:rPr>
                <a:t>Análisis descriptivo de las puntuaciones de reputación de los alojamientos</a:t>
              </a:r>
            </a:p>
          </p:txBody>
        </p:sp>
        <p:sp>
          <p:nvSpPr>
            <p:cNvPr id="19" name="Google Shape;103;p13">
              <a:extLst>
                <a:ext uri="{FF2B5EF4-FFF2-40B4-BE49-F238E27FC236}">
                  <a16:creationId xmlns:a16="http://schemas.microsoft.com/office/drawing/2014/main" id="{C9CFF04B-FAE2-A972-C968-3C14F91149F8}"/>
                </a:ext>
              </a:extLst>
            </p:cNvPr>
            <p:cNvSpPr txBox="1"/>
            <p:nvPr/>
          </p:nvSpPr>
          <p:spPr>
            <a:xfrm>
              <a:off x="6826463" y="4593260"/>
              <a:ext cx="2032200" cy="207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013" b="1" dirty="0" err="1">
                  <a:solidFill>
                    <a:srgbClr val="0F4C81"/>
                  </a:solidFill>
                  <a:latin typeface="Georgia" panose="02040502050405020303" pitchFamily="18" charset="0"/>
                  <a:ea typeface="Poppins"/>
                  <a:cs typeface="Poppins"/>
                  <a:sym typeface="Poppins"/>
                </a:rPr>
                <a:t>Agrupar</a:t>
              </a:r>
              <a:endParaRPr lang="en-US" sz="1350" dirty="0">
                <a:latin typeface="Georgia" panose="02040502050405020303" pitchFamily="18" charset="0"/>
              </a:endParaRPr>
            </a:p>
          </p:txBody>
        </p:sp>
        <p:sp>
          <p:nvSpPr>
            <p:cNvPr id="20" name="Google Shape;104;p13">
              <a:extLst>
                <a:ext uri="{FF2B5EF4-FFF2-40B4-BE49-F238E27FC236}">
                  <a16:creationId xmlns:a16="http://schemas.microsoft.com/office/drawing/2014/main" id="{B15D81C5-1BFD-894E-C0D4-0F305E95023D}"/>
                </a:ext>
              </a:extLst>
            </p:cNvPr>
            <p:cNvSpPr txBox="1"/>
            <p:nvPr/>
          </p:nvSpPr>
          <p:spPr>
            <a:xfrm>
              <a:off x="6874847" y="4945684"/>
              <a:ext cx="1935300" cy="678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s-ES" sz="788" dirty="0">
                  <a:solidFill>
                    <a:srgbClr val="64748B"/>
                  </a:solidFill>
                  <a:latin typeface="Georgia" panose="02040502050405020303" pitchFamily="18" charset="0"/>
                  <a:ea typeface="Lato"/>
                  <a:cs typeface="Lato"/>
                  <a:sym typeface="Lato"/>
                </a:rPr>
                <a:t>Clasificar los anuncios según el tipo y el número de valoraciones bajas</a:t>
              </a:r>
            </a:p>
          </p:txBody>
        </p:sp>
        <p:sp>
          <p:nvSpPr>
            <p:cNvPr id="21" name="Google Shape;105;p13">
              <a:extLst>
                <a:ext uri="{FF2B5EF4-FFF2-40B4-BE49-F238E27FC236}">
                  <a16:creationId xmlns:a16="http://schemas.microsoft.com/office/drawing/2014/main" id="{7EA02B91-3B05-C6D5-D39F-BE5057730D9B}"/>
                </a:ext>
              </a:extLst>
            </p:cNvPr>
            <p:cNvSpPr txBox="1"/>
            <p:nvPr/>
          </p:nvSpPr>
          <p:spPr>
            <a:xfrm>
              <a:off x="9699143" y="4593260"/>
              <a:ext cx="2032200" cy="207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013" b="1" dirty="0" err="1">
                  <a:solidFill>
                    <a:srgbClr val="0F4C81"/>
                  </a:solidFill>
                  <a:latin typeface="Georgia" panose="02040502050405020303" pitchFamily="18" charset="0"/>
                  <a:ea typeface="Poppins"/>
                  <a:cs typeface="Poppins"/>
                  <a:sym typeface="Poppins"/>
                </a:rPr>
                <a:t>Ranquear</a:t>
              </a:r>
              <a:endParaRPr sz="1350" dirty="0">
                <a:latin typeface="Georgia" panose="02040502050405020303" pitchFamily="18" charset="0"/>
              </a:endParaRPr>
            </a:p>
          </p:txBody>
        </p:sp>
        <p:sp>
          <p:nvSpPr>
            <p:cNvPr id="22" name="Google Shape;106;p13">
              <a:extLst>
                <a:ext uri="{FF2B5EF4-FFF2-40B4-BE49-F238E27FC236}">
                  <a16:creationId xmlns:a16="http://schemas.microsoft.com/office/drawing/2014/main" id="{F9182A75-209C-CD6F-5855-0C5CC71B9985}"/>
                </a:ext>
              </a:extLst>
            </p:cNvPr>
            <p:cNvSpPr txBox="1"/>
            <p:nvPr/>
          </p:nvSpPr>
          <p:spPr>
            <a:xfrm>
              <a:off x="9747527" y="4945684"/>
              <a:ext cx="1935300" cy="905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s-ES" sz="788" dirty="0">
                  <a:solidFill>
                    <a:srgbClr val="64748B"/>
                  </a:solidFill>
                  <a:latin typeface="Georgia" panose="02040502050405020303" pitchFamily="18" charset="0"/>
                  <a:ea typeface="Lato"/>
                  <a:cs typeface="Lato"/>
                  <a:sym typeface="Lato"/>
                </a:rPr>
                <a:t>Ranquear las ciudades y los barrios según las puntuaciones más bajas de las reseñas para generar recomendaciones</a:t>
              </a:r>
            </a:p>
          </p:txBody>
        </p:sp>
      </p:grpSp>
      <p:sp>
        <p:nvSpPr>
          <p:cNvPr id="25" name="Google Shape;107;p13">
            <a:extLst>
              <a:ext uri="{FF2B5EF4-FFF2-40B4-BE49-F238E27FC236}">
                <a16:creationId xmlns:a16="http://schemas.microsoft.com/office/drawing/2014/main" id="{4E46CF51-1257-F34F-176C-C63A46C6E8B4}"/>
              </a:ext>
            </a:extLst>
          </p:cNvPr>
          <p:cNvSpPr txBox="1"/>
          <p:nvPr/>
        </p:nvSpPr>
        <p:spPr>
          <a:xfrm>
            <a:off x="277813" y="252340"/>
            <a:ext cx="863758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>
                <a:solidFill>
                  <a:srgbClr val="1E293B"/>
                </a:solidFill>
                <a:latin typeface="Georgia" panose="02040502050405020303" pitchFamily="18" charset="0"/>
                <a:cs typeface="Poppins"/>
                <a:sym typeface="Poppins Light"/>
              </a:rPr>
              <a:t>Marketing: </a:t>
            </a:r>
            <a:r>
              <a:rPr lang="en-US" b="1" dirty="0" err="1">
                <a:solidFill>
                  <a:srgbClr val="1E293B"/>
                </a:solidFill>
                <a:latin typeface="Georgia" panose="02040502050405020303" pitchFamily="18" charset="0"/>
                <a:ea typeface="Poppins"/>
                <a:cs typeface="Poppins"/>
                <a:sym typeface="Poppins"/>
              </a:rPr>
              <a:t>Análisis</a:t>
            </a:r>
            <a:r>
              <a:rPr lang="en-US" b="1" dirty="0">
                <a:solidFill>
                  <a:srgbClr val="1E293B"/>
                </a:solidFill>
                <a:latin typeface="Georgia" panose="02040502050405020303" pitchFamily="18" charset="0"/>
                <a:ea typeface="Poppins"/>
                <a:cs typeface="Poppins"/>
                <a:sym typeface="Poppins"/>
              </a:rPr>
              <a:t> </a:t>
            </a:r>
            <a:r>
              <a:rPr lang="en-US" b="1" dirty="0">
                <a:solidFill>
                  <a:srgbClr val="1E293B"/>
                </a:solidFill>
                <a:latin typeface="Georgia" panose="02040502050405020303" pitchFamily="18" charset="0"/>
                <a:cs typeface="Poppins"/>
                <a:sym typeface="Poppins Light"/>
              </a:rPr>
              <a:t>de </a:t>
            </a:r>
            <a:r>
              <a:rPr lang="es-ES" b="1" dirty="0">
                <a:solidFill>
                  <a:srgbClr val="1E293B"/>
                </a:solidFill>
                <a:latin typeface="Georgia" panose="02040502050405020303" pitchFamily="18" charset="0"/>
                <a:cs typeface="Poppins"/>
                <a:sym typeface="Poppins Light"/>
              </a:rPr>
              <a:t>la mayor oportunidad de mejora en ciudades y barrios considerando reputación, ubicación y estancias?</a:t>
            </a:r>
            <a:endParaRPr sz="2400" b="1" dirty="0">
              <a:solidFill>
                <a:srgbClr val="1E293B"/>
              </a:solidFill>
              <a:latin typeface="Georgia" panose="02040502050405020303" pitchFamily="18" charset="0"/>
              <a:cs typeface="Poppin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237D0FD-58F1-4999-A8BD-24CC4F36DD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553" y="1420685"/>
            <a:ext cx="2037078" cy="111113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B1B5B2F-39E3-4502-B7B3-CB5FEA6B09E1}"/>
              </a:ext>
            </a:extLst>
          </p:cNvPr>
          <p:cNvGrpSpPr/>
          <p:nvPr/>
        </p:nvGrpSpPr>
        <p:grpSpPr>
          <a:xfrm>
            <a:off x="3048574" y="1310988"/>
            <a:ext cx="5139079" cy="1527138"/>
            <a:chOff x="151423" y="820865"/>
            <a:chExt cx="5139079" cy="1527138"/>
          </a:xfrm>
        </p:grpSpPr>
        <p:sp>
          <p:nvSpPr>
            <p:cNvPr id="26" name="Rectangle 1">
              <a:extLst>
                <a:ext uri="{FF2B5EF4-FFF2-40B4-BE49-F238E27FC236}">
                  <a16:creationId xmlns:a16="http://schemas.microsoft.com/office/drawing/2014/main" id="{8FCD006A-A792-4CF8-A928-0757688E0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423" y="820865"/>
              <a:ext cx="3800238" cy="253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50" b="1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Definición</a:t>
              </a:r>
              <a:r>
                <a:rPr kumimoji="0" lang="en-US" altLang="en-US" sz="105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 de «</a:t>
              </a:r>
              <a:r>
                <a:rPr kumimoji="0" lang="en-US" altLang="en-US" sz="1050" b="1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alojamiento</a:t>
              </a:r>
              <a:r>
                <a:rPr kumimoji="0" lang="en-US" altLang="en-US" sz="105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 de </a:t>
              </a:r>
              <a:r>
                <a:rPr kumimoji="0" lang="en-US" altLang="en-US" sz="1050" b="1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uso</a:t>
              </a:r>
              <a:r>
                <a:rPr kumimoji="0" lang="en-US" altLang="en-US" sz="105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 </a:t>
              </a:r>
              <a:r>
                <a:rPr kumimoji="0" lang="en-US" altLang="en-US" sz="1050" b="1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turístico</a:t>
              </a:r>
              <a:r>
                <a:rPr kumimoji="0" lang="en-US" altLang="en-US" sz="105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»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82C81E6-F020-4BAC-B720-C4A9125DF80B}"/>
                </a:ext>
              </a:extLst>
            </p:cNvPr>
            <p:cNvSpPr/>
            <p:nvPr/>
          </p:nvSpPr>
          <p:spPr>
            <a:xfrm>
              <a:off x="273167" y="1250205"/>
              <a:ext cx="1032655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Georgia" panose="02040502050405020303" pitchFamily="18" charset="0"/>
                </a:rPr>
                <a:t>&lt;31 días</a:t>
              </a:r>
            </a:p>
          </p:txBody>
        </p:sp>
        <p:sp>
          <p:nvSpPr>
            <p:cNvPr id="29" name="Rectangle 1">
              <a:extLst>
                <a:ext uri="{FF2B5EF4-FFF2-40B4-BE49-F238E27FC236}">
                  <a16:creationId xmlns:a16="http://schemas.microsoft.com/office/drawing/2014/main" id="{148B96AE-50CD-46AD-929A-FDC6066E6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977" y="1633870"/>
              <a:ext cx="182326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Barcelona, Girona, Madrid, Menorca 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70CF021-1820-405B-866D-6EEED01935CD}"/>
                </a:ext>
              </a:extLst>
            </p:cNvPr>
            <p:cNvSpPr/>
            <p:nvPr/>
          </p:nvSpPr>
          <p:spPr>
            <a:xfrm>
              <a:off x="276374" y="1607254"/>
              <a:ext cx="107753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Georgia" panose="02040502050405020303" pitchFamily="18" charset="0"/>
                </a:rPr>
                <a:t>&lt;60 días</a:t>
              </a:r>
            </a:p>
          </p:txBody>
        </p:sp>
        <p:sp>
          <p:nvSpPr>
            <p:cNvPr id="31" name="Rectangle 1">
              <a:extLst>
                <a:ext uri="{FF2B5EF4-FFF2-40B4-BE49-F238E27FC236}">
                  <a16:creationId xmlns:a16="http://schemas.microsoft.com/office/drawing/2014/main" id="{BD6D67C9-AB4A-4DAA-83EA-F93A777C4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1788" y="1256692"/>
              <a:ext cx="116763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Sevilla, Malaga, Mallorca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13084C9-CEB1-4924-AB13-71D6014DBF73}"/>
                </a:ext>
              </a:extLst>
            </p:cNvPr>
            <p:cNvSpPr/>
            <p:nvPr/>
          </p:nvSpPr>
          <p:spPr>
            <a:xfrm>
              <a:off x="302022" y="1978671"/>
              <a:ext cx="1239442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Georgia" panose="02040502050405020303" pitchFamily="18" charset="0"/>
                </a:rPr>
                <a:t>sin </a:t>
              </a:r>
              <a:r>
                <a:rPr lang="en-US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Georgia" panose="02040502050405020303" pitchFamily="18" charset="0"/>
                </a:rPr>
                <a:t>límites</a:t>
              </a:r>
              <a:endPara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33" name="Rectangle 1">
              <a:extLst>
                <a:ext uri="{FF2B5EF4-FFF2-40B4-BE49-F238E27FC236}">
                  <a16:creationId xmlns:a16="http://schemas.microsoft.com/office/drawing/2014/main" id="{DA33B103-39C7-4558-A86A-CC09EFADF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977" y="2047970"/>
              <a:ext cx="1823260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eorgia" panose="02040502050405020303" pitchFamily="18" charset="0"/>
                </a:rPr>
                <a:t>Valencia</a:t>
              </a:r>
            </a:p>
          </p:txBody>
        </p:sp>
        <p:pic>
          <p:nvPicPr>
            <p:cNvPr id="1027" name="Picture 3" descr="Passage of time icon. Passage of time. Timer logo. Watch icon illustration vector design">
              <a:extLst>
                <a:ext uri="{FF2B5EF4-FFF2-40B4-BE49-F238E27FC236}">
                  <a16:creationId xmlns:a16="http://schemas.microsoft.com/office/drawing/2014/main" id="{27B68E10-083D-4B88-9FD0-4D4F9ABF3C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2" t="19836" r="52395" b="18167"/>
            <a:stretch/>
          </p:blipFill>
          <p:spPr bwMode="auto">
            <a:xfrm>
              <a:off x="3951661" y="1398023"/>
              <a:ext cx="915478" cy="6290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80834BB-0869-4F30-AD0F-8979EABB80E1}"/>
                </a:ext>
              </a:extLst>
            </p:cNvPr>
            <p:cNvSpPr/>
            <p:nvPr/>
          </p:nvSpPr>
          <p:spPr>
            <a:xfrm>
              <a:off x="3732062" y="966812"/>
              <a:ext cx="1558440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0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Georgia" panose="02040502050405020303" pitchFamily="18" charset="0"/>
                </a:rPr>
                <a:t>2020 - 2021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4905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EFAEB04-6CB2-7C7B-401E-76BFFD5A43AD}"/>
              </a:ext>
            </a:extLst>
          </p:cNvPr>
          <p:cNvSpPr txBox="1"/>
          <p:nvPr/>
        </p:nvSpPr>
        <p:spPr>
          <a:xfrm>
            <a:off x="142876" y="132064"/>
            <a:ext cx="8029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63" b="1" dirty="0" err="1">
                <a:solidFill>
                  <a:srgbClr val="1E293B"/>
                </a:solidFill>
                <a:latin typeface="Georgia" panose="02040502050405020303" pitchFamily="18" charset="0"/>
                <a:cs typeface="Poppins"/>
                <a:sym typeface="Poppins"/>
              </a:rPr>
              <a:t>Hallazgo</a:t>
            </a:r>
            <a:r>
              <a:rPr lang="en-US" sz="2363" b="1" dirty="0">
                <a:solidFill>
                  <a:srgbClr val="1E293B"/>
                </a:solidFill>
                <a:latin typeface="Georgia" panose="02040502050405020303" pitchFamily="18" charset="0"/>
                <a:cs typeface="Poppins"/>
                <a:sym typeface="Poppins"/>
              </a:rPr>
              <a:t>:</a:t>
            </a:r>
            <a:r>
              <a:rPr lang="es-ES" sz="2363" b="1" dirty="0">
                <a:solidFill>
                  <a:srgbClr val="1E293B"/>
                </a:solidFill>
                <a:latin typeface="Georgia" panose="02040502050405020303" pitchFamily="18" charset="0"/>
                <a:cs typeface="Poppins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Girona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necesita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mejoras</a:t>
            </a:r>
            <a:endParaRPr lang="es-ES" sz="2363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  <a:cs typeface="Poppins 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B184A8-4910-4403-B70C-F5D4E2EFF5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5328" t="3324" r="25459" b="2362"/>
          <a:stretch/>
        </p:blipFill>
        <p:spPr>
          <a:xfrm>
            <a:off x="209551" y="936161"/>
            <a:ext cx="3286126" cy="343509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049A1F0-6295-4E40-B92A-54707835E5CC}"/>
              </a:ext>
            </a:extLst>
          </p:cNvPr>
          <p:cNvSpPr/>
          <p:nvPr/>
        </p:nvSpPr>
        <p:spPr>
          <a:xfrm>
            <a:off x="5920823" y="909575"/>
            <a:ext cx="13917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C99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77%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025709-756F-4DCA-8547-DB5CD390F4EF}"/>
              </a:ext>
            </a:extLst>
          </p:cNvPr>
          <p:cNvSpPr/>
          <p:nvPr/>
        </p:nvSpPr>
        <p:spPr>
          <a:xfrm>
            <a:off x="5920823" y="1700150"/>
            <a:ext cx="13917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7C8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7AD3A-BC95-4D54-BD12-1D40158F8A1B}"/>
              </a:ext>
            </a:extLst>
          </p:cNvPr>
          <p:cNvSpPr txBox="1"/>
          <p:nvPr/>
        </p:nvSpPr>
        <p:spPr>
          <a:xfrm>
            <a:off x="7312551" y="1224887"/>
            <a:ext cx="1429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>
                <a:latin typeface="Georgia" panose="02040502050405020303" pitchFamily="18" charset="0"/>
              </a:rPr>
              <a:t>problemáticos</a:t>
            </a:r>
            <a:endParaRPr lang="en-GB" sz="1400" dirty="0">
              <a:latin typeface="Georgia" panose="020405020504050203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A368F-F9B6-4726-AFA0-F2EDD12D4B1E}"/>
              </a:ext>
            </a:extLst>
          </p:cNvPr>
          <p:cNvSpPr txBox="1"/>
          <p:nvPr/>
        </p:nvSpPr>
        <p:spPr>
          <a:xfrm>
            <a:off x="7312551" y="1994329"/>
            <a:ext cx="1429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>
                <a:latin typeface="Georgia" panose="02040502050405020303" pitchFamily="18" charset="0"/>
              </a:rPr>
              <a:t>críticos</a:t>
            </a:r>
            <a:endParaRPr lang="en-GB" sz="1400" dirty="0">
              <a:latin typeface="Georgia" panose="02040502050405020303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CC81EF-905B-4FA1-A4B1-06F7D7EC9BC9}"/>
              </a:ext>
            </a:extLst>
          </p:cNvPr>
          <p:cNvSpPr/>
          <p:nvPr/>
        </p:nvSpPr>
        <p:spPr>
          <a:xfrm>
            <a:off x="4746869" y="3010945"/>
            <a:ext cx="1163267" cy="7704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Roses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sz="1200" b="1" dirty="0">
                <a:ln w="9525">
                  <a:noFill/>
                  <a:prstDash val="solid"/>
                </a:ln>
              </a:rPr>
              <a:t>14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A840C5-D971-4B52-8F15-35F85FC088B1}"/>
              </a:ext>
            </a:extLst>
          </p:cNvPr>
          <p:cNvSpPr/>
          <p:nvPr/>
        </p:nvSpPr>
        <p:spPr>
          <a:xfrm>
            <a:off x="5928603" y="3010945"/>
            <a:ext cx="2487156" cy="7704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Lloret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de Mar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sz="1200" b="1" dirty="0">
                <a:ln w="9525">
                  <a:noFill/>
                  <a:prstDash val="solid"/>
                </a:ln>
              </a:rPr>
              <a:t>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A6744-EE03-45F3-9C32-07F1FD0B490C}"/>
              </a:ext>
            </a:extLst>
          </p:cNvPr>
          <p:cNvSpPr/>
          <p:nvPr/>
        </p:nvSpPr>
        <p:spPr>
          <a:xfrm>
            <a:off x="4746869" y="3805764"/>
            <a:ext cx="1181734" cy="7704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Begur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sz="1200" b="1" dirty="0">
                <a:ln w="9525">
                  <a:noFill/>
                  <a:prstDash val="solid"/>
                </a:ln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29B5C8-3113-4AE8-A7A0-508B68006EED}"/>
              </a:ext>
            </a:extLst>
          </p:cNvPr>
          <p:cNvSpPr/>
          <p:nvPr/>
        </p:nvSpPr>
        <p:spPr>
          <a:xfrm>
            <a:off x="5928603" y="3805764"/>
            <a:ext cx="1491883" cy="7704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L'Escala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sz="1200" b="1" dirty="0">
                <a:ln w="9525">
                  <a:noFill/>
                  <a:prstDash val="solid"/>
                </a:ln>
              </a:rPr>
              <a:t>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3A27AC-E2DE-4B61-B2D7-DDEFA57A0AD6}"/>
              </a:ext>
            </a:extLst>
          </p:cNvPr>
          <p:cNvSpPr/>
          <p:nvPr/>
        </p:nvSpPr>
        <p:spPr>
          <a:xfrm>
            <a:off x="3662635" y="1120827"/>
            <a:ext cx="211904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Girona</a:t>
            </a:r>
          </a:p>
          <a:p>
            <a:pPr algn="ctr"/>
            <a:r>
              <a:rPr lang="en-US" b="1" dirty="0">
                <a:ln w="9525">
                  <a:noFill/>
                  <a:prstDash val="solid"/>
                </a:ln>
              </a:rPr>
              <a:t>132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77BF88-2A0C-48FC-9475-78755E6A251C}"/>
              </a:ext>
            </a:extLst>
          </p:cNvPr>
          <p:cNvSpPr txBox="1"/>
          <p:nvPr/>
        </p:nvSpPr>
        <p:spPr>
          <a:xfrm>
            <a:off x="3796733" y="3497987"/>
            <a:ext cx="8269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Georgia" panose="02040502050405020303" pitchFamily="18" charset="0"/>
              </a:rPr>
              <a:t>Barrios</a:t>
            </a:r>
          </a:p>
        </p:txBody>
      </p:sp>
    </p:spTree>
    <p:extLst>
      <p:ext uri="{BB962C8B-B14F-4D97-AF65-F5344CB8AC3E}">
        <p14:creationId xmlns:p14="http://schemas.microsoft.com/office/powerpoint/2010/main" val="1726139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A6E55-DCA2-4192-AA29-BF0C4B0304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59"/>
          <a:stretch/>
        </p:blipFill>
        <p:spPr>
          <a:xfrm>
            <a:off x="276225" y="734289"/>
            <a:ext cx="8439150" cy="420918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6F458AC-5114-4AE8-B499-CBF252209908}"/>
              </a:ext>
            </a:extLst>
          </p:cNvPr>
          <p:cNvSpPr txBox="1"/>
          <p:nvPr/>
        </p:nvSpPr>
        <p:spPr>
          <a:xfrm>
            <a:off x="142876" y="132064"/>
            <a:ext cx="8029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63" b="1" dirty="0" err="1">
                <a:solidFill>
                  <a:srgbClr val="1E293B"/>
                </a:solidFill>
                <a:latin typeface="Georgia" panose="02040502050405020303" pitchFamily="18" charset="0"/>
                <a:cs typeface="Poppins"/>
                <a:sym typeface="Poppins"/>
              </a:rPr>
              <a:t>Hallazgo</a:t>
            </a:r>
            <a:r>
              <a:rPr lang="en-US" sz="2363" b="1" dirty="0">
                <a:solidFill>
                  <a:srgbClr val="1E293B"/>
                </a:solidFill>
                <a:latin typeface="Georgia" panose="02040502050405020303" pitchFamily="18" charset="0"/>
                <a:cs typeface="Poppins"/>
                <a:sym typeface="Poppins"/>
              </a:rPr>
              <a:t>:</a:t>
            </a:r>
            <a:r>
              <a:rPr lang="es-ES" sz="2363" b="1" dirty="0">
                <a:solidFill>
                  <a:srgbClr val="1E293B"/>
                </a:solidFill>
                <a:latin typeface="Georgia" panose="02040502050405020303" pitchFamily="18" charset="0"/>
                <a:cs typeface="Poppins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Tres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problemas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de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alojamientos</a:t>
            </a:r>
            <a:endParaRPr lang="es-ES" sz="2363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255470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68268"/>
            <a:ext cx="8001000" cy="86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4060"/>
            <a:ext cx="8001000" cy="86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4" y="1175412"/>
            <a:ext cx="958601" cy="8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8644" y="2151203"/>
            <a:ext cx="946881" cy="8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1" y="1282568"/>
            <a:ext cx="1564481" cy="26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58001" y="2258360"/>
            <a:ext cx="1564481" cy="26431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71500" y="428626"/>
            <a:ext cx="4935617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925">
                <a:solidFill>
                  <a:srgbClr val="33333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Plan de Acción Directivo</a:t>
            </a:r>
            <a:endParaRPr sz="1350"/>
          </a:p>
        </p:txBody>
      </p:sp>
      <p:sp>
        <p:nvSpPr>
          <p:cNvPr id="97" name="Google Shape;97;p13"/>
          <p:cNvSpPr/>
          <p:nvPr/>
        </p:nvSpPr>
        <p:spPr>
          <a:xfrm>
            <a:off x="571500" y="957263"/>
            <a:ext cx="4700588" cy="7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751557" y="1318287"/>
            <a:ext cx="517073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400" dirty="0" err="1"/>
              <a:t>Focalizar</a:t>
            </a:r>
            <a:r>
              <a:rPr lang="en-GB" sz="1400" dirty="0"/>
              <a:t> </a:t>
            </a:r>
            <a:r>
              <a:rPr lang="en-GB" sz="1400" dirty="0" err="1"/>
              <a:t>campañas</a:t>
            </a:r>
            <a:r>
              <a:rPr lang="en-GB" sz="1400" dirty="0"/>
              <a:t> locales </a:t>
            </a:r>
            <a:r>
              <a:rPr lang="en-GB" sz="1400" dirty="0" err="1"/>
              <a:t>en</a:t>
            </a:r>
            <a:r>
              <a:rPr lang="en-GB" sz="1400" dirty="0"/>
              <a:t> </a:t>
            </a:r>
            <a:r>
              <a:rPr lang="en-GB" sz="1400" dirty="0" err="1"/>
              <a:t>ciudades</a:t>
            </a:r>
            <a:r>
              <a:rPr lang="en-GB" sz="1400" dirty="0"/>
              <a:t> (Girona) y barrios </a:t>
            </a:r>
            <a:r>
              <a:rPr lang="en-GB" sz="1400" dirty="0" err="1"/>
              <a:t>problematicos</a:t>
            </a:r>
            <a:endParaRPr sz="1350"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1739838" y="2294079"/>
            <a:ext cx="518245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Apoyar</a:t>
            </a:r>
            <a:r>
              <a:rPr lang="en-US" sz="1400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</a:t>
            </a:r>
            <a:r>
              <a:rPr lang="en-US" sz="1400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los</a:t>
            </a:r>
            <a:r>
              <a:rPr lang="en-US" sz="1400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</a:t>
            </a:r>
            <a:r>
              <a:rPr lang="en-US" sz="1400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dueños</a:t>
            </a:r>
            <a:r>
              <a:rPr lang="en-US" sz="1400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para </a:t>
            </a:r>
            <a:r>
              <a:rPr lang="en-US" sz="1400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asegurar</a:t>
            </a:r>
            <a:r>
              <a:rPr lang="en-US" sz="1400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la </a:t>
            </a:r>
            <a:r>
              <a:rPr lang="en-US" sz="1400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limpieza</a:t>
            </a:r>
            <a:r>
              <a:rPr lang="en-US" sz="1400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y </a:t>
            </a:r>
            <a:r>
              <a:rPr lang="en-US" sz="1400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descripción</a:t>
            </a:r>
            <a:r>
              <a:rPr lang="en-US" sz="1400" dirty="0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del </a:t>
            </a:r>
            <a:r>
              <a:rPr lang="en-US" sz="1400" dirty="0" err="1">
                <a:solidFill>
                  <a:srgbClr val="22222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alojamiento</a:t>
            </a:r>
            <a:endParaRPr sz="1400" dirty="0"/>
          </a:p>
        </p:txBody>
      </p:sp>
      <p:sp>
        <p:nvSpPr>
          <p:cNvPr id="106" name="Google Shape;106;p13"/>
          <p:cNvSpPr txBox="1"/>
          <p:nvPr/>
        </p:nvSpPr>
        <p:spPr>
          <a:xfrm>
            <a:off x="7439631" y="1356388"/>
            <a:ext cx="964406" cy="11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31" b="1" dirty="0" err="1">
                <a:solidFill>
                  <a:srgbClr val="333333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Clientes</a:t>
            </a:r>
            <a:endParaRPr sz="1350" dirty="0"/>
          </a:p>
        </p:txBody>
      </p:sp>
      <p:sp>
        <p:nvSpPr>
          <p:cNvPr id="107" name="Google Shape;107;p13"/>
          <p:cNvSpPr txBox="1"/>
          <p:nvPr/>
        </p:nvSpPr>
        <p:spPr>
          <a:xfrm>
            <a:off x="7487399" y="2332179"/>
            <a:ext cx="964406" cy="11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31" b="1" dirty="0" err="1">
                <a:solidFill>
                  <a:srgbClr val="333333"/>
                </a:solidFill>
                <a:latin typeface="Source Sans 3"/>
                <a:ea typeface="Source Sans 3"/>
                <a:cs typeface="Source Sans 3"/>
                <a:sym typeface="Source Sans 3"/>
              </a:rPr>
              <a:t>Calidad+imagen</a:t>
            </a:r>
            <a:endParaRPr sz="1350" dirty="0"/>
          </a:p>
        </p:txBody>
      </p:sp>
    </p:spTree>
    <p:extLst>
      <p:ext uri="{BB962C8B-B14F-4D97-AF65-F5344CB8AC3E}">
        <p14:creationId xmlns:p14="http://schemas.microsoft.com/office/powerpoint/2010/main" val="3218231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Analistas de Datos · StaySpain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712</Words>
  <Application>Microsoft Office PowerPoint</Application>
  <PresentationFormat>Presentación en pantalla (16:9)</PresentationFormat>
  <Paragraphs>141</Paragraphs>
  <Slides>12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2" baseType="lpstr">
      <vt:lpstr>Arial</vt:lpstr>
      <vt:lpstr>Calibri</vt:lpstr>
      <vt:lpstr>Georgia</vt:lpstr>
      <vt:lpstr>Lato</vt:lpstr>
      <vt:lpstr>Libre Baskerville</vt:lpstr>
      <vt:lpstr>Poppins</vt:lpstr>
      <vt:lpstr>Poppins Light</vt:lpstr>
      <vt:lpstr>Source Sans 3</vt:lpstr>
      <vt:lpstr>Source Sans 3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StaySpain · Análisis Operacional</dc:title>
  <dc:subject>PptxGenJS Presentation</dc:subject>
  <dc:creator>Equip 29</dc:creator>
  <cp:lastModifiedBy>Ignacio Soldevilla</cp:lastModifiedBy>
  <cp:revision>82</cp:revision>
  <dcterms:created xsi:type="dcterms:W3CDTF">2026-05-31T10:25:18Z</dcterms:created>
  <dcterms:modified xsi:type="dcterms:W3CDTF">2026-06-11T14:50:47Z</dcterms:modified>
</cp:coreProperties>
</file>