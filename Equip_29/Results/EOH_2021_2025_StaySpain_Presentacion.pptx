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85" r:id="rId4"/>
    <p:sldId id="288" r:id="rId5"/>
    <p:sldId id="265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009900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46" autoAdjust="0"/>
    <p:restoredTop sz="93302" autoAdjust="0"/>
  </p:normalViewPr>
  <p:slideViewPr>
    <p:cSldViewPr snapToGrid="0" snapToObjects="1">
      <p:cViewPr varScale="1">
        <p:scale>
          <a:sx n="140" d="100"/>
          <a:sy n="140" d="100"/>
        </p:scale>
        <p:origin x="12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970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949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ANALISTAS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StaySpain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inventario de alojamientos turísticos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71600" y="3108960"/>
            <a:ext cx="6400800" cy="1280160"/>
          </a:xfrm>
          <a:prstGeom prst="rect">
            <a:avLst/>
          </a:prstGeom>
          <a:solidFill>
            <a:srgbClr val="26487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371600" y="32004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ANALISTAS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71600" y="352044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Alexei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Levitchi</a:t>
            </a:r>
            <a:endParaRPr lang="en-US" sz="1500" dirty="0"/>
          </a:p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Vanessa Plaza</a:t>
            </a:r>
            <a:endParaRPr lang="en-US" sz="1500" dirty="0"/>
          </a:p>
          <a:p>
            <a:pPr algn="ctr">
              <a:spcAft>
                <a:spcPts val="200"/>
              </a:spcAft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Ignacio Soldevilla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2026</a:t>
            </a:r>
            <a:endParaRPr lang="en-US" sz="11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9896478-069A-128A-C109-AD3AD049D3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84" t="25211" r="17962" b="35260"/>
          <a:stretch>
            <a:fillRect/>
          </a:stretch>
        </p:blipFill>
        <p:spPr>
          <a:xfrm>
            <a:off x="2663688" y="1188720"/>
            <a:ext cx="3806686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D3E2167-40B6-CCE8-103B-8FAEE66E4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C3420-8F7F-72E2-3453-8ACB892DE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02398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168268"/>
            <a:ext cx="8001000" cy="868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44060"/>
            <a:ext cx="8001000" cy="868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119851"/>
            <a:ext cx="8001000" cy="868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095643"/>
            <a:ext cx="8001000" cy="868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8644" y="1175412"/>
            <a:ext cx="958601" cy="854348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8644" y="2151203"/>
            <a:ext cx="946881" cy="854348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8644" y="3126994"/>
            <a:ext cx="969094" cy="854348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8644" y="4102786"/>
            <a:ext cx="970769" cy="854348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3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858001" y="1282568"/>
            <a:ext cx="1564481" cy="264319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3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858001" y="2258360"/>
            <a:ext cx="1564481" cy="264318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858002" y="3234151"/>
            <a:ext cx="1564480" cy="307182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858002" y="4209943"/>
            <a:ext cx="1564479" cy="264319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3"/>
          <p:cNvSpPr txBox="1"/>
          <p:nvPr/>
        </p:nvSpPr>
        <p:spPr>
          <a:xfrm>
            <a:off x="571500" y="428626"/>
            <a:ext cx="4935617" cy="4501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2925">
                <a:solidFill>
                  <a:srgbClr val="333333"/>
                </a:solidFill>
                <a:latin typeface="Libre Baskerville"/>
                <a:ea typeface="Libre Baskerville"/>
                <a:cs typeface="Libre Baskerville"/>
                <a:sym typeface="Libre Baskerville"/>
              </a:rPr>
              <a:t>Plan de Acción Directivo</a:t>
            </a:r>
            <a:endParaRPr sz="1350"/>
          </a:p>
        </p:txBody>
      </p:sp>
      <p:sp>
        <p:nvSpPr>
          <p:cNvPr id="97" name="Google Shape;97;p13"/>
          <p:cNvSpPr/>
          <p:nvPr/>
        </p:nvSpPr>
        <p:spPr>
          <a:xfrm>
            <a:off x="571500" y="957263"/>
            <a:ext cx="4700588" cy="71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3"/>
          <p:cNvSpPr txBox="1"/>
          <p:nvPr/>
        </p:nvSpPr>
        <p:spPr>
          <a:xfrm>
            <a:off x="1751557" y="1318287"/>
            <a:ext cx="5170736" cy="190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238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Segmentar gestión de inventario por ciudad y tipo, no por tamaño.</a:t>
            </a:r>
            <a:endParaRPr sz="1350"/>
          </a:p>
        </p:txBody>
      </p:sp>
      <p:sp>
        <p:nvSpPr>
          <p:cNvPr id="99" name="Google Shape;99;p13"/>
          <p:cNvSpPr txBox="1"/>
          <p:nvPr/>
        </p:nvSpPr>
        <p:spPr>
          <a:xfrm>
            <a:off x="1751557" y="1546887"/>
            <a:ext cx="6599486" cy="411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Dado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que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la ciudad y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el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room_type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explican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más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disponibilidad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que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el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tamaño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, las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políticas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de revenue y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ocupación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deben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definirse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primero a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nivel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local.</a:t>
            </a:r>
            <a:endParaRPr sz="1350" dirty="0"/>
          </a:p>
        </p:txBody>
      </p:sp>
      <p:sp>
        <p:nvSpPr>
          <p:cNvPr id="100" name="Google Shape;100;p13"/>
          <p:cNvSpPr txBox="1"/>
          <p:nvPr/>
        </p:nvSpPr>
        <p:spPr>
          <a:xfrm>
            <a:off x="1739838" y="2294079"/>
            <a:ext cx="5182456" cy="190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238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Activar alerta específica para pisos grandes en Barcelona.</a:t>
            </a:r>
            <a:endParaRPr sz="1350"/>
          </a:p>
        </p:txBody>
      </p:sp>
      <p:sp>
        <p:nvSpPr>
          <p:cNvPr id="101" name="Google Shape;101;p13"/>
          <p:cNvSpPr txBox="1"/>
          <p:nvPr/>
        </p:nvSpPr>
        <p:spPr>
          <a:xfrm>
            <a:off x="1739838" y="2522678"/>
            <a:ext cx="6611206" cy="411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Es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el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único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segmento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donde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el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tamaño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anticipa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más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noches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libres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. Para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alojamientos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de 3+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habitaciones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,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revisar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precio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y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reducir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estancia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mínima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para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rellenar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huecos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.</a:t>
            </a:r>
            <a:endParaRPr sz="135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1762050" y="3269870"/>
            <a:ext cx="5160243" cy="190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238" dirty="0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No </a:t>
            </a:r>
            <a:r>
              <a:rPr lang="en-US" sz="1238" dirty="0" err="1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esperar</a:t>
            </a:r>
            <a:r>
              <a:rPr lang="en-US" sz="1238" dirty="0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 </a:t>
            </a:r>
            <a:r>
              <a:rPr lang="en-US" sz="1238" dirty="0" err="1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que</a:t>
            </a:r>
            <a:r>
              <a:rPr lang="en-US" sz="1238" dirty="0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 </a:t>
            </a:r>
            <a:r>
              <a:rPr lang="en-US" sz="1238" dirty="0" err="1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el</a:t>
            </a:r>
            <a:r>
              <a:rPr lang="en-US" sz="1238" dirty="0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 </a:t>
            </a:r>
            <a:r>
              <a:rPr lang="en-US" sz="1238" dirty="0" err="1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tamaño</a:t>
            </a:r>
            <a:r>
              <a:rPr lang="en-US" sz="1238" dirty="0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 </a:t>
            </a:r>
            <a:r>
              <a:rPr lang="en-US" sz="1238" dirty="0" err="1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explique</a:t>
            </a:r>
            <a:r>
              <a:rPr lang="en-US" sz="1238" dirty="0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 la </a:t>
            </a:r>
            <a:r>
              <a:rPr lang="en-US" sz="1238" dirty="0" err="1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disponibilidad</a:t>
            </a:r>
            <a:endParaRPr sz="1350" dirty="0"/>
          </a:p>
        </p:txBody>
      </p:sp>
      <p:sp>
        <p:nvSpPr>
          <p:cNvPr id="103" name="Google Shape;103;p13"/>
          <p:cNvSpPr txBox="1"/>
          <p:nvPr/>
        </p:nvSpPr>
        <p:spPr>
          <a:xfrm>
            <a:off x="1762050" y="3498470"/>
            <a:ext cx="6588993" cy="205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Se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debe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priorizar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el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análisis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de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factores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con mayor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poder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explicativo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como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la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estacionalidad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y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el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precio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dinámico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.</a:t>
            </a:r>
            <a:endParaRPr sz="1350" dirty="0"/>
          </a:p>
        </p:txBody>
      </p:sp>
      <p:sp>
        <p:nvSpPr>
          <p:cNvPr id="104" name="Google Shape;104;p13"/>
          <p:cNvSpPr txBox="1"/>
          <p:nvPr/>
        </p:nvSpPr>
        <p:spPr>
          <a:xfrm>
            <a:off x="1763725" y="4245662"/>
            <a:ext cx="5158568" cy="190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1238">
                <a:solidFill>
                  <a:srgbClr val="222222"/>
                </a:solidFill>
                <a:latin typeface="Source Sans 3 SemiBold"/>
                <a:ea typeface="Source Sans 3 SemiBold"/>
                <a:cs typeface="Source Sans 3 SemiBold"/>
                <a:sym typeface="Source Sans 3 SemiBold"/>
              </a:rPr>
              <a:t>Aprovechar y escalar los destinos de costa.</a:t>
            </a:r>
            <a:endParaRPr sz="1350"/>
          </a:p>
        </p:txBody>
      </p:sp>
      <p:sp>
        <p:nvSpPr>
          <p:cNvPr id="105" name="Google Shape;105;p13"/>
          <p:cNvSpPr txBox="1"/>
          <p:nvPr/>
        </p:nvSpPr>
        <p:spPr>
          <a:xfrm>
            <a:off x="1763725" y="4474262"/>
            <a:ext cx="6587318" cy="411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40000"/>
              </a:lnSpc>
            </a:pP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En Mallorca/Málaga la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disponibilidad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es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independiente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del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tamaño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. Hay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margen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estratégico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para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escalar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inventario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grande (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familias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) sin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penalizar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 la </a:t>
            </a:r>
            <a:r>
              <a:rPr lang="en-US" sz="956" dirty="0" err="1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ocupación</a:t>
            </a:r>
            <a:r>
              <a:rPr lang="en-US" sz="956" dirty="0">
                <a:solidFill>
                  <a:srgbClr val="555555"/>
                </a:solidFill>
                <a:latin typeface="Source Sans 3"/>
                <a:ea typeface="Source Sans 3"/>
                <a:cs typeface="Source Sans 3"/>
                <a:sym typeface="Source Sans 3"/>
              </a:rPr>
              <a:t>.</a:t>
            </a:r>
            <a:endParaRPr sz="1350" dirty="0"/>
          </a:p>
        </p:txBody>
      </p:sp>
      <p:sp>
        <p:nvSpPr>
          <p:cNvPr id="106" name="Google Shape;106;p13"/>
          <p:cNvSpPr txBox="1"/>
          <p:nvPr/>
        </p:nvSpPr>
        <p:spPr>
          <a:xfrm>
            <a:off x="7439631" y="1318288"/>
            <a:ext cx="964406" cy="22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31" b="1" dirty="0" err="1">
                <a:solidFill>
                  <a:srgbClr val="333333"/>
                </a:solidFill>
                <a:latin typeface="Source Sans 3"/>
                <a:ea typeface="Source Sans 3"/>
                <a:cs typeface="Source Sans 3"/>
                <a:sym typeface="Source Sans 3"/>
              </a:rPr>
              <a:t>Operaciones</a:t>
            </a:r>
            <a:r>
              <a:rPr lang="en-US" sz="731" b="1" dirty="0">
                <a:solidFill>
                  <a:srgbClr val="333333"/>
                </a:solidFill>
                <a:latin typeface="Source Sans 3"/>
                <a:ea typeface="Source Sans 3"/>
                <a:cs typeface="Source Sans 3"/>
                <a:sym typeface="Source Sans 3"/>
              </a:rPr>
              <a:t> + Revenue</a:t>
            </a:r>
            <a:endParaRPr sz="1350" dirty="0"/>
          </a:p>
        </p:txBody>
      </p:sp>
      <p:sp>
        <p:nvSpPr>
          <p:cNvPr id="107" name="Google Shape;107;p13"/>
          <p:cNvSpPr txBox="1"/>
          <p:nvPr/>
        </p:nvSpPr>
        <p:spPr>
          <a:xfrm>
            <a:off x="7487399" y="2294079"/>
            <a:ext cx="964406" cy="22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31" b="1" dirty="0" err="1">
                <a:solidFill>
                  <a:srgbClr val="333333"/>
                </a:solidFill>
                <a:latin typeface="Source Sans 3"/>
                <a:ea typeface="Source Sans 3"/>
                <a:cs typeface="Source Sans 3"/>
                <a:sym typeface="Source Sans 3"/>
              </a:rPr>
              <a:t>Operaciones</a:t>
            </a:r>
            <a:r>
              <a:rPr lang="en-US" sz="731" b="1" dirty="0">
                <a:solidFill>
                  <a:srgbClr val="333333"/>
                </a:solidFill>
                <a:latin typeface="Source Sans 3"/>
                <a:ea typeface="Source Sans 3"/>
                <a:cs typeface="Source Sans 3"/>
                <a:sym typeface="Source Sans 3"/>
              </a:rPr>
              <a:t> + Revenue</a:t>
            </a:r>
            <a:endParaRPr sz="1350" dirty="0"/>
          </a:p>
        </p:txBody>
      </p:sp>
      <p:sp>
        <p:nvSpPr>
          <p:cNvPr id="108" name="Google Shape;108;p13"/>
          <p:cNvSpPr txBox="1"/>
          <p:nvPr/>
        </p:nvSpPr>
        <p:spPr>
          <a:xfrm>
            <a:off x="7753956" y="3269870"/>
            <a:ext cx="650081" cy="22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31" b="1" dirty="0">
                <a:solidFill>
                  <a:srgbClr val="333333"/>
                </a:solidFill>
                <a:latin typeface="Source Sans 3"/>
                <a:ea typeface="Source Sans 3"/>
                <a:cs typeface="Source Sans 3"/>
                <a:sym typeface="Source Sans 3"/>
              </a:rPr>
              <a:t>Data + </a:t>
            </a:r>
            <a:r>
              <a:rPr lang="en-US" sz="731" b="1" dirty="0" err="1">
                <a:solidFill>
                  <a:srgbClr val="333333"/>
                </a:solidFill>
                <a:latin typeface="Source Sans 3"/>
                <a:ea typeface="Source Sans 3"/>
                <a:cs typeface="Source Sans 3"/>
                <a:sym typeface="Source Sans 3"/>
              </a:rPr>
              <a:t>Analítica</a:t>
            </a:r>
            <a:endParaRPr sz="1350" dirty="0"/>
          </a:p>
        </p:txBody>
      </p:sp>
      <p:sp>
        <p:nvSpPr>
          <p:cNvPr id="109" name="Google Shape;109;p13"/>
          <p:cNvSpPr txBox="1"/>
          <p:nvPr/>
        </p:nvSpPr>
        <p:spPr>
          <a:xfrm>
            <a:off x="7658100" y="4245662"/>
            <a:ext cx="657225" cy="224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731" b="1">
                <a:solidFill>
                  <a:srgbClr val="333333"/>
                </a:solidFill>
                <a:latin typeface="Source Sans 3"/>
                <a:ea typeface="Source Sans 3"/>
                <a:cs typeface="Source Sans 3"/>
                <a:sym typeface="Source Sans 3"/>
              </a:rPr>
              <a:t>Comercial + Op.</a:t>
            </a:r>
            <a:endParaRPr sz="13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18F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kern="0" spc="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Analistas de Datos · StaySpain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799</TotalTime>
  <Words>195</Words>
  <Application>Microsoft Office PowerPoint</Application>
  <PresentationFormat>Presentación en pantalla (16:9)</PresentationFormat>
  <Paragraphs>27</Paragraphs>
  <Slides>5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2" baseType="lpstr">
      <vt:lpstr>Arial</vt:lpstr>
      <vt:lpstr>Calibri</vt:lpstr>
      <vt:lpstr>Georgia</vt:lpstr>
      <vt:lpstr>Libre Baskerville</vt:lpstr>
      <vt:lpstr>Source Sans 3</vt:lpstr>
      <vt:lpstr>Source Sans 3 SemiBold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StaySpain · Análisis Operacional</dc:title>
  <dc:subject>PptxGenJS Presentation</dc:subject>
  <dc:creator>Equip 29</dc:creator>
  <cp:lastModifiedBy>Ignacio Soldevilla</cp:lastModifiedBy>
  <cp:revision>83</cp:revision>
  <dcterms:created xsi:type="dcterms:W3CDTF">2026-05-31T10:25:18Z</dcterms:created>
  <dcterms:modified xsi:type="dcterms:W3CDTF">2026-06-17T15:35:16Z</dcterms:modified>
</cp:coreProperties>
</file>