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23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10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/logo.png"/>
          <p:cNvPicPr>
            <a:picLocks noChangeAspect="1"/>
          </p:cNvPicPr>
          <p:nvPr/>
        </p:nvPicPr>
        <p:blipFill>
          <a:blip r:embed="rId3"/>
          <a:srcRect t="27315" b="35278"/>
          <a:stretch>
            <a:fillRect/>
          </a:stretch>
        </p:blipFill>
        <p:spPr>
          <a:xfrm>
            <a:off x="3630168" y="1767840"/>
            <a:ext cx="4937760" cy="12313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1605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9D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ANALISTAS DE DATOS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45262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del inventario de alojamientos turísticos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937760" y="5257800"/>
            <a:ext cx="2313432" cy="0"/>
          </a:xfrm>
          <a:prstGeom prst="line">
            <a:avLst/>
          </a:prstGeom>
          <a:noFill/>
          <a:ln w="12700">
            <a:solidFill>
              <a:srgbClr val="3A5A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0" y="54406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ANALISTAS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57607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Alexei Levitchi   ·   Vanessa Plaza   ·   Ignacio Soldevilla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529" b="3252"/>
          <a:stretch>
            <a:fillRect/>
          </a:stretch>
        </p:blipFill>
        <p:spPr>
          <a:xfrm>
            <a:off x="0" y="0"/>
            <a:ext cx="12192000" cy="52292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B2F99A-B11C-168F-3616-8D21B9A971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95" b="32353"/>
          <a:stretch>
            <a:fillRect/>
          </a:stretch>
        </p:blipFill>
        <p:spPr>
          <a:xfrm>
            <a:off x="0" y="5200650"/>
            <a:ext cx="12192000" cy="13144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8557FCA-B1C8-33CC-37D5-B96F66E1EF05}"/>
              </a:ext>
            </a:extLst>
          </p:cNvPr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100" dirty="0"/>
              <a:t>Fuente: INE, </a:t>
            </a:r>
            <a:r>
              <a:rPr lang="es-ES" sz="2100" b="1" dirty="0"/>
              <a:t>Encuesta de ocupación hotelera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1 · ORIGEN DEL VIAJERO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viajero internacional ya es el motor del crecimiento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medir qué perfil de viajero impulsa la demanda, para saber a quién debe dirigirse nuestra oferta.</a:t>
            </a:r>
            <a:endParaRPr lang="en-US" sz="1300" dirty="0"/>
          </a:p>
        </p:txBody>
      </p:sp>
      <p:pic>
        <p:nvPicPr>
          <p:cNvPr id="5" name="Image 0" descr="/tmp/img/a1_nac_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31720"/>
            <a:ext cx="626364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715000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EAF1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22960" y="5861304"/>
            <a:ext cx="274320" cy="27432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2960" y="5861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571500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 la decisión:  </a:t>
            </a:r>
            <a:r>
              <a:rPr lang="en-US" sz="11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 que crece (internacional) marca hacia dónde reorientar producto y captación.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178040" y="1828800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498080" y="199339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8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+252%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7498080" y="25968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crecen los internacionales 2021→2025, frente a +46% del mercado nacional.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178040" y="3246120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498080" y="341071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498080" y="401421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viajeros ya son extranjeros en 2025; en 2021 eran el 39%.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178040" y="4663440"/>
            <a:ext cx="4480560" cy="1783080"/>
          </a:xfrm>
          <a:prstGeom prst="roundRect">
            <a:avLst>
              <a:gd name="adj" fmla="val 4103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498080" y="484632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 </a:t>
            </a:r>
            <a:r>
              <a:rPr lang="en-US" sz="13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nacional aporta una base estable, pero el volumen incremental viene del exterior — la oferta debe orientarse al viajero internacional sin descuidar el doméstico.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1 /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1 · ORIGEN DEL VIAJERO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mercados concentran la mayoría del turismo exterior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Reino Unido, Alemania y Francia suman más de 100 millones de viajeros acumulados (2021–2025).</a:t>
            </a:r>
            <a:endParaRPr lang="en-US" sz="1300" dirty="0"/>
          </a:p>
        </p:txBody>
      </p:sp>
      <p:pic>
        <p:nvPicPr>
          <p:cNvPr id="5" name="Image 0" descr="/tmp/img/a2_pai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640080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897880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EAF1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22960" y="6044184"/>
            <a:ext cx="274320" cy="27432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2960" y="6044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589788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 la decisión:  </a:t>
            </a:r>
            <a:r>
              <a:rPr lang="en-US" sz="11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idiomas, canales y mercados a los que adaptar la comunicación y el producto.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69480" y="1920240"/>
            <a:ext cx="4389120" cy="4069080"/>
          </a:xfrm>
          <a:prstGeom prst="roundRect">
            <a:avLst>
              <a:gd name="adj" fmla="val 1798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54380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para captación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43800" y="2651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543800" y="2889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Reino Unido · Alemania · Francia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43800" y="31729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grueso del volumen; prioridad en pricing y distribución.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43800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543800" y="3968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 · Países Bajos · Portugal · Bélgica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4380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en expansión para campañas segmentadas.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43800" y="4809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VALOR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543800" y="5047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Nórdicos · Suiza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43800" y="5330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volumen, mayor gasto medio y estancias largas.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1 / 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1 · ORIGEN DEL VIAJERO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Nuestras ciudades atraen más al viajero internacional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de StaySpain sobre el total de cada segmento que recibe España (acumulado 2021–2025).</a:t>
            </a:r>
            <a:endParaRPr lang="en-US" sz="1300" dirty="0"/>
          </a:p>
        </p:txBody>
      </p:sp>
      <p:pic>
        <p:nvPicPr>
          <p:cNvPr id="5" name="Image 0" descr="/tmp/img/a3_cuo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31720"/>
            <a:ext cx="594360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669280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EAF1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22960" y="5815584"/>
            <a:ext cx="274320" cy="27432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2960" y="5815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566928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 la decisión:  </a:t>
            </a:r>
            <a:r>
              <a:rPr lang="en-US" sz="11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el portfolio ya está sobreponderado en el segmento que más crece: hay base para especializar la oferta.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69480" y="1920240"/>
            <a:ext cx="4389120" cy="1691640"/>
          </a:xfrm>
          <a:prstGeom prst="roundRect">
            <a:avLst>
              <a:gd name="adj" fmla="val 4324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589520" y="210312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E8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 </a:t>
            </a:r>
            <a:r>
              <a:rPr lang="en-US" sz="13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extranjeros que llegan a España visitan nuestras ciudades — frente al </a:t>
            </a:r>
            <a:r>
              <a:rPr lang="en-US" sz="1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 </a:t>
            </a:r>
            <a:r>
              <a:rPr lang="en-US" sz="13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nacionales.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7269480" y="3794760"/>
            <a:ext cx="4389120" cy="1874520"/>
          </a:xfrm>
          <a:prstGeom prst="roundRect">
            <a:avLst>
              <a:gd name="adj" fmla="val 3902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589520" y="3977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Barcelona y Madrid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9520" y="43159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concentran más del 66% de los viajeros extranjeros del portfolio: son la palanca de captación internacional.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89520" y="50749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 </a:t>
            </a:r>
            <a:r>
              <a:rPr lang="en-US" sz="12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portfolio está bien posicionado en el segmento que más crece.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1 / 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2 · MESES DE VISITA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demanda se concentra en verano, sin desplomes bruscos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saber cuándo llega la demanda, para decidir si la oferta debe variar a lo largo del año.</a:t>
            </a:r>
            <a:endParaRPr lang="en-US" sz="1300" dirty="0"/>
          </a:p>
        </p:txBody>
      </p:sp>
      <p:pic>
        <p:nvPicPr>
          <p:cNvPr id="5" name="Image 0" descr="/tmp/img/b1_estac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66294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943600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EAF1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22960" y="6089904"/>
            <a:ext cx="274320" cy="27432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2960" y="6089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594360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 la decisión:  </a:t>
            </a:r>
            <a:r>
              <a:rPr lang="en-US" sz="11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concentración estival pide gestión de capacidad y precio por temporada, no una oferta plana.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192024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818120" y="20848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D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34,9%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7818120" y="26883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viajeros del año se concentran en julio, agosto y septiembre.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0" y="342900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818120" y="359359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9,2%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818120" y="419709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enero + febrero, los meses valle del año.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98080" y="493776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7818120" y="507492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 </a:t>
            </a:r>
            <a:r>
              <a:rPr lang="en-US" sz="12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primavera y otoño (abril, mayo, octubre) son los meses que más crecen: margen para captar demanda fuera del verano.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2 / 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2 · MESES DE VISITA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ciudad tiene un perfil estacional muy distinto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pico/valle: cuántas veces el mejor mes supera al peor. Marca cómo de crítica es la gestión de temporada.</a:t>
            </a:r>
            <a:endParaRPr lang="en-US" sz="1300" dirty="0"/>
          </a:p>
        </p:txBody>
      </p:sp>
      <p:pic>
        <p:nvPicPr>
          <p:cNvPr id="5" name="Image 0" descr="/tmp/img/b2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66294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943600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EAF1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22960" y="6089904"/>
            <a:ext cx="274320" cy="27432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2960" y="6089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594360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 la decisión:  </a:t>
            </a:r>
            <a:r>
              <a:rPr lang="en-US" sz="11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una oferta única: cada ciudad necesita su propia política de precio y disponibilidad.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192024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81812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mundos opuestos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18120" y="2468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Menorca (70x) y Palma (8x)  </a:t>
            </a:r>
            <a:r>
              <a:rPr lang="en-US" sz="13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 del verano. </a:t>
            </a:r>
            <a:r>
              <a:rPr lang="en-US" sz="13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y Sevilla (1,6x)  </a:t>
            </a:r>
            <a:r>
              <a:rPr lang="en-US" sz="13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mantienen ocupación estable todo el año.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98080" y="3886200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81812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Sevilla, destino a vigilar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818120" y="44165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bimodal (primavera y otoño) y el mayor crecimiento del portfolio: ha duplicado viajeros entre 2021 y 2025.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1812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 </a:t>
            </a:r>
            <a:r>
              <a:rPr lang="en-US" sz="12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de precios debe ser por ciudad, no única.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2 / 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2 · MESES DE VISITA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viaja cambia según la época del año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viajero internacional empuja el pico de verano; el nacional sostiene la actividad en los meses valle.</a:t>
            </a:r>
            <a:endParaRPr lang="en-US" sz="1300" dirty="0"/>
          </a:p>
        </p:txBody>
      </p:sp>
      <p:pic>
        <p:nvPicPr>
          <p:cNvPr id="5" name="Image 0" descr="/tmp/img/b3_nac_ext_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66294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943600"/>
            <a:ext cx="6400800" cy="566928"/>
          </a:xfrm>
          <a:prstGeom prst="roundRect">
            <a:avLst>
              <a:gd name="adj" fmla="val 9677"/>
            </a:avLst>
          </a:prstGeom>
          <a:solidFill>
            <a:srgbClr val="EAF1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22960" y="6089904"/>
            <a:ext cx="274320" cy="27432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2960" y="6089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07008" y="594360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 la decisión:  </a:t>
            </a:r>
            <a:r>
              <a:rPr lang="en-US" sz="11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mix origen × mes es la palanca para suavizar la estacionalidad y sostener la ocupación anual.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192024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818120" y="21031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Abril–octubre  </a:t>
            </a:r>
            <a:r>
              <a:rPr lang="en-US" sz="13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 los internacionales. </a:t>
            </a:r>
            <a:r>
              <a:rPr lang="en-US" sz="130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Noviembre–marzo  </a:t>
            </a:r>
            <a:r>
              <a:rPr lang="en-US" sz="13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nacional toma la delantera.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98080" y="347472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8181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Dependencia exterior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18120" y="400507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 (4,0×) y Palma (5,8×)  </a:t>
            </a:r>
            <a:r>
              <a:rPr lang="en-US" sz="12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reciben más extranjeros que nacionales los 12 meses: más expuestas a shocks externos.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498080" y="530352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7818120" y="54132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 </a:t>
            </a:r>
            <a:r>
              <a:rPr lang="en-US" sz="12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mix de origen es una palanca para suavizar la estacionalidad.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2 / 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3 · PERNOCTACIONES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tiempo se queda el viajero?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medir la estancia media para decidir si la oferta debe adaptarse a estancias largas o a alta rotación.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492240" cy="3429000"/>
          </a:xfrm>
          <a:prstGeom prst="roundRect">
            <a:avLst>
              <a:gd name="adj" fmla="val 2667"/>
            </a:avLst>
          </a:prstGeom>
          <a:solidFill>
            <a:srgbClr val="F7FAFB"/>
          </a:solidFill>
          <a:ln w="15875">
            <a:solidFill>
              <a:srgbClr val="8FA3B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pendiente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(notebook del analista 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5897880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EAF1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22960" y="6044184"/>
            <a:ext cx="274320" cy="27432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6044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589788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 la decisión:  </a:t>
            </a:r>
            <a:r>
              <a:rPr lang="en-US" sz="11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duración de estancia define el tipo de producto y la política de mínimos de noches por ciudad.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237744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8181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completar en este slide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8120" y="3172968"/>
            <a:ext cx="164592" cy="164592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09244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slide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 concreta de la estancia responde.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18120" y="4041648"/>
            <a:ext cx="164592" cy="164592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09244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principal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clave (estancia media, comparativa, tendencia).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18120" y="4910328"/>
            <a:ext cx="164592" cy="164592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09244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negocio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92440" y="5138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implica para adaptar la oferta de StaySpain.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3 / 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3 · PERNOCTACIONES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tiempo se queda el viajero?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medir la estancia media para decidir si la oferta debe adaptarse a estancias largas o a alta rotación.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492240" cy="3429000"/>
          </a:xfrm>
          <a:prstGeom prst="roundRect">
            <a:avLst>
              <a:gd name="adj" fmla="val 2667"/>
            </a:avLst>
          </a:prstGeom>
          <a:solidFill>
            <a:srgbClr val="F7FAFB"/>
          </a:solidFill>
          <a:ln w="15875">
            <a:solidFill>
              <a:srgbClr val="8FA3B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pendiente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(notebook del analista 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5897880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EAF1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22960" y="6044184"/>
            <a:ext cx="274320" cy="27432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6044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589788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 la decisión:  </a:t>
            </a:r>
            <a:r>
              <a:rPr lang="en-US" sz="11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duración de estancia define el tipo de producto y la política de mínimos de noches por ciudad.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237744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8181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completar en este slide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8120" y="3172968"/>
            <a:ext cx="164592" cy="164592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09244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slide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 concreta de la estancia responde.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18120" y="4041648"/>
            <a:ext cx="164592" cy="164592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09244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principal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clave (estancia media, comparativa, tendencia).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18120" y="4910328"/>
            <a:ext cx="164592" cy="164592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09244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negocio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92440" y="5138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implica para adaptar la oferta de StaySpain.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3 / 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3 · PERNOCTACIONES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tiempo se queda el viajero?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medir la estancia media para decidir si la oferta debe adaptarse a estancias largas o a alta rotación.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492240" cy="3429000"/>
          </a:xfrm>
          <a:prstGeom prst="roundRect">
            <a:avLst>
              <a:gd name="adj" fmla="val 2667"/>
            </a:avLst>
          </a:prstGeom>
          <a:solidFill>
            <a:srgbClr val="F7FAFB"/>
          </a:solidFill>
          <a:ln w="15875">
            <a:solidFill>
              <a:srgbClr val="8FA3B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pendiente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(notebook del analista 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5897880"/>
            <a:ext cx="6492240" cy="566928"/>
          </a:xfrm>
          <a:prstGeom prst="roundRect">
            <a:avLst>
              <a:gd name="adj" fmla="val 9677"/>
            </a:avLst>
          </a:prstGeom>
          <a:solidFill>
            <a:srgbClr val="EAF1F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22960" y="6044184"/>
            <a:ext cx="274320" cy="27432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6044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589788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a la decisión:  </a:t>
            </a:r>
            <a:r>
              <a:rPr lang="en-US" sz="115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duración de estancia define el tipo de producto y la política de mínimos de noches por ciudad.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237744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8181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completar en este slide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8120" y="3172968"/>
            <a:ext cx="164592" cy="164592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09244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slide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 concreta de la estancia responde.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18120" y="4041648"/>
            <a:ext cx="164592" cy="164592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092440" y="3977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principal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clave (estancia media, comparativa, tendencia).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18120" y="4910328"/>
            <a:ext cx="164592" cy="164592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09244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negocio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92440" y="5138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implica para adaptar la oferta de StaySpain.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3 / 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Sí: la oferta debe adaptarse — por segmento, temporada y ciudad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dimensiones convergen en una misma conclusión: no existe un viajero único ni una demanda uniforme.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60120" y="2651760"/>
            <a:ext cx="457200" cy="457200"/>
          </a:xfrm>
          <a:prstGeom prst="ellipse">
            <a:avLst/>
          </a:prstGeom>
          <a:solidFill>
            <a:srgbClr val="2E8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71576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viajero internacional es el motor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2953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del volumen y +252% de crecimiento. La oferta y la comunicación deben orientarse a los mercados core (UK, DE, FR) sin perder la base nacional.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62272" y="237744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782312" y="2651760"/>
            <a:ext cx="457200" cy="457200"/>
          </a:xfrm>
          <a:prstGeom prst="ellipse">
            <a:avLst/>
          </a:prstGeom>
          <a:solidFill>
            <a:srgbClr val="D8A2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8231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76672" y="271576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82312" y="329184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demanda no es uniforme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82312" y="4160520"/>
            <a:ext cx="2953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Verano concentra el 35%, con perfiles opuestos por ciudad (Menorca 70x vs Madrid 1,6x). El precio y la capacidad deben gestionarse por temporada y destino.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84464" y="237744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F7FAFB"/>
          </a:solidFill>
          <a:ln/>
          <a:effectLst>
            <a:outerShdw blurRad="88900" dist="25400" dir="5400000" algn="bl" rotWithShape="0">
              <a:srgbClr val="BCC9D1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604504" y="2651760"/>
            <a:ext cx="457200" cy="457200"/>
          </a:xfrm>
          <a:prstGeom prst="ellipse">
            <a:avLst/>
          </a:prstGeom>
          <a:solidFill>
            <a:srgbClr val="8FA3B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604504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98864" y="271576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PERNOCTACIONES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04504" y="3291840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F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estancia define el producto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04504" y="4160520"/>
            <a:ext cx="29535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(Pendiente del análisis 3) La duración media indicará dónde apostar por estancias largas y dónde por rotación y escapadas cortas.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1F3B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914400" y="58064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la oferta no es opcional — es la palanca para capturar el crecimiento internacional y suavizar la estacionalidad ciudad a ciudad.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 · Encuesta de Ocupación Hotelera (INE) 2021–2025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0"/>
            <a:ext cx="12192000" cy="685280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1E23CB2-B925-C3EE-E869-AB8256111686}"/>
              </a:ext>
            </a:extLst>
          </p:cNvPr>
          <p:cNvSpPr/>
          <p:nvPr/>
        </p:nvSpPr>
        <p:spPr>
          <a:xfrm>
            <a:off x="95250" y="5715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300" dirty="0">
                <a:solidFill>
                  <a:srgbClr val="D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A DIRECCIÓN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417320"/>
            <a:ext cx="3657600" cy="2441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D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Analistas de Datos · StaySpain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1376</Words>
  <Application>Microsoft Office PowerPoint</Application>
  <PresentationFormat>Panorámica</PresentationFormat>
  <Paragraphs>162</Paragraphs>
  <Slides>14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StaySpain — ¿Debemos adaptar nuestra oferta al perfil del viajero?</dc:title>
  <dc:subject>PptxGenJS Presentation</dc:subject>
  <dc:creator>StaySpain · Equip 29</dc:creator>
  <cp:lastModifiedBy>Ignacio Soldevilla</cp:lastModifiedBy>
  <cp:revision>4</cp:revision>
  <dcterms:created xsi:type="dcterms:W3CDTF">2026-06-18T22:48:49Z</dcterms:created>
  <dcterms:modified xsi:type="dcterms:W3CDTF">2026-06-19T09:35:10Z</dcterms:modified>
</cp:coreProperties>
</file>