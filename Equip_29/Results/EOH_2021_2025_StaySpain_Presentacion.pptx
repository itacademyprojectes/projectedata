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70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4" r:id="rId11"/>
    <p:sldId id="265" r:id="rId12"/>
    <p:sldId id="267" r:id="rId13"/>
    <p:sldId id="271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36EFA"/>
    <a:srgbClr val="00CB95"/>
    <a:srgbClr val="EF5439"/>
    <a:srgbClr val="F7FAFB"/>
    <a:srgbClr val="CCECFF"/>
    <a:srgbClr val="AB63FA"/>
    <a:srgbClr val="19D3F3"/>
    <a:srgbClr val="FF6491"/>
    <a:srgbClr val="FFA1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0611" autoAdjust="0"/>
  </p:normalViewPr>
  <p:slideViewPr>
    <p:cSldViewPr snapToGrid="0" snapToObjects="1">
      <p:cViewPr varScale="1">
        <p:scale>
          <a:sx n="88" d="100"/>
          <a:sy n="88" d="100"/>
        </p:scale>
        <p:origin x="135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092317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5000"/>
              </a:lnSpc>
              <a:buNone/>
            </a:pPr>
            <a:r>
              <a:rPr lang="es-ES" sz="1200" dirty="0">
                <a:solidFill>
                  <a:srgbClr val="6B7A85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Andalucía, Baleares, Barcelona, Valencia muestran crecimiento interanual 24-25 inferior o negativo</a:t>
            </a:r>
            <a:endParaRPr lang="es-ES" sz="1200" dirty="0">
              <a:latin typeface="Georgia" panose="02040502050405020303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7105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microsoft.com/office/2007/relationships/hdphoto" Target="../media/hdphoto3.wdp"/><Relationship Id="rId3" Type="http://schemas.openxmlformats.org/officeDocument/2006/relationships/image" Target="../media/image10.png"/><Relationship Id="rId7" Type="http://schemas.openxmlformats.org/officeDocument/2006/relationships/image" Target="../media/image14.jpe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jpeg"/><Relationship Id="rId11" Type="http://schemas.microsoft.com/office/2007/relationships/hdphoto" Target="../media/hdphoto2.wdp"/><Relationship Id="rId5" Type="http://schemas.openxmlformats.org/officeDocument/2006/relationships/image" Target="../media/image12.jpeg"/><Relationship Id="rId10" Type="http://schemas.openxmlformats.org/officeDocument/2006/relationships/image" Target="../media/image16.png"/><Relationship Id="rId4" Type="http://schemas.openxmlformats.org/officeDocument/2006/relationships/image" Target="../media/image11.svg"/><Relationship Id="rId9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B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img/logo.png"/>
          <p:cNvPicPr>
            <a:picLocks noChangeAspect="1"/>
          </p:cNvPicPr>
          <p:nvPr/>
        </p:nvPicPr>
        <p:blipFill>
          <a:blip r:embed="rId3"/>
          <a:srcRect t="27315" b="35278"/>
          <a:stretch>
            <a:fillRect/>
          </a:stretch>
        </p:blipFill>
        <p:spPr>
          <a:xfrm>
            <a:off x="3630168" y="1767840"/>
            <a:ext cx="4937760" cy="12313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416052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300" dirty="0">
                <a:solidFill>
                  <a:srgbClr val="9D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 DE ANALISTAS DE DATOS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0" y="4526280"/>
            <a:ext cx="12191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 del inventario de alojamientos turísticos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4937760" y="5257800"/>
            <a:ext cx="2313432" cy="0"/>
          </a:xfrm>
          <a:prstGeom prst="line">
            <a:avLst/>
          </a:prstGeom>
          <a:noFill/>
          <a:ln w="12700">
            <a:solidFill>
              <a:srgbClr val="3A5A7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3"/>
          <p:cNvSpPr/>
          <p:nvPr/>
        </p:nvSpPr>
        <p:spPr>
          <a:xfrm>
            <a:off x="0" y="54406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DE ANALISTAS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0" y="57607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F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Alexei Levitchi   ·   Vanessa Plaza   ·   Ignacio Soldevilla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0" y="621792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kern="0" spc="100" dirty="0">
                <a:solidFill>
                  <a:srgbClr val="7E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t="529" b="3252"/>
          <a:stretch>
            <a:fillRect/>
          </a:stretch>
        </p:blipFill>
        <p:spPr>
          <a:xfrm>
            <a:off x="0" y="0"/>
            <a:ext cx="12192000" cy="522922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7B2F99A-B11C-168F-3616-8D21B9A971B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7395" b="32353"/>
          <a:stretch>
            <a:fillRect/>
          </a:stretch>
        </p:blipFill>
        <p:spPr>
          <a:xfrm>
            <a:off x="0" y="5200650"/>
            <a:ext cx="12192000" cy="1314450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18557FCA-B1C8-33CC-37D5-B96F66E1EF05}"/>
              </a:ext>
            </a:extLst>
          </p:cNvPr>
          <p:cNvSpPr/>
          <p:nvPr/>
        </p:nvSpPr>
        <p:spPr>
          <a:xfrm>
            <a:off x="0" y="6515100"/>
            <a:ext cx="12192000" cy="342900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2100" dirty="0"/>
              <a:t>Fuente: INE, </a:t>
            </a:r>
            <a:r>
              <a:rPr lang="es-ES" sz="2100" b="1" dirty="0"/>
              <a:t>Encuesta de ocupación hotelera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2E8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1 · ORIGEN DEL VIAJERO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1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viajero internacional ya es el motor del crecimiento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medir qué perfil de viajero impulsa la demanda, para saber a quién debe dirigirse nuestra oferta.</a:t>
            </a:r>
            <a:endParaRPr lang="en-US" sz="1300" dirty="0"/>
          </a:p>
        </p:txBody>
      </p:sp>
      <p:pic>
        <p:nvPicPr>
          <p:cNvPr id="5" name="Image 0" descr="/tmp/img/a1_nac_e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331720"/>
            <a:ext cx="6263640" cy="3246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5715000"/>
            <a:ext cx="6400800" cy="566928"/>
          </a:xfrm>
          <a:prstGeom prst="roundRect">
            <a:avLst>
              <a:gd name="adj" fmla="val 9677"/>
            </a:avLst>
          </a:prstGeom>
          <a:solidFill>
            <a:srgbClr val="EAF1F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822960" y="5861304"/>
            <a:ext cx="274320" cy="274320"/>
          </a:xfrm>
          <a:prstGeom prst="ellipse">
            <a:avLst/>
          </a:prstGeom>
          <a:solidFill>
            <a:srgbClr val="2E8B9E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/>
          <p:nvPr/>
        </p:nvSpPr>
        <p:spPr>
          <a:xfrm>
            <a:off x="822960" y="58613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07008" y="5715000"/>
            <a:ext cx="5715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F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Aporta a la decisión:  </a:t>
            </a:r>
            <a:r>
              <a:rPr lang="en-US" sz="1150" dirty="0">
                <a:solidFill>
                  <a:srgbClr val="334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segmento que crece (internacional) marca hacia dónde reorientar producto y captación.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178040" y="1828800"/>
            <a:ext cx="4480560" cy="1280160"/>
          </a:xfrm>
          <a:prstGeom prst="roundRect">
            <a:avLst>
              <a:gd name="adj" fmla="val 5714"/>
            </a:avLst>
          </a:prstGeom>
          <a:solidFill>
            <a:srgbClr val="F7FAFB"/>
          </a:solidFill>
          <a:ln/>
          <a:effectLst>
            <a:outerShdw blurRad="88900" dist="25400" dir="5400000" algn="bl" rotWithShape="0">
              <a:srgbClr val="BCC9D1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Text 8"/>
          <p:cNvSpPr/>
          <p:nvPr/>
        </p:nvSpPr>
        <p:spPr>
          <a:xfrm>
            <a:off x="7498080" y="1993392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2E8B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+252%</a:t>
            </a:r>
            <a:endParaRPr lang="en-US" sz="3800" dirty="0"/>
          </a:p>
        </p:txBody>
      </p:sp>
      <p:sp>
        <p:nvSpPr>
          <p:cNvPr id="12" name="Text 9"/>
          <p:cNvSpPr/>
          <p:nvPr/>
        </p:nvSpPr>
        <p:spPr>
          <a:xfrm>
            <a:off x="7498080" y="2596896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crecen los internacionales 2021→2025, frente a +46% del mercado nacional.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178040" y="3246120"/>
            <a:ext cx="4480560" cy="1280160"/>
          </a:xfrm>
          <a:prstGeom prst="roundRect">
            <a:avLst>
              <a:gd name="adj" fmla="val 5714"/>
            </a:avLst>
          </a:prstGeom>
          <a:solidFill>
            <a:srgbClr val="F7FAFB"/>
          </a:solidFill>
          <a:ln/>
          <a:effectLst>
            <a:outerShdw blurRad="88900" dist="25400" dir="5400000" algn="bl" rotWithShape="0">
              <a:srgbClr val="BCC9D1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Text 11"/>
          <p:cNvSpPr/>
          <p:nvPr/>
        </p:nvSpPr>
        <p:spPr>
          <a:xfrm>
            <a:off x="7498080" y="3410712"/>
            <a:ext cx="3886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1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</a:t>
            </a:r>
            <a:endParaRPr lang="en-US" sz="3800" dirty="0"/>
          </a:p>
        </p:txBody>
      </p:sp>
      <p:sp>
        <p:nvSpPr>
          <p:cNvPr id="15" name="Text 12"/>
          <p:cNvSpPr/>
          <p:nvPr/>
        </p:nvSpPr>
        <p:spPr>
          <a:xfrm>
            <a:off x="7498080" y="4014216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viajeros ya son extranjeros en 2025; en 2021 eran el 39%.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178040" y="4663440"/>
            <a:ext cx="4480560" cy="1783080"/>
          </a:xfrm>
          <a:prstGeom prst="roundRect">
            <a:avLst>
              <a:gd name="adj" fmla="val 4103"/>
            </a:avLst>
          </a:prstGeom>
          <a:solidFill>
            <a:srgbClr val="F7FAFB"/>
          </a:solidFill>
          <a:ln/>
          <a:effectLst>
            <a:outerShdw blurRad="88900" dist="25400" dir="5400000" algn="bl" rotWithShape="0">
              <a:srgbClr val="BCC9D1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7" name="Text 14"/>
          <p:cNvSpPr/>
          <p:nvPr/>
        </p:nvSpPr>
        <p:spPr>
          <a:xfrm>
            <a:off x="7498080" y="4846320"/>
            <a:ext cx="3886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 </a:t>
            </a:r>
            <a:r>
              <a:rPr lang="en-US" sz="1300" dirty="0">
                <a:solidFill>
                  <a:srgbClr val="334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nacional aporta una base estable, pero el volumen incremental viene del exterior — la oferta debe orientarse al viajero internacional sin descuidar el doméstico.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F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StaySpain · Encuesta de Ocupación Hotelera (INE) 2021–2025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F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1 / 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2E8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1 · ORIGEN DEL VIAJERO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1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mercados concentran la mayoría del turismo exterior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Reino Unido, Alemania y Francia suman más de 100 millones de viajeros acumulados (2021–2025).</a:t>
            </a:r>
            <a:endParaRPr lang="en-US" sz="1300" dirty="0"/>
          </a:p>
        </p:txBody>
      </p:sp>
      <p:pic>
        <p:nvPicPr>
          <p:cNvPr id="5" name="Image 0" descr="/tmp/img/a2_pai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286000"/>
            <a:ext cx="6400800" cy="35204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5897880"/>
            <a:ext cx="6400800" cy="566928"/>
          </a:xfrm>
          <a:prstGeom prst="roundRect">
            <a:avLst>
              <a:gd name="adj" fmla="val 9677"/>
            </a:avLst>
          </a:prstGeom>
          <a:solidFill>
            <a:srgbClr val="EAF1F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822960" y="6044184"/>
            <a:ext cx="274320" cy="274320"/>
          </a:xfrm>
          <a:prstGeom prst="ellipse">
            <a:avLst/>
          </a:prstGeom>
          <a:solidFill>
            <a:srgbClr val="2E8B9E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/>
          <p:nvPr/>
        </p:nvSpPr>
        <p:spPr>
          <a:xfrm>
            <a:off x="822960" y="6044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07008" y="5897880"/>
            <a:ext cx="5715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F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Aporta a la decisión:  </a:t>
            </a:r>
            <a:r>
              <a:rPr lang="en-US" sz="1150" dirty="0">
                <a:solidFill>
                  <a:srgbClr val="334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los idiomas, canales y mercados a los que adaptar la comunicación y el producto.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269480" y="1920240"/>
            <a:ext cx="4389120" cy="4069080"/>
          </a:xfrm>
          <a:prstGeom prst="roundRect">
            <a:avLst>
              <a:gd name="adj" fmla="val 1798"/>
            </a:avLst>
          </a:prstGeom>
          <a:solidFill>
            <a:srgbClr val="F7FAFB"/>
          </a:solidFill>
          <a:ln/>
          <a:effectLst>
            <a:outerShdw blurRad="88900" dist="25400" dir="5400000" algn="bl" rotWithShape="0">
              <a:srgbClr val="BCC9D1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Text 8"/>
          <p:cNvSpPr/>
          <p:nvPr/>
        </p:nvSpPr>
        <p:spPr>
          <a:xfrm>
            <a:off x="7543800" y="21488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Lectura para captación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543800" y="265176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2E8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543800" y="28895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34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Reino Unido · Alemania · Francia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543800" y="317296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grueso del volumen; prioridad en pricing y distribución.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543800" y="37307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2E8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CRECIMIENTO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7543800" y="396849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34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Italia · Países Bajos · Portugal · Bélgica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543800" y="42519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mercados en expansión para campañas segmentadas.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543800" y="48097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2E8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VALOR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7543800" y="50474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34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Nórdicos · Suiza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543800" y="533095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volumen, mayor gasto medio y estancias largas.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F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StaySpain · Encuesta de Ocupación Hotelera (INE) 2021–2025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F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1 / 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2E8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1 · ORIGEN DEL VIAJERO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1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Nuestras ciudades atraen más al viajero internacional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Cuota de StaySpain sobre el total de cada segmento que recibe España (acumulado 2021–2025).</a:t>
            </a:r>
            <a:endParaRPr lang="en-US" sz="1300" dirty="0"/>
          </a:p>
        </p:txBody>
      </p:sp>
      <p:pic>
        <p:nvPicPr>
          <p:cNvPr id="5" name="Image 0" descr="/tmp/img/a3_cuot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331720"/>
            <a:ext cx="5943600" cy="3154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5669280"/>
            <a:ext cx="6400800" cy="566928"/>
          </a:xfrm>
          <a:prstGeom prst="roundRect">
            <a:avLst>
              <a:gd name="adj" fmla="val 9677"/>
            </a:avLst>
          </a:prstGeom>
          <a:solidFill>
            <a:srgbClr val="EAF1F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822960" y="5815584"/>
            <a:ext cx="274320" cy="274320"/>
          </a:xfrm>
          <a:prstGeom prst="ellipse">
            <a:avLst/>
          </a:prstGeom>
          <a:solidFill>
            <a:srgbClr val="2E8B9E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/>
          <p:nvPr/>
        </p:nvSpPr>
        <p:spPr>
          <a:xfrm>
            <a:off x="822960" y="5815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07008" y="5669280"/>
            <a:ext cx="5715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F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Aporta a la decisión:  </a:t>
            </a:r>
            <a:r>
              <a:rPr lang="en-US" sz="1150" dirty="0">
                <a:solidFill>
                  <a:srgbClr val="334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 que el portfolio ya está sobreponderado en el segmento que más crece: hay base para especializar la oferta.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269480" y="1920240"/>
            <a:ext cx="4389120" cy="1691640"/>
          </a:xfrm>
          <a:prstGeom prst="roundRect">
            <a:avLst>
              <a:gd name="adj" fmla="val 4324"/>
            </a:avLst>
          </a:prstGeom>
          <a:solidFill>
            <a:srgbClr val="F7FAFB"/>
          </a:solidFill>
          <a:ln/>
          <a:effectLst>
            <a:outerShdw blurRad="88900" dist="25400" dir="5400000" algn="bl" rotWithShape="0">
              <a:srgbClr val="BCC9D1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Text 8"/>
          <p:cNvSpPr/>
          <p:nvPr/>
        </p:nvSpPr>
        <p:spPr>
          <a:xfrm>
            <a:off x="7589520" y="2103120"/>
            <a:ext cx="3794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2E8B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42% </a:t>
            </a:r>
            <a:r>
              <a:rPr lang="en-US" sz="1300" dirty="0">
                <a:solidFill>
                  <a:srgbClr val="334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extranjeros que llegan a España visitan nuestras ciudades — frente al </a:t>
            </a:r>
            <a:r>
              <a:rPr lang="en-US" sz="1800" b="1" dirty="0">
                <a:solidFill>
                  <a:srgbClr val="1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29% </a:t>
            </a:r>
            <a:r>
              <a:rPr lang="en-US" sz="1300" dirty="0">
                <a:solidFill>
                  <a:srgbClr val="334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nacionales.</a:t>
            </a:r>
            <a:endParaRPr lang="en-US" sz="3000" dirty="0"/>
          </a:p>
        </p:txBody>
      </p:sp>
      <p:sp>
        <p:nvSpPr>
          <p:cNvPr id="12" name="Shape 9"/>
          <p:cNvSpPr/>
          <p:nvPr/>
        </p:nvSpPr>
        <p:spPr>
          <a:xfrm>
            <a:off x="7269480" y="3794760"/>
            <a:ext cx="4389120" cy="1874520"/>
          </a:xfrm>
          <a:prstGeom prst="roundRect">
            <a:avLst>
              <a:gd name="adj" fmla="val 3902"/>
            </a:avLst>
          </a:prstGeom>
          <a:solidFill>
            <a:srgbClr val="F7FAFB"/>
          </a:solidFill>
          <a:ln/>
          <a:effectLst>
            <a:outerShdw blurRad="88900" dist="25400" dir="5400000" algn="bl" rotWithShape="0">
              <a:srgbClr val="BCC9D1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Text 10"/>
          <p:cNvSpPr/>
          <p:nvPr/>
        </p:nvSpPr>
        <p:spPr>
          <a:xfrm>
            <a:off x="7589520" y="397764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Barcelona y Madrid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589520" y="4315968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34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concentran más del 66% de los viajeros extranjeros del portfolio: son la palanca de captación internacional.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589520" y="507492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 </a:t>
            </a:r>
            <a:r>
              <a:rPr lang="en-US" sz="1200" dirty="0">
                <a:solidFill>
                  <a:srgbClr val="334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portfolio está bien posicionado en el segmento que más crece.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F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StaySpain · Encuesta de Ocupación Hotelera (INE) 2021–2025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F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1 / 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2 · MESES DE VISITA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1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demanda se concentra en verano, sin desplomes bruscos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saber cuándo llega la demanda, para decidir si la oferta debe variar a lo largo del año.</a:t>
            </a:r>
            <a:endParaRPr lang="en-US" sz="1300" dirty="0"/>
          </a:p>
        </p:txBody>
      </p:sp>
      <p:pic>
        <p:nvPicPr>
          <p:cNvPr id="5" name="Image 0" descr="/tmp/img/b1_estacio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286000"/>
            <a:ext cx="6629400" cy="35661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5943600"/>
            <a:ext cx="6400800" cy="566928"/>
          </a:xfrm>
          <a:prstGeom prst="roundRect">
            <a:avLst>
              <a:gd name="adj" fmla="val 9677"/>
            </a:avLst>
          </a:prstGeom>
          <a:solidFill>
            <a:srgbClr val="EAF1F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822960" y="6089904"/>
            <a:ext cx="274320" cy="274320"/>
          </a:xfrm>
          <a:prstGeom prst="ellipse">
            <a:avLst/>
          </a:prstGeom>
          <a:solidFill>
            <a:srgbClr val="2E8B9E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/>
          <p:nvPr/>
        </p:nvSpPr>
        <p:spPr>
          <a:xfrm>
            <a:off x="822960" y="6089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07008" y="5943600"/>
            <a:ext cx="5715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F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Aporta a la decisión:  </a:t>
            </a:r>
            <a:r>
              <a:rPr lang="en-US" sz="1150" dirty="0">
                <a:solidFill>
                  <a:srgbClr val="334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concentración estival pide gestión de capacidad y precio por temporada, no una oferta plana.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0" y="1920240"/>
            <a:ext cx="4160520" cy="1371600"/>
          </a:xfrm>
          <a:prstGeom prst="roundRect">
            <a:avLst>
              <a:gd name="adj" fmla="val 5333"/>
            </a:avLst>
          </a:prstGeom>
          <a:solidFill>
            <a:srgbClr val="F7FAFB"/>
          </a:solidFill>
          <a:ln/>
          <a:effectLst>
            <a:outerShdw blurRad="88900" dist="25400" dir="5400000" algn="bl" rotWithShape="0">
              <a:srgbClr val="BCC9D1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Text 8"/>
          <p:cNvSpPr/>
          <p:nvPr/>
        </p:nvSpPr>
        <p:spPr>
          <a:xfrm>
            <a:off x="7818120" y="2084832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D8A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34,9%</a:t>
            </a:r>
            <a:endParaRPr lang="en-US" sz="3800" dirty="0"/>
          </a:p>
        </p:txBody>
      </p:sp>
      <p:sp>
        <p:nvSpPr>
          <p:cNvPr id="12" name="Text 9"/>
          <p:cNvSpPr/>
          <p:nvPr/>
        </p:nvSpPr>
        <p:spPr>
          <a:xfrm>
            <a:off x="7818120" y="2688336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viajeros del año se concentran en julio, agosto y septiembre.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498080" y="3429000"/>
            <a:ext cx="4160520" cy="1371600"/>
          </a:xfrm>
          <a:prstGeom prst="roundRect">
            <a:avLst>
              <a:gd name="adj" fmla="val 5333"/>
            </a:avLst>
          </a:prstGeom>
          <a:solidFill>
            <a:srgbClr val="F7FAFB"/>
          </a:solidFill>
          <a:ln/>
          <a:effectLst>
            <a:outerShdw blurRad="88900" dist="25400" dir="5400000" algn="bl" rotWithShape="0">
              <a:srgbClr val="BCC9D1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Text 11"/>
          <p:cNvSpPr/>
          <p:nvPr/>
        </p:nvSpPr>
        <p:spPr>
          <a:xfrm>
            <a:off x="7818120" y="3593592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1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9,2%</a:t>
            </a:r>
            <a:endParaRPr lang="en-US" sz="3800" dirty="0"/>
          </a:p>
        </p:txBody>
      </p:sp>
      <p:sp>
        <p:nvSpPr>
          <p:cNvPr id="15" name="Text 12"/>
          <p:cNvSpPr/>
          <p:nvPr/>
        </p:nvSpPr>
        <p:spPr>
          <a:xfrm>
            <a:off x="7818120" y="4197096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en enero + febrero, los meses valle del año.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498080" y="4937760"/>
            <a:ext cx="4160520" cy="1508760"/>
          </a:xfrm>
          <a:prstGeom prst="roundRect">
            <a:avLst>
              <a:gd name="adj" fmla="val 4848"/>
            </a:avLst>
          </a:prstGeom>
          <a:solidFill>
            <a:srgbClr val="F7FAFB"/>
          </a:solidFill>
          <a:ln/>
          <a:effectLst>
            <a:outerShdw blurRad="88900" dist="25400" dir="5400000" algn="bl" rotWithShape="0">
              <a:srgbClr val="BCC9D1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7" name="Text 14"/>
          <p:cNvSpPr/>
          <p:nvPr/>
        </p:nvSpPr>
        <p:spPr>
          <a:xfrm>
            <a:off x="7818120" y="5074920"/>
            <a:ext cx="3611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2E8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  </a:t>
            </a:r>
            <a:r>
              <a:rPr lang="en-US" sz="1200" dirty="0">
                <a:solidFill>
                  <a:srgbClr val="334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primavera y otoño (abril, mayo, octubre) son los meses que más crecen: margen para captar demanda fuera del verano.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F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StaySpain · Encuesta de Ocupación Hotelera (INE) 2021–2025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F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2 / 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2 · MESES DE VISITA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1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ciudad tiene un perfil estacional muy distinto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pico/valle: cuántas veces el mejor mes supera al peor. Marca cómo de crítica es la gestión de temporada.</a:t>
            </a:r>
            <a:endParaRPr lang="en-US" sz="1300" dirty="0"/>
          </a:p>
        </p:txBody>
      </p:sp>
      <p:pic>
        <p:nvPicPr>
          <p:cNvPr id="5" name="Image 0" descr="/tmp/img/b2_rat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286000"/>
            <a:ext cx="6629400" cy="35661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5943600"/>
            <a:ext cx="6400800" cy="566928"/>
          </a:xfrm>
          <a:prstGeom prst="roundRect">
            <a:avLst>
              <a:gd name="adj" fmla="val 9677"/>
            </a:avLst>
          </a:prstGeom>
          <a:solidFill>
            <a:srgbClr val="EAF1F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822960" y="6089904"/>
            <a:ext cx="274320" cy="274320"/>
          </a:xfrm>
          <a:prstGeom prst="ellipse">
            <a:avLst/>
          </a:prstGeom>
          <a:solidFill>
            <a:srgbClr val="2E8B9E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/>
          <p:nvPr/>
        </p:nvSpPr>
        <p:spPr>
          <a:xfrm>
            <a:off x="822960" y="6089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07008" y="5943600"/>
            <a:ext cx="5715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F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Aporta a la decisión:  </a:t>
            </a:r>
            <a:r>
              <a:rPr lang="en-US" sz="1150" dirty="0">
                <a:solidFill>
                  <a:srgbClr val="334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 una oferta única: cada ciudad necesita su propia política de precio y disponibilidad.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0" y="1920240"/>
            <a:ext cx="4160520" cy="1828800"/>
          </a:xfrm>
          <a:prstGeom prst="roundRect">
            <a:avLst>
              <a:gd name="adj" fmla="val 4000"/>
            </a:avLst>
          </a:prstGeom>
          <a:solidFill>
            <a:srgbClr val="F7FAFB"/>
          </a:solidFill>
          <a:ln/>
          <a:effectLst>
            <a:outerShdw blurRad="88900" dist="25400" dir="5400000" algn="bl" rotWithShape="0">
              <a:srgbClr val="BCC9D1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Text 8"/>
          <p:cNvSpPr/>
          <p:nvPr/>
        </p:nvSpPr>
        <p:spPr>
          <a:xfrm>
            <a:off x="7818120" y="21031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mundos opuestos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818120" y="24688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Menorca (70x) y Palma (8x)  </a:t>
            </a:r>
            <a:r>
              <a:rPr lang="en-US" sz="1300" dirty="0">
                <a:solidFill>
                  <a:srgbClr val="334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viven del verano. </a:t>
            </a:r>
            <a:r>
              <a:rPr lang="en-US" sz="1300" b="1" dirty="0">
                <a:solidFill>
                  <a:srgbClr val="2E8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Madrid y Sevilla (1,6x)  </a:t>
            </a:r>
            <a:r>
              <a:rPr lang="en-US" sz="1300" dirty="0">
                <a:solidFill>
                  <a:srgbClr val="334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mantienen ocupación estable todo el año.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498080" y="3886200"/>
            <a:ext cx="4160520" cy="2103120"/>
          </a:xfrm>
          <a:prstGeom prst="roundRect">
            <a:avLst>
              <a:gd name="adj" fmla="val 3478"/>
            </a:avLst>
          </a:prstGeom>
          <a:solidFill>
            <a:srgbClr val="F7FAFB"/>
          </a:solidFill>
          <a:ln/>
          <a:effectLst>
            <a:outerShdw blurRad="88900" dist="25400" dir="5400000" algn="bl" rotWithShape="0">
              <a:srgbClr val="BCC9D1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Text 11"/>
          <p:cNvSpPr/>
          <p:nvPr/>
        </p:nvSpPr>
        <p:spPr>
          <a:xfrm>
            <a:off x="7818120" y="4069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Sevilla, destino a vigilar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818120" y="4416552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34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bimodal (primavera y otoño) y el mayor crecimiento del portfolio: ha duplicado viajeros entre 2021 y 2025.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818120" y="53492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 </a:t>
            </a:r>
            <a:r>
              <a:rPr lang="en-US" sz="1200" dirty="0">
                <a:solidFill>
                  <a:srgbClr val="334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estrategia de precios debe ser por ciudad, no única.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F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StaySpain · Encuesta de Ocupación Hotelera (INE) 2021–2025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F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2 / 3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2 · MESES DE VISITA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1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viaja cambia según la época del año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viajero internacional empuja el pico de verano; el nacional sostiene la actividad en los meses valle.</a:t>
            </a:r>
            <a:endParaRPr lang="en-US" sz="1300" dirty="0"/>
          </a:p>
        </p:txBody>
      </p:sp>
      <p:pic>
        <p:nvPicPr>
          <p:cNvPr id="5" name="Image 0" descr="/tmp/img/b3_nac_ext_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286000"/>
            <a:ext cx="6629400" cy="35661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5943600"/>
            <a:ext cx="6400800" cy="566928"/>
          </a:xfrm>
          <a:prstGeom prst="roundRect">
            <a:avLst>
              <a:gd name="adj" fmla="val 9677"/>
            </a:avLst>
          </a:prstGeom>
          <a:solidFill>
            <a:srgbClr val="EAF1F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822960" y="6089904"/>
            <a:ext cx="274320" cy="274320"/>
          </a:xfrm>
          <a:prstGeom prst="ellipse">
            <a:avLst/>
          </a:prstGeom>
          <a:solidFill>
            <a:srgbClr val="2E8B9E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/>
          <p:nvPr/>
        </p:nvSpPr>
        <p:spPr>
          <a:xfrm>
            <a:off x="822960" y="6089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07008" y="5943600"/>
            <a:ext cx="5715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F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Aporta a la decisión:  </a:t>
            </a:r>
            <a:r>
              <a:rPr lang="en-US" sz="1150" dirty="0">
                <a:solidFill>
                  <a:srgbClr val="334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mix origen × mes es la palanca para suavizar la estacionalidad y sostener la ocupación anual.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0" y="1920240"/>
            <a:ext cx="4160520" cy="1417320"/>
          </a:xfrm>
          <a:prstGeom prst="roundRect">
            <a:avLst>
              <a:gd name="adj" fmla="val 5161"/>
            </a:avLst>
          </a:prstGeom>
          <a:solidFill>
            <a:srgbClr val="F7FAFB"/>
          </a:solidFill>
          <a:ln/>
          <a:effectLst>
            <a:outerShdw blurRad="88900" dist="25400" dir="5400000" algn="bl" rotWithShape="0">
              <a:srgbClr val="BCC9D1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Text 8"/>
          <p:cNvSpPr/>
          <p:nvPr/>
        </p:nvSpPr>
        <p:spPr>
          <a:xfrm>
            <a:off x="7818120" y="210312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E8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Abril–octubre  </a:t>
            </a:r>
            <a:r>
              <a:rPr lang="en-US" sz="1300" dirty="0">
                <a:solidFill>
                  <a:srgbClr val="334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 los internacionales. </a:t>
            </a:r>
            <a:r>
              <a:rPr lang="en-US" sz="1300" b="1" dirty="0">
                <a:solidFill>
                  <a:srgbClr val="1F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Noviembre–marzo  </a:t>
            </a:r>
            <a:r>
              <a:rPr lang="en-US" sz="1300" dirty="0">
                <a:solidFill>
                  <a:srgbClr val="334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nacional toma la delantera.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498080" y="3474720"/>
            <a:ext cx="4160520" cy="1691640"/>
          </a:xfrm>
          <a:prstGeom prst="roundRect">
            <a:avLst>
              <a:gd name="adj" fmla="val 4324"/>
            </a:avLst>
          </a:prstGeom>
          <a:solidFill>
            <a:srgbClr val="F7FAFB"/>
          </a:solidFill>
          <a:ln/>
          <a:effectLst>
            <a:outerShdw blurRad="88900" dist="25400" dir="5400000" algn="bl" rotWithShape="0">
              <a:srgbClr val="BCC9D1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Text 10"/>
          <p:cNvSpPr/>
          <p:nvPr/>
        </p:nvSpPr>
        <p:spPr>
          <a:xfrm>
            <a:off x="7818120" y="3657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Dependencia exterior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7818120" y="4005072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34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Barcelona (4,0×) y Palma (5,8×)  </a:t>
            </a:r>
            <a:r>
              <a:rPr lang="en-US" sz="1250" dirty="0">
                <a:solidFill>
                  <a:srgbClr val="334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reciben más extranjeros que nacionales los 12 meses: más expuestas a shocks externos.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498080" y="5303520"/>
            <a:ext cx="4160520" cy="777240"/>
          </a:xfrm>
          <a:prstGeom prst="roundRect">
            <a:avLst>
              <a:gd name="adj" fmla="val 9412"/>
            </a:avLst>
          </a:prstGeom>
          <a:solidFill>
            <a:srgbClr val="F7FAFB"/>
          </a:solidFill>
          <a:ln/>
          <a:effectLst>
            <a:outerShdw blurRad="88900" dist="25400" dir="5400000" algn="bl" rotWithShape="0">
              <a:srgbClr val="BCC9D1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/>
          <p:nvPr/>
        </p:nvSpPr>
        <p:spPr>
          <a:xfrm>
            <a:off x="7818120" y="5413248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 </a:t>
            </a:r>
            <a:r>
              <a:rPr lang="en-US" sz="1200" dirty="0">
                <a:solidFill>
                  <a:srgbClr val="334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mix de origen es una palanca para suavizar la estacionalidad.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F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StaySpain · Encuesta de Ocupación Hotelera (INE) 2021–2025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F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2 / 3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1F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3 · PERNOCTACIONES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79" y="777240"/>
            <a:ext cx="923734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s-ES" sz="2800" b="1" dirty="0">
                <a:solidFill>
                  <a:srgbClr val="1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¿Cuánto tiempo se queda el viajero? [Tipo alojamiento]</a:t>
            </a:r>
            <a:endParaRPr lang="es-E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4761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s-ES" sz="130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influye el tipo de alojamiento en la duración de las pernoctaciones en diferentes comunidades</a:t>
            </a:r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6492240" cy="3429000"/>
          </a:xfrm>
          <a:prstGeom prst="roundRect">
            <a:avLst>
              <a:gd name="adj" fmla="val 2667"/>
            </a:avLst>
          </a:prstGeom>
          <a:solidFill>
            <a:srgbClr val="F7FAFB">
              <a:alpha val="89804"/>
            </a:srgbClr>
          </a:solidFill>
          <a:ln w="15875">
            <a:solidFill>
              <a:srgbClr val="8FA3B0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8" name="Shape 6"/>
          <p:cNvSpPr/>
          <p:nvPr/>
        </p:nvSpPr>
        <p:spPr>
          <a:xfrm>
            <a:off x="640080" y="5897880"/>
            <a:ext cx="6492240" cy="566928"/>
          </a:xfrm>
          <a:prstGeom prst="roundRect">
            <a:avLst>
              <a:gd name="adj" fmla="val 9677"/>
            </a:avLst>
          </a:prstGeom>
          <a:solidFill>
            <a:srgbClr val="EAF1F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Shape 7"/>
          <p:cNvSpPr/>
          <p:nvPr/>
        </p:nvSpPr>
        <p:spPr>
          <a:xfrm>
            <a:off x="822960" y="6044184"/>
            <a:ext cx="274320" cy="274320"/>
          </a:xfrm>
          <a:prstGeom prst="ellipse">
            <a:avLst/>
          </a:prstGeom>
          <a:solidFill>
            <a:srgbClr val="2E8B9E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822960" y="6044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07008" y="5897880"/>
            <a:ext cx="5806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F3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Aporta a la decisión: </a:t>
            </a:r>
            <a:r>
              <a:rPr lang="es-ES" sz="1150" dirty="0">
                <a:solidFill>
                  <a:srgbClr val="334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dónde optimizar ocupación vs. ingresos por cliente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498080" y="2377440"/>
            <a:ext cx="4160520" cy="3429000"/>
          </a:xfrm>
          <a:prstGeom prst="roundRect">
            <a:avLst>
              <a:gd name="adj" fmla="val 2133"/>
            </a:avLst>
          </a:prstGeom>
          <a:solidFill>
            <a:srgbClr val="F7FAFB"/>
          </a:solidFill>
          <a:ln/>
          <a:effectLst>
            <a:outerShdw blurRad="88900" dist="25400" dir="5400000" algn="bl" rotWithShape="0">
              <a:srgbClr val="BCC9D1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7" name="Shape 15"/>
          <p:cNvSpPr/>
          <p:nvPr/>
        </p:nvSpPr>
        <p:spPr>
          <a:xfrm>
            <a:off x="7818120" y="2691817"/>
            <a:ext cx="164592" cy="164592"/>
          </a:xfrm>
          <a:prstGeom prst="ellipse">
            <a:avLst/>
          </a:prstGeom>
          <a:solidFill>
            <a:srgbClr val="D8A24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8092440" y="2627809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34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principal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92440" y="2920416"/>
            <a:ext cx="3383280" cy="1097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s-ES" sz="1150" dirty="0">
                <a:solidFill>
                  <a:srgbClr val="334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tipo de alojamiento  y la duración de estancia no coinciden: Cataluña y Baleares lideran en volumen total, pero los formatos alternativos maximizan la permanencia (hasta 6–10 noches en camping), evidenciando dos dinámicas distintas de demanda.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818120" y="4845012"/>
            <a:ext cx="164592" cy="164592"/>
          </a:xfrm>
          <a:prstGeom prst="ellipse">
            <a:avLst/>
          </a:prstGeom>
          <a:solidFill>
            <a:srgbClr val="D8A24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" name="Text 19"/>
          <p:cNvSpPr/>
          <p:nvPr/>
        </p:nvSpPr>
        <p:spPr>
          <a:xfrm>
            <a:off x="8092440" y="478100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34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de negocio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092440" y="513892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s-ES" sz="115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en volumen en hoteles y en rentabilidad en alojamientos de larga estancia, ajustando </a:t>
            </a:r>
            <a:r>
              <a:rPr lang="es-ES" sz="1150" dirty="0" err="1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r>
              <a:rPr lang="es-ES" sz="115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marketing y distribución por tipo de activo.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F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StaySpain · Encuesta de Ocupación Hotelera (INE) 2021–2025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F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3 / 3</a:t>
            </a:r>
            <a:endParaRPr lang="en-US" sz="850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021A307-7269-4F95-9F3A-DDDEB69F4529}"/>
              </a:ext>
            </a:extLst>
          </p:cNvPr>
          <p:cNvGrpSpPr/>
          <p:nvPr/>
        </p:nvGrpSpPr>
        <p:grpSpPr>
          <a:xfrm>
            <a:off x="6022052" y="2459646"/>
            <a:ext cx="1028700" cy="895726"/>
            <a:chOff x="2447926" y="3210768"/>
            <a:chExt cx="1028700" cy="895726"/>
          </a:xfrm>
        </p:grpSpPr>
        <p:pic>
          <p:nvPicPr>
            <p:cNvPr id="27" name="Graphic 26">
              <a:extLst>
                <a:ext uri="{FF2B5EF4-FFF2-40B4-BE49-F238E27FC236}">
                  <a16:creationId xmlns:a16="http://schemas.microsoft.com/office/drawing/2014/main" id="{DF26E364-52B9-41BF-AD62-7062EFF4690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12500" t="18218" r="78491" b="68840"/>
            <a:stretch/>
          </p:blipFill>
          <p:spPr>
            <a:xfrm>
              <a:off x="2623565" y="3210768"/>
              <a:ext cx="677423" cy="64800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EEE05CB-F6D7-4A19-9E6F-5EF732689ECA}"/>
                </a:ext>
              </a:extLst>
            </p:cNvPr>
            <p:cNvSpPr txBox="1"/>
            <p:nvPr/>
          </p:nvSpPr>
          <p:spPr>
            <a:xfrm>
              <a:off x="2447926" y="3767940"/>
              <a:ext cx="10287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Georgia" panose="02040502050405020303" pitchFamily="18" charset="0"/>
                </a:rPr>
                <a:t>Camping</a:t>
              </a:r>
              <a:endParaRPr lang="en-GB" sz="1600" dirty="0">
                <a:latin typeface="Georgia" panose="02040502050405020303" pitchFamily="18" charset="0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D6E70A5-C290-4F63-ACFF-F54762884A71}"/>
              </a:ext>
            </a:extLst>
          </p:cNvPr>
          <p:cNvGrpSpPr/>
          <p:nvPr/>
        </p:nvGrpSpPr>
        <p:grpSpPr>
          <a:xfrm>
            <a:off x="3715496" y="2459646"/>
            <a:ext cx="1028700" cy="1170522"/>
            <a:chOff x="2447926" y="3182193"/>
            <a:chExt cx="1028700" cy="1170522"/>
          </a:xfrm>
        </p:grpSpPr>
        <p:pic>
          <p:nvPicPr>
            <p:cNvPr id="34" name="Graphic 33">
              <a:extLst>
                <a:ext uri="{FF2B5EF4-FFF2-40B4-BE49-F238E27FC236}">
                  <a16:creationId xmlns:a16="http://schemas.microsoft.com/office/drawing/2014/main" id="{6EB60445-C599-4AED-88C7-D801C45E4E3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t="12863" b="12863"/>
            <a:stretch/>
          </p:blipFill>
          <p:spPr>
            <a:xfrm>
              <a:off x="2623565" y="3182193"/>
              <a:ext cx="677423" cy="648000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666C930-60F9-4F00-80A2-BF017B31D5CA}"/>
                </a:ext>
              </a:extLst>
            </p:cNvPr>
            <p:cNvSpPr txBox="1"/>
            <p:nvPr/>
          </p:nvSpPr>
          <p:spPr>
            <a:xfrm>
              <a:off x="2447926" y="3767940"/>
              <a:ext cx="10287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Georgia" panose="02040502050405020303" pitchFamily="18" charset="0"/>
                </a:rPr>
                <a:t>Turismo</a:t>
              </a:r>
            </a:p>
            <a:p>
              <a:pPr algn="ctr"/>
              <a:r>
                <a:rPr lang="en-US" sz="1600" dirty="0">
                  <a:latin typeface="Georgia" panose="02040502050405020303" pitchFamily="18" charset="0"/>
                </a:rPr>
                <a:t>rural</a:t>
              </a:r>
              <a:endParaRPr lang="en-GB" sz="1600" dirty="0">
                <a:latin typeface="Georgia" panose="02040502050405020303" pitchFamily="18" charset="0"/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29635D2-E499-405B-BC47-893CF1766DF2}"/>
              </a:ext>
            </a:extLst>
          </p:cNvPr>
          <p:cNvGrpSpPr/>
          <p:nvPr/>
        </p:nvGrpSpPr>
        <p:grpSpPr>
          <a:xfrm>
            <a:off x="1607058" y="2459646"/>
            <a:ext cx="1028700" cy="895726"/>
            <a:chOff x="2447926" y="3210768"/>
            <a:chExt cx="1028700" cy="895726"/>
          </a:xfrm>
        </p:grpSpPr>
        <p:pic>
          <p:nvPicPr>
            <p:cNvPr id="38" name="Graphic 37">
              <a:extLst>
                <a:ext uri="{FF2B5EF4-FFF2-40B4-BE49-F238E27FC236}">
                  <a16:creationId xmlns:a16="http://schemas.microsoft.com/office/drawing/2014/main" id="{9C2BA6E1-4D3C-4B5D-8BE7-19C3BAD1CE9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t="4985" b="4985"/>
            <a:stretch/>
          </p:blipFill>
          <p:spPr>
            <a:xfrm>
              <a:off x="2623565" y="3210768"/>
              <a:ext cx="677423" cy="648000"/>
            </a:xfrm>
            <a:prstGeom prst="rect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60A4BF0-8954-47BA-9952-58BD4D45BCA5}"/>
                </a:ext>
              </a:extLst>
            </p:cNvPr>
            <p:cNvSpPr txBox="1"/>
            <p:nvPr/>
          </p:nvSpPr>
          <p:spPr>
            <a:xfrm>
              <a:off x="2447926" y="3767940"/>
              <a:ext cx="10287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Georgia" panose="02040502050405020303" pitchFamily="18" charset="0"/>
                </a:rPr>
                <a:t>Hotel</a:t>
              </a:r>
              <a:endParaRPr lang="en-GB" sz="1600" dirty="0">
                <a:latin typeface="Georgia" panose="02040502050405020303" pitchFamily="18" charset="0"/>
              </a:endParaRPr>
            </a:p>
          </p:txBody>
        </p:sp>
      </p:grpSp>
      <p:grpSp>
        <p:nvGrpSpPr>
          <p:cNvPr id="2048" name="Group 2047">
            <a:extLst>
              <a:ext uri="{FF2B5EF4-FFF2-40B4-BE49-F238E27FC236}">
                <a16:creationId xmlns:a16="http://schemas.microsoft.com/office/drawing/2014/main" id="{FF314E77-91E5-40C7-956D-0F8C26417EC0}"/>
              </a:ext>
            </a:extLst>
          </p:cNvPr>
          <p:cNvGrpSpPr/>
          <p:nvPr/>
        </p:nvGrpSpPr>
        <p:grpSpPr>
          <a:xfrm>
            <a:off x="2682965" y="2459646"/>
            <a:ext cx="1028700" cy="926280"/>
            <a:chOff x="3449648" y="4062727"/>
            <a:chExt cx="1028700" cy="926280"/>
          </a:xfrm>
        </p:grpSpPr>
        <p:pic>
          <p:nvPicPr>
            <p:cNvPr id="2054" name="Picture 6">
              <a:extLst>
                <a:ext uri="{FF2B5EF4-FFF2-40B4-BE49-F238E27FC236}">
                  <a16:creationId xmlns:a16="http://schemas.microsoft.com/office/drawing/2014/main" id="{B8769B6A-96B2-4188-8960-DF4CAAF1EF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25048" y="4062727"/>
              <a:ext cx="477900" cy="648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F4BF5E0-62FF-4497-93E6-E3AFB54F5AF0}"/>
                </a:ext>
              </a:extLst>
            </p:cNvPr>
            <p:cNvSpPr txBox="1"/>
            <p:nvPr/>
          </p:nvSpPr>
          <p:spPr>
            <a:xfrm>
              <a:off x="3449648" y="4650453"/>
              <a:ext cx="102870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Georgia" panose="02040502050405020303" pitchFamily="18" charset="0"/>
                </a:rPr>
                <a:t>Albergue</a:t>
              </a:r>
              <a:endParaRPr lang="en-GB" sz="1600" dirty="0">
                <a:latin typeface="Georgia" panose="02040502050405020303" pitchFamily="18" charset="0"/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73C2764D-6E09-4DC0-AA3D-C4E8B0676137}"/>
              </a:ext>
            </a:extLst>
          </p:cNvPr>
          <p:cNvGrpSpPr/>
          <p:nvPr/>
        </p:nvGrpSpPr>
        <p:grpSpPr>
          <a:xfrm>
            <a:off x="4769715" y="2459646"/>
            <a:ext cx="1226820" cy="893524"/>
            <a:chOff x="2094412" y="3182193"/>
            <a:chExt cx="1226820" cy="893524"/>
          </a:xfrm>
        </p:grpSpPr>
        <p:pic>
          <p:nvPicPr>
            <p:cNvPr id="47" name="Graphic 33">
              <a:extLst>
                <a:ext uri="{FF2B5EF4-FFF2-40B4-BE49-F238E27FC236}">
                  <a16:creationId xmlns:a16="http://schemas.microsoft.com/office/drawing/2014/main" id="{FC905C86-9CFD-4FE0-910A-A43E8EF4BE8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alphaModFix amt="85000"/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saturation sat="33000"/>
                      </a14:imgEffect>
                    </a14:imgLayer>
                  </a14:imgProps>
                </a:ext>
              </a:extLst>
            </a:blip>
            <a:srcRect l="1027" r="-959"/>
            <a:stretch/>
          </p:blipFill>
          <p:spPr>
            <a:xfrm>
              <a:off x="2269778" y="3182193"/>
              <a:ext cx="876089" cy="648000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00D4219-0B53-4649-A36D-E663229A60EA}"/>
                </a:ext>
              </a:extLst>
            </p:cNvPr>
            <p:cNvSpPr txBox="1"/>
            <p:nvPr/>
          </p:nvSpPr>
          <p:spPr>
            <a:xfrm>
              <a:off x="2094412" y="3767940"/>
              <a:ext cx="122682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400" dirty="0">
                  <a:latin typeface="Georgia" panose="02040502050405020303" pitchFamily="18" charset="0"/>
                </a:rPr>
                <a:t>Apartamento</a:t>
              </a:r>
              <a:endParaRPr lang="es-ES" sz="1600" dirty="0">
                <a:latin typeface="Georgia" panose="02040502050405020303" pitchFamily="18" charset="0"/>
              </a:endParaRPr>
            </a:p>
          </p:txBody>
        </p:sp>
      </p:grpSp>
      <p:pic>
        <p:nvPicPr>
          <p:cNvPr id="2058" name="Picture 10">
            <a:extLst>
              <a:ext uri="{FF2B5EF4-FFF2-40B4-BE49-F238E27FC236}">
                <a16:creationId xmlns:a16="http://schemas.microsoft.com/office/drawing/2014/main" id="{D9B232F6-0461-42F3-9315-210256B48D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grayscl/>
            <a:alphaModFix amt="85000"/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9938" t="4449" r="31470" b="4384"/>
          <a:stretch/>
        </p:blipFill>
        <p:spPr bwMode="auto">
          <a:xfrm>
            <a:off x="786625" y="3529346"/>
            <a:ext cx="304783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>
            <a:extLst>
              <a:ext uri="{FF2B5EF4-FFF2-40B4-BE49-F238E27FC236}">
                <a16:creationId xmlns:a16="http://schemas.microsoft.com/office/drawing/2014/main" id="{88C0B8F5-38AF-4020-A3DE-D41E8F74A5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grayscl/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31850" y="4324825"/>
            <a:ext cx="414333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55" name="Group 2054">
            <a:extLst>
              <a:ext uri="{FF2B5EF4-FFF2-40B4-BE49-F238E27FC236}">
                <a16:creationId xmlns:a16="http://schemas.microsoft.com/office/drawing/2014/main" id="{5CAC4480-DCC4-49B9-9D6B-211318B94B04}"/>
              </a:ext>
            </a:extLst>
          </p:cNvPr>
          <p:cNvGrpSpPr/>
          <p:nvPr/>
        </p:nvGrpSpPr>
        <p:grpSpPr>
          <a:xfrm>
            <a:off x="662940" y="5123802"/>
            <a:ext cx="663635" cy="540000"/>
            <a:chOff x="662940" y="5120303"/>
            <a:chExt cx="663635" cy="540000"/>
          </a:xfrm>
        </p:grpSpPr>
        <p:sp>
          <p:nvSpPr>
            <p:cNvPr id="2051" name="Arrow: Circular 2050">
              <a:extLst>
                <a:ext uri="{FF2B5EF4-FFF2-40B4-BE49-F238E27FC236}">
                  <a16:creationId xmlns:a16="http://schemas.microsoft.com/office/drawing/2014/main" id="{D68A8BEB-AE8A-4730-8F26-67BB8AC13AB3}"/>
                </a:ext>
              </a:extLst>
            </p:cNvPr>
            <p:cNvSpPr/>
            <p:nvPr/>
          </p:nvSpPr>
          <p:spPr>
            <a:xfrm rot="10800000" flipH="1">
              <a:off x="669016" y="5120303"/>
              <a:ext cx="540000" cy="540000"/>
            </a:xfrm>
            <a:prstGeom prst="circularArrow">
              <a:avLst>
                <a:gd name="adj1" fmla="val 11247"/>
                <a:gd name="adj2" fmla="val 1142319"/>
                <a:gd name="adj3" fmla="val 20102228"/>
                <a:gd name="adj4" fmla="val 1306901"/>
                <a:gd name="adj5" fmla="val 9170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  <a:effectLst/>
            <a:scene3d>
              <a:camera prst="orthographicFront">
                <a:rot lat="0" lon="0" rev="0"/>
              </a:camera>
              <a:lightRig rig="chilly" dir="t">
                <a:rot lat="0" lon="0" rev="18480000"/>
              </a:lightRig>
            </a:scene3d>
            <a:sp3d prstMaterial="clear">
              <a:bevelT h="635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2053" name="TextBox 2052">
              <a:extLst>
                <a:ext uri="{FF2B5EF4-FFF2-40B4-BE49-F238E27FC236}">
                  <a16:creationId xmlns:a16="http://schemas.microsoft.com/office/drawing/2014/main" id="{643A6DA5-AEA1-40B3-B6CB-56F6EC81B7B3}"/>
                </a:ext>
              </a:extLst>
            </p:cNvPr>
            <p:cNvSpPr txBox="1"/>
            <p:nvPr/>
          </p:nvSpPr>
          <p:spPr>
            <a:xfrm>
              <a:off x="662940" y="5217253"/>
              <a:ext cx="66363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200" dirty="0">
                  <a:latin typeface="Georgia" panose="02040502050405020303" pitchFamily="18" charset="0"/>
                </a:rPr>
                <a:t>noches</a:t>
              </a:r>
            </a:p>
          </p:txBody>
        </p:sp>
      </p:grp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3D9B28BE-E352-4FBF-BA49-4F62D6428D3F}"/>
              </a:ext>
            </a:extLst>
          </p:cNvPr>
          <p:cNvGrpSpPr/>
          <p:nvPr/>
        </p:nvGrpSpPr>
        <p:grpSpPr>
          <a:xfrm>
            <a:off x="1579173" y="3699037"/>
            <a:ext cx="1072731" cy="1919955"/>
            <a:chOff x="1579173" y="3704680"/>
            <a:chExt cx="1072731" cy="1919955"/>
          </a:xfrm>
        </p:grpSpPr>
        <p:sp>
          <p:nvSpPr>
            <p:cNvPr id="2057" name="Rectangle 2056">
              <a:extLst>
                <a:ext uri="{FF2B5EF4-FFF2-40B4-BE49-F238E27FC236}">
                  <a16:creationId xmlns:a16="http://schemas.microsoft.com/office/drawing/2014/main" id="{E9B3E37B-56EA-453B-8BAE-B91ED56BFE12}"/>
                </a:ext>
              </a:extLst>
            </p:cNvPr>
            <p:cNvSpPr/>
            <p:nvPr/>
          </p:nvSpPr>
          <p:spPr>
            <a:xfrm>
              <a:off x="1579173" y="3704680"/>
              <a:ext cx="1072731" cy="615553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Cataluña</a:t>
              </a:r>
            </a:p>
            <a:p>
              <a:pPr algn="ctr"/>
              <a:r>
                <a:rPr lang="en-US" sz="1600" b="1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~ 1,05 </a:t>
              </a:r>
              <a:r>
                <a:rPr lang="en-US" sz="1600" b="1" dirty="0" err="1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mln</a:t>
              </a:r>
              <a:endParaRPr lang="en-US" sz="16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7AE9D3AB-B7CF-4EBF-8AFD-455C969E7237}"/>
                </a:ext>
              </a:extLst>
            </p:cNvPr>
            <p:cNvSpPr/>
            <p:nvPr/>
          </p:nvSpPr>
          <p:spPr>
            <a:xfrm>
              <a:off x="1579173" y="4500159"/>
              <a:ext cx="1072731" cy="615553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Baleares</a:t>
              </a:r>
            </a:p>
            <a:p>
              <a:pPr algn="ctr"/>
              <a:r>
                <a:rPr lang="en-US" sz="1600" b="1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~ 2,97 </a:t>
              </a:r>
              <a:r>
                <a:rPr lang="en-US" sz="1600" b="1" dirty="0" err="1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mln</a:t>
              </a:r>
              <a:endParaRPr lang="en-US" sz="16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ADC2CDA5-4669-44D8-B61D-84C1E0ACD7F7}"/>
                </a:ext>
              </a:extLst>
            </p:cNvPr>
            <p:cNvSpPr/>
            <p:nvPr/>
          </p:nvSpPr>
          <p:spPr>
            <a:xfrm>
              <a:off x="1751496" y="5162970"/>
              <a:ext cx="728084" cy="46166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2 - 4</a:t>
              </a: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7DB0D254-8287-4398-84A7-32C409E5F97B}"/>
              </a:ext>
            </a:extLst>
          </p:cNvPr>
          <p:cNvGrpSpPr/>
          <p:nvPr/>
        </p:nvGrpSpPr>
        <p:grpSpPr>
          <a:xfrm>
            <a:off x="2762743" y="3699037"/>
            <a:ext cx="869149" cy="1919955"/>
            <a:chOff x="1680966" y="3704680"/>
            <a:chExt cx="869149" cy="1919955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ABFDD6E9-8474-4C91-8C55-654F8FFDEA9A}"/>
                </a:ext>
              </a:extLst>
            </p:cNvPr>
            <p:cNvSpPr/>
            <p:nvPr/>
          </p:nvSpPr>
          <p:spPr>
            <a:xfrm>
              <a:off x="1680966" y="3704680"/>
              <a:ext cx="869149" cy="615553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Madrid</a:t>
              </a:r>
            </a:p>
            <a:p>
              <a:pPr algn="ctr"/>
              <a:r>
                <a:rPr lang="en-US" sz="1600" b="1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54,8 mil</a:t>
              </a:r>
              <a:endParaRPr lang="en-US" sz="16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3BC01516-EC1F-49A5-A474-DF3484E50DFC}"/>
                </a:ext>
              </a:extLst>
            </p:cNvPr>
            <p:cNvSpPr/>
            <p:nvPr/>
          </p:nvSpPr>
          <p:spPr>
            <a:xfrm>
              <a:off x="1680966" y="4500159"/>
              <a:ext cx="869148" cy="615553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Madrid</a:t>
              </a:r>
            </a:p>
            <a:p>
              <a:pPr algn="ctr"/>
              <a:r>
                <a:rPr lang="en-US" sz="1600" b="1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28,3 mil</a:t>
              </a:r>
              <a:endParaRPr lang="en-US" sz="16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76E3049A-6ADB-4C22-99E7-EE0A0505C997}"/>
                </a:ext>
              </a:extLst>
            </p:cNvPr>
            <p:cNvSpPr/>
            <p:nvPr/>
          </p:nvSpPr>
          <p:spPr>
            <a:xfrm>
              <a:off x="1751496" y="5162970"/>
              <a:ext cx="728084" cy="46166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2 - 3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ED9635DC-85D2-4059-8E47-887478D63C9C}"/>
              </a:ext>
            </a:extLst>
          </p:cNvPr>
          <p:cNvGrpSpPr/>
          <p:nvPr/>
        </p:nvGrpSpPr>
        <p:grpSpPr>
          <a:xfrm>
            <a:off x="3701999" y="3686938"/>
            <a:ext cx="1008481" cy="1919955"/>
            <a:chOff x="1611299" y="3704680"/>
            <a:chExt cx="1008481" cy="1919955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2408C367-201C-4BA6-9336-517E949A0A93}"/>
                </a:ext>
              </a:extLst>
            </p:cNvPr>
            <p:cNvSpPr/>
            <p:nvPr/>
          </p:nvSpPr>
          <p:spPr>
            <a:xfrm>
              <a:off x="1611299" y="3704680"/>
              <a:ext cx="1008481" cy="615553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Cataluña</a:t>
              </a:r>
            </a:p>
            <a:p>
              <a:pPr algn="ctr"/>
              <a:r>
                <a:rPr lang="en-US" sz="1600" b="1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26,8 mil</a:t>
              </a:r>
              <a:endParaRPr lang="en-US" sz="16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89D9A3F2-63CB-4F6C-B8B5-139D89D9C55D}"/>
                </a:ext>
              </a:extLst>
            </p:cNvPr>
            <p:cNvSpPr/>
            <p:nvPr/>
          </p:nvSpPr>
          <p:spPr>
            <a:xfrm>
              <a:off x="1624765" y="4500159"/>
              <a:ext cx="981551" cy="615553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Baleares</a:t>
              </a:r>
            </a:p>
            <a:p>
              <a:pPr algn="ctr"/>
              <a:r>
                <a:rPr lang="en-US" sz="1600" b="1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81,3 mil</a:t>
              </a:r>
              <a:endParaRPr lang="en-US" sz="16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66D15EEF-50FA-4EEF-AF41-6F83BF3436B2}"/>
                </a:ext>
              </a:extLst>
            </p:cNvPr>
            <p:cNvSpPr/>
            <p:nvPr/>
          </p:nvSpPr>
          <p:spPr>
            <a:xfrm>
              <a:off x="1751496" y="5162970"/>
              <a:ext cx="728084" cy="46166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2 - 4</a:t>
              </a:r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A1190231-8D6C-471B-8D09-AD3EC594BE55}"/>
              </a:ext>
            </a:extLst>
          </p:cNvPr>
          <p:cNvGrpSpPr/>
          <p:nvPr/>
        </p:nvGrpSpPr>
        <p:grpSpPr>
          <a:xfrm>
            <a:off x="4828106" y="3686938"/>
            <a:ext cx="1107996" cy="1919955"/>
            <a:chOff x="1561541" y="3704680"/>
            <a:chExt cx="1107996" cy="1919955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37703825-2B69-43AC-9304-A64540B2BA98}"/>
                </a:ext>
              </a:extLst>
            </p:cNvPr>
            <p:cNvSpPr/>
            <p:nvPr/>
          </p:nvSpPr>
          <p:spPr>
            <a:xfrm>
              <a:off x="1561541" y="3704680"/>
              <a:ext cx="1107996" cy="615553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Andalucía</a:t>
              </a:r>
            </a:p>
            <a:p>
              <a:pPr algn="ctr"/>
              <a:r>
                <a:rPr lang="en-US" sz="1600" b="1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148,1 mil</a:t>
              </a:r>
              <a:endParaRPr lang="en-US" sz="16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E9EA7B97-77C0-4291-80A1-70645B001A2F}"/>
                </a:ext>
              </a:extLst>
            </p:cNvPr>
            <p:cNvSpPr/>
            <p:nvPr/>
          </p:nvSpPr>
          <p:spPr>
            <a:xfrm>
              <a:off x="1632076" y="4500159"/>
              <a:ext cx="966931" cy="615553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Valencia</a:t>
              </a:r>
            </a:p>
            <a:p>
              <a:pPr algn="ctr"/>
              <a:r>
                <a:rPr lang="en-US" sz="1600" b="1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622,4 mil</a:t>
              </a:r>
              <a:endParaRPr lang="en-US" sz="16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C1826643-2359-49EA-977E-01DF6CEEE64B}"/>
                </a:ext>
              </a:extLst>
            </p:cNvPr>
            <p:cNvSpPr/>
            <p:nvPr/>
          </p:nvSpPr>
          <p:spPr>
            <a:xfrm>
              <a:off x="1751496" y="5162970"/>
              <a:ext cx="728084" cy="46166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0" cap="none" spc="0" dirty="0">
                  <a:ln w="0"/>
                  <a:solidFill>
                    <a:srgbClr val="636EFA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3 - 6</a:t>
              </a: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A41ED65F-145C-4B1B-A18E-600B59584508}"/>
              </a:ext>
            </a:extLst>
          </p:cNvPr>
          <p:cNvGrpSpPr/>
          <p:nvPr/>
        </p:nvGrpSpPr>
        <p:grpSpPr>
          <a:xfrm>
            <a:off x="6015553" y="3689512"/>
            <a:ext cx="1008483" cy="1919955"/>
            <a:chOff x="1611299" y="3704680"/>
            <a:chExt cx="1008483" cy="1919955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A10CCA07-0B1F-4E64-83E5-A6BEB1CB365A}"/>
                </a:ext>
              </a:extLst>
            </p:cNvPr>
            <p:cNvSpPr/>
            <p:nvPr/>
          </p:nvSpPr>
          <p:spPr>
            <a:xfrm>
              <a:off x="1611299" y="3704680"/>
              <a:ext cx="1008481" cy="615553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Cataluña</a:t>
              </a:r>
            </a:p>
            <a:p>
              <a:pPr algn="ctr"/>
              <a:r>
                <a:rPr lang="en-US" sz="1600" b="1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211,9 mil</a:t>
              </a:r>
              <a:endParaRPr lang="en-US" sz="16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02A14317-E6D4-488C-B61C-CE7A771B9505}"/>
                </a:ext>
              </a:extLst>
            </p:cNvPr>
            <p:cNvSpPr/>
            <p:nvPr/>
          </p:nvSpPr>
          <p:spPr>
            <a:xfrm>
              <a:off x="1611301" y="4500159"/>
              <a:ext cx="1008481" cy="615553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Cataluña</a:t>
              </a:r>
            </a:p>
            <a:p>
              <a:pPr algn="ctr"/>
              <a:r>
                <a:rPr lang="en-US" sz="1600" b="1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1 </a:t>
              </a:r>
              <a:r>
                <a:rPr lang="en-US" sz="1600" b="1" dirty="0" err="1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mln</a:t>
              </a:r>
              <a:endParaRPr lang="en-US" sz="16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8F75A1C1-4B69-4F91-AC9A-6A378A417782}"/>
                </a:ext>
              </a:extLst>
            </p:cNvPr>
            <p:cNvSpPr/>
            <p:nvPr/>
          </p:nvSpPr>
          <p:spPr>
            <a:xfrm>
              <a:off x="1673751" y="5162970"/>
              <a:ext cx="883575" cy="46166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0" cap="none" spc="0" dirty="0">
                  <a:ln w="0"/>
                  <a:solidFill>
                    <a:srgbClr val="636EFA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3 - 10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Shape 6">
            <a:extLst>
              <a:ext uri="{FF2B5EF4-FFF2-40B4-BE49-F238E27FC236}">
                <a16:creationId xmlns:a16="http://schemas.microsoft.com/office/drawing/2014/main" id="{55AC817A-65C1-4C37-8204-07B01A420043}"/>
              </a:ext>
            </a:extLst>
          </p:cNvPr>
          <p:cNvSpPr/>
          <p:nvPr/>
        </p:nvSpPr>
        <p:spPr>
          <a:xfrm>
            <a:off x="7498080" y="5867454"/>
            <a:ext cx="4160520" cy="566928"/>
          </a:xfrm>
          <a:prstGeom prst="roundRect">
            <a:avLst>
              <a:gd name="adj" fmla="val 9677"/>
            </a:avLst>
          </a:prstGeom>
          <a:solidFill>
            <a:srgbClr val="EAF1F3"/>
          </a:solidFill>
          <a:ln>
            <a:solidFill>
              <a:srgbClr val="F7FAFB"/>
            </a:solidFill>
            <a:prstDash val="sysDot"/>
          </a:ln>
        </p:spPr>
        <p:txBody>
          <a:bodyPr/>
          <a:lstStyle/>
          <a:p>
            <a:endParaRPr lang="es-ES" dirty="0">
              <a:latin typeface="Georgia" panose="02040502050405020303" pitchFamily="18" charset="0"/>
            </a:endParaRPr>
          </a:p>
        </p:txBody>
      </p:sp>
      <p:sp>
        <p:nvSpPr>
          <p:cNvPr id="72" name="Text 2">
            <a:extLst>
              <a:ext uri="{FF2B5EF4-FFF2-40B4-BE49-F238E27FC236}">
                <a16:creationId xmlns:a16="http://schemas.microsoft.com/office/drawing/2014/main" id="{035C57BE-918A-4D05-999C-2D435C2924CC}"/>
              </a:ext>
            </a:extLst>
          </p:cNvPr>
          <p:cNvSpPr/>
          <p:nvPr/>
        </p:nvSpPr>
        <p:spPr>
          <a:xfrm>
            <a:off x="7580376" y="5908238"/>
            <a:ext cx="3971544" cy="490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s-ES" sz="1050" dirty="0">
                <a:solidFill>
                  <a:srgbClr val="6B7A85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           </a:t>
            </a:r>
            <a:r>
              <a:rPr lang="es-ES" sz="1050" dirty="0"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No se ha incluido el crecimiento anual de 2021-2022 debido al fuerte impacto registrado post-COVID-19 (del 63 al 135 %).</a:t>
            </a:r>
          </a:p>
        </p:txBody>
      </p:sp>
      <p:sp>
        <p:nvSpPr>
          <p:cNvPr id="2" name="Text 0"/>
          <p:cNvSpPr/>
          <p:nvPr/>
        </p:nvSpPr>
        <p:spPr>
          <a:xfrm>
            <a:off x="64008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" sz="1100" b="1" kern="0" spc="300" dirty="0">
                <a:solidFill>
                  <a:srgbClr val="1F3B5C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ANÁLISIS 3 · PERNOCTACIONES</a:t>
            </a:r>
            <a:endParaRPr lang="es-ES" sz="1100" dirty="0">
              <a:latin typeface="Georgia" panose="02040502050405020303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79" y="777240"/>
            <a:ext cx="102469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s-ES" sz="2800" b="1" dirty="0">
                <a:solidFill>
                  <a:srgbClr val="1F3B5C"/>
                </a:solidFill>
                <a:latin typeface="Georgia" panose="02040502050405020303" pitchFamily="18" charset="0"/>
                <a:ea typeface="Cambria" pitchFamily="34" charset="-122"/>
                <a:cs typeface="Cambria" pitchFamily="34" charset="-120"/>
              </a:rPr>
              <a:t>¿Cuánto tiempo se queda el viajero? [Temporal y anual]</a:t>
            </a:r>
            <a:endParaRPr lang="es-ES" sz="2800" dirty="0">
              <a:latin typeface="Georgia" panose="02040502050405020303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640080" y="1394460"/>
            <a:ext cx="9608820" cy="296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s-ES" sz="1300" dirty="0">
                <a:solidFill>
                  <a:srgbClr val="6B7A85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Medir la estancia media y variación interanual para decidir si la oferta debe adaptarse a estancias largas o a alta rotación.</a:t>
            </a:r>
            <a:endParaRPr lang="es-ES" sz="1300" dirty="0">
              <a:latin typeface="Georgia" panose="02040502050405020303" pitchFamily="18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74084" y="1933194"/>
            <a:ext cx="6492240" cy="3673221"/>
          </a:xfrm>
          <a:prstGeom prst="roundRect">
            <a:avLst>
              <a:gd name="adj" fmla="val 2667"/>
            </a:avLst>
          </a:prstGeom>
          <a:solidFill>
            <a:srgbClr val="F7FAFB"/>
          </a:solidFill>
          <a:ln w="15875">
            <a:solidFill>
              <a:srgbClr val="8FA3B0"/>
            </a:solidFill>
            <a:prstDash val="dash"/>
          </a:ln>
        </p:spPr>
        <p:txBody>
          <a:bodyPr/>
          <a:lstStyle/>
          <a:p>
            <a:endParaRPr lang="es-ES" dirty="0">
              <a:latin typeface="Georgia" panose="02040502050405020303" pitchFamily="18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40080" y="5897880"/>
            <a:ext cx="6492240" cy="566928"/>
          </a:xfrm>
          <a:prstGeom prst="roundRect">
            <a:avLst>
              <a:gd name="adj" fmla="val 9677"/>
            </a:avLst>
          </a:prstGeom>
          <a:solidFill>
            <a:srgbClr val="EAF1F3"/>
          </a:solidFill>
          <a:ln/>
        </p:spPr>
        <p:txBody>
          <a:bodyPr/>
          <a:lstStyle/>
          <a:p>
            <a:endParaRPr lang="es-ES" dirty="0">
              <a:latin typeface="Georgia" panose="02040502050405020303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822960" y="6044184"/>
            <a:ext cx="274320" cy="274320"/>
          </a:xfrm>
          <a:prstGeom prst="ellipse">
            <a:avLst/>
          </a:prstGeom>
          <a:solidFill>
            <a:srgbClr val="2E8B9E"/>
          </a:solidFill>
          <a:ln/>
        </p:spPr>
        <p:txBody>
          <a:bodyPr/>
          <a:lstStyle/>
          <a:p>
            <a:endParaRPr lang="es-ES" dirty="0">
              <a:latin typeface="Georgia" panose="02040502050405020303" pitchFamily="18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22960" y="6044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500" b="1" dirty="0">
                <a:solidFill>
                  <a:srgbClr val="FFFFFF"/>
                </a:solidFill>
                <a:latin typeface="Georgia" panose="02040502050405020303" pitchFamily="18" charset="0"/>
                <a:ea typeface="Cambria" pitchFamily="34" charset="-122"/>
                <a:cs typeface="Cambria" pitchFamily="34" charset="-120"/>
              </a:rPr>
              <a:t>?</a:t>
            </a:r>
            <a:endParaRPr lang="es-ES" sz="1500" dirty="0">
              <a:latin typeface="Georgia" panose="02040502050405020303" pitchFamily="18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207008" y="5897880"/>
            <a:ext cx="5806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s-ES" sz="1150" b="1" dirty="0">
                <a:solidFill>
                  <a:srgbClr val="1F3B5C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Aporta a la decisión: </a:t>
            </a:r>
            <a:r>
              <a:rPr lang="es-ES" sz="1150" b="0" i="0" dirty="0">
                <a:solidFill>
                  <a:srgbClr val="27251E"/>
                </a:solidFill>
                <a:effectLst/>
                <a:latin typeface="Georgia" panose="02040502050405020303" pitchFamily="18" charset="0"/>
              </a:rPr>
              <a:t>factor clave para definir el tipo de producto (escapadas cortas vs. estancias largas) y ajustar las políticas de mínimo de noches por ciudad, maximizando ocupación y rentabilidad.</a:t>
            </a:r>
            <a:endParaRPr lang="es-ES" sz="1150" dirty="0">
              <a:latin typeface="Georgia" panose="02040502050405020303" pitchFamily="18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" sz="850" dirty="0" err="1">
                <a:solidFill>
                  <a:srgbClr val="8FA3B0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StaySpain</a:t>
            </a:r>
            <a:r>
              <a:rPr lang="es-ES" sz="850" dirty="0">
                <a:solidFill>
                  <a:srgbClr val="8FA3B0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 · Encuesta de Ocupación Hotelera (INE) 2021–2025</a:t>
            </a:r>
            <a:endParaRPr lang="es-ES" sz="850" dirty="0">
              <a:latin typeface="Georgia" panose="02040502050405020303" pitchFamily="18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" sz="850" dirty="0">
                <a:solidFill>
                  <a:srgbClr val="8FA3B0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Análisis 3 / 3</a:t>
            </a:r>
            <a:endParaRPr lang="es-ES" sz="850" dirty="0">
              <a:latin typeface="Georgia" panose="02040502050405020303" pitchFamily="18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FD4259B-6C2D-4E67-93AF-E92D3812C37F}"/>
              </a:ext>
            </a:extLst>
          </p:cNvPr>
          <p:cNvSpPr txBox="1"/>
          <p:nvPr/>
        </p:nvSpPr>
        <p:spPr>
          <a:xfrm>
            <a:off x="2496416" y="2185099"/>
            <a:ext cx="98376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600" b="0" cap="none" spc="0" dirty="0">
                <a:ln w="0"/>
                <a:solidFill>
                  <a:srgbClr val="636EFA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Georgia" panose="02040502050405020303" pitchFamily="18" charset="0"/>
              </a:rPr>
              <a:t>Baleares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AB439E1-48AA-4B28-AA46-CD3DFD874DF4}"/>
              </a:ext>
            </a:extLst>
          </p:cNvPr>
          <p:cNvSpPr txBox="1"/>
          <p:nvPr/>
        </p:nvSpPr>
        <p:spPr>
          <a:xfrm>
            <a:off x="840469" y="2068128"/>
            <a:ext cx="1418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600" b="0" cap="all" spc="0" dirty="0">
                <a:ln w="0"/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Georgia" panose="02040502050405020303" pitchFamily="18" charset="0"/>
              </a:rPr>
              <a:t>estancias largas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69BFE8A-C00C-416B-BA21-FEE71CC25460}"/>
              </a:ext>
            </a:extLst>
          </p:cNvPr>
          <p:cNvSpPr txBox="1"/>
          <p:nvPr/>
        </p:nvSpPr>
        <p:spPr>
          <a:xfrm>
            <a:off x="840469" y="2860707"/>
            <a:ext cx="1418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600" b="0" cap="all" spc="0" dirty="0">
                <a:ln w="0"/>
                <a:solidFill>
                  <a:schemeClr val="accent1">
                    <a:lumMod val="40000"/>
                    <a:lumOff val="6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Georgia" panose="02040502050405020303" pitchFamily="18" charset="0"/>
              </a:rPr>
              <a:t>escapadas CORTAS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60C39C30-F7A9-41DE-9AA4-17D79A7B863D}"/>
              </a:ext>
            </a:extLst>
          </p:cNvPr>
          <p:cNvGrpSpPr/>
          <p:nvPr/>
        </p:nvGrpSpPr>
        <p:grpSpPr>
          <a:xfrm>
            <a:off x="7498080" y="1986915"/>
            <a:ext cx="4160520" cy="3429000"/>
            <a:chOff x="7498080" y="2377440"/>
            <a:chExt cx="4160520" cy="3429000"/>
          </a:xfrm>
        </p:grpSpPr>
        <p:sp>
          <p:nvSpPr>
            <p:cNvPr id="12" name="Shape 10"/>
            <p:cNvSpPr/>
            <p:nvPr/>
          </p:nvSpPr>
          <p:spPr>
            <a:xfrm>
              <a:off x="7498080" y="2377440"/>
              <a:ext cx="4160520" cy="3429000"/>
            </a:xfrm>
            <a:prstGeom prst="roundRect">
              <a:avLst>
                <a:gd name="adj" fmla="val 2133"/>
              </a:avLst>
            </a:prstGeom>
            <a:solidFill>
              <a:srgbClr val="F7FAFB"/>
            </a:solidFill>
            <a:ln/>
            <a:effectLst>
              <a:outerShdw blurRad="88900" dist="25400" dir="5400000" algn="bl" rotWithShape="0">
                <a:srgbClr val="BCC9D1">
                  <a:alpha val="40000"/>
                </a:srgbClr>
              </a:outerShdw>
            </a:effectLst>
          </p:spPr>
          <p:txBody>
            <a:bodyPr/>
            <a:lstStyle/>
            <a:p>
              <a:endParaRPr lang="es-ES" dirty="0">
                <a:latin typeface="Georgia" panose="02040502050405020303" pitchFamily="18" charset="0"/>
              </a:endParaRPr>
            </a:p>
          </p:txBody>
        </p: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72D7AAAA-D8BA-4867-AE0F-7684BB95B1D6}"/>
                </a:ext>
              </a:extLst>
            </p:cNvPr>
            <p:cNvGrpSpPr/>
            <p:nvPr/>
          </p:nvGrpSpPr>
          <p:grpSpPr>
            <a:xfrm>
              <a:off x="7818120" y="2522220"/>
              <a:ext cx="3657600" cy="797433"/>
              <a:chOff x="7818120" y="2598420"/>
              <a:chExt cx="3657600" cy="797433"/>
            </a:xfrm>
          </p:grpSpPr>
          <p:sp>
            <p:nvSpPr>
              <p:cNvPr id="14" name="Shape 12"/>
              <p:cNvSpPr/>
              <p:nvPr/>
            </p:nvSpPr>
            <p:spPr>
              <a:xfrm>
                <a:off x="7818120" y="2662428"/>
                <a:ext cx="164592" cy="164592"/>
              </a:xfrm>
              <a:prstGeom prst="ellipse">
                <a:avLst/>
              </a:prstGeom>
              <a:solidFill>
                <a:srgbClr val="D8A24A"/>
              </a:solidFill>
              <a:ln/>
            </p:spPr>
            <p:txBody>
              <a:bodyPr/>
              <a:lstStyle/>
              <a:p>
                <a:endParaRPr lang="es-ES" dirty="0">
                  <a:latin typeface="Georgia" panose="02040502050405020303" pitchFamily="18" charset="0"/>
                </a:endParaRPr>
              </a:p>
            </p:txBody>
          </p:sp>
          <p:sp>
            <p:nvSpPr>
              <p:cNvPr id="15" name="Text 13"/>
              <p:cNvSpPr/>
              <p:nvPr/>
            </p:nvSpPr>
            <p:spPr>
              <a:xfrm>
                <a:off x="8092440" y="2598420"/>
                <a:ext cx="3383280" cy="2743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s-ES" sz="1300" b="1" dirty="0">
                    <a:solidFill>
                      <a:srgbClr val="33404A"/>
                    </a:solidFill>
                    <a:latin typeface="Georgia" panose="02040502050405020303" pitchFamily="18" charset="0"/>
                    <a:ea typeface="Calibri" pitchFamily="34" charset="-122"/>
                    <a:cs typeface="Calibri" pitchFamily="34" charset="-120"/>
                  </a:rPr>
                  <a:t>Hallazgo principal</a:t>
                </a:r>
                <a:endParaRPr lang="es-ES" sz="1300" dirty="0">
                  <a:latin typeface="Georgia" panose="02040502050405020303" pitchFamily="18" charset="0"/>
                </a:endParaRPr>
              </a:p>
            </p:txBody>
          </p:sp>
          <p:sp>
            <p:nvSpPr>
              <p:cNvPr id="16" name="Text 14"/>
              <p:cNvSpPr/>
              <p:nvPr/>
            </p:nvSpPr>
            <p:spPr>
              <a:xfrm>
                <a:off x="8092440" y="2938653"/>
                <a:ext cx="338328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>
                  <a:lnSpc>
                    <a:spcPct val="105000"/>
                  </a:lnSpc>
                </a:pPr>
                <a:r>
                  <a:rPr lang="es-ES" sz="1150" dirty="0">
                    <a:solidFill>
                      <a:srgbClr val="6B7A85"/>
                    </a:solidFill>
                    <a:latin typeface="Georgia" panose="02040502050405020303" pitchFamily="18" charset="0"/>
                    <a:ea typeface="Calibri" pitchFamily="34" charset="-122"/>
                    <a:cs typeface="Calibri" pitchFamily="34" charset="-120"/>
                  </a:rPr>
                  <a:t>Ausencia de interdependencia directa entre el crecimiento interanual y la estancia media por noche</a:t>
                </a:r>
              </a:p>
            </p:txBody>
          </p:sp>
        </p:grp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42DFC67B-7B11-4665-A954-11FE6225D616}"/>
                </a:ext>
              </a:extLst>
            </p:cNvPr>
            <p:cNvGrpSpPr/>
            <p:nvPr/>
          </p:nvGrpSpPr>
          <p:grpSpPr>
            <a:xfrm>
              <a:off x="7894320" y="4117340"/>
              <a:ext cx="3623596" cy="664083"/>
              <a:chOff x="7894320" y="3977640"/>
              <a:chExt cx="3623596" cy="664083"/>
            </a:xfrm>
          </p:grpSpPr>
          <p:sp>
            <p:nvSpPr>
              <p:cNvPr id="17" name="Shape 15"/>
              <p:cNvSpPr/>
              <p:nvPr/>
            </p:nvSpPr>
            <p:spPr>
              <a:xfrm>
                <a:off x="7894320" y="4041648"/>
                <a:ext cx="164592" cy="16459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/>
            </p:spPr>
            <p:txBody>
              <a:bodyPr/>
              <a:lstStyle/>
              <a:p>
                <a:endParaRPr lang="es-ES" dirty="0">
                  <a:latin typeface="Georgia" panose="02040502050405020303" pitchFamily="18" charset="0"/>
                </a:endParaRPr>
              </a:p>
            </p:txBody>
          </p:sp>
          <p:sp>
            <p:nvSpPr>
              <p:cNvPr id="18" name="Text 16"/>
              <p:cNvSpPr/>
              <p:nvPr/>
            </p:nvSpPr>
            <p:spPr>
              <a:xfrm>
                <a:off x="8168640" y="3977640"/>
                <a:ext cx="2896077" cy="2743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s-ES" sz="1200" b="1" dirty="0">
                    <a:solidFill>
                      <a:srgbClr val="33404A"/>
                    </a:solidFill>
                    <a:latin typeface="Georgia" panose="02040502050405020303" pitchFamily="18" charset="0"/>
                    <a:ea typeface="Calibri" pitchFamily="34" charset="-122"/>
                    <a:cs typeface="Calibri" pitchFamily="34" charset="-120"/>
                  </a:rPr>
                  <a:t>Detalle 2</a:t>
                </a:r>
                <a:endParaRPr lang="es-ES" sz="1200" dirty="0">
                  <a:latin typeface="Georgia" panose="02040502050405020303" pitchFamily="18" charset="0"/>
                </a:endParaRPr>
              </a:p>
            </p:txBody>
          </p:sp>
          <p:sp>
            <p:nvSpPr>
              <p:cNvPr id="19" name="Text 17"/>
              <p:cNvSpPr/>
              <p:nvPr/>
            </p:nvSpPr>
            <p:spPr>
              <a:xfrm>
                <a:off x="8092440" y="4184523"/>
                <a:ext cx="3425476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>
                  <a:lnSpc>
                    <a:spcPct val="105000"/>
                  </a:lnSpc>
                </a:pPr>
                <a:r>
                  <a:rPr lang="es-ES" sz="1150" b="1" i="1" dirty="0">
                    <a:solidFill>
                      <a:srgbClr val="6B7A85"/>
                    </a:solidFill>
                    <a:latin typeface="Georgia" panose="02040502050405020303" pitchFamily="18" charset="0"/>
                    <a:ea typeface="Calibri" pitchFamily="34" charset="-122"/>
                    <a:cs typeface="Calibri" pitchFamily="34" charset="-120"/>
                  </a:rPr>
                  <a:t>Estancias largas</a:t>
                </a:r>
                <a:r>
                  <a:rPr lang="es-ES" sz="1150" dirty="0">
                    <a:solidFill>
                      <a:srgbClr val="6B7A85"/>
                    </a:solidFill>
                    <a:latin typeface="Georgia" panose="02040502050405020303" pitchFamily="18" charset="0"/>
                    <a:ea typeface="Calibri" pitchFamily="34" charset="-122"/>
                    <a:cs typeface="Calibri" pitchFamily="34" charset="-120"/>
                  </a:rPr>
                  <a:t> - estación de 5 a 6 noches</a:t>
                </a:r>
              </a:p>
              <a:p>
                <a:pPr>
                  <a:lnSpc>
                    <a:spcPct val="105000"/>
                  </a:lnSpc>
                </a:pPr>
                <a:r>
                  <a:rPr lang="es-ES" sz="1150" b="1" i="1" dirty="0">
                    <a:solidFill>
                      <a:srgbClr val="6B7A85"/>
                    </a:solidFill>
                    <a:latin typeface="Georgia" panose="02040502050405020303" pitchFamily="18" charset="0"/>
                    <a:ea typeface="Calibri" pitchFamily="34" charset="-122"/>
                    <a:cs typeface="Calibri" pitchFamily="34" charset="-120"/>
                  </a:rPr>
                  <a:t>Escapadas cortas</a:t>
                </a:r>
                <a:r>
                  <a:rPr lang="es-ES" sz="1150" dirty="0">
                    <a:solidFill>
                      <a:srgbClr val="6B7A85"/>
                    </a:solidFill>
                    <a:latin typeface="Georgia" panose="02040502050405020303" pitchFamily="18" charset="0"/>
                    <a:ea typeface="Calibri" pitchFamily="34" charset="-122"/>
                    <a:cs typeface="Calibri" pitchFamily="34" charset="-120"/>
                  </a:rPr>
                  <a:t> - estación de 2 a 4 noches</a:t>
                </a:r>
                <a:endParaRPr lang="es-ES" sz="1150" dirty="0">
                  <a:latin typeface="Georgia" panose="02040502050405020303" pitchFamily="18" charset="0"/>
                </a:endParaRPr>
              </a:p>
            </p:txBody>
          </p:sp>
        </p:grp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AA2E9C68-E7AE-4883-8910-DCDBD3D28E28}"/>
                </a:ext>
              </a:extLst>
            </p:cNvPr>
            <p:cNvGrpSpPr/>
            <p:nvPr/>
          </p:nvGrpSpPr>
          <p:grpSpPr>
            <a:xfrm>
              <a:off x="7818120" y="4867275"/>
              <a:ext cx="3824934" cy="797433"/>
              <a:chOff x="7818120" y="4798695"/>
              <a:chExt cx="3824934" cy="797433"/>
            </a:xfrm>
          </p:grpSpPr>
          <p:sp>
            <p:nvSpPr>
              <p:cNvPr id="20" name="Shape 18"/>
              <p:cNvSpPr/>
              <p:nvPr/>
            </p:nvSpPr>
            <p:spPr>
              <a:xfrm>
                <a:off x="7818120" y="4862703"/>
                <a:ext cx="164592" cy="164592"/>
              </a:xfrm>
              <a:prstGeom prst="ellipse">
                <a:avLst/>
              </a:prstGeom>
              <a:solidFill>
                <a:srgbClr val="D8A24A"/>
              </a:solidFill>
              <a:ln/>
            </p:spPr>
            <p:txBody>
              <a:bodyPr/>
              <a:lstStyle/>
              <a:p>
                <a:endParaRPr lang="es-ES" dirty="0">
                  <a:latin typeface="Georgia" panose="02040502050405020303" pitchFamily="18" charset="0"/>
                </a:endParaRPr>
              </a:p>
            </p:txBody>
          </p:sp>
          <p:sp>
            <p:nvSpPr>
              <p:cNvPr id="21" name="Text 19"/>
              <p:cNvSpPr/>
              <p:nvPr/>
            </p:nvSpPr>
            <p:spPr>
              <a:xfrm>
                <a:off x="8092440" y="4798695"/>
                <a:ext cx="3383280" cy="2743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s-ES" sz="1300" b="1" dirty="0">
                    <a:solidFill>
                      <a:srgbClr val="33404A"/>
                    </a:solidFill>
                    <a:latin typeface="Georgia" panose="02040502050405020303" pitchFamily="18" charset="0"/>
                    <a:ea typeface="Calibri" pitchFamily="34" charset="-122"/>
                    <a:cs typeface="Calibri" pitchFamily="34" charset="-120"/>
                  </a:rPr>
                  <a:t>Respuesta de negocio</a:t>
                </a:r>
                <a:endParaRPr lang="es-ES" sz="1300" dirty="0">
                  <a:latin typeface="Georgia" panose="02040502050405020303" pitchFamily="18" charset="0"/>
                </a:endParaRPr>
              </a:p>
            </p:txBody>
          </p:sp>
          <p:sp>
            <p:nvSpPr>
              <p:cNvPr id="22" name="Text 20"/>
              <p:cNvSpPr/>
              <p:nvPr/>
            </p:nvSpPr>
            <p:spPr>
              <a:xfrm>
                <a:off x="8092439" y="5138928"/>
                <a:ext cx="3550615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>
                  <a:lnSpc>
                    <a:spcPct val="105000"/>
                  </a:lnSpc>
                </a:pPr>
                <a:r>
                  <a:rPr lang="es-ES" sz="1150" dirty="0" err="1">
                    <a:solidFill>
                      <a:srgbClr val="6B7A85"/>
                    </a:solidFill>
                    <a:latin typeface="Georgia" panose="02040502050405020303" pitchFamily="18" charset="0"/>
                    <a:ea typeface="Calibri" pitchFamily="34" charset="-122"/>
                    <a:cs typeface="Calibri" pitchFamily="34" charset="-120"/>
                  </a:rPr>
                  <a:t>StaySpain</a:t>
                </a:r>
                <a:r>
                  <a:rPr lang="es-ES" sz="1150" dirty="0">
                    <a:solidFill>
                      <a:srgbClr val="6B7A85"/>
                    </a:solidFill>
                    <a:latin typeface="Georgia" panose="02040502050405020303" pitchFamily="18" charset="0"/>
                    <a:ea typeface="Calibri" pitchFamily="34" charset="-122"/>
                    <a:cs typeface="Calibri" pitchFamily="34" charset="-120"/>
                  </a:rPr>
                  <a:t> debería priorizar estancias cortas o largas, ajustar los mínimos de noches </a:t>
                </a:r>
                <a:r>
                  <a:rPr lang="es-ES" sz="1400" b="1" i="1" dirty="0">
                    <a:solidFill>
                      <a:srgbClr val="6B7A85"/>
                    </a:solidFill>
                    <a:latin typeface="Georgia" panose="02040502050405020303" pitchFamily="18" charset="0"/>
                    <a:ea typeface="Calibri" pitchFamily="34" charset="-122"/>
                    <a:cs typeface="Calibri" pitchFamily="34" charset="-120"/>
                  </a:rPr>
                  <a:t>por destino </a:t>
                </a:r>
                <a:r>
                  <a:rPr lang="es-ES" sz="1150" dirty="0">
                    <a:solidFill>
                      <a:srgbClr val="6B7A85"/>
                    </a:solidFill>
                    <a:latin typeface="Georgia" panose="02040502050405020303" pitchFamily="18" charset="0"/>
                    <a:ea typeface="Calibri" pitchFamily="34" charset="-122"/>
                    <a:cs typeface="Calibri" pitchFamily="34" charset="-120"/>
                  </a:rPr>
                  <a:t>y aplicar descuentos para estancias prolongadas.</a:t>
                </a:r>
                <a:endParaRPr lang="es-ES" sz="1150" dirty="0">
                  <a:latin typeface="Georgia" panose="02040502050405020303" pitchFamily="18" charset="0"/>
                </a:endParaRPr>
              </a:p>
            </p:txBody>
          </p:sp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2E17D31D-DBD3-45A0-9BE5-65ACD0183F54}"/>
                </a:ext>
              </a:extLst>
            </p:cNvPr>
            <p:cNvGrpSpPr/>
            <p:nvPr/>
          </p:nvGrpSpPr>
          <p:grpSpPr>
            <a:xfrm>
              <a:off x="7902851" y="3481705"/>
              <a:ext cx="3581400" cy="664083"/>
              <a:chOff x="7902851" y="3423959"/>
              <a:chExt cx="3581400" cy="664083"/>
            </a:xfrm>
          </p:grpSpPr>
          <p:sp>
            <p:nvSpPr>
              <p:cNvPr id="64" name="Shape 15">
                <a:extLst>
                  <a:ext uri="{FF2B5EF4-FFF2-40B4-BE49-F238E27FC236}">
                    <a16:creationId xmlns:a16="http://schemas.microsoft.com/office/drawing/2014/main" id="{5F746489-451E-48D8-BC56-6CAB05C792FE}"/>
                  </a:ext>
                </a:extLst>
              </p:cNvPr>
              <p:cNvSpPr/>
              <p:nvPr/>
            </p:nvSpPr>
            <p:spPr>
              <a:xfrm>
                <a:off x="7902851" y="3487967"/>
                <a:ext cx="164592" cy="164592"/>
              </a:xfrm>
              <a:prstGeom prst="ellipse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/>
            </p:spPr>
            <p:txBody>
              <a:bodyPr/>
              <a:lstStyle/>
              <a:p>
                <a:endParaRPr lang="es-ES" dirty="0">
                  <a:latin typeface="Georgia" panose="02040502050405020303" pitchFamily="18" charset="0"/>
                </a:endParaRPr>
              </a:p>
            </p:txBody>
          </p:sp>
          <p:sp>
            <p:nvSpPr>
              <p:cNvPr id="65" name="Text 16">
                <a:extLst>
                  <a:ext uri="{FF2B5EF4-FFF2-40B4-BE49-F238E27FC236}">
                    <a16:creationId xmlns:a16="http://schemas.microsoft.com/office/drawing/2014/main" id="{63AC655E-EC4C-4DA7-AC6F-BC539437B635}"/>
                  </a:ext>
                </a:extLst>
              </p:cNvPr>
              <p:cNvSpPr/>
              <p:nvPr/>
            </p:nvSpPr>
            <p:spPr>
              <a:xfrm>
                <a:off x="8177171" y="3423959"/>
                <a:ext cx="2993749" cy="2743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s-ES" sz="1200" b="1" dirty="0">
                    <a:solidFill>
                      <a:srgbClr val="33404A"/>
                    </a:solidFill>
                    <a:latin typeface="Georgia" panose="02040502050405020303" pitchFamily="18" charset="0"/>
                    <a:ea typeface="Calibri" pitchFamily="34" charset="-122"/>
                    <a:cs typeface="Calibri" pitchFamily="34" charset="-120"/>
                  </a:rPr>
                  <a:t>Detalle 1</a:t>
                </a:r>
                <a:endParaRPr lang="es-ES" sz="1200" dirty="0">
                  <a:latin typeface="Georgia" panose="02040502050405020303" pitchFamily="18" charset="0"/>
                </a:endParaRPr>
              </a:p>
            </p:txBody>
          </p:sp>
          <p:sp>
            <p:nvSpPr>
              <p:cNvPr id="66" name="Text 17">
                <a:extLst>
                  <a:ext uri="{FF2B5EF4-FFF2-40B4-BE49-F238E27FC236}">
                    <a16:creationId xmlns:a16="http://schemas.microsoft.com/office/drawing/2014/main" id="{8094FFC2-4C86-4FA8-90EA-94DBE88366C4}"/>
                  </a:ext>
                </a:extLst>
              </p:cNvPr>
              <p:cNvSpPr/>
              <p:nvPr/>
            </p:nvSpPr>
            <p:spPr>
              <a:xfrm>
                <a:off x="8100971" y="3630842"/>
                <a:ext cx="338328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lnSpc>
                    <a:spcPct val="105000"/>
                  </a:lnSpc>
                  <a:buNone/>
                </a:pPr>
                <a:r>
                  <a:rPr lang="es-ES" sz="1150" dirty="0">
                    <a:solidFill>
                      <a:srgbClr val="6B7A85"/>
                    </a:solidFill>
                    <a:latin typeface="Georgia" panose="02040502050405020303" pitchFamily="18" charset="0"/>
                    <a:ea typeface="Calibri" pitchFamily="34" charset="-122"/>
                    <a:cs typeface="Calibri" pitchFamily="34" charset="-120"/>
                  </a:rPr>
                  <a:t>Posible saturación de la oferta debido a un crecimiento interanual (</a:t>
                </a:r>
                <a:r>
                  <a:rPr lang="es-ES" sz="1150" dirty="0" err="1">
                    <a:solidFill>
                      <a:srgbClr val="6B7A85"/>
                    </a:solidFill>
                    <a:latin typeface="Georgia" panose="02040502050405020303" pitchFamily="18" charset="0"/>
                    <a:ea typeface="Calibri" pitchFamily="34" charset="-122"/>
                    <a:cs typeface="Calibri" pitchFamily="34" charset="-120"/>
                  </a:rPr>
                  <a:t>YoY</a:t>
                </a:r>
                <a:r>
                  <a:rPr lang="es-ES" sz="1150" dirty="0">
                    <a:solidFill>
                      <a:srgbClr val="6B7A85"/>
                    </a:solidFill>
                    <a:latin typeface="Georgia" panose="02040502050405020303" pitchFamily="18" charset="0"/>
                    <a:ea typeface="Calibri" pitchFamily="34" charset="-122"/>
                    <a:cs typeface="Calibri" pitchFamily="34" charset="-120"/>
                  </a:rPr>
                  <a:t>) bajo o negativo</a:t>
                </a:r>
                <a:endParaRPr lang="es-ES" sz="1150" dirty="0">
                  <a:latin typeface="Georgia" panose="02040502050405020303" pitchFamily="18" charset="0"/>
                </a:endParaRPr>
              </a:p>
            </p:txBody>
          </p:sp>
        </p:grpSp>
      </p:grpSp>
      <p:sp>
        <p:nvSpPr>
          <p:cNvPr id="75" name="Rectangle 74">
            <a:extLst>
              <a:ext uri="{FF2B5EF4-FFF2-40B4-BE49-F238E27FC236}">
                <a16:creationId xmlns:a16="http://schemas.microsoft.com/office/drawing/2014/main" id="{D58047BE-CB09-4D95-8169-23A85811FEBD}"/>
              </a:ext>
            </a:extLst>
          </p:cNvPr>
          <p:cNvSpPr/>
          <p:nvPr/>
        </p:nvSpPr>
        <p:spPr>
          <a:xfrm>
            <a:off x="7478134" y="5866289"/>
            <a:ext cx="466478" cy="24622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000" b="0" cap="none" spc="0" dirty="0">
                <a:ln w="0"/>
                <a:solidFill>
                  <a:srgbClr val="EF5439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Georgia" panose="02040502050405020303" pitchFamily="18" charset="0"/>
              </a:rPr>
              <a:t>Nota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3400E12-CFA5-45A4-BF4E-736A4AE3B52C}"/>
              </a:ext>
            </a:extLst>
          </p:cNvPr>
          <p:cNvSpPr txBox="1"/>
          <p:nvPr/>
        </p:nvSpPr>
        <p:spPr>
          <a:xfrm>
            <a:off x="3645719" y="2185099"/>
            <a:ext cx="160255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600" dirty="0">
                <a:solidFill>
                  <a:srgbClr val="6B7A85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(5 a 6 noches)</a:t>
            </a:r>
          </a:p>
        </p:txBody>
      </p:sp>
      <p:grpSp>
        <p:nvGrpSpPr>
          <p:cNvPr id="85" name="Group 84">
            <a:extLst>
              <a:ext uri="{FF2B5EF4-FFF2-40B4-BE49-F238E27FC236}">
                <a16:creationId xmlns:a16="http://schemas.microsoft.com/office/drawing/2014/main" id="{E3A1DD38-3FC2-47A9-91E3-3704963677E3}"/>
              </a:ext>
            </a:extLst>
          </p:cNvPr>
          <p:cNvGrpSpPr/>
          <p:nvPr/>
        </p:nvGrpSpPr>
        <p:grpSpPr>
          <a:xfrm>
            <a:off x="2411283" y="2860707"/>
            <a:ext cx="3301501" cy="2059136"/>
            <a:chOff x="2411283" y="2860707"/>
            <a:chExt cx="3301501" cy="2059136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9A85CCE0-6FBE-468D-AE33-DB5CF19F93CB}"/>
                </a:ext>
              </a:extLst>
            </p:cNvPr>
            <p:cNvGrpSpPr/>
            <p:nvPr/>
          </p:nvGrpSpPr>
          <p:grpSpPr>
            <a:xfrm>
              <a:off x="2411283" y="2860707"/>
              <a:ext cx="1154030" cy="2059136"/>
              <a:chOff x="2411283" y="2860707"/>
              <a:chExt cx="1154030" cy="2059136"/>
            </a:xfrm>
          </p:grpSpPr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C9F5D0C-285D-4AB5-B71E-7F8768C5976A}"/>
                  </a:ext>
                </a:extLst>
              </p:cNvPr>
              <p:cNvSpPr txBox="1"/>
              <p:nvPr/>
            </p:nvSpPr>
            <p:spPr>
              <a:xfrm>
                <a:off x="2496416" y="2860707"/>
                <a:ext cx="983765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ES" sz="1600" b="0" cap="none" spc="0" dirty="0">
                    <a:ln w="0"/>
                    <a:solidFill>
                      <a:srgbClr val="FFA15A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Georgia" panose="02040502050405020303" pitchFamily="18" charset="0"/>
                  </a:rPr>
                  <a:t>Málaga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4215452-7CA2-4EBF-9005-FE11980E5276}"/>
                  </a:ext>
                </a:extLst>
              </p:cNvPr>
              <p:cNvSpPr txBox="1"/>
              <p:nvPr/>
            </p:nvSpPr>
            <p:spPr>
              <a:xfrm>
                <a:off x="2496416" y="3204823"/>
                <a:ext cx="983765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ES" sz="1600" b="0" cap="none" spc="0" dirty="0">
                    <a:ln w="0"/>
                    <a:solidFill>
                      <a:srgbClr val="00CB95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Georgia" panose="02040502050405020303" pitchFamily="18" charset="0"/>
                  </a:rPr>
                  <a:t>Girona</a:t>
                </a: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72FF3283-4147-4D4F-915E-04BDA5640889}"/>
                  </a:ext>
                </a:extLst>
              </p:cNvPr>
              <p:cNvSpPr txBox="1"/>
              <p:nvPr/>
            </p:nvSpPr>
            <p:spPr>
              <a:xfrm>
                <a:off x="2411283" y="3548939"/>
                <a:ext cx="1154030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ES" sz="1600" b="0" cap="none" spc="0" dirty="0">
                    <a:ln w="0"/>
                    <a:solidFill>
                      <a:srgbClr val="EF5439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Georgia" panose="02040502050405020303" pitchFamily="18" charset="0"/>
                  </a:rPr>
                  <a:t>Barcelona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4B52DD0-56CD-41C6-9C0D-E4E6828BE1EA}"/>
                  </a:ext>
                </a:extLst>
              </p:cNvPr>
              <p:cNvSpPr txBox="1"/>
              <p:nvPr/>
            </p:nvSpPr>
            <p:spPr>
              <a:xfrm>
                <a:off x="2411283" y="3893055"/>
                <a:ext cx="1154030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ES" sz="1600" b="0" cap="none" spc="0" dirty="0">
                    <a:ln w="0"/>
                    <a:solidFill>
                      <a:srgbClr val="FF649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Georgia" panose="02040502050405020303" pitchFamily="18" charset="0"/>
                  </a:rPr>
                  <a:t>Valencia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34D6E7C0-DA07-4284-93F8-783BB693AF50}"/>
                  </a:ext>
                </a:extLst>
              </p:cNvPr>
              <p:cNvSpPr txBox="1"/>
              <p:nvPr/>
            </p:nvSpPr>
            <p:spPr>
              <a:xfrm>
                <a:off x="2411283" y="4237171"/>
                <a:ext cx="1154030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ES" sz="1600" b="0" cap="none" spc="0" dirty="0">
                    <a:ln w="0"/>
                    <a:solidFill>
                      <a:srgbClr val="19D3F3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Georgia" panose="02040502050405020303" pitchFamily="18" charset="0"/>
                  </a:rPr>
                  <a:t>Sevilla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0A29096-3A9D-4770-A08F-52CD8FCE5DFF}"/>
                  </a:ext>
                </a:extLst>
              </p:cNvPr>
              <p:cNvSpPr txBox="1"/>
              <p:nvPr/>
            </p:nvSpPr>
            <p:spPr>
              <a:xfrm>
                <a:off x="2411283" y="4581289"/>
                <a:ext cx="1154030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ES" sz="1600" b="0" cap="none" spc="0" dirty="0">
                    <a:ln w="0"/>
                    <a:solidFill>
                      <a:srgbClr val="AB63FA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  <a:latin typeface="Georgia" panose="02040502050405020303" pitchFamily="18" charset="0"/>
                  </a:rPr>
                  <a:t>Madrid</a:t>
                </a:r>
              </a:p>
            </p:txBody>
          </p:sp>
        </p:grpSp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6061B34E-A7CF-4033-B15C-381E027E6ABF}"/>
                </a:ext>
              </a:extLst>
            </p:cNvPr>
            <p:cNvGrpSpPr/>
            <p:nvPr/>
          </p:nvGrpSpPr>
          <p:grpSpPr>
            <a:xfrm>
              <a:off x="3651917" y="2923501"/>
              <a:ext cx="2060867" cy="1953121"/>
              <a:chOff x="3651917" y="2923501"/>
              <a:chExt cx="2060867" cy="1953121"/>
            </a:xfrm>
          </p:grpSpPr>
          <p:sp>
            <p:nvSpPr>
              <p:cNvPr id="51" name="Left Brace 50">
                <a:extLst>
                  <a:ext uri="{FF2B5EF4-FFF2-40B4-BE49-F238E27FC236}">
                    <a16:creationId xmlns:a16="http://schemas.microsoft.com/office/drawing/2014/main" id="{D8644270-283F-4776-A3DB-EDF4F9DED51F}"/>
                  </a:ext>
                </a:extLst>
              </p:cNvPr>
              <p:cNvSpPr/>
              <p:nvPr/>
            </p:nvSpPr>
            <p:spPr>
              <a:xfrm rot="10800000">
                <a:off x="3651917" y="2923501"/>
                <a:ext cx="320040" cy="1953121"/>
              </a:xfrm>
              <a:prstGeom prst="leftBrace">
                <a:avLst>
                  <a:gd name="adj1" fmla="val 75793"/>
                  <a:gd name="adj2" fmla="val 50000"/>
                </a:avLst>
              </a:prstGeom>
              <a:ln w="28575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s-ES" dirty="0">
                  <a:latin typeface="Georgia" panose="02040502050405020303" pitchFamily="18" charset="0"/>
                </a:endParaRPr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95A236FE-6410-4A70-8CFB-339ABA3B23DB}"/>
                  </a:ext>
                </a:extLst>
              </p:cNvPr>
              <p:cNvSpPr txBox="1"/>
              <p:nvPr/>
            </p:nvSpPr>
            <p:spPr>
              <a:xfrm>
                <a:off x="4110228" y="3701415"/>
                <a:ext cx="1602556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ES" sz="1600" dirty="0">
                    <a:solidFill>
                      <a:srgbClr val="6B7A85"/>
                    </a:solidFill>
                    <a:latin typeface="Georgia" panose="02040502050405020303" pitchFamily="18" charset="0"/>
                    <a:ea typeface="Calibri" pitchFamily="34" charset="-122"/>
                    <a:cs typeface="Calibri" pitchFamily="34" charset="-120"/>
                  </a:rPr>
                  <a:t>(2 a 4 noches)</a:t>
                </a:r>
              </a:p>
            </p:txBody>
          </p:sp>
        </p:grp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1C2E95B2-8608-4173-AC73-802FA5C74D28}"/>
              </a:ext>
            </a:extLst>
          </p:cNvPr>
          <p:cNvGrpSpPr/>
          <p:nvPr/>
        </p:nvGrpSpPr>
        <p:grpSpPr>
          <a:xfrm>
            <a:off x="758218" y="3234040"/>
            <a:ext cx="6408106" cy="2334763"/>
            <a:chOff x="758218" y="3234040"/>
            <a:chExt cx="6408106" cy="2334763"/>
          </a:xfrm>
        </p:grpSpPr>
        <p:sp>
          <p:nvSpPr>
            <p:cNvPr id="60" name="Arrow: Down 59">
              <a:extLst>
                <a:ext uri="{FF2B5EF4-FFF2-40B4-BE49-F238E27FC236}">
                  <a16:creationId xmlns:a16="http://schemas.microsoft.com/office/drawing/2014/main" id="{145BE107-2F65-4F33-B0F0-9E0B2F29E18A}"/>
                </a:ext>
              </a:extLst>
            </p:cNvPr>
            <p:cNvSpPr/>
            <p:nvPr/>
          </p:nvSpPr>
          <p:spPr>
            <a:xfrm rot="10800000">
              <a:off x="3423502" y="3234040"/>
              <a:ext cx="133350" cy="271187"/>
            </a:xfrm>
            <a:prstGeom prst="downArrow">
              <a:avLst/>
            </a:prstGeom>
            <a:solidFill>
              <a:srgbClr val="00CB9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eorgia" panose="02040502050405020303" pitchFamily="18" charset="0"/>
              </a:endParaRPr>
            </a:p>
          </p:txBody>
        </p:sp>
        <p:sp>
          <p:nvSpPr>
            <p:cNvPr id="78" name="Arrow: Down 77">
              <a:extLst>
                <a:ext uri="{FF2B5EF4-FFF2-40B4-BE49-F238E27FC236}">
                  <a16:creationId xmlns:a16="http://schemas.microsoft.com/office/drawing/2014/main" id="{97F3E640-0219-413A-8C13-AAD36F3B5482}"/>
                </a:ext>
              </a:extLst>
            </p:cNvPr>
            <p:cNvSpPr/>
            <p:nvPr/>
          </p:nvSpPr>
          <p:spPr>
            <a:xfrm rot="10800000">
              <a:off x="3423502" y="4615295"/>
              <a:ext cx="133350" cy="271187"/>
            </a:xfrm>
            <a:prstGeom prst="downArrow">
              <a:avLst/>
            </a:prstGeom>
            <a:solidFill>
              <a:srgbClr val="00CB9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latin typeface="Georgia" panose="02040502050405020303" pitchFamily="18" charset="0"/>
              </a:endParaRPr>
            </a:p>
          </p:txBody>
        </p: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A87797C3-8D6F-47EA-9412-DADE978A698A}"/>
                </a:ext>
              </a:extLst>
            </p:cNvPr>
            <p:cNvGrpSpPr/>
            <p:nvPr/>
          </p:nvGrpSpPr>
          <p:grpSpPr>
            <a:xfrm>
              <a:off x="758218" y="5045583"/>
              <a:ext cx="6408106" cy="523220"/>
              <a:chOff x="758218" y="5045583"/>
              <a:chExt cx="6408106" cy="523220"/>
            </a:xfrm>
          </p:grpSpPr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84769323-5A96-49D2-AA9E-02373F1548BF}"/>
                  </a:ext>
                </a:extLst>
              </p:cNvPr>
              <p:cNvSpPr txBox="1"/>
              <p:nvPr/>
            </p:nvSpPr>
            <p:spPr>
              <a:xfrm>
                <a:off x="824892" y="5153305"/>
                <a:ext cx="493772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1400" dirty="0">
                    <a:latin typeface="Georgia" panose="02040502050405020303" pitchFamily="18" charset="0"/>
                  </a:rPr>
                  <a:t>Variación interanual 2024-2025 de pernoctaciones (</a:t>
                </a:r>
                <a:r>
                  <a:rPr lang="es-ES" sz="1400" dirty="0" err="1">
                    <a:latin typeface="Georgia" panose="02040502050405020303" pitchFamily="18" charset="0"/>
                  </a:rPr>
                  <a:t>YoY</a:t>
                </a:r>
                <a:r>
                  <a:rPr lang="es-ES" sz="1400" dirty="0">
                    <a:latin typeface="Georgia" panose="02040502050405020303" pitchFamily="18" charset="0"/>
                  </a:rPr>
                  <a:t>%)</a:t>
                </a:r>
              </a:p>
            </p:txBody>
          </p:sp>
          <p:sp>
            <p:nvSpPr>
              <p:cNvPr id="79" name="Arrow: Down 78">
                <a:extLst>
                  <a:ext uri="{FF2B5EF4-FFF2-40B4-BE49-F238E27FC236}">
                    <a16:creationId xmlns:a16="http://schemas.microsoft.com/office/drawing/2014/main" id="{3375B0B8-B972-4D49-B418-CB0B89C10FDA}"/>
                  </a:ext>
                </a:extLst>
              </p:cNvPr>
              <p:cNvSpPr/>
              <p:nvPr/>
            </p:nvSpPr>
            <p:spPr>
              <a:xfrm rot="10800000">
                <a:off x="758218" y="5171600"/>
                <a:ext cx="133350" cy="271187"/>
              </a:xfrm>
              <a:prstGeom prst="downArrow">
                <a:avLst/>
              </a:prstGeom>
              <a:solidFill>
                <a:srgbClr val="00CB9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>
                  <a:latin typeface="Georgia" panose="02040502050405020303" pitchFamily="18" charset="0"/>
                </a:endParaRPr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6CDFA62A-9B11-4A6B-B010-5ED53983745C}"/>
                  </a:ext>
                </a:extLst>
              </p:cNvPr>
              <p:cNvSpPr txBox="1"/>
              <p:nvPr/>
            </p:nvSpPr>
            <p:spPr>
              <a:xfrm>
                <a:off x="5719836" y="5045583"/>
                <a:ext cx="144648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s-ES" sz="2800" b="1" dirty="0">
                    <a:solidFill>
                      <a:srgbClr val="00CB95"/>
                    </a:solidFill>
                    <a:latin typeface="Georgia" panose="02040502050405020303" pitchFamily="18" charset="0"/>
                    <a:ea typeface="Calibri" pitchFamily="34" charset="-122"/>
                    <a:cs typeface="Calibri" pitchFamily="34" charset="-120"/>
                  </a:rPr>
                  <a:t>&gt; 2.9%</a:t>
                </a:r>
                <a:endParaRPr lang="es-ES" sz="2800" b="1" cap="none" spc="0" dirty="0">
                  <a:ln w="0"/>
                  <a:solidFill>
                    <a:srgbClr val="00CB95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Georgia" panose="02040502050405020303" pitchFamily="18" charset="0"/>
                </a:endParaRPr>
              </a:p>
            </p:txBody>
          </p:sp>
        </p:grp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8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55" grpId="0"/>
      <p:bldP spid="56" grpId="0"/>
      <p:bldP spid="7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640080" y="1927644"/>
            <a:ext cx="6492240" cy="3878796"/>
          </a:xfrm>
          <a:prstGeom prst="roundRect">
            <a:avLst>
              <a:gd name="adj" fmla="val 2667"/>
            </a:avLst>
          </a:prstGeom>
          <a:solidFill>
            <a:srgbClr val="F7FAFB"/>
          </a:solidFill>
          <a:ln w="15875">
            <a:solidFill>
              <a:srgbClr val="8FA3B0"/>
            </a:solidFill>
            <a:prstDash val="dash"/>
          </a:ln>
        </p:spPr>
        <p:txBody>
          <a:bodyPr/>
          <a:lstStyle/>
          <a:p>
            <a:endParaRPr lang="es-ES">
              <a:latin typeface="Georgia" panose="02040502050405020303" pitchFamily="18" charset="0"/>
            </a:endParaRPr>
          </a:p>
        </p:txBody>
      </p:sp>
      <p:sp>
        <p:nvSpPr>
          <p:cNvPr id="2" name="Text 0"/>
          <p:cNvSpPr/>
          <p:nvPr/>
        </p:nvSpPr>
        <p:spPr>
          <a:xfrm>
            <a:off x="64008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1F3B5C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ANÁLISIS 3 · PERNOCTACIONES</a:t>
            </a:r>
            <a:endParaRPr lang="en-US" sz="1100" dirty="0">
              <a:latin typeface="Georgia" panose="02040502050405020303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79" y="777240"/>
            <a:ext cx="927680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s-ES" sz="2800" b="1" dirty="0">
                <a:solidFill>
                  <a:srgbClr val="1F3B5C"/>
                </a:solidFill>
                <a:latin typeface="Georgia" panose="02040502050405020303" pitchFamily="18" charset="0"/>
                <a:ea typeface="Cambria" pitchFamily="34" charset="-122"/>
                <a:cs typeface="Cambria" pitchFamily="34" charset="-120"/>
              </a:rPr>
              <a:t>¿Cuánto tiempo se queda el viajero? [Ubicación]</a:t>
            </a:r>
            <a:endParaRPr lang="es-ES" sz="2800" dirty="0">
              <a:latin typeface="Georgia" panose="02040502050405020303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s-ES" sz="1300" dirty="0">
                <a:solidFill>
                  <a:srgbClr val="6B7A85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Analizar las posibles causas de la saturación de la oferta y identificar oportunidades por localidad</a:t>
            </a:r>
          </a:p>
        </p:txBody>
      </p:sp>
      <p:sp>
        <p:nvSpPr>
          <p:cNvPr id="8" name="Shape 6"/>
          <p:cNvSpPr/>
          <p:nvPr/>
        </p:nvSpPr>
        <p:spPr>
          <a:xfrm>
            <a:off x="640080" y="5897880"/>
            <a:ext cx="6492240" cy="566928"/>
          </a:xfrm>
          <a:prstGeom prst="roundRect">
            <a:avLst>
              <a:gd name="adj" fmla="val 9677"/>
            </a:avLst>
          </a:prstGeom>
          <a:solidFill>
            <a:srgbClr val="EAF1F3"/>
          </a:solidFill>
          <a:ln/>
        </p:spPr>
        <p:txBody>
          <a:bodyPr/>
          <a:lstStyle/>
          <a:p>
            <a:endParaRPr lang="es-ES">
              <a:latin typeface="Georgia" panose="02040502050405020303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822960" y="6044184"/>
            <a:ext cx="274320" cy="274320"/>
          </a:xfrm>
          <a:prstGeom prst="ellipse">
            <a:avLst/>
          </a:prstGeom>
          <a:solidFill>
            <a:srgbClr val="2E8B9E"/>
          </a:solidFill>
          <a:ln/>
        </p:spPr>
        <p:txBody>
          <a:bodyPr/>
          <a:lstStyle/>
          <a:p>
            <a:endParaRPr lang="es-ES">
              <a:latin typeface="Georgia" panose="02040502050405020303" pitchFamily="18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22960" y="6044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anose="02040502050405020303" pitchFamily="18" charset="0"/>
                <a:ea typeface="Cambria" pitchFamily="34" charset="-122"/>
                <a:cs typeface="Cambria" pitchFamily="34" charset="-120"/>
              </a:rPr>
              <a:t>?</a:t>
            </a:r>
            <a:endParaRPr lang="en-US" sz="1500" dirty="0">
              <a:latin typeface="Georgia" panose="02040502050405020303" pitchFamily="18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207008" y="5897880"/>
            <a:ext cx="5806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b="1" dirty="0" err="1">
                <a:solidFill>
                  <a:srgbClr val="1F3B5C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Aporta</a:t>
            </a:r>
            <a:r>
              <a:rPr lang="en-US" sz="1150" b="1" dirty="0">
                <a:solidFill>
                  <a:srgbClr val="1F3B5C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 a la </a:t>
            </a:r>
            <a:r>
              <a:rPr lang="en-US" sz="1150" b="1" dirty="0" err="1">
                <a:solidFill>
                  <a:srgbClr val="1F3B5C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decisión</a:t>
            </a:r>
            <a:r>
              <a:rPr lang="en-US" sz="1150" b="1" dirty="0">
                <a:solidFill>
                  <a:srgbClr val="1F3B5C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:  </a:t>
            </a:r>
            <a:r>
              <a:rPr lang="es-ES" sz="1150" dirty="0">
                <a:solidFill>
                  <a:srgbClr val="33404A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Ofrecer información personalizada a los propietarios de alojamientos y a los turistas en función de su residencia y su destino de viaje </a:t>
            </a:r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D062738F-23E6-4175-A027-7D2690BA8916}"/>
              </a:ext>
            </a:extLst>
          </p:cNvPr>
          <p:cNvGrpSpPr/>
          <p:nvPr/>
        </p:nvGrpSpPr>
        <p:grpSpPr>
          <a:xfrm>
            <a:off x="7498080" y="2377440"/>
            <a:ext cx="4160520" cy="3429000"/>
            <a:chOff x="7498080" y="2377440"/>
            <a:chExt cx="4160520" cy="3429000"/>
          </a:xfrm>
        </p:grpSpPr>
        <p:sp>
          <p:nvSpPr>
            <p:cNvPr id="12" name="Shape 10"/>
            <p:cNvSpPr/>
            <p:nvPr/>
          </p:nvSpPr>
          <p:spPr>
            <a:xfrm>
              <a:off x="7498080" y="2377440"/>
              <a:ext cx="4160520" cy="3429000"/>
            </a:xfrm>
            <a:prstGeom prst="roundRect">
              <a:avLst>
                <a:gd name="adj" fmla="val 2133"/>
              </a:avLst>
            </a:prstGeom>
            <a:solidFill>
              <a:srgbClr val="F7FAFB"/>
            </a:solidFill>
            <a:ln/>
            <a:effectLst>
              <a:outerShdw blurRad="88900" dist="25400" dir="5400000" algn="bl" rotWithShape="0">
                <a:srgbClr val="BCC9D1">
                  <a:alpha val="40000"/>
                </a:srgbClr>
              </a:outerShdw>
            </a:effectLst>
          </p:spPr>
          <p:txBody>
            <a:bodyPr/>
            <a:lstStyle/>
            <a:p>
              <a:endParaRPr lang="es-ES">
                <a:latin typeface="Georgia" panose="02040502050405020303" pitchFamily="18" charset="0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7657073" y="2478896"/>
              <a:ext cx="164592" cy="164592"/>
            </a:xfrm>
            <a:prstGeom prst="ellipse">
              <a:avLst/>
            </a:prstGeom>
            <a:solidFill>
              <a:srgbClr val="D8A24A"/>
            </a:solidFill>
            <a:ln/>
          </p:spPr>
          <p:txBody>
            <a:bodyPr/>
            <a:lstStyle/>
            <a:p>
              <a:endParaRPr lang="es-ES">
                <a:latin typeface="Georgia" panose="02040502050405020303" pitchFamily="18" charset="0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7931393" y="2414888"/>
              <a:ext cx="33832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33404A"/>
                  </a:solidFill>
                  <a:latin typeface="Georgia" panose="02040502050405020303" pitchFamily="18" charset="0"/>
                  <a:ea typeface="Calibri" pitchFamily="34" charset="-122"/>
                  <a:cs typeface="Calibri" pitchFamily="34" charset="-120"/>
                </a:rPr>
                <a:t>Hallazgo principal</a:t>
              </a:r>
              <a:endParaRPr lang="en-US" sz="1300" dirty="0">
                <a:latin typeface="Georgia" panose="02040502050405020303" pitchFamily="18" charset="0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7931393" y="2713563"/>
              <a:ext cx="3566160" cy="99673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05000"/>
                </a:lnSpc>
              </a:pPr>
              <a:r>
                <a:rPr lang="es-ES" sz="1200" b="1" dirty="0">
                  <a:solidFill>
                    <a:srgbClr val="6B7A85"/>
                  </a:solidFill>
                  <a:latin typeface="Georgia" panose="02040502050405020303" pitchFamily="18" charset="0"/>
                  <a:ea typeface="Calibri" pitchFamily="34" charset="-122"/>
                  <a:cs typeface="Calibri" pitchFamily="34" charset="-120"/>
                </a:rPr>
                <a:t>Turismo internacional</a:t>
              </a:r>
              <a:r>
                <a:rPr lang="es-ES" sz="1150" dirty="0">
                  <a:solidFill>
                    <a:srgbClr val="6B7A85"/>
                  </a:solidFill>
                  <a:latin typeface="Georgia" panose="02040502050405020303" pitchFamily="18" charset="0"/>
                  <a:ea typeface="Calibri" pitchFamily="34" charset="-122"/>
                  <a:cs typeface="Calibri" pitchFamily="34" charset="-120"/>
                </a:rPr>
                <a:t> es la principal oportunidad para los destinos en </a:t>
              </a:r>
              <a:r>
                <a:rPr lang="es-ES" sz="1150" b="1" i="1" dirty="0">
                  <a:solidFill>
                    <a:srgbClr val="6B7A85"/>
                  </a:solidFill>
                  <a:latin typeface="Georgia" panose="02040502050405020303" pitchFamily="18" charset="0"/>
                  <a:ea typeface="Calibri" pitchFamily="34" charset="-122"/>
                  <a:cs typeface="Calibri" pitchFamily="34" charset="-120"/>
                </a:rPr>
                <a:t>crecimiento</a:t>
              </a:r>
              <a:r>
                <a:rPr lang="es-ES" sz="1150" dirty="0">
                  <a:solidFill>
                    <a:srgbClr val="6B7A85"/>
                  </a:solidFill>
                  <a:latin typeface="Georgia" panose="02040502050405020303" pitchFamily="18" charset="0"/>
                  <a:ea typeface="Calibri" pitchFamily="34" charset="-122"/>
                  <a:cs typeface="Calibri" pitchFamily="34" charset="-120"/>
                </a:rPr>
                <a:t>. </a:t>
              </a:r>
            </a:p>
            <a:p>
              <a:pPr>
                <a:lnSpc>
                  <a:spcPct val="105000"/>
                </a:lnSpc>
              </a:pPr>
              <a:endParaRPr lang="es-ES" sz="1050" dirty="0">
                <a:solidFill>
                  <a:srgbClr val="6B7A85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endParaRPr>
            </a:p>
            <a:p>
              <a:pPr>
                <a:lnSpc>
                  <a:spcPct val="105000"/>
                </a:lnSpc>
              </a:pPr>
              <a:r>
                <a:rPr lang="es-ES" sz="1400" b="1" dirty="0">
                  <a:solidFill>
                    <a:srgbClr val="6B7A85"/>
                  </a:solidFill>
                  <a:latin typeface="Georgia" panose="02040502050405020303" pitchFamily="18" charset="0"/>
                  <a:ea typeface="Calibri" pitchFamily="34" charset="-122"/>
                  <a:cs typeface="Calibri" pitchFamily="34" charset="-120"/>
                </a:rPr>
                <a:t>Turismo nacional </a:t>
              </a:r>
              <a:r>
                <a:rPr lang="es-ES" sz="1150" dirty="0">
                  <a:solidFill>
                    <a:srgbClr val="6B7A85"/>
                  </a:solidFill>
                  <a:latin typeface="Georgia" panose="02040502050405020303" pitchFamily="18" charset="0"/>
                  <a:ea typeface="Calibri" pitchFamily="34" charset="-122"/>
                  <a:cs typeface="Calibri" pitchFamily="34" charset="-120"/>
                </a:rPr>
                <a:t>es la mejor solución para los destinos en situación </a:t>
              </a:r>
              <a:r>
                <a:rPr lang="es-ES" sz="1150" b="1" i="1" dirty="0">
                  <a:solidFill>
                    <a:srgbClr val="6B7A85"/>
                  </a:solidFill>
                  <a:latin typeface="Georgia" panose="02040502050405020303" pitchFamily="18" charset="0"/>
                  <a:ea typeface="Calibri" pitchFamily="34" charset="-122"/>
                  <a:cs typeface="Calibri" pitchFamily="34" charset="-120"/>
                </a:rPr>
                <a:t>crítica</a:t>
              </a:r>
              <a:r>
                <a:rPr lang="es-ES" sz="1150" dirty="0">
                  <a:solidFill>
                    <a:srgbClr val="6B7A85"/>
                  </a:solidFill>
                  <a:latin typeface="Georgia" panose="02040502050405020303" pitchFamily="18" charset="0"/>
                  <a:ea typeface="Calibri" pitchFamily="34" charset="-122"/>
                  <a:cs typeface="Calibri" pitchFamily="34" charset="-120"/>
                </a:rPr>
                <a:t>.</a:t>
              </a:r>
            </a:p>
          </p:txBody>
        </p:sp>
        <p:sp>
          <p:nvSpPr>
            <p:cNvPr id="20" name="Shape 18"/>
            <p:cNvSpPr/>
            <p:nvPr/>
          </p:nvSpPr>
          <p:spPr>
            <a:xfrm>
              <a:off x="7657073" y="4097389"/>
              <a:ext cx="164592" cy="164592"/>
            </a:xfrm>
            <a:prstGeom prst="ellipse">
              <a:avLst/>
            </a:prstGeom>
            <a:solidFill>
              <a:srgbClr val="D8A24A"/>
            </a:solidFill>
            <a:ln/>
          </p:spPr>
          <p:txBody>
            <a:bodyPr/>
            <a:lstStyle/>
            <a:p>
              <a:endParaRPr lang="es-ES">
                <a:latin typeface="Georgia" panose="02040502050405020303" pitchFamily="18" charset="0"/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7931393" y="4033381"/>
              <a:ext cx="33832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300" b="1" dirty="0">
                  <a:solidFill>
                    <a:srgbClr val="33404A"/>
                  </a:solidFill>
                  <a:latin typeface="Georgia" panose="02040502050405020303" pitchFamily="18" charset="0"/>
                  <a:ea typeface="Calibri" pitchFamily="34" charset="-122"/>
                  <a:cs typeface="Calibri" pitchFamily="34" charset="-120"/>
                </a:rPr>
                <a:t>Respuesta de negocio</a:t>
              </a:r>
              <a:endParaRPr lang="en-US" sz="1300" dirty="0">
                <a:latin typeface="Georgia" panose="02040502050405020303" pitchFamily="18" charset="0"/>
              </a:endParaRPr>
            </a:p>
          </p:txBody>
        </p:sp>
        <p:sp>
          <p:nvSpPr>
            <p:cNvPr id="22" name="Text 20"/>
            <p:cNvSpPr/>
            <p:nvPr/>
          </p:nvSpPr>
          <p:spPr>
            <a:xfrm>
              <a:off x="7931392" y="4325988"/>
              <a:ext cx="3620527" cy="131280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>
                <a:lnSpc>
                  <a:spcPct val="105000"/>
                </a:lnSpc>
              </a:pPr>
              <a:r>
                <a:rPr lang="es-ES" sz="1150" dirty="0">
                  <a:solidFill>
                    <a:srgbClr val="6B7A85"/>
                  </a:solidFill>
                  <a:latin typeface="Georgia" panose="02040502050405020303" pitchFamily="18" charset="0"/>
                  <a:ea typeface="Calibri" pitchFamily="34" charset="-122"/>
                  <a:cs typeface="Calibri" pitchFamily="34" charset="-120"/>
                </a:rPr>
                <a:t>Elaborar un mecanismo que permite ajustar la saturación y el aumento de la rentabilidad, así como la posibilidad de dar prioridad a la rotación frente a la duración, adaptando la oferta a los perfiles urbanos con una alta frecuencia de visitas.</a:t>
              </a:r>
              <a:br>
                <a:rPr lang="es-ES" sz="1150" dirty="0">
                  <a:solidFill>
                    <a:srgbClr val="6B7A85"/>
                  </a:solidFill>
                  <a:latin typeface="Georgia" panose="02040502050405020303" pitchFamily="18" charset="0"/>
                  <a:ea typeface="Calibri" pitchFamily="34" charset="-122"/>
                  <a:cs typeface="Calibri" pitchFamily="34" charset="-120"/>
                </a:rPr>
              </a:br>
              <a:endParaRPr lang="es-ES" sz="1150" dirty="0">
                <a:solidFill>
                  <a:srgbClr val="6B7A85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endParaRPr>
            </a:p>
          </p:txBody>
        </p:sp>
      </p:grpSp>
      <p:sp>
        <p:nvSpPr>
          <p:cNvPr id="23" name="Text 2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FA3B0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StaySpain · Encuesta de Ocupación Hotelera (INE) 2021–2025</a:t>
            </a:r>
            <a:endParaRPr lang="en-US" sz="850" dirty="0">
              <a:latin typeface="Georgia" panose="02040502050405020303" pitchFamily="18" charset="0"/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6A0D3FB-7293-4AA7-8E4A-7F1C0068219C}"/>
              </a:ext>
            </a:extLst>
          </p:cNvPr>
          <p:cNvGrpSpPr/>
          <p:nvPr/>
        </p:nvGrpSpPr>
        <p:grpSpPr>
          <a:xfrm>
            <a:off x="4578002" y="1975219"/>
            <a:ext cx="2554324" cy="1384995"/>
            <a:chOff x="8567791" y="1340596"/>
            <a:chExt cx="2137020" cy="1384995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F6DF47E-5101-44F1-B444-F04BD2219954}"/>
                </a:ext>
              </a:extLst>
            </p:cNvPr>
            <p:cNvSpPr/>
            <p:nvPr/>
          </p:nvSpPr>
          <p:spPr>
            <a:xfrm>
              <a:off x="8567791" y="1340596"/>
              <a:ext cx="1179479" cy="138499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kumimoji="0" lang="es-ES" altLang="en-US" sz="1400" b="1" i="0" u="none" strike="noStrike" cap="none" normalizeH="0" baseline="0" dirty="0">
                  <a:ln>
                    <a:noFill/>
                  </a:ln>
                  <a:solidFill>
                    <a:srgbClr val="FF0000"/>
                  </a:solidFill>
                  <a:effectLst/>
                  <a:latin typeface="Georgia" panose="02040502050405020303" pitchFamily="18" charset="0"/>
                </a:rPr>
                <a:t>CRITICO</a:t>
              </a:r>
              <a:endParaRPr kumimoji="0" lang="es-ES" altLang="en-US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Georgia" panose="02040502050405020303" pitchFamily="18" charset="0"/>
              </a:endParaRPr>
            </a:p>
            <a:p>
              <a:pPr algn="ctr"/>
              <a:r>
                <a:rPr kumimoji="0" lang="es-ES" altLang="en-US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Georgia" panose="02040502050405020303" pitchFamily="18" charset="0"/>
                </a:rPr>
                <a:t>Estrés estacional</a:t>
              </a:r>
            </a:p>
            <a:p>
              <a:pPr algn="ctr"/>
              <a:r>
                <a:rPr lang="es-ES" altLang="en-US" sz="1400" dirty="0">
                  <a:latin typeface="Georgia" panose="02040502050405020303" pitchFamily="18" charset="0"/>
                </a:rPr>
                <a:t>Brecha en la duración de las estancias</a:t>
              </a:r>
              <a:endParaRPr kumimoji="0" lang="es-E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" panose="02040502050405020303" pitchFamily="18" charset="0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F86F585-579E-4AF2-B139-BE8D82CF11D8}"/>
                </a:ext>
              </a:extLst>
            </p:cNvPr>
            <p:cNvSpPr txBox="1"/>
            <p:nvPr/>
          </p:nvSpPr>
          <p:spPr>
            <a:xfrm>
              <a:off x="9653250" y="1494484"/>
              <a:ext cx="1051561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b="0" cap="none" spc="0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Georgia" panose="02040502050405020303" pitchFamily="18" charset="0"/>
                </a:rPr>
                <a:t>Baleares</a:t>
              </a:r>
            </a:p>
            <a:p>
              <a:pPr algn="ctr"/>
              <a:r>
                <a:rPr lang="en-US" dirty="0">
                  <a:ln w="0"/>
                  <a:solidFill>
                    <a:srgbClr val="FF000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Georgia" panose="02040502050405020303" pitchFamily="18" charset="0"/>
                </a:rPr>
                <a:t>Girona</a:t>
              </a:r>
              <a:endParaRPr lang="en-US" b="0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Georgia" panose="02040502050405020303" pitchFamily="18" charset="0"/>
              </a:endParaRPr>
            </a:p>
          </p:txBody>
        </p:sp>
      </p:grpSp>
      <p:sp>
        <p:nvSpPr>
          <p:cNvPr id="24" name="Text 22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FA3B0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Análisis 3 / 3</a:t>
            </a:r>
            <a:endParaRPr lang="en-US" sz="850" dirty="0">
              <a:latin typeface="Georgia" panose="02040502050405020303" pitchFamily="18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493EDF3-A973-4ED3-9308-2B6626A5EF23}"/>
              </a:ext>
            </a:extLst>
          </p:cNvPr>
          <p:cNvGrpSpPr/>
          <p:nvPr/>
        </p:nvGrpSpPr>
        <p:grpSpPr>
          <a:xfrm>
            <a:off x="4319537" y="3774257"/>
            <a:ext cx="2812789" cy="953958"/>
            <a:chOff x="8551679" y="1472110"/>
            <a:chExt cx="2297912" cy="954107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FB3218E5-D17C-49F6-AA49-095DE989E4D6}"/>
                </a:ext>
              </a:extLst>
            </p:cNvPr>
            <p:cNvSpPr/>
            <p:nvPr/>
          </p:nvSpPr>
          <p:spPr>
            <a:xfrm>
              <a:off x="8551679" y="1472110"/>
              <a:ext cx="1370870" cy="95410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kumimoji="0" lang="en-US" altLang="en-US" sz="1400" b="1" i="0" u="none" strike="noStrike" cap="none" normalizeH="0" baseline="0" dirty="0">
                  <a:ln>
                    <a:noFill/>
                  </a:ln>
                  <a:solidFill>
                    <a:schemeClr val="accent6">
                      <a:lumMod val="75000"/>
                    </a:schemeClr>
                  </a:solidFill>
                  <a:effectLst/>
                  <a:latin typeface="Georgia" panose="02040502050405020303" pitchFamily="18" charset="0"/>
                </a:rPr>
                <a:t>OPORTUNIDAD</a:t>
              </a:r>
            </a:p>
            <a:p>
              <a:pPr algn="ctr"/>
              <a:r>
                <a:rPr kumimoji="0" lang="es-ES" altLang="en-US" sz="1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Georgia" panose="02040502050405020303" pitchFamily="18" charset="0"/>
                </a:rPr>
                <a:t>Crecimiento viajeros internacionales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6B156526-DD71-4CAE-8163-698BDBF1DBDD}"/>
                </a:ext>
              </a:extLst>
            </p:cNvPr>
            <p:cNvSpPr txBox="1"/>
            <p:nvPr/>
          </p:nvSpPr>
          <p:spPr>
            <a:xfrm>
              <a:off x="9798030" y="1487425"/>
              <a:ext cx="1051561" cy="9234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b="0" cap="none" spc="0" dirty="0">
                  <a:ln w="0"/>
                  <a:solidFill>
                    <a:schemeClr val="accent6">
                      <a:lumMod val="7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Georgia" panose="02040502050405020303" pitchFamily="18" charset="0"/>
                </a:rPr>
                <a:t>Madrid</a:t>
              </a:r>
            </a:p>
            <a:p>
              <a:pPr algn="ctr"/>
              <a:r>
                <a:rPr lang="en-US" dirty="0">
                  <a:ln w="0"/>
                  <a:solidFill>
                    <a:schemeClr val="accent6">
                      <a:lumMod val="7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Georgia" panose="02040502050405020303" pitchFamily="18" charset="0"/>
                </a:rPr>
                <a:t>Malaga</a:t>
              </a:r>
            </a:p>
            <a:p>
              <a:pPr algn="ctr"/>
              <a:r>
                <a:rPr lang="en-US" b="0" cap="none" spc="0" dirty="0">
                  <a:ln w="0"/>
                  <a:solidFill>
                    <a:schemeClr val="accent6">
                      <a:lumMod val="7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Georgia" panose="02040502050405020303" pitchFamily="18" charset="0"/>
                </a:rPr>
                <a:t>Valencia</a:t>
              </a: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F8CB1BAB-C31F-4209-973C-312E91CC40BE}"/>
              </a:ext>
            </a:extLst>
          </p:cNvPr>
          <p:cNvGrpSpPr/>
          <p:nvPr/>
        </p:nvGrpSpPr>
        <p:grpSpPr>
          <a:xfrm>
            <a:off x="2498121" y="2337569"/>
            <a:ext cx="1834427" cy="611117"/>
            <a:chOff x="2498121" y="2360683"/>
            <a:chExt cx="1834427" cy="611117"/>
          </a:xfrm>
        </p:grpSpPr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E1A8732-3FEF-46C8-AA0F-E30713907F5F}"/>
                </a:ext>
              </a:extLst>
            </p:cNvPr>
            <p:cNvSpPr txBox="1"/>
            <p:nvPr/>
          </p:nvSpPr>
          <p:spPr>
            <a:xfrm>
              <a:off x="2498121" y="2360683"/>
              <a:ext cx="1822623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300" dirty="0">
                  <a:solidFill>
                    <a:schemeClr val="accent6">
                      <a:lumMod val="75000"/>
                    </a:schemeClr>
                  </a:solidFill>
                  <a:latin typeface="Georgia" panose="02040502050405020303" pitchFamily="18" charset="0"/>
                </a:rPr>
                <a:t>Estancia (5.45 – 5.59)</a:t>
              </a:r>
              <a:endParaRPr lang="en-GB" sz="1300" dirty="0">
                <a:solidFill>
                  <a:schemeClr val="accent6">
                    <a:lumMod val="75000"/>
                  </a:schemeClr>
                </a:solidFill>
                <a:latin typeface="Georgia" panose="02040502050405020303" pitchFamily="18" charset="0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B012E700-45D5-422A-A283-09AC8C34FDD1}"/>
                </a:ext>
              </a:extLst>
            </p:cNvPr>
            <p:cNvSpPr txBox="1"/>
            <p:nvPr/>
          </p:nvSpPr>
          <p:spPr>
            <a:xfrm>
              <a:off x="2509925" y="2679412"/>
              <a:ext cx="1822623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300" dirty="0">
                  <a:solidFill>
                    <a:schemeClr val="accent2"/>
                  </a:solidFill>
                  <a:latin typeface="Georgia" panose="02040502050405020303" pitchFamily="18" charset="0"/>
                </a:rPr>
                <a:t>Estancia (2.43 – 3.31)</a:t>
              </a:r>
              <a:endParaRPr lang="en-GB" sz="1300" dirty="0">
                <a:solidFill>
                  <a:schemeClr val="accent2"/>
                </a:solidFill>
                <a:latin typeface="Georgia" panose="02040502050405020303" pitchFamily="18" charset="0"/>
              </a:endParaRP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20598963-A99E-4525-853F-E52E2658B99E}"/>
              </a:ext>
            </a:extLst>
          </p:cNvPr>
          <p:cNvGrpSpPr/>
          <p:nvPr/>
        </p:nvGrpSpPr>
        <p:grpSpPr>
          <a:xfrm>
            <a:off x="2485535" y="3988374"/>
            <a:ext cx="1834427" cy="611117"/>
            <a:chOff x="2498121" y="2360683"/>
            <a:chExt cx="1834427" cy="611117"/>
          </a:xfrm>
        </p:grpSpPr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32B4BA61-9ABC-45D6-800E-03A86F891B1E}"/>
                </a:ext>
              </a:extLst>
            </p:cNvPr>
            <p:cNvSpPr txBox="1"/>
            <p:nvPr/>
          </p:nvSpPr>
          <p:spPr>
            <a:xfrm>
              <a:off x="2498121" y="2360683"/>
              <a:ext cx="1822623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300" dirty="0">
                  <a:solidFill>
                    <a:schemeClr val="accent6">
                      <a:lumMod val="75000"/>
                    </a:schemeClr>
                  </a:solidFill>
                  <a:latin typeface="Georgia" panose="02040502050405020303" pitchFamily="18" charset="0"/>
                </a:rPr>
                <a:t>Estancia (2.03 – 2.09)</a:t>
              </a:r>
              <a:endParaRPr lang="en-GB" sz="1300" dirty="0">
                <a:solidFill>
                  <a:schemeClr val="accent6">
                    <a:lumMod val="75000"/>
                  </a:schemeClr>
                </a:solidFill>
                <a:latin typeface="Georgia" panose="02040502050405020303" pitchFamily="18" charset="0"/>
              </a:endParaRP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53E9EA36-51C2-4C29-818F-6EED29C02109}"/>
                </a:ext>
              </a:extLst>
            </p:cNvPr>
            <p:cNvSpPr txBox="1"/>
            <p:nvPr/>
          </p:nvSpPr>
          <p:spPr>
            <a:xfrm>
              <a:off x="2509925" y="2679412"/>
              <a:ext cx="1822623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300" dirty="0">
                  <a:solidFill>
                    <a:schemeClr val="accent2"/>
                  </a:solidFill>
                  <a:latin typeface="Georgia" panose="02040502050405020303" pitchFamily="18" charset="0"/>
                </a:rPr>
                <a:t>Estancia (1.88 – 2.10)</a:t>
              </a:r>
              <a:endParaRPr lang="en-GB" sz="1300" dirty="0">
                <a:solidFill>
                  <a:schemeClr val="accent2"/>
                </a:solidFill>
                <a:latin typeface="Georgia" panose="02040502050405020303" pitchFamily="18" charset="0"/>
              </a:endParaRPr>
            </a:p>
          </p:txBody>
        </p: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67D97789-C890-4091-93EC-0FDA848CFC68}"/>
              </a:ext>
            </a:extLst>
          </p:cNvPr>
          <p:cNvGrpSpPr/>
          <p:nvPr/>
        </p:nvGrpSpPr>
        <p:grpSpPr>
          <a:xfrm>
            <a:off x="890111" y="2221706"/>
            <a:ext cx="1657827" cy="3028503"/>
            <a:chOff x="890111" y="2221706"/>
            <a:chExt cx="1657827" cy="3028503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EF4547EB-5F91-4BB8-B4A4-43FBFAA344A3}"/>
                </a:ext>
              </a:extLst>
            </p:cNvPr>
            <p:cNvGrpSpPr/>
            <p:nvPr/>
          </p:nvGrpSpPr>
          <p:grpSpPr>
            <a:xfrm>
              <a:off x="935831" y="2221706"/>
              <a:ext cx="1542829" cy="842843"/>
              <a:chOff x="982913" y="2221706"/>
              <a:chExt cx="1542829" cy="842843"/>
            </a:xfrm>
          </p:grpSpPr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253DC11D-0A50-409C-8395-8BF9BABB2534}"/>
                  </a:ext>
                </a:extLst>
              </p:cNvPr>
              <p:cNvGrpSpPr/>
              <p:nvPr/>
            </p:nvGrpSpPr>
            <p:grpSpPr>
              <a:xfrm>
                <a:off x="1040440" y="2249542"/>
                <a:ext cx="1427775" cy="798463"/>
                <a:chOff x="2007871" y="1962515"/>
                <a:chExt cx="716280" cy="400570"/>
              </a:xfrm>
            </p:grpSpPr>
            <p:grpSp>
              <p:nvGrpSpPr>
                <p:cNvPr id="41" name="Group 40">
                  <a:extLst>
                    <a:ext uri="{FF2B5EF4-FFF2-40B4-BE49-F238E27FC236}">
                      <a16:creationId xmlns:a16="http://schemas.microsoft.com/office/drawing/2014/main" id="{97F0A5ED-F168-4C09-BA1C-C31E80B9745B}"/>
                    </a:ext>
                  </a:extLst>
                </p:cNvPr>
                <p:cNvGrpSpPr/>
                <p:nvPr/>
              </p:nvGrpSpPr>
              <p:grpSpPr>
                <a:xfrm>
                  <a:off x="2007871" y="1993560"/>
                  <a:ext cx="106680" cy="369525"/>
                  <a:chOff x="2007871" y="1993560"/>
                  <a:chExt cx="106680" cy="369525"/>
                </a:xfrm>
              </p:grpSpPr>
              <p:sp>
                <p:nvSpPr>
                  <p:cNvPr id="54" name="Arrow: Down 53">
                    <a:extLst>
                      <a:ext uri="{FF2B5EF4-FFF2-40B4-BE49-F238E27FC236}">
                        <a16:creationId xmlns:a16="http://schemas.microsoft.com/office/drawing/2014/main" id="{8D826A51-8B24-4FE5-A53D-D69EC1891347}"/>
                      </a:ext>
                    </a:extLst>
                  </p:cNvPr>
                  <p:cNvSpPr/>
                  <p:nvPr/>
                </p:nvSpPr>
                <p:spPr>
                  <a:xfrm>
                    <a:off x="2007871" y="2183085"/>
                    <a:ext cx="106680" cy="180000"/>
                  </a:xfrm>
                  <a:prstGeom prst="downArrow">
                    <a:avLst/>
                  </a:prstGeom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Georgia" panose="02040502050405020303" pitchFamily="18" charset="0"/>
                    </a:endParaRPr>
                  </a:p>
                </p:txBody>
              </p:sp>
              <p:sp>
                <p:nvSpPr>
                  <p:cNvPr id="55" name="Arrow: Down 54">
                    <a:extLst>
                      <a:ext uri="{FF2B5EF4-FFF2-40B4-BE49-F238E27FC236}">
                        <a16:creationId xmlns:a16="http://schemas.microsoft.com/office/drawing/2014/main" id="{2CE16F59-D1C4-4C83-A327-9EBCB4A8EBDE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2007871" y="1993560"/>
                    <a:ext cx="106680" cy="180000"/>
                  </a:xfrm>
                  <a:prstGeom prst="downArrow">
                    <a:avLst/>
                  </a:prstGeom>
                </p:spPr>
                <p:style>
                  <a:lnRef idx="2">
                    <a:schemeClr val="accent6">
                      <a:shade val="50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Georgia" panose="02040502050405020303" pitchFamily="18" charset="0"/>
                    </a:endParaRPr>
                  </a:p>
                </p:txBody>
              </p:sp>
            </p:grpSp>
            <p:grpSp>
              <p:nvGrpSpPr>
                <p:cNvPr id="42" name="Group 41">
                  <a:extLst>
                    <a:ext uri="{FF2B5EF4-FFF2-40B4-BE49-F238E27FC236}">
                      <a16:creationId xmlns:a16="http://schemas.microsoft.com/office/drawing/2014/main" id="{39D2A49A-A3EE-4DDC-A734-E3FBFB2AACD5}"/>
                    </a:ext>
                  </a:extLst>
                </p:cNvPr>
                <p:cNvGrpSpPr/>
                <p:nvPr/>
              </p:nvGrpSpPr>
              <p:grpSpPr>
                <a:xfrm>
                  <a:off x="2160270" y="1981619"/>
                  <a:ext cx="106681" cy="381466"/>
                  <a:chOff x="2007870" y="1981619"/>
                  <a:chExt cx="106681" cy="381466"/>
                </a:xfrm>
              </p:grpSpPr>
              <p:sp>
                <p:nvSpPr>
                  <p:cNvPr id="52" name="Arrow: Down 51">
                    <a:extLst>
                      <a:ext uri="{FF2B5EF4-FFF2-40B4-BE49-F238E27FC236}">
                        <a16:creationId xmlns:a16="http://schemas.microsoft.com/office/drawing/2014/main" id="{85D64E20-F569-4B04-9A79-E5B3CDEDF067}"/>
                      </a:ext>
                    </a:extLst>
                  </p:cNvPr>
                  <p:cNvSpPr/>
                  <p:nvPr/>
                </p:nvSpPr>
                <p:spPr>
                  <a:xfrm>
                    <a:off x="2007871" y="2183085"/>
                    <a:ext cx="106680" cy="180000"/>
                  </a:xfrm>
                  <a:prstGeom prst="downArrow">
                    <a:avLst/>
                  </a:prstGeom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Georgia" panose="02040502050405020303" pitchFamily="18" charset="0"/>
                    </a:endParaRPr>
                  </a:p>
                </p:txBody>
              </p:sp>
              <p:sp>
                <p:nvSpPr>
                  <p:cNvPr id="53" name="Arrow: Down 52">
                    <a:extLst>
                      <a:ext uri="{FF2B5EF4-FFF2-40B4-BE49-F238E27FC236}">
                        <a16:creationId xmlns:a16="http://schemas.microsoft.com/office/drawing/2014/main" id="{014C3453-281B-4E53-A3C6-19A9909FDCA5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2007870" y="1981619"/>
                    <a:ext cx="106680" cy="191939"/>
                  </a:xfrm>
                  <a:prstGeom prst="downArrow">
                    <a:avLst/>
                  </a:prstGeom>
                </p:spPr>
                <p:style>
                  <a:lnRef idx="2">
                    <a:schemeClr val="accent6">
                      <a:shade val="50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>
                      <a:latin typeface="Georgia" panose="02040502050405020303" pitchFamily="18" charset="0"/>
                    </a:endParaRPr>
                  </a:p>
                </p:txBody>
              </p:sp>
            </p:grpSp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9B51DA25-74FE-41D0-91B7-4FEB1C7D8FD8}"/>
                    </a:ext>
                  </a:extLst>
                </p:cNvPr>
                <p:cNvGrpSpPr/>
                <p:nvPr/>
              </p:nvGrpSpPr>
              <p:grpSpPr>
                <a:xfrm>
                  <a:off x="2312669" y="1975648"/>
                  <a:ext cx="106682" cy="387437"/>
                  <a:chOff x="2007869" y="1975648"/>
                  <a:chExt cx="106682" cy="387437"/>
                </a:xfrm>
              </p:grpSpPr>
              <p:sp>
                <p:nvSpPr>
                  <p:cNvPr id="50" name="Arrow: Down 49">
                    <a:extLst>
                      <a:ext uri="{FF2B5EF4-FFF2-40B4-BE49-F238E27FC236}">
                        <a16:creationId xmlns:a16="http://schemas.microsoft.com/office/drawing/2014/main" id="{681C2030-5CA8-4A22-8F60-5DF98704680E}"/>
                      </a:ext>
                    </a:extLst>
                  </p:cNvPr>
                  <p:cNvSpPr/>
                  <p:nvPr/>
                </p:nvSpPr>
                <p:spPr>
                  <a:xfrm>
                    <a:off x="2007871" y="2183085"/>
                    <a:ext cx="106680" cy="180000"/>
                  </a:xfrm>
                  <a:prstGeom prst="downArrow">
                    <a:avLst/>
                  </a:prstGeom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Georgia" panose="02040502050405020303" pitchFamily="18" charset="0"/>
                    </a:endParaRPr>
                  </a:p>
                </p:txBody>
              </p:sp>
              <p:sp>
                <p:nvSpPr>
                  <p:cNvPr id="51" name="Arrow: Down 50">
                    <a:extLst>
                      <a:ext uri="{FF2B5EF4-FFF2-40B4-BE49-F238E27FC236}">
                        <a16:creationId xmlns:a16="http://schemas.microsoft.com/office/drawing/2014/main" id="{42CB5FA9-D789-4DD7-B43F-C042A97F2534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2007869" y="1975648"/>
                    <a:ext cx="106680" cy="197911"/>
                  </a:xfrm>
                  <a:prstGeom prst="downArrow">
                    <a:avLst/>
                  </a:prstGeom>
                </p:spPr>
                <p:style>
                  <a:lnRef idx="2">
                    <a:schemeClr val="accent6">
                      <a:shade val="50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Georgia" panose="02040502050405020303" pitchFamily="18" charset="0"/>
                    </a:endParaRPr>
                  </a:p>
                </p:txBody>
              </p:sp>
            </p:grpSp>
            <p:grpSp>
              <p:nvGrpSpPr>
                <p:cNvPr id="44" name="Group 43">
                  <a:extLst>
                    <a:ext uri="{FF2B5EF4-FFF2-40B4-BE49-F238E27FC236}">
                      <a16:creationId xmlns:a16="http://schemas.microsoft.com/office/drawing/2014/main" id="{8DBC06C0-664C-4608-8D54-9B695AAA077A}"/>
                    </a:ext>
                  </a:extLst>
                </p:cNvPr>
                <p:cNvGrpSpPr/>
                <p:nvPr/>
              </p:nvGrpSpPr>
              <p:grpSpPr>
                <a:xfrm>
                  <a:off x="2465070" y="1969679"/>
                  <a:ext cx="106681" cy="393406"/>
                  <a:chOff x="2007870" y="1969679"/>
                  <a:chExt cx="106681" cy="393406"/>
                </a:xfrm>
              </p:grpSpPr>
              <p:sp>
                <p:nvSpPr>
                  <p:cNvPr id="48" name="Arrow: Down 47">
                    <a:extLst>
                      <a:ext uri="{FF2B5EF4-FFF2-40B4-BE49-F238E27FC236}">
                        <a16:creationId xmlns:a16="http://schemas.microsoft.com/office/drawing/2014/main" id="{FFE0924B-DDE2-4A4E-B051-DF14F0239C14}"/>
                      </a:ext>
                    </a:extLst>
                  </p:cNvPr>
                  <p:cNvSpPr/>
                  <p:nvPr/>
                </p:nvSpPr>
                <p:spPr>
                  <a:xfrm>
                    <a:off x="2007871" y="2183085"/>
                    <a:ext cx="106680" cy="180000"/>
                  </a:xfrm>
                  <a:prstGeom prst="downArrow">
                    <a:avLst/>
                  </a:prstGeom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Georgia" panose="02040502050405020303" pitchFamily="18" charset="0"/>
                    </a:endParaRPr>
                  </a:p>
                </p:txBody>
              </p:sp>
              <p:sp>
                <p:nvSpPr>
                  <p:cNvPr id="49" name="Arrow: Down 48">
                    <a:extLst>
                      <a:ext uri="{FF2B5EF4-FFF2-40B4-BE49-F238E27FC236}">
                        <a16:creationId xmlns:a16="http://schemas.microsoft.com/office/drawing/2014/main" id="{9303016B-622D-4CBF-8EA9-B77E9F01823B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2007870" y="1969679"/>
                    <a:ext cx="106680" cy="203878"/>
                  </a:xfrm>
                  <a:prstGeom prst="downArrow">
                    <a:avLst/>
                  </a:prstGeom>
                </p:spPr>
                <p:style>
                  <a:lnRef idx="2">
                    <a:schemeClr val="accent6">
                      <a:shade val="50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Georgia" panose="02040502050405020303" pitchFamily="18" charset="0"/>
                    </a:endParaRPr>
                  </a:p>
                </p:txBody>
              </p:sp>
            </p:grpSp>
            <p:grpSp>
              <p:nvGrpSpPr>
                <p:cNvPr id="45" name="Group 44">
                  <a:extLst>
                    <a:ext uri="{FF2B5EF4-FFF2-40B4-BE49-F238E27FC236}">
                      <a16:creationId xmlns:a16="http://schemas.microsoft.com/office/drawing/2014/main" id="{E09A5501-70C7-4126-B7BC-BCB8650E9EF6}"/>
                    </a:ext>
                  </a:extLst>
                </p:cNvPr>
                <p:cNvGrpSpPr/>
                <p:nvPr/>
              </p:nvGrpSpPr>
              <p:grpSpPr>
                <a:xfrm>
                  <a:off x="2617470" y="1962515"/>
                  <a:ext cx="106681" cy="400570"/>
                  <a:chOff x="2007870" y="1962515"/>
                  <a:chExt cx="106681" cy="400570"/>
                </a:xfrm>
              </p:grpSpPr>
              <p:sp>
                <p:nvSpPr>
                  <p:cNvPr id="46" name="Arrow: Down 45">
                    <a:extLst>
                      <a:ext uri="{FF2B5EF4-FFF2-40B4-BE49-F238E27FC236}">
                        <a16:creationId xmlns:a16="http://schemas.microsoft.com/office/drawing/2014/main" id="{43E39F7B-A552-4885-BCED-B01613C7DC87}"/>
                      </a:ext>
                    </a:extLst>
                  </p:cNvPr>
                  <p:cNvSpPr/>
                  <p:nvPr/>
                </p:nvSpPr>
                <p:spPr>
                  <a:xfrm>
                    <a:off x="2007871" y="2183085"/>
                    <a:ext cx="106680" cy="180000"/>
                  </a:xfrm>
                  <a:prstGeom prst="downArrow">
                    <a:avLst/>
                  </a:prstGeom>
                </p:spPr>
                <p:style>
                  <a:lnRef idx="2">
                    <a:schemeClr val="accent2">
                      <a:shade val="50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Georgia" panose="02040502050405020303" pitchFamily="18" charset="0"/>
                    </a:endParaRPr>
                  </a:p>
                </p:txBody>
              </p:sp>
              <p:sp>
                <p:nvSpPr>
                  <p:cNvPr id="47" name="Arrow: Down 46">
                    <a:extLst>
                      <a:ext uri="{FF2B5EF4-FFF2-40B4-BE49-F238E27FC236}">
                        <a16:creationId xmlns:a16="http://schemas.microsoft.com/office/drawing/2014/main" id="{FF8F71FF-A061-4DB4-B550-081C980BD6FE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2007870" y="1962515"/>
                    <a:ext cx="106680" cy="211042"/>
                  </a:xfrm>
                  <a:prstGeom prst="downArrow">
                    <a:avLst/>
                  </a:prstGeom>
                </p:spPr>
                <p:style>
                  <a:lnRef idx="2">
                    <a:schemeClr val="accent6">
                      <a:shade val="50000"/>
                    </a:schemeClr>
                  </a:lnRef>
                  <a:fillRef idx="1">
                    <a:schemeClr val="accent6"/>
                  </a:fillRef>
                  <a:effectRef idx="0">
                    <a:schemeClr val="accent6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>
                      <a:latin typeface="Georgia" panose="02040502050405020303" pitchFamily="18" charset="0"/>
                    </a:endParaRPr>
                  </a:p>
                </p:txBody>
              </p:sp>
            </p:grpSp>
          </p:grp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2B0CE663-15AE-4F63-A823-72933010ED6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82913" y="2221706"/>
                <a:ext cx="1542829" cy="70731"/>
              </a:xfrm>
              <a:prstGeom prst="line">
                <a:avLst/>
              </a:prstGeom>
              <a:ln w="190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B931ECF6-DDB7-4544-B249-193E752A7E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2913" y="3064549"/>
                <a:ext cx="1542829" cy="0"/>
              </a:xfrm>
              <a:prstGeom prst="line">
                <a:avLst/>
              </a:prstGeom>
              <a:ln w="190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1B97EF9-94AB-44E6-B5EB-C7D6C6AE1385}"/>
                </a:ext>
              </a:extLst>
            </p:cNvPr>
            <p:cNvCxnSpPr>
              <a:cxnSpLocks/>
            </p:cNvCxnSpPr>
            <p:nvPr/>
          </p:nvCxnSpPr>
          <p:spPr>
            <a:xfrm>
              <a:off x="1097280" y="3064549"/>
              <a:ext cx="0" cy="140898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F852619B-C8A0-449A-9F4B-AB80A2DBF2CE}"/>
                </a:ext>
              </a:extLst>
            </p:cNvPr>
            <p:cNvGrpSpPr/>
            <p:nvPr/>
          </p:nvGrpSpPr>
          <p:grpSpPr>
            <a:xfrm>
              <a:off x="890111" y="3927181"/>
              <a:ext cx="1657827" cy="1323028"/>
              <a:chOff x="2704078" y="2075135"/>
              <a:chExt cx="830960" cy="801961"/>
            </a:xfrm>
          </p:grpSpPr>
          <p:grpSp>
            <p:nvGrpSpPr>
              <p:cNvPr id="61" name="Group 60">
                <a:extLst>
                  <a:ext uri="{FF2B5EF4-FFF2-40B4-BE49-F238E27FC236}">
                    <a16:creationId xmlns:a16="http://schemas.microsoft.com/office/drawing/2014/main" id="{A5DCEBCF-9DB5-442F-B1DA-B0A964B1EB6D}"/>
                  </a:ext>
                </a:extLst>
              </p:cNvPr>
              <p:cNvGrpSpPr/>
              <p:nvPr/>
            </p:nvGrpSpPr>
            <p:grpSpPr>
              <a:xfrm>
                <a:off x="2760980" y="2438060"/>
                <a:ext cx="106680" cy="369525"/>
                <a:chOff x="2007871" y="1993560"/>
                <a:chExt cx="106680" cy="369525"/>
              </a:xfrm>
            </p:grpSpPr>
            <p:sp>
              <p:nvSpPr>
                <p:cNvPr id="76" name="Arrow: Down 75">
                  <a:extLst>
                    <a:ext uri="{FF2B5EF4-FFF2-40B4-BE49-F238E27FC236}">
                      <a16:creationId xmlns:a16="http://schemas.microsoft.com/office/drawing/2014/main" id="{301B5F3A-882B-4DE0-A98F-3AF488C418B2}"/>
                    </a:ext>
                  </a:extLst>
                </p:cNvPr>
                <p:cNvSpPr/>
                <p:nvPr/>
              </p:nvSpPr>
              <p:spPr>
                <a:xfrm>
                  <a:off x="2007871" y="2183085"/>
                  <a:ext cx="106680" cy="180000"/>
                </a:xfrm>
                <a:prstGeom prst="downArrow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eorgia" panose="02040502050405020303" pitchFamily="18" charset="0"/>
                  </a:endParaRPr>
                </a:p>
              </p:txBody>
            </p:sp>
            <p:sp>
              <p:nvSpPr>
                <p:cNvPr id="77" name="Arrow: Down 76">
                  <a:extLst>
                    <a:ext uri="{FF2B5EF4-FFF2-40B4-BE49-F238E27FC236}">
                      <a16:creationId xmlns:a16="http://schemas.microsoft.com/office/drawing/2014/main" id="{3E4B5D65-AF11-426C-BE8D-9ABD44C0E58C}"/>
                    </a:ext>
                  </a:extLst>
                </p:cNvPr>
                <p:cNvSpPr/>
                <p:nvPr/>
              </p:nvSpPr>
              <p:spPr>
                <a:xfrm rot="10800000">
                  <a:off x="2007871" y="1993560"/>
                  <a:ext cx="106680" cy="180000"/>
                </a:xfrm>
                <a:prstGeom prst="downArrow">
                  <a:avLst/>
                </a:prstGeom>
              </p:spPr>
              <p:style>
                <a:lnRef idx="2">
                  <a:schemeClr val="accent6">
                    <a:shade val="50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eorgia" panose="02040502050405020303" pitchFamily="18" charset="0"/>
                  </a:endParaRPr>
                </a:p>
              </p:txBody>
            </p:sp>
          </p:grpSp>
          <p:grpSp>
            <p:nvGrpSpPr>
              <p:cNvPr id="62" name="Group 61">
                <a:extLst>
                  <a:ext uri="{FF2B5EF4-FFF2-40B4-BE49-F238E27FC236}">
                    <a16:creationId xmlns:a16="http://schemas.microsoft.com/office/drawing/2014/main" id="{D50D772E-18E9-42A1-A9DF-7CA476360D85}"/>
                  </a:ext>
                </a:extLst>
              </p:cNvPr>
              <p:cNvGrpSpPr/>
              <p:nvPr/>
            </p:nvGrpSpPr>
            <p:grpSpPr>
              <a:xfrm>
                <a:off x="2913380" y="2358685"/>
                <a:ext cx="106680" cy="369525"/>
                <a:chOff x="2007871" y="1993560"/>
                <a:chExt cx="106680" cy="369525"/>
              </a:xfrm>
            </p:grpSpPr>
            <p:sp>
              <p:nvSpPr>
                <p:cNvPr id="74" name="Arrow: Down 73">
                  <a:extLst>
                    <a:ext uri="{FF2B5EF4-FFF2-40B4-BE49-F238E27FC236}">
                      <a16:creationId xmlns:a16="http://schemas.microsoft.com/office/drawing/2014/main" id="{F6885814-E5F8-41C5-A94E-FB1B1729E1BC}"/>
                    </a:ext>
                  </a:extLst>
                </p:cNvPr>
                <p:cNvSpPr/>
                <p:nvPr/>
              </p:nvSpPr>
              <p:spPr>
                <a:xfrm>
                  <a:off x="2007871" y="2183085"/>
                  <a:ext cx="106680" cy="180000"/>
                </a:xfrm>
                <a:prstGeom prst="downArrow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eorgia" panose="02040502050405020303" pitchFamily="18" charset="0"/>
                  </a:endParaRPr>
                </a:p>
              </p:txBody>
            </p:sp>
            <p:sp>
              <p:nvSpPr>
                <p:cNvPr id="75" name="Arrow: Down 74">
                  <a:extLst>
                    <a:ext uri="{FF2B5EF4-FFF2-40B4-BE49-F238E27FC236}">
                      <a16:creationId xmlns:a16="http://schemas.microsoft.com/office/drawing/2014/main" id="{C456CEA8-E565-4862-8B4D-2A0EE8336E6C}"/>
                    </a:ext>
                  </a:extLst>
                </p:cNvPr>
                <p:cNvSpPr/>
                <p:nvPr/>
              </p:nvSpPr>
              <p:spPr>
                <a:xfrm rot="10800000">
                  <a:off x="2007871" y="1993560"/>
                  <a:ext cx="106680" cy="180000"/>
                </a:xfrm>
                <a:prstGeom prst="downArrow">
                  <a:avLst/>
                </a:prstGeom>
              </p:spPr>
              <p:style>
                <a:lnRef idx="2">
                  <a:schemeClr val="accent6">
                    <a:shade val="50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eorgia" panose="02040502050405020303" pitchFamily="18" charset="0"/>
                  </a:endParaRPr>
                </a:p>
              </p:txBody>
            </p:sp>
          </p:grpSp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E21C2D31-F43C-402B-880A-47FDD4158BA6}"/>
                  </a:ext>
                </a:extLst>
              </p:cNvPr>
              <p:cNvGrpSpPr/>
              <p:nvPr/>
            </p:nvGrpSpPr>
            <p:grpSpPr>
              <a:xfrm>
                <a:off x="3063872" y="2293598"/>
                <a:ext cx="106680" cy="369525"/>
                <a:chOff x="2007871" y="1993560"/>
                <a:chExt cx="106680" cy="369525"/>
              </a:xfrm>
            </p:grpSpPr>
            <p:sp>
              <p:nvSpPr>
                <p:cNvPr id="72" name="Arrow: Down 71">
                  <a:extLst>
                    <a:ext uri="{FF2B5EF4-FFF2-40B4-BE49-F238E27FC236}">
                      <a16:creationId xmlns:a16="http://schemas.microsoft.com/office/drawing/2014/main" id="{6CCC27B2-0B2D-44F1-BFDB-985842583CBB}"/>
                    </a:ext>
                  </a:extLst>
                </p:cNvPr>
                <p:cNvSpPr/>
                <p:nvPr/>
              </p:nvSpPr>
              <p:spPr>
                <a:xfrm>
                  <a:off x="2007871" y="2183085"/>
                  <a:ext cx="106680" cy="180000"/>
                </a:xfrm>
                <a:prstGeom prst="downArrow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eorgia" panose="02040502050405020303" pitchFamily="18" charset="0"/>
                  </a:endParaRPr>
                </a:p>
              </p:txBody>
            </p:sp>
            <p:sp>
              <p:nvSpPr>
                <p:cNvPr id="73" name="Arrow: Down 72">
                  <a:extLst>
                    <a:ext uri="{FF2B5EF4-FFF2-40B4-BE49-F238E27FC236}">
                      <a16:creationId xmlns:a16="http://schemas.microsoft.com/office/drawing/2014/main" id="{6C8C8823-49AB-4AA3-9866-56836F4007B6}"/>
                    </a:ext>
                  </a:extLst>
                </p:cNvPr>
                <p:cNvSpPr/>
                <p:nvPr/>
              </p:nvSpPr>
              <p:spPr>
                <a:xfrm rot="10800000">
                  <a:off x="2007871" y="1993560"/>
                  <a:ext cx="106680" cy="180000"/>
                </a:xfrm>
                <a:prstGeom prst="downArrow">
                  <a:avLst/>
                </a:prstGeom>
              </p:spPr>
              <p:style>
                <a:lnRef idx="2">
                  <a:schemeClr val="accent6">
                    <a:shade val="50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eorgia" panose="02040502050405020303" pitchFamily="18" charset="0"/>
                  </a:endParaRPr>
                </a:p>
              </p:txBody>
            </p:sp>
          </p:grpSp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B5811DA8-7151-4DF7-BDD8-499C8C552904}"/>
                  </a:ext>
                </a:extLst>
              </p:cNvPr>
              <p:cNvGrpSpPr/>
              <p:nvPr/>
            </p:nvGrpSpPr>
            <p:grpSpPr>
              <a:xfrm>
                <a:off x="3216273" y="2216786"/>
                <a:ext cx="106680" cy="369525"/>
                <a:chOff x="2007871" y="1993560"/>
                <a:chExt cx="106680" cy="369525"/>
              </a:xfrm>
            </p:grpSpPr>
            <p:sp>
              <p:nvSpPr>
                <p:cNvPr id="70" name="Arrow: Down 69">
                  <a:extLst>
                    <a:ext uri="{FF2B5EF4-FFF2-40B4-BE49-F238E27FC236}">
                      <a16:creationId xmlns:a16="http://schemas.microsoft.com/office/drawing/2014/main" id="{89DF1C44-A410-4723-8EEA-5246F96050EF}"/>
                    </a:ext>
                  </a:extLst>
                </p:cNvPr>
                <p:cNvSpPr/>
                <p:nvPr/>
              </p:nvSpPr>
              <p:spPr>
                <a:xfrm>
                  <a:off x="2007871" y="2183085"/>
                  <a:ext cx="106680" cy="180000"/>
                </a:xfrm>
                <a:prstGeom prst="downArrow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eorgia" panose="02040502050405020303" pitchFamily="18" charset="0"/>
                  </a:endParaRPr>
                </a:p>
              </p:txBody>
            </p:sp>
            <p:sp>
              <p:nvSpPr>
                <p:cNvPr id="71" name="Arrow: Down 70">
                  <a:extLst>
                    <a:ext uri="{FF2B5EF4-FFF2-40B4-BE49-F238E27FC236}">
                      <a16:creationId xmlns:a16="http://schemas.microsoft.com/office/drawing/2014/main" id="{B508C293-CCC6-4A31-94A2-B24A9FD3D680}"/>
                    </a:ext>
                  </a:extLst>
                </p:cNvPr>
                <p:cNvSpPr/>
                <p:nvPr/>
              </p:nvSpPr>
              <p:spPr>
                <a:xfrm rot="10800000">
                  <a:off x="2007871" y="1993560"/>
                  <a:ext cx="106680" cy="180000"/>
                </a:xfrm>
                <a:prstGeom prst="downArrow">
                  <a:avLst/>
                </a:prstGeom>
              </p:spPr>
              <p:style>
                <a:lnRef idx="2">
                  <a:schemeClr val="accent6">
                    <a:shade val="50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eorgia" panose="02040502050405020303" pitchFamily="18" charset="0"/>
                  </a:endParaRPr>
                </a:p>
              </p:txBody>
            </p:sp>
          </p:grpSp>
          <p:grpSp>
            <p:nvGrpSpPr>
              <p:cNvPr id="65" name="Group 64">
                <a:extLst>
                  <a:ext uri="{FF2B5EF4-FFF2-40B4-BE49-F238E27FC236}">
                    <a16:creationId xmlns:a16="http://schemas.microsoft.com/office/drawing/2014/main" id="{06E748E3-959E-4C05-8F39-6DAD1BC0F6D4}"/>
                  </a:ext>
                </a:extLst>
              </p:cNvPr>
              <p:cNvGrpSpPr/>
              <p:nvPr/>
            </p:nvGrpSpPr>
            <p:grpSpPr>
              <a:xfrm>
                <a:off x="3366764" y="2144646"/>
                <a:ext cx="106680" cy="369525"/>
                <a:chOff x="2007871" y="1993560"/>
                <a:chExt cx="106680" cy="369525"/>
              </a:xfrm>
            </p:grpSpPr>
            <p:sp>
              <p:nvSpPr>
                <p:cNvPr id="68" name="Arrow: Down 67">
                  <a:extLst>
                    <a:ext uri="{FF2B5EF4-FFF2-40B4-BE49-F238E27FC236}">
                      <a16:creationId xmlns:a16="http://schemas.microsoft.com/office/drawing/2014/main" id="{89C5D457-DA29-4F0E-81D7-F77AAD3411CD}"/>
                    </a:ext>
                  </a:extLst>
                </p:cNvPr>
                <p:cNvSpPr/>
                <p:nvPr/>
              </p:nvSpPr>
              <p:spPr>
                <a:xfrm>
                  <a:off x="2007871" y="2183085"/>
                  <a:ext cx="106680" cy="180000"/>
                </a:xfrm>
                <a:prstGeom prst="downArrow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eorgia" panose="02040502050405020303" pitchFamily="18" charset="0"/>
                  </a:endParaRPr>
                </a:p>
              </p:txBody>
            </p:sp>
            <p:sp>
              <p:nvSpPr>
                <p:cNvPr id="69" name="Arrow: Down 68">
                  <a:extLst>
                    <a:ext uri="{FF2B5EF4-FFF2-40B4-BE49-F238E27FC236}">
                      <a16:creationId xmlns:a16="http://schemas.microsoft.com/office/drawing/2014/main" id="{94BF0710-9F63-4BB3-881C-E459CCE959FC}"/>
                    </a:ext>
                  </a:extLst>
                </p:cNvPr>
                <p:cNvSpPr/>
                <p:nvPr/>
              </p:nvSpPr>
              <p:spPr>
                <a:xfrm rot="10800000">
                  <a:off x="2007871" y="1993560"/>
                  <a:ext cx="106680" cy="180000"/>
                </a:xfrm>
                <a:prstGeom prst="downArrow">
                  <a:avLst/>
                </a:prstGeom>
              </p:spPr>
              <p:style>
                <a:lnRef idx="2">
                  <a:schemeClr val="accent6">
                    <a:shade val="50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>
                    <a:latin typeface="Georgia" panose="02040502050405020303" pitchFamily="18" charset="0"/>
                  </a:endParaRPr>
                </a:p>
              </p:txBody>
            </p:sp>
          </p:grp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916E99F1-75DF-4064-9050-C0B5F9720E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04078" y="2075135"/>
                <a:ext cx="813176" cy="398465"/>
              </a:xfrm>
              <a:prstGeom prst="line">
                <a:avLst/>
              </a:prstGeom>
              <a:ln w="190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FF2B5EF4-FFF2-40B4-BE49-F238E27FC236}">
                    <a16:creationId xmlns:a16="http://schemas.microsoft.com/office/drawing/2014/main" id="{0EA4B7A4-9ACB-46F4-84EE-3A2218FBF9E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21862" y="2478631"/>
                <a:ext cx="813176" cy="398465"/>
              </a:xfrm>
              <a:prstGeom prst="line">
                <a:avLst/>
              </a:prstGeom>
              <a:ln w="1905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BA1028A6-685B-43A2-AABF-B7D69AAE263F}"/>
                </a:ext>
              </a:extLst>
            </p:cNvPr>
            <p:cNvCxnSpPr>
              <a:cxnSpLocks/>
              <a:endCxn id="69" idx="2"/>
            </p:cNvCxnSpPr>
            <p:nvPr/>
          </p:nvCxnSpPr>
          <p:spPr>
            <a:xfrm>
              <a:off x="2308860" y="3049309"/>
              <a:ext cx="9776" cy="99254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334E9DBC-BDDA-4745-8F9E-CB909C0E4884}"/>
                </a:ext>
              </a:extLst>
            </p:cNvPr>
            <p:cNvCxnSpPr>
              <a:cxnSpLocks/>
              <a:endCxn id="71" idx="2"/>
            </p:cNvCxnSpPr>
            <p:nvPr/>
          </p:nvCxnSpPr>
          <p:spPr>
            <a:xfrm>
              <a:off x="2010049" y="3071954"/>
              <a:ext cx="8346" cy="108891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F88585AE-0FDC-4E00-86B2-5C44ABAEFF52}"/>
                </a:ext>
              </a:extLst>
            </p:cNvPr>
            <p:cNvCxnSpPr>
              <a:cxnSpLocks/>
              <a:endCxn id="73" idx="2"/>
            </p:cNvCxnSpPr>
            <p:nvPr/>
          </p:nvCxnSpPr>
          <p:spPr>
            <a:xfrm>
              <a:off x="1703462" y="3087619"/>
              <a:ext cx="10882" cy="119996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CE81804C-D6EB-453F-8060-F7353136C967}"/>
                </a:ext>
              </a:extLst>
            </p:cNvPr>
            <p:cNvCxnSpPr>
              <a:cxnSpLocks/>
            </p:cNvCxnSpPr>
            <p:nvPr/>
          </p:nvCxnSpPr>
          <p:spPr>
            <a:xfrm>
              <a:off x="1396875" y="3103284"/>
              <a:ext cx="10882" cy="12512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6D10D840-D12D-466D-A879-3473340763EB}"/>
                </a:ext>
              </a:extLst>
            </p:cNvPr>
            <p:cNvSpPr txBox="1"/>
            <p:nvPr/>
          </p:nvSpPr>
          <p:spPr>
            <a:xfrm>
              <a:off x="935831" y="3341017"/>
              <a:ext cx="1612107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1300" dirty="0">
                  <a:latin typeface="Georgia" panose="02040502050405020303" pitchFamily="18" charset="0"/>
                </a:rPr>
                <a:t>21 | 22 | 23 | 24 |25</a:t>
              </a:r>
              <a:endParaRPr lang="en-GB" sz="1300" dirty="0">
                <a:latin typeface="Georgia" panose="02040502050405020303" pitchFamily="18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2" dur="20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2E8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Reflexión final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1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Sí: la oferta debe adaptarse — por segmento, temporada y ciudad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478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tres dimensiones convergen en una misma conclusión: no existe un viajero único ni una demanda uniforme.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61750"/>
            <a:ext cx="3593592" cy="3452081"/>
          </a:xfrm>
          <a:prstGeom prst="roundRect">
            <a:avLst>
              <a:gd name="adj" fmla="val 2286"/>
            </a:avLst>
          </a:prstGeom>
          <a:solidFill>
            <a:srgbClr val="F7FAFB"/>
          </a:solidFill>
          <a:ln/>
          <a:effectLst>
            <a:outerShdw blurRad="88900" dist="25400" dir="5400000" algn="bl" rotWithShape="0">
              <a:srgbClr val="BCC9D1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Shape 4"/>
          <p:cNvSpPr/>
          <p:nvPr/>
        </p:nvSpPr>
        <p:spPr>
          <a:xfrm>
            <a:off x="960120" y="2336071"/>
            <a:ext cx="457200" cy="457200"/>
          </a:xfrm>
          <a:prstGeom prst="ellipse">
            <a:avLst/>
          </a:prstGeom>
          <a:solidFill>
            <a:srgbClr val="2E8B9E"/>
          </a:solidFill>
          <a:ln/>
        </p:spPr>
        <p:txBody>
          <a:bodyPr/>
          <a:lstStyle/>
          <a:p>
            <a:endParaRPr lang="es-E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B81F941-3B84-4F78-A0C2-FE60BE9295BD}"/>
              </a:ext>
            </a:extLst>
          </p:cNvPr>
          <p:cNvGrpSpPr/>
          <p:nvPr/>
        </p:nvGrpSpPr>
        <p:grpSpPr>
          <a:xfrm>
            <a:off x="960120" y="2336071"/>
            <a:ext cx="3090672" cy="457200"/>
            <a:chOff x="960120" y="2336071"/>
            <a:chExt cx="3090672" cy="457200"/>
          </a:xfrm>
        </p:grpSpPr>
        <p:sp>
          <p:nvSpPr>
            <p:cNvPr id="7" name="Text 5"/>
            <p:cNvSpPr/>
            <p:nvPr/>
          </p:nvSpPr>
          <p:spPr>
            <a:xfrm>
              <a:off x="960120" y="2336071"/>
              <a:ext cx="4572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1</a:t>
              </a:r>
              <a:endParaRPr lang="en-US" sz="20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1554480" y="2400079"/>
              <a:ext cx="2496312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kern="0" spc="200" dirty="0">
                  <a:solidFill>
                    <a:srgbClr val="2E8B9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ORIGEN</a:t>
              </a:r>
              <a:endParaRPr lang="en-US" sz="1100" dirty="0"/>
            </a:p>
          </p:txBody>
        </p:sp>
      </p:grpSp>
      <p:sp>
        <p:nvSpPr>
          <p:cNvPr id="9" name="Text 7"/>
          <p:cNvSpPr/>
          <p:nvPr/>
        </p:nvSpPr>
        <p:spPr>
          <a:xfrm>
            <a:off x="960120" y="2976151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viajero internacional es el motor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60120" y="3637996"/>
            <a:ext cx="2953512" cy="1741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del volumen y +252% de crecimiento. La oferta y la comunicación deben orientarse a los mercados core (UK, DE, FR) sin perder la base nacional.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62272" y="2061750"/>
            <a:ext cx="3593592" cy="3452081"/>
          </a:xfrm>
          <a:prstGeom prst="roundRect">
            <a:avLst>
              <a:gd name="adj" fmla="val 2286"/>
            </a:avLst>
          </a:prstGeom>
          <a:solidFill>
            <a:srgbClr val="F7FAFB"/>
          </a:solidFill>
          <a:ln/>
          <a:effectLst>
            <a:outerShdw blurRad="88900" dist="25400" dir="5400000" algn="bl" rotWithShape="0">
              <a:srgbClr val="BCC9D1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4782312" y="233607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833340F-3A53-420E-95D5-AF2D2C8375C6}"/>
              </a:ext>
            </a:extLst>
          </p:cNvPr>
          <p:cNvGrpSpPr/>
          <p:nvPr/>
        </p:nvGrpSpPr>
        <p:grpSpPr>
          <a:xfrm>
            <a:off x="4782312" y="2336071"/>
            <a:ext cx="3090672" cy="457200"/>
            <a:chOff x="4782312" y="2336071"/>
            <a:chExt cx="3090672" cy="457200"/>
          </a:xfrm>
        </p:grpSpPr>
        <p:sp>
          <p:nvSpPr>
            <p:cNvPr id="12" name="Shape 10"/>
            <p:cNvSpPr/>
            <p:nvPr/>
          </p:nvSpPr>
          <p:spPr>
            <a:xfrm>
              <a:off x="4782312" y="2336071"/>
              <a:ext cx="457200" cy="457200"/>
            </a:xfrm>
            <a:prstGeom prst="ellipse">
              <a:avLst/>
            </a:prstGeom>
            <a:solidFill>
              <a:srgbClr val="D8A24A"/>
            </a:solidFill>
            <a:ln/>
          </p:spPr>
          <p:txBody>
            <a:bodyPr/>
            <a:lstStyle/>
            <a:p>
              <a:endParaRPr lang="es-ES"/>
            </a:p>
          </p:txBody>
        </p:sp>
        <p:sp>
          <p:nvSpPr>
            <p:cNvPr id="14" name="Text 12"/>
            <p:cNvSpPr/>
            <p:nvPr/>
          </p:nvSpPr>
          <p:spPr>
            <a:xfrm>
              <a:off x="5376672" y="2400079"/>
              <a:ext cx="2496312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kern="0" spc="200" dirty="0">
                  <a:solidFill>
                    <a:srgbClr val="D8A2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TEMPORADA</a:t>
              </a:r>
              <a:endParaRPr lang="en-US" sz="1100" dirty="0"/>
            </a:p>
          </p:txBody>
        </p:sp>
      </p:grpSp>
      <p:sp>
        <p:nvSpPr>
          <p:cNvPr id="15" name="Text 13"/>
          <p:cNvSpPr/>
          <p:nvPr/>
        </p:nvSpPr>
        <p:spPr>
          <a:xfrm>
            <a:off x="4782312" y="2976151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demanda no es uniforme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82312" y="3637996"/>
            <a:ext cx="2953512" cy="1741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Verano concentra el 35%, con perfiles opuestos por ciudad (Menorca 70x vs Madrid 1,6x). El precio y la capacidad deben gestionarse por temporada y destino.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284464" y="2061750"/>
            <a:ext cx="3593592" cy="3452081"/>
          </a:xfrm>
          <a:prstGeom prst="roundRect">
            <a:avLst>
              <a:gd name="adj" fmla="val 2286"/>
            </a:avLst>
          </a:prstGeom>
          <a:solidFill>
            <a:srgbClr val="F7FAFB"/>
          </a:solidFill>
          <a:ln/>
          <a:effectLst>
            <a:outerShdw blurRad="88900" dist="25400" dir="5400000" algn="bl" rotWithShape="0">
              <a:srgbClr val="BCC9D1">
                <a:alpha val="4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8604504" y="233607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DB90EFE-5CE6-4964-A2F3-8A2148C19859}"/>
              </a:ext>
            </a:extLst>
          </p:cNvPr>
          <p:cNvGrpSpPr/>
          <p:nvPr/>
        </p:nvGrpSpPr>
        <p:grpSpPr>
          <a:xfrm>
            <a:off x="8604504" y="2336071"/>
            <a:ext cx="3090672" cy="457200"/>
            <a:chOff x="8604504" y="2336071"/>
            <a:chExt cx="3090672" cy="457200"/>
          </a:xfrm>
        </p:grpSpPr>
        <p:sp>
          <p:nvSpPr>
            <p:cNvPr id="18" name="Shape 16"/>
            <p:cNvSpPr/>
            <p:nvPr/>
          </p:nvSpPr>
          <p:spPr>
            <a:xfrm>
              <a:off x="8604504" y="2336071"/>
              <a:ext cx="457200" cy="457200"/>
            </a:xfrm>
            <a:prstGeom prst="ellipse">
              <a:avLst/>
            </a:prstGeom>
            <a:solidFill>
              <a:srgbClr val="8FA3B0"/>
            </a:solidFill>
            <a:ln/>
          </p:spPr>
          <p:txBody>
            <a:bodyPr/>
            <a:lstStyle/>
            <a:p>
              <a:endParaRPr lang="es-ES"/>
            </a:p>
          </p:txBody>
        </p:sp>
        <p:sp>
          <p:nvSpPr>
            <p:cNvPr id="20" name="Text 18"/>
            <p:cNvSpPr/>
            <p:nvPr/>
          </p:nvSpPr>
          <p:spPr>
            <a:xfrm>
              <a:off x="9198864" y="2400079"/>
              <a:ext cx="2496312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b="1" kern="0" spc="200" dirty="0">
                  <a:solidFill>
                    <a:srgbClr val="8FA3B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PERNOCTACIONES</a:t>
              </a:r>
              <a:endParaRPr lang="en-US" sz="1100" dirty="0"/>
            </a:p>
          </p:txBody>
        </p:sp>
      </p:grpSp>
      <p:sp>
        <p:nvSpPr>
          <p:cNvPr id="21" name="Text 19"/>
          <p:cNvSpPr/>
          <p:nvPr/>
        </p:nvSpPr>
        <p:spPr>
          <a:xfrm>
            <a:off x="8604504" y="2976151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s-ES" sz="1700" b="1" dirty="0">
                <a:solidFill>
                  <a:srgbClr val="1F3B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 dual y optimización segmentada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604504" y="3637996"/>
            <a:ext cx="2953512" cy="17417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s-ES" sz="1200" dirty="0">
                <a:solidFill>
                  <a:srgbClr val="334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</a:t>
            </a:r>
            <a:r>
              <a:rPr lang="es-ES" sz="1200" dirty="0" err="1">
                <a:solidFill>
                  <a:srgbClr val="334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alohamiento</a:t>
            </a:r>
            <a:r>
              <a:rPr lang="es-ES" sz="1200" dirty="0">
                <a:solidFill>
                  <a:srgbClr val="334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duración no coinciden, con mercados saturados y estancias divididas entre cortas y largas.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s-ES" sz="1200" dirty="0">
                <a:solidFill>
                  <a:srgbClr val="334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debe ajustar </a:t>
            </a:r>
            <a:r>
              <a:rPr lang="es-ES" sz="1200" dirty="0" err="1">
                <a:solidFill>
                  <a:srgbClr val="334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r>
              <a:rPr lang="es-ES" sz="1200" dirty="0">
                <a:solidFill>
                  <a:srgbClr val="334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distribución y mínimos de noches, priorizando volumen en hoteles y rentabilidad en estancias largas, y adaptando la estrategia entre turismo internacional y nacional según el destino.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5806440"/>
            <a:ext cx="10908792" cy="566928"/>
          </a:xfrm>
          <a:prstGeom prst="roundRect">
            <a:avLst>
              <a:gd name="adj" fmla="val 12903"/>
            </a:avLst>
          </a:prstGeom>
          <a:solidFill>
            <a:srgbClr val="1F3B5C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4" name="Text 22"/>
          <p:cNvSpPr/>
          <p:nvPr/>
        </p:nvSpPr>
        <p:spPr>
          <a:xfrm>
            <a:off x="914400" y="580644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Conclusión: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adaptar la oferta no es opcional — es la palanca para capturar el crecimiento internacional y suavizar la estacionalidad ciudad a ciudad.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F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StaySpain · Encuesta de Ocupación Hotelera (INE) 2021–2025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899855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8F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b="3781"/>
          <a:stretch>
            <a:fillRect/>
          </a:stretch>
        </p:blipFill>
        <p:spPr>
          <a:xfrm>
            <a:off x="0" y="0"/>
            <a:ext cx="12192000" cy="6852805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61E23CB2-B925-C3EE-E869-AB8256111686}"/>
              </a:ext>
            </a:extLst>
          </p:cNvPr>
          <p:cNvSpPr/>
          <p:nvPr/>
        </p:nvSpPr>
        <p:spPr>
          <a:xfrm>
            <a:off x="95250" y="5715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b="1" kern="0" spc="300" dirty="0">
                <a:solidFill>
                  <a:srgbClr val="D8A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RECOMENDACIONES A DIRECCIÓN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F3B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img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248" y="1417320"/>
            <a:ext cx="3657600" cy="24414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4600" dirty="0"/>
          </a:p>
        </p:txBody>
      </p:sp>
      <p:sp>
        <p:nvSpPr>
          <p:cNvPr id="4" name="Text 1"/>
          <p:cNvSpPr/>
          <p:nvPr/>
        </p:nvSpPr>
        <p:spPr>
          <a:xfrm>
            <a:off x="0" y="49377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D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 de Analistas de Datos · StaySpain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958</TotalTime>
  <Words>1668</Words>
  <Application>Microsoft Office PowerPoint</Application>
  <PresentationFormat>Widescreen</PresentationFormat>
  <Paragraphs>218</Paragraphs>
  <Slides>14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Arial</vt:lpstr>
      <vt:lpstr>Calibri</vt:lpstr>
      <vt:lpstr>Cambria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StaySpain — ¿Debemos adaptar nuestra oferta al perfil del viajero?</dc:title>
  <dc:subject>PptxGenJS Presentation</dc:subject>
  <dc:creator>StaySpain · Equip 29</dc:creator>
  <cp:lastModifiedBy>JobComp</cp:lastModifiedBy>
  <cp:revision>56</cp:revision>
  <dcterms:created xsi:type="dcterms:W3CDTF">2026-06-18T22:48:49Z</dcterms:created>
  <dcterms:modified xsi:type="dcterms:W3CDTF">2026-06-21T21:01:01Z</dcterms:modified>
</cp:coreProperties>
</file>