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281" r:id="rId3"/>
    <p:sldId id="296" r:id="rId4"/>
    <p:sldId id="290" r:id="rId5"/>
    <p:sldId id="304" r:id="rId6"/>
    <p:sldId id="259" r:id="rId7"/>
    <p:sldId id="299" r:id="rId8"/>
    <p:sldId id="300" r:id="rId9"/>
    <p:sldId id="301" r:id="rId10"/>
    <p:sldId id="298" r:id="rId11"/>
    <p:sldId id="302" r:id="rId12"/>
    <p:sldId id="303" r:id="rId13"/>
    <p:sldId id="288" r:id="rId14"/>
    <p:sldId id="297" r:id="rId15"/>
    <p:sldId id="258" r:id="rId16"/>
    <p:sldId id="260" r:id="rId17"/>
    <p:sldId id="287" r:id="rId18"/>
    <p:sldId id="284" r:id="rId19"/>
    <p:sldId id="285" r:id="rId20"/>
    <p:sldId id="295" r:id="rId21"/>
    <p:sldId id="289" r:id="rId22"/>
    <p:sldId id="257" r:id="rId23"/>
    <p:sldId id="291" r:id="rId24"/>
    <p:sldId id="292" r:id="rId25"/>
    <p:sldId id="261" r:id="rId26"/>
    <p:sldId id="262" r:id="rId27"/>
    <p:sldId id="293" r:id="rId28"/>
    <p:sldId id="279" r:id="rId29"/>
  </p:sldIdLst>
  <p:sldSz cx="18288000" cy="10287000"/>
  <p:notesSz cx="6858000" cy="9144000"/>
  <p:embeddedFontLst>
    <p:embeddedFont>
      <p:font typeface="Calibri" panose="020F0502020204030204" pitchFamily="34" charset="0"/>
      <p:regular r:id="rId31"/>
      <p:bold r:id="rId32"/>
      <p:italic r:id="rId33"/>
      <p:boldItalic r:id="rId34"/>
    </p:embeddedFont>
    <p:embeddedFont>
      <p:font typeface="Poppins" panose="00000500000000000000" pitchFamily="2" charset="0"/>
      <p:regular r:id="rId35"/>
      <p:bold r:id="rId36"/>
      <p:italic r:id="rId37"/>
      <p:boldItalic r:id="rId38"/>
    </p:embeddedFont>
    <p:embeddedFont>
      <p:font typeface="Poppins Black" panose="00000A00000000000000" pitchFamily="2" charset="0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08" userDrawn="1">
          <p15:clr>
            <a:srgbClr val="000000"/>
          </p15:clr>
        </p15:guide>
        <p15:guide id="2" pos="57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99"/>
    <p:restoredTop sz="94676"/>
  </p:normalViewPr>
  <p:slideViewPr>
    <p:cSldViewPr snapToGrid="0">
      <p:cViewPr varScale="1">
        <p:scale>
          <a:sx n="64" d="100"/>
          <a:sy n="64" d="100"/>
        </p:scale>
        <p:origin x="1110" y="78"/>
      </p:cViewPr>
      <p:guideLst>
        <p:guide orient="horz" pos="3308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1083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11654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40368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92154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63167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754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0630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47201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9B9F2680-2F74-E4CF-F44B-EDAB2F0EF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A6A1946-10C9-8123-02BD-4872867D12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9BD10A21-A8EE-1AE3-5A0D-2E0386995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06624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0549D970-BD0F-9F4E-9B55-4500E6F6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0DA3B6D8-F33C-1571-6444-46E3ED66D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F842C902-7082-89DE-6FC9-981ABC845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52162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48439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85109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be1710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dbe1710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5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5.png"/><Relationship Id="rId4" Type="http://schemas.openxmlformats.org/officeDocument/2006/relationships/image" Target="../media/image5.png"/><Relationship Id="rId9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28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18 de Mayo de 2026</a:t>
            </a:r>
            <a:endParaRPr lang="es-ES_tradnl" sz="1800" dirty="0"/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228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de </a:t>
            </a:r>
            <a:r>
              <a:rPr lang="es-ES_tradnl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Formación Laboral</a:t>
            </a:r>
          </a:p>
          <a:p>
            <a:pPr lvl="0">
              <a:lnSpc>
                <a:spcPct val="111000"/>
              </a:lnSpc>
            </a:pP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Competencias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105787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403066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1006055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3210168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04192" y="5457240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703472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NUESTROS DATOS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5524300"/>
            <a:ext cx="46350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Comunidad</a:t>
            </a:r>
            <a:r>
              <a:rPr lang="en-US" sz="3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Autónoma</a:t>
            </a:r>
            <a:endParaRPr sz="3000" dirty="0"/>
          </a:p>
        </p:txBody>
      </p:sp>
      <p:sp>
        <p:nvSpPr>
          <p:cNvPr id="140" name="Google Shape;140;g3dbe1710380_1_211"/>
          <p:cNvSpPr txBox="1"/>
          <p:nvPr/>
        </p:nvSpPr>
        <p:spPr>
          <a:xfrm>
            <a:off x="8188931" y="6071781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Cataluña</a:t>
            </a:r>
            <a:endParaRPr sz="36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1121450"/>
            <a:ext cx="45306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 de </a:t>
            </a:r>
            <a:r>
              <a:rPr lang="en-US" sz="30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</a:t>
            </a:r>
            <a:endParaRPr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5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3277218"/>
            <a:ext cx="38058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Tamaño</a:t>
            </a: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empresa</a:t>
            </a:r>
            <a:endParaRPr sz="2600" dirty="0"/>
          </a:p>
        </p:txBody>
      </p:sp>
      <p:sp>
        <p:nvSpPr>
          <p:cNvPr id="144" name="Google Shape;144;g3dbe1710380_1_211"/>
          <p:cNvSpPr txBox="1"/>
          <p:nvPr/>
        </p:nvSpPr>
        <p:spPr>
          <a:xfrm>
            <a:off x="8188931" y="3826745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386</a:t>
            </a:r>
            <a:endParaRPr sz="360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8045398" y="7870425"/>
            <a:ext cx="5150700" cy="49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Estrategias</a:t>
            </a: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 </a:t>
            </a:r>
            <a:r>
              <a:rPr lang="en-US" sz="29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</a:t>
            </a:r>
            <a:endParaRPr sz="2900" dirty="0"/>
          </a:p>
        </p:txBody>
      </p:sp>
      <p:sp>
        <p:nvSpPr>
          <p:cNvPr id="146" name="Google Shape;146;g3dbe1710380_1_211"/>
          <p:cNvSpPr txBox="1"/>
          <p:nvPr/>
        </p:nvSpPr>
        <p:spPr>
          <a:xfrm>
            <a:off x="8188919" y="8316815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?</a:t>
            </a:r>
            <a:endParaRPr sz="36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843911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2979331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22001" y="4953563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062089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 DE FORMACIÓN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4803327"/>
            <a:ext cx="46350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 EN EL PUESTO DE TRABAJO</a:t>
            </a:r>
            <a:endParaRPr sz="30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752171"/>
            <a:ext cx="45306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LA PROPIA EMPRESA</a:t>
            </a:r>
            <a:endParaRPr lang="es-ES"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2820016"/>
            <a:ext cx="38058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OTRA ORGANIZACIÓN</a:t>
            </a:r>
            <a:endParaRPr sz="2600" dirty="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7939888" y="6903274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ROTACIÓN /INTERCAMBIO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 PUESTOS</a:t>
            </a:r>
            <a:endParaRPr sz="29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29" name="Google Shape;124;g3dbe1710380_1_211">
            <a:extLst>
              <a:ext uri="{FF2B5EF4-FFF2-40B4-BE49-F238E27FC236}">
                <a16:creationId xmlns:a16="http://schemas.microsoft.com/office/drawing/2014/main" id="{D89EB990-901C-45D6-AF83-9EF917EFEEA7}"/>
              </a:ext>
            </a:extLst>
          </p:cNvPr>
          <p:cNvGrpSpPr/>
          <p:nvPr/>
        </p:nvGrpSpPr>
        <p:grpSpPr>
          <a:xfrm>
            <a:off x="6886431" y="9082822"/>
            <a:ext cx="588874" cy="595774"/>
            <a:chOff x="0" y="-9525"/>
            <a:chExt cx="812800" cy="822325"/>
          </a:xfrm>
        </p:grpSpPr>
        <p:sp>
          <p:nvSpPr>
            <p:cNvPr id="30" name="Google Shape;125;g3dbe1710380_1_211">
              <a:extLst>
                <a:ext uri="{FF2B5EF4-FFF2-40B4-BE49-F238E27FC236}">
                  <a16:creationId xmlns:a16="http://schemas.microsoft.com/office/drawing/2014/main" id="{E5E3EAC1-FACE-46C7-A3BB-195DDA4C466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1" name="Google Shape;126;g3dbe1710380_1_211">
              <a:extLst>
                <a:ext uri="{FF2B5EF4-FFF2-40B4-BE49-F238E27FC236}">
                  <a16:creationId xmlns:a16="http://schemas.microsoft.com/office/drawing/2014/main" id="{67D4FF60-F0A4-48F8-9A4D-1F7AD66E31F1}"/>
                </a:ext>
              </a:extLst>
            </p:cNvPr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145;g3dbe1710380_1_211">
            <a:extLst>
              <a:ext uri="{FF2B5EF4-FFF2-40B4-BE49-F238E27FC236}">
                <a16:creationId xmlns:a16="http://schemas.microsoft.com/office/drawing/2014/main" id="{22A2114F-E21B-4E83-8CE9-B05E57033A4E}"/>
              </a:ext>
            </a:extLst>
          </p:cNvPr>
          <p:cNvSpPr txBox="1"/>
          <p:nvPr/>
        </p:nvSpPr>
        <p:spPr>
          <a:xfrm>
            <a:off x="7916329" y="8919360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CONFERENCIAS,TALLERES Y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SEMINARIOS</a:t>
            </a:r>
          </a:p>
        </p:txBody>
      </p:sp>
      <p:sp>
        <p:nvSpPr>
          <p:cNvPr id="33" name="QuadreDeText 32">
            <a:extLst>
              <a:ext uri="{FF2B5EF4-FFF2-40B4-BE49-F238E27FC236}">
                <a16:creationId xmlns:a16="http://schemas.microsoft.com/office/drawing/2014/main" id="{934E4FD5-D080-4B3C-880C-81EE84B769EB}"/>
              </a:ext>
            </a:extLst>
          </p:cNvPr>
          <p:cNvSpPr txBox="1"/>
          <p:nvPr/>
        </p:nvSpPr>
        <p:spPr>
          <a:xfrm>
            <a:off x="400090" y="9395172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los Medios de Formación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4180FE63-6F89-4C88-B77B-CD2B862205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028" y="2153594"/>
            <a:ext cx="14510782" cy="6638769"/>
          </a:xfrm>
          <a:prstGeom prst="rect">
            <a:avLst/>
          </a:prstGeom>
        </p:spPr>
      </p:pic>
      <p:sp>
        <p:nvSpPr>
          <p:cNvPr id="2" name="QuadreDeText 1">
            <a:extLst>
              <a:ext uri="{FF2B5EF4-FFF2-40B4-BE49-F238E27FC236}">
                <a16:creationId xmlns:a16="http://schemas.microsoft.com/office/drawing/2014/main" id="{2BEC3BD1-E06F-4A88-94A2-80FFCE6D4F87}"/>
              </a:ext>
            </a:extLst>
          </p:cNvPr>
          <p:cNvSpPr txBox="1"/>
          <p:nvPr/>
        </p:nvSpPr>
        <p:spPr>
          <a:xfrm>
            <a:off x="11287593" y="9458793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B328C3EF-B736-4BF4-AB4B-5E6E703E4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90" y="1966912"/>
            <a:ext cx="11696700" cy="635317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del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4335651" y="3990879"/>
            <a:ext cx="3485721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722372" y="4131041"/>
            <a:ext cx="3210396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EC4ED6EC-FC33-4F3E-B445-1FDB1C856B6A}"/>
              </a:ext>
            </a:extLst>
          </p:cNvPr>
          <p:cNvSpPr txBox="1"/>
          <p:nvPr/>
        </p:nvSpPr>
        <p:spPr>
          <a:xfrm>
            <a:off x="11172881" y="9454919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24126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3E648FCE-7971-49F7-B1C4-73211CC4D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28" y="1992346"/>
            <a:ext cx="13487400" cy="644842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del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3866212" y="4340793"/>
            <a:ext cx="280566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438866" y="4239665"/>
            <a:ext cx="3037901" cy="1034325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5196AD66-857B-445F-8ACA-8B5866848235}"/>
              </a:ext>
            </a:extLst>
          </p:cNvPr>
          <p:cNvSpPr txBox="1"/>
          <p:nvPr/>
        </p:nvSpPr>
        <p:spPr>
          <a:xfrm>
            <a:off x="10598046" y="9157862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46405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41DD00EC-191E-415A-8EAD-81BDE2CFB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744" y="1154986"/>
            <a:ext cx="10493347" cy="9132013"/>
          </a:xfrm>
          <a:prstGeom prst="rect">
            <a:avLst/>
          </a:prstGeom>
        </p:spPr>
      </p:pic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del sector económico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5326558" y="2843081"/>
            <a:ext cx="378241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BFD99AF1-9DAA-451E-83AF-1058AB19BE6B}"/>
              </a:ext>
            </a:extLst>
          </p:cNvPr>
          <p:cNvSpPr txBox="1"/>
          <p:nvPr/>
        </p:nvSpPr>
        <p:spPr>
          <a:xfrm>
            <a:off x="11587397" y="9295283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60337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0B9CE290-D1C1-4189-9E21-0E59FAC0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3" y="1137967"/>
            <a:ext cx="13299546" cy="9104063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848133" y="4337802"/>
            <a:ext cx="9773586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78EA8AD0-7D3A-4D72-BC07-3134E7C59809}"/>
              </a:ext>
            </a:extLst>
          </p:cNvPr>
          <p:cNvSpPr txBox="1"/>
          <p:nvPr/>
        </p:nvSpPr>
        <p:spPr>
          <a:xfrm>
            <a:off x="12037101" y="9762696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847268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5350F70C-B643-4590-B86F-BF44DB0AF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4" y="1452208"/>
            <a:ext cx="14763064" cy="8820277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964245" y="4381344"/>
            <a:ext cx="11521011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0150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tge 2">
            <a:extLst>
              <a:ext uri="{FF2B5EF4-FFF2-40B4-BE49-F238E27FC236}">
                <a16:creationId xmlns:a16="http://schemas.microsoft.com/office/drawing/2014/main" id="{F2254398-B710-4543-B10D-7353A4041C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550" y="2153594"/>
            <a:ext cx="14085695" cy="7362396"/>
          </a:xfrm>
          <a:prstGeom prst="rect">
            <a:avLst/>
          </a:prstGeom>
        </p:spPr>
      </p:pic>
      <p:sp>
        <p:nvSpPr>
          <p:cNvPr id="9" name="QuadreDeText 8">
            <a:extLst>
              <a:ext uri="{FF2B5EF4-FFF2-40B4-BE49-F238E27FC236}">
                <a16:creationId xmlns:a16="http://schemas.microsoft.com/office/drawing/2014/main" id="{94872647-7527-45A5-AB2A-5C75504F1D1F}"/>
              </a:ext>
            </a:extLst>
          </p:cNvPr>
          <p:cNvSpPr txBox="1"/>
          <p:nvPr/>
        </p:nvSpPr>
        <p:spPr>
          <a:xfrm>
            <a:off x="11857218" y="9787306"/>
            <a:ext cx="923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13878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201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DE FORMACIÓNES ORGANIZACIONALES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878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APLANAMIENTO DE LA CURVA DE TRABAJO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PLANIFICACIÓN ESTACIONAL</a:t>
            </a:r>
            <a:endParaRPr lang="es-ES_tradnl" dirty="0"/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DESMITIFICACIÓN DE LA ANTIGÜEDAD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0" name="Google Shape;162;p18">
            <a:extLst>
              <a:ext uri="{FF2B5EF4-FFF2-40B4-BE49-F238E27FC236}">
                <a16:creationId xmlns:a16="http://schemas.microsoft.com/office/drawing/2014/main" id="{A239F5B4-C207-4A51-AE2F-F621521A6B0F}"/>
              </a:ext>
            </a:extLst>
          </p:cNvPr>
          <p:cNvSpPr/>
          <p:nvPr/>
        </p:nvSpPr>
        <p:spPr>
          <a:xfrm>
            <a:off x="14226839" y="7928731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Barreras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99151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6" name="Google Shape;116;p15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2983285" y="1152887"/>
            <a:ext cx="12321300" cy="763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KPIs</a:t>
            </a:r>
            <a:endParaRPr lang="es-ES" sz="4100"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780236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94.6</a:t>
            </a:r>
            <a:endParaRPr lang="es-ES_tradnl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3863364" y="2831746"/>
            <a:ext cx="2889663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12.5</a:t>
            </a:r>
            <a:endParaRPr lang="es-ES_tradnl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6993052" y="2831746"/>
            <a:ext cx="2850800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256.7%</a:t>
            </a:r>
            <a:endParaRPr lang="es-ES_tradnl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11019122" y="2831746"/>
            <a:ext cx="2960055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29,1</a:t>
            </a:r>
            <a:endParaRPr lang="es-ES_tradnl"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14556979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386</a:t>
            </a:r>
            <a:endParaRPr lang="es-ES_tradnl"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663345" y="4033814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Desempeño Promedio</a:t>
            </a:r>
            <a:endParaRPr lang="es-ES_tradnl" dirty="0"/>
          </a:p>
        </p:txBody>
      </p:sp>
      <p:sp>
        <p:nvSpPr>
          <p:cNvPr id="124" name="Google Shape;124;p15"/>
          <p:cNvSpPr txBox="1"/>
          <p:nvPr/>
        </p:nvSpPr>
        <p:spPr>
          <a:xfrm>
            <a:off x="3964489" y="4071435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Años servicio</a:t>
            </a: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Promedio</a:t>
            </a:r>
            <a:endParaRPr lang="es-ES_tradnl" dirty="0"/>
          </a:p>
        </p:txBody>
      </p:sp>
      <p:sp>
        <p:nvSpPr>
          <p:cNvPr id="125" name="Google Shape;125;p15"/>
          <p:cNvSpPr txBox="1"/>
          <p:nvPr/>
        </p:nvSpPr>
        <p:spPr>
          <a:xfrm>
            <a:off x="6969024" y="4125806"/>
            <a:ext cx="2736450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Carga de Trabajo Diaria Promedio</a:t>
            </a:r>
            <a:endParaRPr lang="es-ES_tradnl" dirty="0"/>
          </a:p>
        </p:txBody>
      </p:sp>
      <p:sp>
        <p:nvSpPr>
          <p:cNvPr id="126" name="Google Shape;126;p15"/>
          <p:cNvSpPr txBox="1"/>
          <p:nvPr/>
        </p:nvSpPr>
        <p:spPr>
          <a:xfrm>
            <a:off x="11153960" y="4159948"/>
            <a:ext cx="2889663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Distancia Casa Trabajo Promedio</a:t>
            </a:r>
            <a:endParaRPr lang="es-ES_tradnl"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14440088" y="4159948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Empleados Totales</a:t>
            </a:r>
            <a:endParaRPr lang="es-ES_tradnl" dirty="0"/>
          </a:p>
        </p:txBody>
      </p:sp>
      <p:sp>
        <p:nvSpPr>
          <p:cNvPr id="129" name="Google Shape;129;p15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0" name="Google Shape;130;p15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1" name="Google Shape;131;p15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132" name="Google Shape;132;p15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33" name="Google Shape;133;p1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8904E1C4-BA55-74CE-C240-E59815127484}"/>
              </a:ext>
            </a:extLst>
          </p:cNvPr>
          <p:cNvCxnSpPr>
            <a:cxnSpLocks/>
          </p:cNvCxnSpPr>
          <p:nvPr/>
        </p:nvCxnSpPr>
        <p:spPr>
          <a:xfrm>
            <a:off x="9839320" y="3127605"/>
            <a:ext cx="0" cy="64637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120;p15">
            <a:extLst>
              <a:ext uri="{FF2B5EF4-FFF2-40B4-BE49-F238E27FC236}">
                <a16:creationId xmlns:a16="http://schemas.microsoft.com/office/drawing/2014/main" id="{84F3F4B0-0611-9E7D-6C26-310E18D2F994}"/>
              </a:ext>
            </a:extLst>
          </p:cNvPr>
          <p:cNvSpPr txBox="1"/>
          <p:nvPr/>
        </p:nvSpPr>
        <p:spPr>
          <a:xfrm>
            <a:off x="9623199" y="3127605"/>
            <a:ext cx="14745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15.3%</a:t>
            </a:r>
            <a:endParaRPr lang="es-ES_tradnl" sz="600" dirty="0">
              <a:solidFill>
                <a:srgbClr val="00B050"/>
              </a:solidFill>
            </a:endParaRPr>
          </a:p>
        </p:txBody>
      </p:sp>
      <p:sp>
        <p:nvSpPr>
          <p:cNvPr id="8" name="Google Shape;120;p15">
            <a:extLst>
              <a:ext uri="{FF2B5EF4-FFF2-40B4-BE49-F238E27FC236}">
                <a16:creationId xmlns:a16="http://schemas.microsoft.com/office/drawing/2014/main" id="{6CA926DD-7C71-23B0-3C7C-4FC51EF46AAF}"/>
              </a:ext>
            </a:extLst>
          </p:cNvPr>
          <p:cNvSpPr txBox="1"/>
          <p:nvPr/>
        </p:nvSpPr>
        <p:spPr>
          <a:xfrm>
            <a:off x="16429044" y="3103531"/>
            <a:ext cx="9863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250</a:t>
            </a:r>
            <a:endParaRPr lang="es-ES_tradnl" sz="600" dirty="0">
              <a:solidFill>
                <a:srgbClr val="00B050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2C2540-D75C-7571-7D7D-E0A5275EA232}"/>
              </a:ext>
            </a:extLst>
          </p:cNvPr>
          <p:cNvCxnSpPr>
            <a:cxnSpLocks/>
          </p:cNvCxnSpPr>
          <p:nvPr/>
        </p:nvCxnSpPr>
        <p:spPr>
          <a:xfrm flipV="1">
            <a:off x="16525524" y="2955571"/>
            <a:ext cx="0" cy="70028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4" y="1609520"/>
            <a:ext cx="107585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y Perfiles de riesgo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1206008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AÑOS DE SERVICIO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165698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LABORAL MEDIA DIARIA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1165698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DISTANCIA CASA TRABAJO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44476" y="527273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057297" y="4447742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031640" y="6404030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3993289" y="5935989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42F22800-C809-CD56-7D7A-5160DC5287BB}"/>
              </a:ext>
            </a:extLst>
          </p:cNvPr>
          <p:cNvSpPr/>
          <p:nvPr/>
        </p:nvSpPr>
        <p:spPr>
          <a:xfrm>
            <a:off x="10060202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BAJO</a:t>
            </a:r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MEDIO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6D68A47-58FB-E99C-1AA1-74A6EBBC9A72}"/>
              </a:ext>
            </a:extLst>
          </p:cNvPr>
          <p:cNvSpPr/>
          <p:nvPr/>
        </p:nvSpPr>
        <p:spPr>
          <a:xfrm>
            <a:off x="10053142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ALTO</a:t>
            </a:r>
          </a:p>
        </p:txBody>
      </p:sp>
      <p:cxnSp>
        <p:nvCxnSpPr>
          <p:cNvPr id="8" name="Connector de fletxa recta 3">
            <a:extLst>
              <a:ext uri="{FF2B5EF4-FFF2-40B4-BE49-F238E27FC236}">
                <a16:creationId xmlns:a16="http://schemas.microsoft.com/office/drawing/2014/main" id="{19E23486-15F3-13A5-A805-8924C9F5C846}"/>
              </a:ext>
            </a:extLst>
          </p:cNvPr>
          <p:cNvCxnSpPr>
            <a:cxnSpLocks/>
          </p:cNvCxnSpPr>
          <p:nvPr/>
        </p:nvCxnSpPr>
        <p:spPr>
          <a:xfrm>
            <a:off x="8363449" y="6299458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de fletxa recta 17">
            <a:extLst>
              <a:ext uri="{FF2B5EF4-FFF2-40B4-BE49-F238E27FC236}">
                <a16:creationId xmlns:a16="http://schemas.microsoft.com/office/drawing/2014/main" id="{FBFEE702-CB4E-27B6-3FD5-01F488761405}"/>
              </a:ext>
            </a:extLst>
          </p:cNvPr>
          <p:cNvCxnSpPr>
            <a:cxnSpLocks/>
          </p:cNvCxnSpPr>
          <p:nvPr/>
        </p:nvCxnSpPr>
        <p:spPr>
          <a:xfrm flipV="1">
            <a:off x="8357348" y="4432382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8363449" y="5839240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B642E1B-EAAD-846C-7213-818F9B08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50;p17">
            <a:extLst>
              <a:ext uri="{FF2B5EF4-FFF2-40B4-BE49-F238E27FC236}">
                <a16:creationId xmlns:a16="http://schemas.microsoft.com/office/drawing/2014/main" id="{F86CEE5F-E76A-4B02-BD77-12DF8281C89B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693086C1-3A88-EB59-4013-101D3A37FAA6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BB7F3992-FFE1-2424-CA16-0C8A71549DC2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C03B731F-3CB9-C9D1-0B50-FA6635DF58A3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08C7B611-92BA-5C21-A37C-B93DA08A165B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D1F1D1B5-06AD-37C8-261A-BA3200F32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006" y="1542472"/>
            <a:ext cx="15353775" cy="838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5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63E80783-2808-D9A9-2296-58D7B84EC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861740C8-2715-C62E-41D0-4545EEC1AAB8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C48D0062-7916-1CEC-0AEA-2300BC4525D5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251AD685-409E-218B-B9BF-C7EEEF2F42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3304A7D0-ED7D-15AB-75E4-7BE82AA31F2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Google Shape;142;p16">
            <a:extLst>
              <a:ext uri="{FF2B5EF4-FFF2-40B4-BE49-F238E27FC236}">
                <a16:creationId xmlns:a16="http://schemas.microsoft.com/office/drawing/2014/main" id="{33860D4C-35DB-8674-B456-D91CBD9BE121}"/>
              </a:ext>
            </a:extLst>
          </p:cNvPr>
          <p:cNvSpPr txBox="1"/>
          <p:nvPr/>
        </p:nvSpPr>
        <p:spPr>
          <a:xfrm>
            <a:off x="6977513" y="3187638"/>
            <a:ext cx="3250633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0% Impacto</a:t>
            </a:r>
            <a:endParaRPr lang="es-ES_tradnl" dirty="0">
              <a:solidFill>
                <a:srgbClr val="FF0000"/>
              </a:solidFill>
            </a:endParaRPr>
          </a:p>
        </p:txBody>
      </p:sp>
      <p:sp>
        <p:nvSpPr>
          <p:cNvPr id="4" name="Google Shape;142;p16">
            <a:extLst>
              <a:ext uri="{FF2B5EF4-FFF2-40B4-BE49-F238E27FC236}">
                <a16:creationId xmlns:a16="http://schemas.microsoft.com/office/drawing/2014/main" id="{A068B446-C788-A91F-BC12-679FDD6AB5DA}"/>
              </a:ext>
            </a:extLst>
          </p:cNvPr>
          <p:cNvSpPr txBox="1">
            <a:spLocks noChangeAspect="1"/>
          </p:cNvSpPr>
          <p:nvPr/>
        </p:nvSpPr>
        <p:spPr>
          <a:xfrm>
            <a:off x="3465347" y="5045538"/>
            <a:ext cx="2430957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🏠</a:t>
            </a:r>
          </a:p>
        </p:txBody>
      </p:sp>
      <p:sp>
        <p:nvSpPr>
          <p:cNvPr id="5" name="Google Shape;142;p16">
            <a:extLst>
              <a:ext uri="{FF2B5EF4-FFF2-40B4-BE49-F238E27FC236}">
                <a16:creationId xmlns:a16="http://schemas.microsoft.com/office/drawing/2014/main" id="{6F05B33D-C9EC-24C4-6E68-40CEAC788EDE}"/>
              </a:ext>
            </a:extLst>
          </p:cNvPr>
          <p:cNvSpPr txBox="1">
            <a:spLocks noChangeAspect="1"/>
          </p:cNvSpPr>
          <p:nvPr/>
        </p:nvSpPr>
        <p:spPr>
          <a:xfrm>
            <a:off x="11626643" y="4984184"/>
            <a:ext cx="1950523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⏳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D691DCF0-EA6C-ACB7-6926-9C60ED2B293B}"/>
              </a:ext>
            </a:extLst>
          </p:cNvPr>
          <p:cNvCxnSpPr>
            <a:cxnSpLocks/>
          </p:cNvCxnSpPr>
          <p:nvPr/>
        </p:nvCxnSpPr>
        <p:spPr>
          <a:xfrm flipH="1">
            <a:off x="5574780" y="3825551"/>
            <a:ext cx="1296785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0FBD80B7-C760-C653-3BEC-38595DD47B70}"/>
              </a:ext>
            </a:extLst>
          </p:cNvPr>
          <p:cNvCxnSpPr>
            <a:cxnSpLocks/>
          </p:cNvCxnSpPr>
          <p:nvPr/>
        </p:nvCxnSpPr>
        <p:spPr>
          <a:xfrm>
            <a:off x="10310940" y="3823321"/>
            <a:ext cx="1411958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Google Shape;115;p15">
            <a:extLst>
              <a:ext uri="{FF2B5EF4-FFF2-40B4-BE49-F238E27FC236}">
                <a16:creationId xmlns:a16="http://schemas.microsoft.com/office/drawing/2014/main" id="{8FB33FCD-A80E-470E-810C-7AAE52B4218B}"/>
              </a:ext>
            </a:extLst>
          </p:cNvPr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" name="Google Shape;116;p15">
            <a:extLst>
              <a:ext uri="{FF2B5EF4-FFF2-40B4-BE49-F238E27FC236}">
                <a16:creationId xmlns:a16="http://schemas.microsoft.com/office/drawing/2014/main" id="{8DAB3E1D-B952-4765-8585-83E2CDEF6DBE}"/>
              </a:ext>
            </a:extLst>
          </p:cNvPr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" name="Google Shape;129;p15">
            <a:extLst>
              <a:ext uri="{FF2B5EF4-FFF2-40B4-BE49-F238E27FC236}">
                <a16:creationId xmlns:a16="http://schemas.microsoft.com/office/drawing/2014/main" id="{F5FBBCFA-3965-4E20-9EF0-B84FF43FDB01}"/>
              </a:ext>
            </a:extLst>
          </p:cNvPr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" name="Google Shape;130;p15">
            <a:extLst>
              <a:ext uri="{FF2B5EF4-FFF2-40B4-BE49-F238E27FC236}">
                <a16:creationId xmlns:a16="http://schemas.microsoft.com/office/drawing/2014/main" id="{B74CD591-F99B-499C-9966-331AB7425F8D}"/>
              </a:ext>
            </a:extLst>
          </p:cNvPr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" name="Google Shape;131;p15">
            <a:extLst>
              <a:ext uri="{FF2B5EF4-FFF2-40B4-BE49-F238E27FC236}">
                <a16:creationId xmlns:a16="http://schemas.microsoft.com/office/drawing/2014/main" id="{A3D8AAD5-872B-4286-9C59-9F7CC6BFEBD2}"/>
              </a:ext>
            </a:extLst>
          </p:cNvPr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9332422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78511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Fletxa: corbada cap amunt 35">
            <a:extLst>
              <a:ext uri="{FF2B5EF4-FFF2-40B4-BE49-F238E27FC236}">
                <a16:creationId xmlns:a16="http://schemas.microsoft.com/office/drawing/2014/main" id="{DB43EA59-B123-40D4-8071-6AFA381F64F5}"/>
              </a:ext>
            </a:extLst>
          </p:cNvPr>
          <p:cNvSpPr/>
          <p:nvPr/>
        </p:nvSpPr>
        <p:spPr>
          <a:xfrm rot="21121263">
            <a:off x="2436267" y="6479680"/>
            <a:ext cx="5311961" cy="1364949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37" name="Fletxa: corbada cap amunt 36">
            <a:extLst>
              <a:ext uri="{FF2B5EF4-FFF2-40B4-BE49-F238E27FC236}">
                <a16:creationId xmlns:a16="http://schemas.microsoft.com/office/drawing/2014/main" id="{B62AEE80-2CB0-4905-9F53-C2B97175BC79}"/>
              </a:ext>
            </a:extLst>
          </p:cNvPr>
          <p:cNvSpPr/>
          <p:nvPr/>
        </p:nvSpPr>
        <p:spPr>
          <a:xfrm rot="11217565" flipV="1">
            <a:off x="7694672" y="6500352"/>
            <a:ext cx="5410960" cy="132094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4485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e1710380_1_0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5" name="Google Shape;85;g3dbe1710380_1_0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g3dbe1710380_1_0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g3dbe1710380_1_0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8" name="Google Shape;88;g3dbe1710380_1_0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g3dbe1710380_1_0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0" name="Google Shape;90;g3dbe1710380_1_0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be1710380_1_0"/>
          <p:cNvSpPr txBox="1"/>
          <p:nvPr/>
        </p:nvSpPr>
        <p:spPr>
          <a:xfrm>
            <a:off x="1041449" y="5799800"/>
            <a:ext cx="70611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- Factores sociales y laborales que influyen en niveles de ausentismo</a:t>
            </a:r>
            <a:endParaRPr lang="es-ES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g3dbe1710380_1_0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18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 Andrea C.</a:t>
            </a:r>
            <a:endParaRPr/>
          </a:p>
        </p:txBody>
      </p:sp>
      <p:sp>
        <p:nvSpPr>
          <p:cNvPr id="93" name="Google Shape;93;g3dbe1710380_1_0"/>
          <p:cNvSpPr txBox="1"/>
          <p:nvPr/>
        </p:nvSpPr>
        <p:spPr>
          <a:xfrm>
            <a:off x="1125000" y="3325625"/>
            <a:ext cx="8269200" cy="19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 y Bienestar Laboral</a:t>
            </a:r>
            <a:endParaRPr/>
          </a:p>
        </p:txBody>
      </p:sp>
      <p:grpSp>
        <p:nvGrpSpPr>
          <p:cNvPr id="94" name="Google Shape;94;g3dbe1710380_1_0"/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95" name="Google Shape;95;g3dbe1710380_1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g3dbe1710380_1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be1710380_1_46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2" name="Google Shape;102;g3dbe1710380_1_46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3" name="Google Shape;103;g3dbe1710380_1_46"/>
          <p:cNvSpPr txBox="1"/>
          <p:nvPr/>
        </p:nvSpPr>
        <p:spPr>
          <a:xfrm>
            <a:off x="2983285" y="1152887"/>
            <a:ext cx="12321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RRHH - KPIs</a:t>
            </a:r>
            <a:endParaRPr sz="1900" dirty="0"/>
          </a:p>
        </p:txBody>
      </p:sp>
      <p:sp>
        <p:nvSpPr>
          <p:cNvPr id="104" name="Google Shape;104;g3dbe1710380_1_46"/>
          <p:cNvSpPr txBox="1"/>
          <p:nvPr/>
        </p:nvSpPr>
        <p:spPr>
          <a:xfrm>
            <a:off x="2802201" y="3545935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96%</a:t>
            </a:r>
            <a:endParaRPr dirty="0"/>
          </a:p>
        </p:txBody>
      </p:sp>
      <p:sp>
        <p:nvSpPr>
          <p:cNvPr id="105" name="Google Shape;105;g3dbe1710380_1_46"/>
          <p:cNvSpPr txBox="1"/>
          <p:nvPr/>
        </p:nvSpPr>
        <p:spPr>
          <a:xfrm>
            <a:off x="5909855" y="3630535"/>
            <a:ext cx="28896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Julio</a:t>
            </a:r>
            <a:endParaRPr sz="300"/>
          </a:p>
        </p:txBody>
      </p:sp>
      <p:sp>
        <p:nvSpPr>
          <p:cNvPr id="106" name="Google Shape;106;g3dbe1710380_1_46"/>
          <p:cNvSpPr txBox="1"/>
          <p:nvPr/>
        </p:nvSpPr>
        <p:spPr>
          <a:xfrm>
            <a:off x="9347524" y="3413635"/>
            <a:ext cx="26301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Consulta Medica</a:t>
            </a:r>
            <a:endParaRPr sz="3400"/>
          </a:p>
        </p:txBody>
      </p:sp>
      <p:sp>
        <p:nvSpPr>
          <p:cNvPr id="107" name="Google Shape;107;g3dbe1710380_1_46"/>
          <p:cNvSpPr txBox="1"/>
          <p:nvPr/>
        </p:nvSpPr>
        <p:spPr>
          <a:xfrm>
            <a:off x="12525700" y="3553585"/>
            <a:ext cx="29601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0.35</a:t>
            </a:r>
            <a:endParaRPr sz="1300"/>
          </a:p>
        </p:txBody>
      </p:sp>
      <p:sp>
        <p:nvSpPr>
          <p:cNvPr id="108" name="Google Shape;108;g3dbe1710380_1_46"/>
          <p:cNvSpPr txBox="1"/>
          <p:nvPr/>
        </p:nvSpPr>
        <p:spPr>
          <a:xfrm>
            <a:off x="2664082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</a:t>
            </a:r>
            <a:r>
              <a:rPr lang="en-US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con </a:t>
            </a: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ausencia</a:t>
            </a:r>
            <a:endParaRPr dirty="0"/>
          </a:p>
        </p:txBody>
      </p:sp>
      <p:sp>
        <p:nvSpPr>
          <p:cNvPr id="109" name="Google Shape;109;g3dbe1710380_1_46"/>
          <p:cNvSpPr txBox="1"/>
          <p:nvPr/>
        </p:nvSpPr>
        <p:spPr>
          <a:xfrm>
            <a:off x="5992882" y="4746447"/>
            <a:ext cx="265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Mes pico</a:t>
            </a:r>
            <a:endParaRPr/>
          </a:p>
        </p:txBody>
      </p:sp>
      <p:sp>
        <p:nvSpPr>
          <p:cNvPr id="110" name="Google Shape;110;g3dbe1710380_1_46"/>
          <p:cNvSpPr txBox="1"/>
          <p:nvPr/>
        </p:nvSpPr>
        <p:spPr>
          <a:xfrm>
            <a:off x="9321683" y="4845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Motivo modal ausentismo</a:t>
            </a:r>
            <a:endParaRPr/>
          </a:p>
        </p:txBody>
      </p:sp>
      <p:sp>
        <p:nvSpPr>
          <p:cNvPr id="111" name="Google Shape;111;g3dbe1710380_1_46"/>
          <p:cNvSpPr txBox="1"/>
          <p:nvPr/>
        </p:nvSpPr>
        <p:spPr>
          <a:xfrm>
            <a:off x="12650483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Index Carga Laboral</a:t>
            </a:r>
            <a:endParaRPr/>
          </a:p>
        </p:txBody>
      </p:sp>
      <p:sp>
        <p:nvSpPr>
          <p:cNvPr id="112" name="Google Shape;112;g3dbe1710380_1_46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46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46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5" name="Google Shape;115;g3dbe1710380_1_4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16" name="Google Shape;116;g3dbe1710380_1_4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g3dbe1710380_1_4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cxnSp>
        <p:nvCxnSpPr>
          <p:cNvPr id="118" name="Google Shape;118;g3dbe1710380_1_46"/>
          <p:cNvCxnSpPr/>
          <p:nvPr/>
        </p:nvCxnSpPr>
        <p:spPr>
          <a:xfrm rot="10800000">
            <a:off x="5091151" y="3693085"/>
            <a:ext cx="7500" cy="629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" name="Google Shape;94;g3dbe1710380_1_0">
            <a:extLst>
              <a:ext uri="{FF2B5EF4-FFF2-40B4-BE49-F238E27FC236}">
                <a16:creationId xmlns:a16="http://schemas.microsoft.com/office/drawing/2014/main" id="{AB9B897D-D39E-45FC-8A85-319849CB72BC}"/>
              </a:ext>
            </a:extLst>
          </p:cNvPr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21" name="Google Shape;95;g3dbe1710380_1_0">
              <a:extLst>
                <a:ext uri="{FF2B5EF4-FFF2-40B4-BE49-F238E27FC236}">
                  <a16:creationId xmlns:a16="http://schemas.microsoft.com/office/drawing/2014/main" id="{D90A857D-F0ED-4884-9E46-BC5AA596FD5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96;g3dbe1710380_1_0">
              <a:extLst>
                <a:ext uri="{FF2B5EF4-FFF2-40B4-BE49-F238E27FC236}">
                  <a16:creationId xmlns:a16="http://schemas.microsoft.com/office/drawing/2014/main" id="{D06B0BB4-F06F-454B-99B0-27D12AF61BD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g3dbe1710380_1_139"/>
          <p:cNvGrpSpPr/>
          <p:nvPr/>
        </p:nvGrpSpPr>
        <p:grpSpPr>
          <a:xfrm>
            <a:off x="11390450" y="3270437"/>
            <a:ext cx="1572362" cy="1590788"/>
            <a:chOff x="0" y="-9525"/>
            <a:chExt cx="812800" cy="822325"/>
          </a:xfrm>
        </p:grpSpPr>
        <p:sp>
          <p:nvSpPr>
            <p:cNvPr id="155" name="Google Shape;155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56" name="Google Shape;156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sp>
        <p:nvSpPr>
          <p:cNvPr id="157" name="Google Shape;157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8" name="Google Shape;158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9" name="Google Shape;159;g3dbe1710380_1_139"/>
          <p:cNvGrpSpPr/>
          <p:nvPr/>
        </p:nvGrpSpPr>
        <p:grpSpPr>
          <a:xfrm>
            <a:off x="1723063" y="5294054"/>
            <a:ext cx="2774700" cy="369450"/>
            <a:chOff x="538100" y="-780150"/>
            <a:chExt cx="3699600" cy="492600"/>
          </a:xfrm>
        </p:grpSpPr>
        <p:sp>
          <p:nvSpPr>
            <p:cNvPr id="160" name="Google Shape;160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g3dbe1710380_1_139"/>
            <p:cNvSpPr txBox="1"/>
            <p:nvPr/>
          </p:nvSpPr>
          <p:spPr>
            <a:xfrm>
              <a:off x="538100" y="-780150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Bebedor Social</a:t>
              </a:r>
              <a:endParaRPr/>
            </a:p>
          </p:txBody>
        </p:sp>
      </p:grpSp>
      <p:sp>
        <p:nvSpPr>
          <p:cNvPr id="162" name="Google Shape;162;g3dbe1710380_1_139"/>
          <p:cNvSpPr txBox="1"/>
          <p:nvPr/>
        </p:nvSpPr>
        <p:spPr>
          <a:xfrm>
            <a:off x="6461654" y="5294116"/>
            <a:ext cx="2705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Fumador Social</a:t>
            </a:r>
            <a:endParaRPr/>
          </a:p>
        </p:txBody>
      </p:sp>
      <p:sp>
        <p:nvSpPr>
          <p:cNvPr id="163" name="Google Shape;163;g3dbe1710380_1_139"/>
          <p:cNvSpPr txBox="1"/>
          <p:nvPr/>
        </p:nvSpPr>
        <p:spPr>
          <a:xfrm>
            <a:off x="9836694" y="5163100"/>
            <a:ext cx="4804800" cy="8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Faltas </a:t>
            </a:r>
            <a:endParaRPr sz="2400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Disciplinaria</a:t>
            </a:r>
            <a:endParaRPr/>
          </a:p>
        </p:txBody>
      </p:sp>
      <p:sp>
        <p:nvSpPr>
          <p:cNvPr id="164" name="Google Shape;164;g3dbe1710380_1_139"/>
          <p:cNvSpPr txBox="1"/>
          <p:nvPr/>
        </p:nvSpPr>
        <p:spPr>
          <a:xfrm>
            <a:off x="2163419" y="1433547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TRES </a:t>
            </a: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AUSENTISMO</a:t>
            </a:r>
            <a:endParaRPr/>
          </a:p>
        </p:txBody>
      </p:sp>
      <p:sp>
        <p:nvSpPr>
          <p:cNvPr id="165" name="Google Shape;165;g3dbe1710380_1_139"/>
          <p:cNvSpPr txBox="1"/>
          <p:nvPr/>
        </p:nvSpPr>
        <p:spPr>
          <a:xfrm>
            <a:off x="2163419" y="2072121"/>
            <a:ext cx="87144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¿Qué factores inciden sobre los niveles de ausentismo?</a:t>
            </a:r>
            <a:endParaRPr lang="es-ES" dirty="0"/>
          </a:p>
        </p:txBody>
      </p:sp>
      <p:grpSp>
        <p:nvGrpSpPr>
          <p:cNvPr id="166" name="Google Shape;166;g3dbe1710380_1_139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67" name="Google Shape;167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169" name="Google Shape;169;g3dbe1710380_1_139"/>
          <p:cNvGrpSpPr/>
          <p:nvPr/>
        </p:nvGrpSpPr>
        <p:grpSpPr>
          <a:xfrm>
            <a:off x="2291183" y="3270440"/>
            <a:ext cx="1572339" cy="1590763"/>
            <a:chOff x="1172969" y="3769468"/>
            <a:chExt cx="1879440" cy="1901462"/>
          </a:xfrm>
        </p:grpSpPr>
        <p:grpSp>
          <p:nvGrpSpPr>
            <p:cNvPr id="170" name="Google Shape;170;g3dbe1710380_1_139"/>
            <p:cNvGrpSpPr/>
            <p:nvPr/>
          </p:nvGrpSpPr>
          <p:grpSpPr>
            <a:xfrm>
              <a:off x="1172969" y="3769468"/>
              <a:ext cx="1879437" cy="1901462"/>
              <a:chOff x="0" y="-9525"/>
              <a:chExt cx="812800" cy="822325"/>
            </a:xfrm>
          </p:grpSpPr>
          <p:sp>
            <p:nvSpPr>
              <p:cNvPr id="171" name="Google Shape;171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2" name="Google Shape;172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3" name="Google Shape;173;g3dbe1710380_1_139" title="drink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297919" y="3842950"/>
              <a:ext cx="1754490" cy="17544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4" name="Google Shape;174;g3dbe1710380_1_139"/>
          <p:cNvGrpSpPr/>
          <p:nvPr/>
        </p:nvGrpSpPr>
        <p:grpSpPr>
          <a:xfrm>
            <a:off x="7028035" y="3324610"/>
            <a:ext cx="1572337" cy="1590763"/>
            <a:chOff x="6125509" y="3596431"/>
            <a:chExt cx="1879437" cy="1901462"/>
          </a:xfrm>
        </p:grpSpPr>
        <p:grpSp>
          <p:nvGrpSpPr>
            <p:cNvPr id="175" name="Google Shape;175;g3dbe1710380_1_139"/>
            <p:cNvGrpSpPr/>
            <p:nvPr/>
          </p:nvGrpSpPr>
          <p:grpSpPr>
            <a:xfrm>
              <a:off x="6125509" y="3596431"/>
              <a:ext cx="1879437" cy="1901462"/>
              <a:chOff x="0" y="-9525"/>
              <a:chExt cx="812800" cy="822325"/>
            </a:xfrm>
          </p:grpSpPr>
          <p:sp>
            <p:nvSpPr>
              <p:cNvPr id="176" name="Google Shape;176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7" name="Google Shape;177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8" name="Google Shape;178;g3dbe1710380_1_139" title="smoker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137425" y="3701325"/>
              <a:ext cx="1691675" cy="16916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9" name="Google Shape;179;g3dbe1710380_1_139"/>
          <p:cNvGrpSpPr/>
          <p:nvPr/>
        </p:nvGrpSpPr>
        <p:grpSpPr>
          <a:xfrm>
            <a:off x="6963025" y="7585137"/>
            <a:ext cx="1572362" cy="1590788"/>
            <a:chOff x="0" y="-9525"/>
            <a:chExt cx="812800" cy="822325"/>
          </a:xfrm>
        </p:grpSpPr>
        <p:sp>
          <p:nvSpPr>
            <p:cNvPr id="180" name="Google Shape;180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81" name="Google Shape;181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pic>
        <p:nvPicPr>
          <p:cNvPr id="182" name="Google Shape;182;g3dbe1710380_1_139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351288" y="3240487"/>
            <a:ext cx="1650675" cy="165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be1710380_1_139" title="cros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60750" y="7692075"/>
            <a:ext cx="1376900" cy="13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dbe1710380_1_139"/>
          <p:cNvSpPr txBox="1"/>
          <p:nvPr/>
        </p:nvSpPr>
        <p:spPr>
          <a:xfrm>
            <a:off x="6314200" y="9175925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</a:t>
            </a:r>
            <a:endParaRPr/>
          </a:p>
        </p:txBody>
      </p:sp>
      <p:cxnSp>
        <p:nvCxnSpPr>
          <p:cNvPr id="185" name="Google Shape;185;g3dbe1710380_1_139"/>
          <p:cNvCxnSpPr/>
          <p:nvPr/>
        </p:nvCxnSpPr>
        <p:spPr>
          <a:xfrm flipH="1">
            <a:off x="10049450" y="6244150"/>
            <a:ext cx="1880700" cy="1702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6" name="Google Shape;186;g3dbe1710380_1_139"/>
          <p:cNvCxnSpPr/>
          <p:nvPr/>
        </p:nvCxnSpPr>
        <p:spPr>
          <a:xfrm>
            <a:off x="7818150" y="5967575"/>
            <a:ext cx="13500" cy="1206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7" name="Google Shape;187;g3dbe1710380_1_139"/>
          <p:cNvCxnSpPr/>
          <p:nvPr/>
        </p:nvCxnSpPr>
        <p:spPr>
          <a:xfrm>
            <a:off x="3863525" y="6166200"/>
            <a:ext cx="1801800" cy="1675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3" name="Google Shape;193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5" name="Google Shape;195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PESO FACTORES</a:t>
            </a:r>
            <a:endParaRPr/>
          </a:p>
        </p:txBody>
      </p:sp>
      <p:grpSp>
        <p:nvGrpSpPr>
          <p:cNvPr id="197" name="Google Shape;197;g3ddcbdc3c4f_1_35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98" name="Google Shape;198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00" name="Google Shape;200;g3ddcbdc3c4f_1_356"/>
          <p:cNvSpPr/>
          <p:nvPr/>
        </p:nvSpPr>
        <p:spPr>
          <a:xfrm>
            <a:off x="276425" y="2796750"/>
            <a:ext cx="16231800" cy="601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g3ddcbdc3c4f_1_356" title="boxplot_mann_whitne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925" y="2898475"/>
            <a:ext cx="16031549" cy="570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g3ddcbdc3c4f_1_356" title="vehicle-acciden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608620" y="3777130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ddcbdc3c4f_1_356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3550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g3ddcbdc3c4f_1_356" title="drink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58475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3ddcbdc3c4f_1_356"/>
          <p:cNvSpPr/>
          <p:nvPr/>
        </p:nvSpPr>
        <p:spPr>
          <a:xfrm>
            <a:off x="2665975" y="2623300"/>
            <a:ext cx="1317900" cy="443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FA8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SIGNIFICATIVO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P.0001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2" name="Google Shape;212;g3dbe1710380_1_117"/>
          <p:cNvGrpSpPr/>
          <p:nvPr/>
        </p:nvGrpSpPr>
        <p:grpSpPr>
          <a:xfrm>
            <a:off x="280400" y="3598650"/>
            <a:ext cx="3353400" cy="2950875"/>
            <a:chOff x="802325" y="4733825"/>
            <a:chExt cx="3353400" cy="2950875"/>
          </a:xfrm>
        </p:grpSpPr>
        <p:sp>
          <p:nvSpPr>
            <p:cNvPr id="213" name="Google Shape;213;g3dbe1710380_1_117"/>
            <p:cNvSpPr/>
            <p:nvPr/>
          </p:nvSpPr>
          <p:spPr>
            <a:xfrm>
              <a:off x="802325" y="5897000"/>
              <a:ext cx="3353400" cy="17877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dbe1710380_1_117"/>
            <p:cNvSpPr txBox="1"/>
            <p:nvPr/>
          </p:nvSpPr>
          <p:spPr>
            <a:xfrm>
              <a:off x="877925" y="4733825"/>
              <a:ext cx="3277800" cy="283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NIVELES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BAJO — hasta 1 dia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MODERADO — 1 a 3 dias 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GRAVE — mas 3 dias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15" name="Google Shape;215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POR NIVELES</a:t>
            </a:r>
            <a:endParaRPr dirty="0"/>
          </a:p>
        </p:txBody>
      </p:sp>
      <p:grpSp>
        <p:nvGrpSpPr>
          <p:cNvPr id="216" name="Google Shape;216;g3dbe1710380_1_11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17" name="Google Shape;217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19" name="Google Shape;219;g3dbe1710380_1_117"/>
          <p:cNvSpPr/>
          <p:nvPr/>
        </p:nvSpPr>
        <p:spPr>
          <a:xfrm>
            <a:off x="3958800" y="2404175"/>
            <a:ext cx="11495400" cy="6785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3dbe1710380_1_117" title="mapa_calor.png"/>
          <p:cNvPicPr preferRelativeResize="0"/>
          <p:nvPr/>
        </p:nvPicPr>
        <p:blipFill rotWithShape="1">
          <a:blip r:embed="rId5">
            <a:alphaModFix/>
          </a:blip>
          <a:srcRect l="2950" b="5159"/>
          <a:stretch/>
        </p:blipFill>
        <p:spPr>
          <a:xfrm>
            <a:off x="4193300" y="2569138"/>
            <a:ext cx="11026401" cy="645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7" name="Google Shape;227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28" name="Google Shape;228;g3dbe1710380_1_12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29" name="Google Shape;229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31" name="Google Shape;231;g3dbe1710380_1_127"/>
          <p:cNvSpPr txBox="1"/>
          <p:nvPr/>
        </p:nvSpPr>
        <p:spPr>
          <a:xfrm>
            <a:off x="6792325" y="1987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MODELO PREDICTIVO</a:t>
            </a:r>
            <a:endParaRPr/>
          </a:p>
        </p:txBody>
      </p:sp>
      <p:sp>
        <p:nvSpPr>
          <p:cNvPr id="232" name="Google Shape;232;g3dbe1710380_1_127"/>
          <p:cNvSpPr/>
          <p:nvPr/>
        </p:nvSpPr>
        <p:spPr>
          <a:xfrm>
            <a:off x="3525275" y="1594350"/>
            <a:ext cx="11277000" cy="62580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76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g3dbe1710380_1_127" title="importancia_variabl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4448" y="1699886"/>
            <a:ext cx="10998339" cy="604693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dbe1710380_1_127"/>
          <p:cNvSpPr/>
          <p:nvPr/>
        </p:nvSpPr>
        <p:spPr>
          <a:xfrm>
            <a:off x="13018809" y="8010824"/>
            <a:ext cx="1783200" cy="1119300"/>
          </a:xfrm>
          <a:prstGeom prst="flowChartAlternateProcess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FIABILIDAD MODELO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73%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dbe1710380_1_127"/>
          <p:cNvSpPr/>
          <p:nvPr/>
        </p:nvSpPr>
        <p:spPr>
          <a:xfrm>
            <a:off x="14120264" y="2390470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44.18%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dbe1710380_1_127"/>
          <p:cNvSpPr/>
          <p:nvPr/>
        </p:nvSpPr>
        <p:spPr>
          <a:xfrm>
            <a:off x="12319466" y="4093856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34.43%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dbe1710380_1_127"/>
          <p:cNvSpPr/>
          <p:nvPr/>
        </p:nvSpPr>
        <p:spPr>
          <a:xfrm>
            <a:off x="9889303" y="5737314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21.39%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g3dbe1710380_1_127" title="drink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412275" y="2548775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dbe1710380_1_127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180063" y="5895638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g3dbe1710380_1_127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577345" y="4178680"/>
            <a:ext cx="949626" cy="9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215;g3dbe1710380_1_117">
            <a:extLst>
              <a:ext uri="{FF2B5EF4-FFF2-40B4-BE49-F238E27FC236}">
                <a16:creationId xmlns:a16="http://schemas.microsoft.com/office/drawing/2014/main" id="{7F0242F4-EE1D-4876-908A-7A7CEDF72209}"/>
              </a:ext>
            </a:extLst>
          </p:cNvPr>
          <p:cNvSpPr txBox="1"/>
          <p:nvPr/>
        </p:nvSpPr>
        <p:spPr>
          <a:xfrm>
            <a:off x="2393073" y="779845"/>
            <a:ext cx="79014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MODELO PREDICTIVO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g3dbe1710380_1_242"/>
          <p:cNvGrpSpPr/>
          <p:nvPr/>
        </p:nvGrpSpPr>
        <p:grpSpPr>
          <a:xfrm>
            <a:off x="7133551" y="1567070"/>
            <a:ext cx="1383100" cy="1389754"/>
            <a:chOff x="0" y="-9525"/>
            <a:chExt cx="963900" cy="968537"/>
          </a:xfrm>
        </p:grpSpPr>
        <p:sp>
          <p:nvSpPr>
            <p:cNvPr id="246" name="Google Shape;246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47" name="Google Shape;247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/>
            </a:p>
          </p:txBody>
        </p:sp>
      </p:grpSp>
      <p:grpSp>
        <p:nvGrpSpPr>
          <p:cNvPr id="248" name="Google Shape;248;g3dbe1710380_1_242"/>
          <p:cNvGrpSpPr/>
          <p:nvPr/>
        </p:nvGrpSpPr>
        <p:grpSpPr>
          <a:xfrm>
            <a:off x="7133551" y="4199398"/>
            <a:ext cx="1383100" cy="1389754"/>
            <a:chOff x="0" y="-9525"/>
            <a:chExt cx="963900" cy="968537"/>
          </a:xfrm>
        </p:grpSpPr>
        <p:sp>
          <p:nvSpPr>
            <p:cNvPr id="249" name="Google Shape;249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0" name="Google Shape;250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/>
            </a:p>
          </p:txBody>
        </p:sp>
      </p:grpSp>
      <p:grpSp>
        <p:nvGrpSpPr>
          <p:cNvPr id="251" name="Google Shape;251;g3dbe1710380_1_242"/>
          <p:cNvGrpSpPr/>
          <p:nvPr/>
        </p:nvGrpSpPr>
        <p:grpSpPr>
          <a:xfrm>
            <a:off x="7133551" y="7026580"/>
            <a:ext cx="1383100" cy="1389754"/>
            <a:chOff x="0" y="-9525"/>
            <a:chExt cx="963900" cy="968537"/>
          </a:xfrm>
        </p:grpSpPr>
        <p:sp>
          <p:nvSpPr>
            <p:cNvPr id="252" name="Google Shape;252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3" name="Google Shape;253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/>
            </a:p>
          </p:txBody>
        </p:sp>
      </p:grpSp>
      <p:sp>
        <p:nvSpPr>
          <p:cNvPr id="254" name="Google Shape;254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5" name="Google Shape;255;g3dbe1710380_1_242"/>
          <p:cNvSpPr txBox="1"/>
          <p:nvPr/>
        </p:nvSpPr>
        <p:spPr>
          <a:xfrm>
            <a:off x="455100" y="2373002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/>
          </a:p>
        </p:txBody>
      </p:sp>
      <p:grpSp>
        <p:nvGrpSpPr>
          <p:cNvPr id="256" name="Google Shape;256;g3dbe1710380_1_242"/>
          <p:cNvGrpSpPr/>
          <p:nvPr/>
        </p:nvGrpSpPr>
        <p:grpSpPr>
          <a:xfrm>
            <a:off x="8880178" y="1562475"/>
            <a:ext cx="8063464" cy="1864197"/>
            <a:chOff x="0" y="-19050"/>
            <a:chExt cx="7986000" cy="2485596"/>
          </a:xfrm>
        </p:grpSpPr>
        <p:sp>
          <p:nvSpPr>
            <p:cNvPr id="257" name="Google Shape;257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Programa de sensibilización sobre consumo responsable.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Detención preventiva tipo de casos graves.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hábitos saludables.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58" name="Google Shape;258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ACCIONES PREVENTIVAS</a:t>
              </a:r>
              <a:endParaRPr dirty="0"/>
            </a:p>
          </p:txBody>
        </p:sp>
      </p:grpSp>
      <p:grpSp>
        <p:nvGrpSpPr>
          <p:cNvPr id="259" name="Google Shape;259;g3dbe1710380_1_242"/>
          <p:cNvGrpSpPr/>
          <p:nvPr/>
        </p:nvGrpSpPr>
        <p:grpSpPr>
          <a:xfrm>
            <a:off x="8880166" y="4091235"/>
            <a:ext cx="8677134" cy="2250740"/>
            <a:chOff x="0" y="-19050"/>
            <a:chExt cx="11569512" cy="3000987"/>
          </a:xfrm>
        </p:grpSpPr>
        <p:sp>
          <p:nvSpPr>
            <p:cNvPr id="260" name="Google Shape;260;g3dbe1710380_1_242"/>
            <p:cNvSpPr txBox="1"/>
            <p:nvPr/>
          </p:nvSpPr>
          <p:spPr>
            <a:xfrm>
              <a:off x="12" y="592437"/>
              <a:ext cx="11569500" cy="238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espacios de diálogo sobre el impacto del consumo de alcohol.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apoyo psicológico.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Implementar incentivos para fomentar 0 faltas disciplinarias.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1" name="Google Shape;261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CULTURA CORPORATIVA</a:t>
              </a:r>
              <a:endParaRPr/>
            </a:p>
          </p:txBody>
        </p:sp>
      </p:grpSp>
      <p:grpSp>
        <p:nvGrpSpPr>
          <p:cNvPr id="262" name="Google Shape;262;g3dbe1710380_1_242"/>
          <p:cNvGrpSpPr/>
          <p:nvPr/>
        </p:nvGrpSpPr>
        <p:grpSpPr>
          <a:xfrm>
            <a:off x="8880175" y="6966050"/>
            <a:ext cx="8546560" cy="2130150"/>
            <a:chOff x="-2" y="-19050"/>
            <a:chExt cx="9500400" cy="2840200"/>
          </a:xfrm>
        </p:grpSpPr>
        <p:sp>
          <p:nvSpPr>
            <p:cNvPr id="263" name="Google Shape;263;g3dbe1710380_1_242"/>
            <p:cNvSpPr txBox="1"/>
            <p:nvPr/>
          </p:nvSpPr>
          <p:spPr>
            <a:xfrm>
              <a:off x="-2" y="592450"/>
              <a:ext cx="9500400" cy="22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Revisión periódica de los patrones de ausentismo por perfil de empleado.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Fomentar comunicación para prevenir faltas disciplinarias. 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100">
                <a:solidFill>
                  <a:schemeClr val="dk1"/>
                </a:solidFill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4" name="Google Shape;264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MONITOREO CONTINUO</a:t>
              </a:r>
              <a:endParaRPr/>
            </a:p>
          </p:txBody>
        </p:sp>
      </p:grpSp>
      <p:grpSp>
        <p:nvGrpSpPr>
          <p:cNvPr id="265" name="Google Shape;265;g3dbe1710380_1_242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266" name="Google Shape;266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s-ES_tradnl" sz="3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Algu</a:t>
            </a: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935-234-567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1522</TotalTime>
  <Words>619</Words>
  <Application>Microsoft Office PowerPoint</Application>
  <PresentationFormat>Personalitzat</PresentationFormat>
  <Paragraphs>199</Paragraphs>
  <Slides>28</Slides>
  <Notes>28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4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28</vt:i4>
      </vt:variant>
    </vt:vector>
  </HeadingPairs>
  <TitlesOfParts>
    <vt:vector size="33" baseType="lpstr">
      <vt:lpstr>Calibri</vt:lpstr>
      <vt:lpstr>Arial</vt:lpstr>
      <vt:lpstr>Poppins</vt:lpstr>
      <vt:lpstr>Poppins Black</vt:lpstr>
      <vt:lpstr>Office Theme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Nuria Paredes</cp:lastModifiedBy>
  <cp:revision>14</cp:revision>
  <dcterms:modified xsi:type="dcterms:W3CDTF">2026-05-14T10:48:31Z</dcterms:modified>
</cp:coreProperties>
</file>