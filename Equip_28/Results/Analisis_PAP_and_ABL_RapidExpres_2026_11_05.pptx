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6"/>
  </p:notesMasterIdLst>
  <p:sldIdLst>
    <p:sldId id="256" r:id="rId2"/>
    <p:sldId id="306" r:id="rId3"/>
    <p:sldId id="307" r:id="rId4"/>
    <p:sldId id="308" r:id="rId5"/>
    <p:sldId id="312" r:id="rId6"/>
    <p:sldId id="309" r:id="rId7"/>
    <p:sldId id="310" r:id="rId8"/>
    <p:sldId id="311" r:id="rId9"/>
    <p:sldId id="296" r:id="rId10"/>
    <p:sldId id="305" r:id="rId11"/>
    <p:sldId id="304" r:id="rId12"/>
    <p:sldId id="259" r:id="rId13"/>
    <p:sldId id="299" r:id="rId14"/>
    <p:sldId id="300" r:id="rId15"/>
    <p:sldId id="301" r:id="rId16"/>
    <p:sldId id="298" r:id="rId17"/>
    <p:sldId id="302" r:id="rId18"/>
    <p:sldId id="303" r:id="rId19"/>
    <p:sldId id="288" r:id="rId20"/>
    <p:sldId id="297" r:id="rId21"/>
    <p:sldId id="258" r:id="rId22"/>
    <p:sldId id="260" r:id="rId23"/>
    <p:sldId id="287" r:id="rId24"/>
    <p:sldId id="284" r:id="rId25"/>
    <p:sldId id="285" r:id="rId26"/>
    <p:sldId id="295" r:id="rId27"/>
    <p:sldId id="289" r:id="rId28"/>
    <p:sldId id="257" r:id="rId29"/>
    <p:sldId id="291" r:id="rId30"/>
    <p:sldId id="292" r:id="rId31"/>
    <p:sldId id="261" r:id="rId32"/>
    <p:sldId id="262" r:id="rId33"/>
    <p:sldId id="293" r:id="rId34"/>
    <p:sldId id="279" r:id="rId35"/>
  </p:sldIdLst>
  <p:sldSz cx="18288000" cy="10287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Lato" panose="020F0502020204030203" pitchFamily="34" charset="0"/>
      <p:regular r:id="rId41"/>
      <p:bold r:id="rId42"/>
      <p:italic r:id="rId43"/>
      <p:boldItalic r:id="rId44"/>
    </p:embeddedFont>
    <p:embeddedFont>
      <p:font typeface="Poppins" panose="00000500000000000000" pitchFamily="2" charset="0"/>
      <p:regular r:id="rId45"/>
      <p:bold r:id="rId46"/>
      <p:italic r:id="rId47"/>
      <p:boldItalic r:id="rId48"/>
    </p:embeddedFont>
    <p:embeddedFont>
      <p:font typeface="Poppins Black" panose="00000A00000000000000" pitchFamily="2" charset="0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308" userDrawn="1">
          <p15:clr>
            <a:srgbClr val="000000"/>
          </p15:clr>
        </p15:guide>
        <p15:guide id="2" pos="576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11"/>
    <p:restoredTop sz="94694"/>
  </p:normalViewPr>
  <p:slideViewPr>
    <p:cSldViewPr snapToGrid="0">
      <p:cViewPr varScale="1">
        <p:scale>
          <a:sx n="49" d="100"/>
          <a:sy n="49" d="100"/>
        </p:scale>
        <p:origin x="638" y="77"/>
      </p:cViewPr>
      <p:guideLst>
        <p:guide orient="horz" pos="3308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C1507893-DE05-C9B2-F793-F773CEAC5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12BCADDC-BA41-0361-1BD0-76FE509C81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CEAD387E-11D3-7812-A29C-64F61C896C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5820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10D86B06-EF5B-7514-F01F-AC7B14DE3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882A0A91-AF51-1B3C-D0BB-92D5737CF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2152F817-3841-8F6F-DC6C-98A7C5953D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7938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7F240AFD-480A-9C43-88A3-5337968A7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13B102C-112C-FF85-B7C0-3E02D2C382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6C9CFB20-77B4-6AF5-3F53-E10B50E3A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45628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F36F146B-692A-C49B-68B2-CA7D37B3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952FF37A-41D9-ED0A-4DA0-5BE9666124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7BE81315-011F-50D2-A748-9FF6FE5A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088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6E94633E-A32F-6392-EF6D-C76C991E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>
            <a:extLst>
              <a:ext uri="{FF2B5EF4-FFF2-40B4-BE49-F238E27FC236}">
                <a16:creationId xmlns:a16="http://schemas.microsoft.com/office/drawing/2014/main" id="{A77F6A13-D024-F8A9-F9A8-0A6165F91D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>
            <a:extLst>
              <a:ext uri="{FF2B5EF4-FFF2-40B4-BE49-F238E27FC236}">
                <a16:creationId xmlns:a16="http://schemas.microsoft.com/office/drawing/2014/main" id="{F011FAC7-F36C-8996-1FC8-7877213B04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91092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1083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1165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4036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9215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63167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75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0630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247201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385109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www.mites.gob.es/es/estadisticas/mercado_trabajo/EAL/welcome.ht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mites.gob.es/es/estadisticas/mercado_trabajo/EAL/welcome.ht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emf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ites.gob.es/es/estadisticas/mercado_trabajo/EAL/welcome.htm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hyperlink" Target="https://www.mites.gob.es/es/estadisticas/mercado_trabajo/EAL/welcome.htm" TargetMode="Externa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mites.gob.es/es/estadisticas/mercado_trabajo/EAL/welcome.htm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cl.org/" TargetMode="Externa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5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30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31.png"/><Relationship Id="rId4" Type="http://schemas.openxmlformats.org/officeDocument/2006/relationships/image" Target="../media/image5.png"/><Relationship Id="rId9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4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18 de Mayo de 2026</a:t>
            </a: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228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Tendencias de Formación Laboral</a:t>
            </a:r>
          </a:p>
          <a:p>
            <a:pPr lvl="0">
              <a:lnSpc>
                <a:spcPct val="111000"/>
              </a:lnSpc>
            </a:pPr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1075236B-0FDF-D0D4-B64E-5171A089FB9B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29336B14-81FA-2B3E-2E39-08B35DFF957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C1E892A0-A0F6-3AB4-E273-B620C6E7BEA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DF663FA-B84E-5740-1D6B-FF07CB635BB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9738609" y="-3564145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1779124" y="-201574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10119282" y="3963285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9582015" y="1910786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2068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Diagnóstico de Mercado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Análisis de Motores de Cambio</a:t>
            </a:r>
          </a:p>
          <a:p>
            <a:pPr marL="34290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</a:rPr>
              <a:t>Propuesta estratégica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4058858"/>
            <a:ext cx="1060512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Competencias</a:t>
            </a:r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3DCA223-E96B-22F4-FDA9-8EBB0B4A58D5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7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6F58D432-E21A-3D3A-29D0-4120FCEF9FB0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E62305D1-CA27-A820-C412-2DDF345ABF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3F55D705-031A-27AE-CE1B-B65D39E6ADB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8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677033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928332"/>
            <a:ext cx="1210460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Hoja de ruta para la Reestructuración Formativa</a:t>
            </a:r>
            <a:endParaRPr lang="es-ES_tradnl" dirty="0"/>
          </a:p>
        </p:txBody>
      </p: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465108" y="285943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5499762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REGIÓN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8534416" y="2860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4860610" y="5288619"/>
            <a:ext cx="3875542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IDENTIFICACIÓN DE BRECHAS 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3764518" y="4163551"/>
            <a:ext cx="993012" cy="979948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H="1">
            <a:off x="8839233" y="4179656"/>
            <a:ext cx="1015248" cy="96384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3956227" y="7867142"/>
            <a:ext cx="5684308" cy="6687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AJUSTES DE </a:t>
            </a:r>
            <a:r>
              <a:rPr lang="es-ES_tradnl" sz="2400" b="1">
                <a:solidFill>
                  <a:schemeClr val="bg2"/>
                </a:solidFill>
              </a:rPr>
              <a:t>NUESTRAS POLÍTICAS</a:t>
            </a:r>
            <a:endParaRPr lang="es-ES_tradnl" sz="2400" b="1" dirty="0">
              <a:solidFill>
                <a:schemeClr val="bg2"/>
              </a:solidFill>
            </a:endParaRP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6804200" y="6540645"/>
            <a:ext cx="0" cy="1145615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de fletxa recta 19">
            <a:extLst>
              <a:ext uri="{FF2B5EF4-FFF2-40B4-BE49-F238E27FC236}">
                <a16:creationId xmlns:a16="http://schemas.microsoft.com/office/drawing/2014/main" id="{1B61E99B-02C5-C181-1E9D-F7CE5E322ACB}"/>
              </a:ext>
            </a:extLst>
          </p:cNvPr>
          <p:cNvCxnSpPr>
            <a:cxnSpLocks/>
          </p:cNvCxnSpPr>
          <p:nvPr/>
        </p:nvCxnSpPr>
        <p:spPr>
          <a:xfrm>
            <a:off x="6798381" y="4163551"/>
            <a:ext cx="0" cy="97994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QuadreDeText 1">
            <a:extLst>
              <a:ext uri="{FF2B5EF4-FFF2-40B4-BE49-F238E27FC236}">
                <a16:creationId xmlns:a16="http://schemas.microsoft.com/office/drawing/2014/main" id="{B1F13600-9B2D-48DD-E55B-028BE99251AC}"/>
              </a:ext>
            </a:extLst>
          </p:cNvPr>
          <p:cNvSpPr txBox="1"/>
          <p:nvPr/>
        </p:nvSpPr>
        <p:spPr>
          <a:xfrm>
            <a:off x="1041448" y="9613476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4"/>
              </a:rPr>
              <a:t>Encuesta Anual Laboral. Ministerio de Trabajo y Economía Social</a:t>
            </a:r>
            <a:endParaRPr lang="es-ES" dirty="0"/>
          </a:p>
        </p:txBody>
      </p:sp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5BBE2B43-4612-5154-4F47-8DB0E9B482FD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4" name="Google Shape;154;p17">
              <a:extLst>
                <a:ext uri="{FF2B5EF4-FFF2-40B4-BE49-F238E27FC236}">
                  <a16:creationId xmlns:a16="http://schemas.microsoft.com/office/drawing/2014/main" id="{C29C8BE8-9EAB-0BA1-2D08-613330B9991C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" name="Google Shape;155;p17">
              <a:extLst>
                <a:ext uri="{FF2B5EF4-FFF2-40B4-BE49-F238E27FC236}">
                  <a16:creationId xmlns:a16="http://schemas.microsoft.com/office/drawing/2014/main" id="{521EDAC8-35D4-0497-656B-864DDBA196C8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BC7F3D4D-6505-BACF-E670-CBD8A6F3D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5C1943A-5DBA-46B7-142B-AFC632588D38}"/>
              </a:ext>
            </a:extLst>
          </p:cNvPr>
          <p:cNvSpPr txBox="1"/>
          <p:nvPr/>
        </p:nvSpPr>
        <p:spPr>
          <a:xfrm>
            <a:off x="2124555" y="741546"/>
            <a:ext cx="117902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Diagnóstico de Mercado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6544C1B7-3ADD-E32B-BE45-CFF210CFDDD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D4C8648-473D-69FF-B340-7A88A1621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48" y="1934262"/>
            <a:ext cx="13686227" cy="7667062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059C90F5-7AAB-A1CA-931B-912EE67526F9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4C93FA5F-8DE9-F2E4-B778-2CD2D0872D1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71F1A9E7-0A31-DEC7-01C3-C38A5BE33742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93404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1C2BD536-9B5D-3167-C63E-FCC9322A7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2C81506E-5BD0-2660-6C80-0FC059EC076F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CA5ED763-02ED-8046-D779-63DA3B913454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30C57-ED7C-AD06-69D5-BAA0F6EF4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26" y="1686730"/>
            <a:ext cx="13431113" cy="8333048"/>
          </a:xfrm>
          <a:prstGeom prst="rect">
            <a:avLst/>
          </a:prstGeom>
        </p:spPr>
      </p:pic>
      <p:grpSp>
        <p:nvGrpSpPr>
          <p:cNvPr id="3" name="Google Shape;153;p17">
            <a:extLst>
              <a:ext uri="{FF2B5EF4-FFF2-40B4-BE49-F238E27FC236}">
                <a16:creationId xmlns:a16="http://schemas.microsoft.com/office/drawing/2014/main" id="{136B7D72-578C-C724-42C5-02CA09F322A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4" name="Google Shape;154;p17">
              <a:extLst>
                <a:ext uri="{FF2B5EF4-FFF2-40B4-BE49-F238E27FC236}">
                  <a16:creationId xmlns:a16="http://schemas.microsoft.com/office/drawing/2014/main" id="{BECD3A99-4303-AE81-36F0-CE49BB60AE49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" name="Google Shape;155;p17">
              <a:extLst>
                <a:ext uri="{FF2B5EF4-FFF2-40B4-BE49-F238E27FC236}">
                  <a16:creationId xmlns:a16="http://schemas.microsoft.com/office/drawing/2014/main" id="{8E8EB7C2-413A-E0C6-9F8E-A2CAFB3AF51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55632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2629D58-7240-F9DD-00E1-A85CE46B3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56B926ED-6B4F-C587-4575-B04E1C5938C0}"/>
              </a:ext>
            </a:extLst>
          </p:cNvPr>
          <p:cNvSpPr txBox="1"/>
          <p:nvPr/>
        </p:nvSpPr>
        <p:spPr>
          <a:xfrm>
            <a:off x="4056834" y="741546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Motores de Cambio</a:t>
            </a:r>
            <a:endParaRPr lang="es-ES_tradnl" dirty="0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FBE8221-084C-ED76-A3A8-B53D3666B0F0}"/>
              </a:ext>
            </a:extLst>
          </p:cNvPr>
          <p:cNvSpPr/>
          <p:nvPr/>
        </p:nvSpPr>
        <p:spPr>
          <a:xfrm>
            <a:off x="14222440" y="4640388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EAFAF-4ED7-F7E6-E167-84713DEE4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000" y="2153594"/>
            <a:ext cx="13691638" cy="7866410"/>
          </a:xfrm>
          <a:prstGeom prst="rect">
            <a:avLst/>
          </a:prstGeom>
        </p:spPr>
      </p:pic>
      <p:grpSp>
        <p:nvGrpSpPr>
          <p:cNvPr id="2" name="Google Shape;153;p17">
            <a:extLst>
              <a:ext uri="{FF2B5EF4-FFF2-40B4-BE49-F238E27FC236}">
                <a16:creationId xmlns:a16="http://schemas.microsoft.com/office/drawing/2014/main" id="{38F27D68-02C0-A7BB-26D7-719B63595764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3" name="Google Shape;154;p17">
              <a:extLst>
                <a:ext uri="{FF2B5EF4-FFF2-40B4-BE49-F238E27FC236}">
                  <a16:creationId xmlns:a16="http://schemas.microsoft.com/office/drawing/2014/main" id="{80FAA0E9-3A13-C927-CF7D-7540442FF5F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" name="Google Shape;155;p17">
              <a:extLst>
                <a:ext uri="{FF2B5EF4-FFF2-40B4-BE49-F238E27FC236}">
                  <a16:creationId xmlns:a16="http://schemas.microsoft.com/office/drawing/2014/main" id="{E88247C0-0FEA-B13F-D921-D6786037854E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615419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C20388B7-5256-7399-9915-25078C008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>
            <a:extLst>
              <a:ext uri="{FF2B5EF4-FFF2-40B4-BE49-F238E27FC236}">
                <a16:creationId xmlns:a16="http://schemas.microsoft.com/office/drawing/2014/main" id="{9BD67FB5-CBEC-E325-7E19-568F5DE0F033}"/>
              </a:ext>
            </a:extLst>
          </p:cNvPr>
          <p:cNvSpPr/>
          <p:nvPr/>
        </p:nvSpPr>
        <p:spPr>
          <a:xfrm>
            <a:off x="6799176" y="5802761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382F6466-71EF-34E7-A385-D13745BD30F8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41B54ED5-A065-5789-2645-F2B988F2268D}"/>
              </a:ext>
            </a:extLst>
          </p:cNvPr>
          <p:cNvSpPr/>
          <p:nvPr/>
        </p:nvSpPr>
        <p:spPr>
          <a:xfrm>
            <a:off x="3971628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991F66A3-67A3-C764-0A4A-C111425AF228}"/>
              </a:ext>
            </a:extLst>
          </p:cNvPr>
          <p:cNvSpPr/>
          <p:nvPr/>
        </p:nvSpPr>
        <p:spPr>
          <a:xfrm flipH="1">
            <a:off x="11283347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59" name="Imagen 58">
            <a:extLst>
              <a:ext uri="{FF2B5EF4-FFF2-40B4-BE49-F238E27FC236}">
                <a16:creationId xmlns:a16="http://schemas.microsoft.com/office/drawing/2014/main" id="{055CEB16-65B6-583A-C041-3DB84A675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884" y="3880136"/>
            <a:ext cx="17792231" cy="2173711"/>
          </a:xfrm>
          <a:prstGeom prst="rect">
            <a:avLst/>
          </a:prstGeom>
        </p:spPr>
      </p:pic>
      <p:grpSp>
        <p:nvGrpSpPr>
          <p:cNvPr id="5" name="Google Shape;153;p17">
            <a:extLst>
              <a:ext uri="{FF2B5EF4-FFF2-40B4-BE49-F238E27FC236}">
                <a16:creationId xmlns:a16="http://schemas.microsoft.com/office/drawing/2014/main" id="{9E2A0257-5ACF-AA75-565D-350734C706EF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6" name="Google Shape;154;p17">
              <a:extLst>
                <a:ext uri="{FF2B5EF4-FFF2-40B4-BE49-F238E27FC236}">
                  <a16:creationId xmlns:a16="http://schemas.microsoft.com/office/drawing/2014/main" id="{7068FB39-5B12-A544-2CE2-836A93416C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7" name="Google Shape;155;p17">
              <a:extLst>
                <a:ext uri="{FF2B5EF4-FFF2-40B4-BE49-F238E27FC236}">
                  <a16:creationId xmlns:a16="http://schemas.microsoft.com/office/drawing/2014/main" id="{EC4A9C8B-6A07-6DCB-2743-BB48414FBFE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7015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>
          <a:extLst>
            <a:ext uri="{FF2B5EF4-FFF2-40B4-BE49-F238E27FC236}">
              <a16:creationId xmlns:a16="http://schemas.microsoft.com/office/drawing/2014/main" id="{6A03F43A-6E8B-882B-74A1-789F6917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>
            <a:extLst>
              <a:ext uri="{FF2B5EF4-FFF2-40B4-BE49-F238E27FC236}">
                <a16:creationId xmlns:a16="http://schemas.microsoft.com/office/drawing/2014/main" id="{ACBDF4F1-FE23-387B-CBEA-AD7E648E0B34}"/>
              </a:ext>
            </a:extLst>
          </p:cNvPr>
          <p:cNvSpPr txBox="1"/>
          <p:nvPr/>
        </p:nvSpPr>
        <p:spPr>
          <a:xfrm>
            <a:off x="2779655" y="1673826"/>
            <a:ext cx="12104602" cy="93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Implementación del Ajuste de Políticas</a:t>
            </a:r>
          </a:p>
          <a:p>
            <a:pPr algn="ctr">
              <a:lnSpc>
                <a:spcPct val="121055"/>
              </a:lnSpc>
            </a:pPr>
            <a:endParaRPr lang="es-ES_tradnl" dirty="0"/>
          </a:p>
        </p:txBody>
      </p:sp>
      <p:sp>
        <p:nvSpPr>
          <p:cNvPr id="52" name="Google Shape;89;p13">
            <a:extLst>
              <a:ext uri="{FF2B5EF4-FFF2-40B4-BE49-F238E27FC236}">
                <a16:creationId xmlns:a16="http://schemas.microsoft.com/office/drawing/2014/main" id="{71FAE02A-B6AE-1636-12DE-0BF19887164C}"/>
              </a:ext>
            </a:extLst>
          </p:cNvPr>
          <p:cNvSpPr/>
          <p:nvPr/>
        </p:nvSpPr>
        <p:spPr>
          <a:xfrm>
            <a:off x="4300812" y="8229779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3" name="Google Shape;89;p13">
            <a:extLst>
              <a:ext uri="{FF2B5EF4-FFF2-40B4-BE49-F238E27FC236}">
                <a16:creationId xmlns:a16="http://schemas.microsoft.com/office/drawing/2014/main" id="{B4A18EE2-E955-166A-EFC4-67343BDBCE0B}"/>
              </a:ext>
            </a:extLst>
          </p:cNvPr>
          <p:cNvSpPr/>
          <p:nvPr/>
        </p:nvSpPr>
        <p:spPr>
          <a:xfrm flipH="1">
            <a:off x="11228483" y="8229778"/>
            <a:ext cx="2124508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2" name="Google Shape;232;p23" descr="image.png">
            <a:extLst>
              <a:ext uri="{FF2B5EF4-FFF2-40B4-BE49-F238E27FC236}">
                <a16:creationId xmlns:a16="http://schemas.microsoft.com/office/drawing/2014/main" id="{E475E7AC-3975-863F-8667-ADF27FA60D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79543" y="2605043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233;p23">
            <a:extLst>
              <a:ext uri="{FF2B5EF4-FFF2-40B4-BE49-F238E27FC236}">
                <a16:creationId xmlns:a16="http://schemas.microsoft.com/office/drawing/2014/main" id="{1E65ACC1-E34F-EE00-8A70-40FF30878FB7}"/>
              </a:ext>
            </a:extLst>
          </p:cNvPr>
          <p:cNvSpPr txBox="1"/>
          <p:nvPr/>
        </p:nvSpPr>
        <p:spPr>
          <a:xfrm>
            <a:off x="4191376" y="3398488"/>
            <a:ext cx="928116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"La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formación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no es un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coste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operativo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, es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el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combustible de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nuestra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ventaja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competitiva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3600" b="0" i="1" u="none" strike="noStrike" cap="none" dirty="0" err="1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logística</a:t>
            </a:r>
            <a:r>
              <a:rPr lang="en-US" sz="3600" b="0" i="1" u="none" strike="noStrike" cap="none" dirty="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.”</a:t>
            </a:r>
            <a:endParaRPr dirty="0"/>
          </a:p>
        </p:txBody>
      </p:sp>
      <p:sp>
        <p:nvSpPr>
          <p:cNvPr id="4" name="Google Shape;234;p23">
            <a:extLst>
              <a:ext uri="{FF2B5EF4-FFF2-40B4-BE49-F238E27FC236}">
                <a16:creationId xmlns:a16="http://schemas.microsoft.com/office/drawing/2014/main" id="{8F1389AD-508B-5A42-423E-DA8433B98626}"/>
              </a:ext>
            </a:extLst>
          </p:cNvPr>
          <p:cNvSpPr txBox="1"/>
          <p:nvPr/>
        </p:nvSpPr>
        <p:spPr>
          <a:xfrm>
            <a:off x="6618925" y="5193586"/>
            <a:ext cx="442605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EMILIO TORNOS </a:t>
            </a:r>
            <a:r>
              <a:rPr lang="en-US" sz="1500" b="1" i="0" u="none" strike="noStrike" cap="none" dirty="0">
                <a:solidFill>
                  <a:srgbClr val="1E3A8A"/>
                </a:solidFill>
                <a:latin typeface="Lato"/>
                <a:ea typeface="Lato"/>
                <a:cs typeface="Lato"/>
                <a:sym typeface="Lato"/>
              </a:rPr>
              <a:t>- RÁPID EXPRESS</a:t>
            </a:r>
            <a:endParaRPr dirty="0"/>
          </a:p>
        </p:txBody>
      </p:sp>
      <p:pic>
        <p:nvPicPr>
          <p:cNvPr id="5" name="Google Shape;168;p19" descr="image.png">
            <a:extLst>
              <a:ext uri="{FF2B5EF4-FFF2-40B4-BE49-F238E27FC236}">
                <a16:creationId xmlns:a16="http://schemas.microsoft.com/office/drawing/2014/main" id="{5B093FD9-35C5-40ED-F4F3-BB96988EE3D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14081" y="5853926"/>
            <a:ext cx="5635745" cy="443307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53;p17">
            <a:extLst>
              <a:ext uri="{FF2B5EF4-FFF2-40B4-BE49-F238E27FC236}">
                <a16:creationId xmlns:a16="http://schemas.microsoft.com/office/drawing/2014/main" id="{BF9C6924-A3B2-B63B-B489-B3C22A0E3381}"/>
              </a:ext>
            </a:extLst>
          </p:cNvPr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0" name="Google Shape;154;p17">
              <a:extLst>
                <a:ext uri="{FF2B5EF4-FFF2-40B4-BE49-F238E27FC236}">
                  <a16:creationId xmlns:a16="http://schemas.microsoft.com/office/drawing/2014/main" id="{A0640882-BABD-C5AB-DF91-07E74C884A5A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" name="Google Shape;155;p17">
              <a:extLst>
                <a:ext uri="{FF2B5EF4-FFF2-40B4-BE49-F238E27FC236}">
                  <a16:creationId xmlns:a16="http://schemas.microsoft.com/office/drawing/2014/main" id="{7AC4A680-163B-8162-31A6-4907A67C9E2A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217172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tendencias</a:t>
            </a:r>
          </a:p>
          <a:p>
            <a:pPr marL="342900" lvl="0" indent="-342900">
              <a:lnSpc>
                <a:spcPct val="139958"/>
              </a:lnSpc>
              <a:buFontTx/>
              <a:buChar char="-"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Propuestas estratégicas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6" name="QuadreDeText 15">
            <a:extLst>
              <a:ext uri="{FF2B5EF4-FFF2-40B4-BE49-F238E27FC236}">
                <a16:creationId xmlns:a16="http://schemas.microsoft.com/office/drawing/2014/main" id="{7A815501-4874-4A8D-881B-2353FD1EA1B6}"/>
              </a:ext>
            </a:extLst>
          </p:cNvPr>
          <p:cNvSpPr txBox="1"/>
          <p:nvPr/>
        </p:nvSpPr>
        <p:spPr>
          <a:xfrm>
            <a:off x="1124999" y="9516298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8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030669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3" y="1609520"/>
            <a:ext cx="1544821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alineación de tendencias según medio de formación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2968129" y="336335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TAMAÑO EMPRESA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230912" y="537488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SECTOR ECONÓMICO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2879440" y="7571741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COMUNIDAD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AUTÓNOMA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66951" y="543868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TENDENCIAS</a:t>
            </a:r>
          </a:p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FORMATIVAS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192503" y="4589121"/>
            <a:ext cx="1226624" cy="891307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133369" y="6565045"/>
            <a:ext cx="1262204" cy="76501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4009956" y="599213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48042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POLÍTICAS DE MEDIOS DE FORMACIÓN</a:t>
            </a:r>
          </a:p>
        </p:txBody>
      </p: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 flipV="1">
            <a:off x="8345109" y="5929015"/>
            <a:ext cx="1528696" cy="3029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843911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2979331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22001" y="4953563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062089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MEDIOS DE FORMACIÓN</a:t>
            </a:r>
            <a:endParaRPr dirty="0"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4803327"/>
            <a:ext cx="46350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FORMACIÓN EN EL PUESTO DE TRABAJO</a:t>
            </a:r>
            <a:endParaRPr sz="3000" dirty="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752171"/>
            <a:ext cx="45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LA PROPIA EMPRESA</a:t>
            </a:r>
            <a:endParaRPr lang="es-ES" sz="2600" dirty="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3600" dirty="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2820016"/>
            <a:ext cx="38058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CURSOS EN OTRA ORGANIZACIÓN</a:t>
            </a:r>
            <a:endParaRPr sz="2600" dirty="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7939888" y="6903274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ROTACIÓN /INTERCAMBIO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 PUESTOS</a:t>
            </a:r>
            <a:endParaRPr sz="2900" dirty="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29" name="Google Shape;124;g3dbe1710380_1_211">
            <a:extLst>
              <a:ext uri="{FF2B5EF4-FFF2-40B4-BE49-F238E27FC236}">
                <a16:creationId xmlns:a16="http://schemas.microsoft.com/office/drawing/2014/main" id="{D89EB990-901C-45D6-AF83-9EF917EFEEA7}"/>
              </a:ext>
            </a:extLst>
          </p:cNvPr>
          <p:cNvGrpSpPr/>
          <p:nvPr/>
        </p:nvGrpSpPr>
        <p:grpSpPr>
          <a:xfrm>
            <a:off x="6886431" y="9082822"/>
            <a:ext cx="588874" cy="595774"/>
            <a:chOff x="0" y="-9525"/>
            <a:chExt cx="812800" cy="822325"/>
          </a:xfrm>
        </p:grpSpPr>
        <p:sp>
          <p:nvSpPr>
            <p:cNvPr id="30" name="Google Shape;125;g3dbe1710380_1_211">
              <a:extLst>
                <a:ext uri="{FF2B5EF4-FFF2-40B4-BE49-F238E27FC236}">
                  <a16:creationId xmlns:a16="http://schemas.microsoft.com/office/drawing/2014/main" id="{E5E3EAC1-FACE-46C7-A3BB-195DDA4C46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31" name="Google Shape;126;g3dbe1710380_1_211">
              <a:extLst>
                <a:ext uri="{FF2B5EF4-FFF2-40B4-BE49-F238E27FC236}">
                  <a16:creationId xmlns:a16="http://schemas.microsoft.com/office/drawing/2014/main" id="{67D4FF60-F0A4-48F8-9A4D-1F7AD66E31F1}"/>
                </a:ext>
              </a:extLst>
            </p:cNvPr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" name="Google Shape;145;g3dbe1710380_1_211">
            <a:extLst>
              <a:ext uri="{FF2B5EF4-FFF2-40B4-BE49-F238E27FC236}">
                <a16:creationId xmlns:a16="http://schemas.microsoft.com/office/drawing/2014/main" id="{22A2114F-E21B-4E83-8CE9-B05E57033A4E}"/>
              </a:ext>
            </a:extLst>
          </p:cNvPr>
          <p:cNvSpPr txBox="1"/>
          <p:nvPr/>
        </p:nvSpPr>
        <p:spPr>
          <a:xfrm>
            <a:off x="7916329" y="8919360"/>
            <a:ext cx="5150700" cy="981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CONFERENCIAS,TALLERES Y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SEMINARIOS</a:t>
            </a:r>
          </a:p>
        </p:txBody>
      </p:sp>
      <p:sp>
        <p:nvSpPr>
          <p:cNvPr id="33" name="QuadreDeText 32">
            <a:extLst>
              <a:ext uri="{FF2B5EF4-FFF2-40B4-BE49-F238E27FC236}">
                <a16:creationId xmlns:a16="http://schemas.microsoft.com/office/drawing/2014/main" id="{934E4FD5-D080-4B3C-880C-81EE84B769EB}"/>
              </a:ext>
            </a:extLst>
          </p:cNvPr>
          <p:cNvSpPr txBox="1"/>
          <p:nvPr/>
        </p:nvSpPr>
        <p:spPr>
          <a:xfrm>
            <a:off x="400090" y="9395172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los Medios de Formación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" name="QuadreDeText 1">
            <a:extLst>
              <a:ext uri="{FF2B5EF4-FFF2-40B4-BE49-F238E27FC236}">
                <a16:creationId xmlns:a16="http://schemas.microsoft.com/office/drawing/2014/main" id="{2BEC3BD1-E06F-4A88-94A2-80FFCE6D4F87}"/>
              </a:ext>
            </a:extLst>
          </p:cNvPr>
          <p:cNvSpPr txBox="1"/>
          <p:nvPr/>
        </p:nvSpPr>
        <p:spPr>
          <a:xfrm>
            <a:off x="11287593" y="9458793"/>
            <a:ext cx="60452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5"/>
              </a:rPr>
              <a:t>Encuesta Anual Laboral. Ministerio de Trabajo y Economía Social</a:t>
            </a:r>
            <a:endParaRPr lang="es-ES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EF8D80AC-68BF-4C74-AF63-D036E6A522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7" y="1919752"/>
            <a:ext cx="15245681" cy="69749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tge 2">
            <a:extLst>
              <a:ext uri="{FF2B5EF4-FFF2-40B4-BE49-F238E27FC236}">
                <a16:creationId xmlns:a16="http://schemas.microsoft.com/office/drawing/2014/main" id="{B328C3EF-B736-4BF4-AB4B-5E6E703E4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90" y="1966912"/>
            <a:ext cx="11696700" cy="635317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4335651" y="3990879"/>
            <a:ext cx="3485721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722372" y="4131041"/>
            <a:ext cx="3210396" cy="884417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EC4ED6EC-FC33-4F3E-B445-1FDB1C856B6A}"/>
              </a:ext>
            </a:extLst>
          </p:cNvPr>
          <p:cNvSpPr txBox="1"/>
          <p:nvPr/>
        </p:nvSpPr>
        <p:spPr>
          <a:xfrm>
            <a:off x="11172881" y="9454919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24126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7" name="Imatge 6">
            <a:extLst>
              <a:ext uri="{FF2B5EF4-FFF2-40B4-BE49-F238E27FC236}">
                <a16:creationId xmlns:a16="http://schemas.microsoft.com/office/drawing/2014/main" id="{3E648FCE-7971-49F7-B1C4-73211CC4D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028" y="1992346"/>
            <a:ext cx="13487400" cy="6448425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tamaño de la Empresa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3818086" y="4340793"/>
            <a:ext cx="2805664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B5A7269B-1F62-4C1D-B2C3-8983402BB1CD}"/>
              </a:ext>
            </a:extLst>
          </p:cNvPr>
          <p:cNvSpPr/>
          <p:nvPr/>
        </p:nvSpPr>
        <p:spPr>
          <a:xfrm rot="5400000">
            <a:off x="9374698" y="4239665"/>
            <a:ext cx="3037901" cy="1034325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QuadreDeText 12">
            <a:extLst>
              <a:ext uri="{FF2B5EF4-FFF2-40B4-BE49-F238E27FC236}">
                <a16:creationId xmlns:a16="http://schemas.microsoft.com/office/drawing/2014/main" id="{5196AD66-857B-445F-8ACA-8B5866848235}"/>
              </a:ext>
            </a:extLst>
          </p:cNvPr>
          <p:cNvSpPr txBox="1"/>
          <p:nvPr/>
        </p:nvSpPr>
        <p:spPr>
          <a:xfrm>
            <a:off x="10598046" y="9157862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46405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42D5B2CC-4A8D-4CDB-8063-732212E76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395" y="1275255"/>
            <a:ext cx="10200871" cy="8929706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sector económico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 rot="5400000">
            <a:off x="5260632" y="2354376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BFD99AF1-9DAA-451E-83AF-1058AB19BE6B}"/>
              </a:ext>
            </a:extLst>
          </p:cNvPr>
          <p:cNvSpPr txBox="1"/>
          <p:nvPr/>
        </p:nvSpPr>
        <p:spPr>
          <a:xfrm>
            <a:off x="11587397" y="9295283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  <p:sp>
        <p:nvSpPr>
          <p:cNvPr id="12" name="Rectángulo redondeado 4">
            <a:extLst>
              <a:ext uri="{FF2B5EF4-FFF2-40B4-BE49-F238E27FC236}">
                <a16:creationId xmlns:a16="http://schemas.microsoft.com/office/drawing/2014/main" id="{EBBBF2B7-0BAE-486F-B9FD-CBE0F700B7FD}"/>
              </a:ext>
            </a:extLst>
          </p:cNvPr>
          <p:cNvSpPr/>
          <p:nvPr/>
        </p:nvSpPr>
        <p:spPr>
          <a:xfrm rot="5400000">
            <a:off x="5284696" y="5266018"/>
            <a:ext cx="2598821" cy="1034324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0337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3" name="Imatge 2">
            <a:extLst>
              <a:ext uri="{FF2B5EF4-FFF2-40B4-BE49-F238E27FC236}">
                <a16:creationId xmlns:a16="http://schemas.microsoft.com/office/drawing/2014/main" id="{0B9CE290-D1C1-4189-9E21-0E59FAC0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83" y="1137967"/>
            <a:ext cx="13299546" cy="9104063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848133" y="4337802"/>
            <a:ext cx="9773586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QuadreDeText 9">
            <a:extLst>
              <a:ext uri="{FF2B5EF4-FFF2-40B4-BE49-F238E27FC236}">
                <a16:creationId xmlns:a16="http://schemas.microsoft.com/office/drawing/2014/main" id="{78EA8AD0-7D3A-4D72-BC07-3134E7C59809}"/>
              </a:ext>
            </a:extLst>
          </p:cNvPr>
          <p:cNvSpPr txBox="1"/>
          <p:nvPr/>
        </p:nvSpPr>
        <p:spPr>
          <a:xfrm>
            <a:off x="12037101" y="9762696"/>
            <a:ext cx="91739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847268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4" name="Imatge 3">
            <a:extLst>
              <a:ext uri="{FF2B5EF4-FFF2-40B4-BE49-F238E27FC236}">
                <a16:creationId xmlns:a16="http://schemas.microsoft.com/office/drawing/2014/main" id="{5350F70C-B643-4590-B86F-BF44DB0AF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94" y="1452208"/>
            <a:ext cx="14763064" cy="8820277"/>
          </a:xfrm>
          <a:prstGeom prst="rect">
            <a:avLst/>
          </a:prstGeom>
        </p:spPr>
      </p:pic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2964245" y="4381344"/>
            <a:ext cx="11521011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150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50;p17">
            <a:extLst>
              <a:ext uri="{FF2B5EF4-FFF2-40B4-BE49-F238E27FC236}">
                <a16:creationId xmlns:a16="http://schemas.microsoft.com/office/drawing/2014/main" id="{DC31FCA6-E624-4F0D-9CEA-5147EAFF7540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por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omunidad </a:t>
            </a: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utónoma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tge 2">
            <a:extLst>
              <a:ext uri="{FF2B5EF4-FFF2-40B4-BE49-F238E27FC236}">
                <a16:creationId xmlns:a16="http://schemas.microsoft.com/office/drawing/2014/main" id="{F2254398-B710-4543-B10D-7353A4041C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550" y="2153594"/>
            <a:ext cx="14085695" cy="7362396"/>
          </a:xfrm>
          <a:prstGeom prst="rect">
            <a:avLst/>
          </a:prstGeom>
        </p:spPr>
      </p:pic>
      <p:sp>
        <p:nvSpPr>
          <p:cNvPr id="9" name="QuadreDeText 8">
            <a:extLst>
              <a:ext uri="{FF2B5EF4-FFF2-40B4-BE49-F238E27FC236}">
                <a16:creationId xmlns:a16="http://schemas.microsoft.com/office/drawing/2014/main" id="{94872647-7527-45A5-AB2A-5C75504F1D1F}"/>
              </a:ext>
            </a:extLst>
          </p:cNvPr>
          <p:cNvSpPr txBox="1"/>
          <p:nvPr/>
        </p:nvSpPr>
        <p:spPr>
          <a:xfrm>
            <a:off x="11857218" y="9787306"/>
            <a:ext cx="923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Fuente: </a:t>
            </a:r>
            <a:r>
              <a:rPr lang="es-ES" dirty="0">
                <a:hlinkClick r:id="rId6"/>
              </a:rPr>
              <a:t>Encuesta Anual Laboral. Ministerio de Trabajo y Economía Social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13878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 DE FORMACIÓN 70-20-10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70% APRENDER TRABAJANDO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20% APRENDER DE </a:t>
            </a:r>
            <a:r>
              <a:rPr lang="es-ES_tradnl" sz="2400" b="1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OTROS </a:t>
            </a:r>
            <a:endParaRPr lang="es-ES_tradnl" sz="2400" b="1" dirty="0">
              <a:solidFill>
                <a:srgbClr val="004AAD"/>
              </a:solidFill>
              <a:latin typeface="Poppins"/>
              <a:cs typeface="Poppins"/>
              <a:sym typeface="Poppins"/>
            </a:endParaRPr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10% FORMACIÓN FORMAL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0" name="Google Shape;162;p18">
            <a:extLst>
              <a:ext uri="{FF2B5EF4-FFF2-40B4-BE49-F238E27FC236}">
                <a16:creationId xmlns:a16="http://schemas.microsoft.com/office/drawing/2014/main" id="{A239F5B4-C207-4A51-AE2F-F621521A6B0F}"/>
              </a:ext>
            </a:extLst>
          </p:cNvPr>
          <p:cNvSpPr/>
          <p:nvPr/>
        </p:nvSpPr>
        <p:spPr>
          <a:xfrm>
            <a:off x="14226839" y="7928731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" name="QuadreDeText 20">
            <a:extLst>
              <a:ext uri="{FF2B5EF4-FFF2-40B4-BE49-F238E27FC236}">
                <a16:creationId xmlns:a16="http://schemas.microsoft.com/office/drawing/2014/main" id="{9DFD7447-688C-4313-A7DB-F0BBD3A18814}"/>
              </a:ext>
            </a:extLst>
          </p:cNvPr>
          <p:cNvSpPr txBox="1"/>
          <p:nvPr/>
        </p:nvSpPr>
        <p:spPr>
          <a:xfrm>
            <a:off x="3437792" y="5481981"/>
            <a:ext cx="9900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6"/>
              </a:rPr>
              <a:t>Developing Better Leaders For All Things Humanly Possible | CCL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</a:t>
            </a:r>
            <a:endParaRPr lang="es-ES_tradnl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10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Barreras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399151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7634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" sz="4100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736450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53960" y="4159948"/>
            <a:ext cx="2889663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40088" y="4159948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2092914" y="1609520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-142120" y="54701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598837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52727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4447742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640403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935989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77791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5282758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780644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6299458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4432382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839240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50;p17">
            <a:extLst>
              <a:ext uri="{FF2B5EF4-FFF2-40B4-BE49-F238E27FC236}">
                <a16:creationId xmlns:a16="http://schemas.microsoft.com/office/drawing/2014/main" id="{F86CEE5F-E76A-4B02-BD77-12DF8281C89B}"/>
              </a:ext>
            </a:extLst>
          </p:cNvPr>
          <p:cNvSpPr/>
          <p:nvPr/>
        </p:nvSpPr>
        <p:spPr>
          <a:xfrm>
            <a:off x="13727091" y="2555717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006" y="1542472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977513" y="3187638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3465347" y="5045538"/>
            <a:ext cx="2430957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1626643" y="4984184"/>
            <a:ext cx="1950523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5574780" y="3825551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10310940" y="3823321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Google Shape;115;p15">
            <a:extLst>
              <a:ext uri="{FF2B5EF4-FFF2-40B4-BE49-F238E27FC236}">
                <a16:creationId xmlns:a16="http://schemas.microsoft.com/office/drawing/2014/main" id="{8FB33FCD-A80E-470E-810C-7AAE52B4218B}"/>
              </a:ext>
            </a:extLst>
          </p:cNvPr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" name="Google Shape;116;p15">
            <a:extLst>
              <a:ext uri="{FF2B5EF4-FFF2-40B4-BE49-F238E27FC236}">
                <a16:creationId xmlns:a16="http://schemas.microsoft.com/office/drawing/2014/main" id="{8DAB3E1D-B952-4765-8585-83E2CDEF6DBE}"/>
              </a:ext>
            </a:extLst>
          </p:cNvPr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" name="Google Shape;129;p15">
            <a:extLst>
              <a:ext uri="{FF2B5EF4-FFF2-40B4-BE49-F238E27FC236}">
                <a16:creationId xmlns:a16="http://schemas.microsoft.com/office/drawing/2014/main" id="{F5FBBCFA-3965-4E20-9EF0-B84FF43FDB01}"/>
              </a:ext>
            </a:extLst>
          </p:cNvPr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Google Shape;130;p15">
            <a:extLst>
              <a:ext uri="{FF2B5EF4-FFF2-40B4-BE49-F238E27FC236}">
                <a16:creationId xmlns:a16="http://schemas.microsoft.com/office/drawing/2014/main" id="{B74CD591-F99B-499C-9966-331AB7425F8D}"/>
              </a:ext>
            </a:extLst>
          </p:cNvPr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" name="Google Shape;131;p15">
            <a:extLst>
              <a:ext uri="{FF2B5EF4-FFF2-40B4-BE49-F238E27FC236}">
                <a16:creationId xmlns:a16="http://schemas.microsoft.com/office/drawing/2014/main" id="{A3D8AAD5-872B-4286-9C59-9F7CC6BFEBD2}"/>
              </a:ext>
            </a:extLst>
          </p:cNvPr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5482809" y="8188196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9504429" y="8159082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262477" y="2335213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161026" y="5891203"/>
            <a:ext cx="1569433" cy="7511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845798" y="588834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1"/>
            <a:ext cx="1569433" cy="760440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880162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890483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Fletxa: corbada cap amunt 35">
            <a:extLst>
              <a:ext uri="{FF2B5EF4-FFF2-40B4-BE49-F238E27FC236}">
                <a16:creationId xmlns:a16="http://schemas.microsoft.com/office/drawing/2014/main" id="{DB43EA59-B123-40D4-8071-6AFA381F64F5}"/>
              </a:ext>
            </a:extLst>
          </p:cNvPr>
          <p:cNvSpPr/>
          <p:nvPr/>
        </p:nvSpPr>
        <p:spPr>
          <a:xfrm rot="21121263">
            <a:off x="2436267" y="6479680"/>
            <a:ext cx="5311961" cy="1364949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7" name="Fletxa: corbada cap amunt 36">
            <a:extLst>
              <a:ext uri="{FF2B5EF4-FFF2-40B4-BE49-F238E27FC236}">
                <a16:creationId xmlns:a16="http://schemas.microsoft.com/office/drawing/2014/main" id="{B62AEE80-2CB0-4905-9F53-C2B97175BC79}"/>
              </a:ext>
            </a:extLst>
          </p:cNvPr>
          <p:cNvSpPr/>
          <p:nvPr/>
        </p:nvSpPr>
        <p:spPr>
          <a:xfrm rot="11217565" flipV="1">
            <a:off x="7694672" y="6500352"/>
            <a:ext cx="5410960" cy="1320943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44854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Factores sociales y laborales que influyen en niveles de ausentismo</a:t>
            </a:r>
            <a:endParaRPr lang="es-ES" sz="2400" dirty="0">
              <a:solidFill>
                <a:srgbClr val="004AAD"/>
              </a:solidFill>
              <a:latin typeface="Poppins"/>
              <a:cs typeface="Poppins"/>
            </a:endParaRPr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 dirty="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 dirty="0"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r>
              <a:rPr lang="en-US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con </a:t>
            </a:r>
            <a:r>
              <a:rPr lang="en-US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ausencia</a:t>
            </a:r>
            <a:endParaRPr dirty="0"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0" name="Google Shape;94;g3dbe1710380_1_0">
            <a:extLst>
              <a:ext uri="{FF2B5EF4-FFF2-40B4-BE49-F238E27FC236}">
                <a16:creationId xmlns:a16="http://schemas.microsoft.com/office/drawing/2014/main" id="{AB9B897D-D39E-45FC-8A85-319849CB72BC}"/>
              </a:ext>
            </a:extLst>
          </p:cNvPr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21" name="Google Shape;95;g3dbe1710380_1_0">
              <a:extLst>
                <a:ext uri="{FF2B5EF4-FFF2-40B4-BE49-F238E27FC236}">
                  <a16:creationId xmlns:a16="http://schemas.microsoft.com/office/drawing/2014/main" id="{D90A857D-F0ED-4884-9E46-BC5AA596FD5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96;g3dbe1710380_1_0">
              <a:extLst>
                <a:ext uri="{FF2B5EF4-FFF2-40B4-BE49-F238E27FC236}">
                  <a16:creationId xmlns:a16="http://schemas.microsoft.com/office/drawing/2014/main" id="{D06B0BB4-F06F-454B-99B0-27D12AF61BDC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¿Qué factores inciden sobre los niveles de ausentismo?</a:t>
            </a:r>
            <a:endParaRPr lang="es-ES" dirty="0"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 dirty="0"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215;g3dbe1710380_1_117">
            <a:extLst>
              <a:ext uri="{FF2B5EF4-FFF2-40B4-BE49-F238E27FC236}">
                <a16:creationId xmlns:a16="http://schemas.microsoft.com/office/drawing/2014/main" id="{7F0242F4-EE1D-4876-908A-7A7CEDF72209}"/>
              </a:ext>
            </a:extLst>
          </p:cNvPr>
          <p:cNvSpPr txBox="1"/>
          <p:nvPr/>
        </p:nvSpPr>
        <p:spPr>
          <a:xfrm>
            <a:off x="2393073" y="779845"/>
            <a:ext cx="79014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MODELO PREDICTIVO</a:t>
            </a:r>
            <a:endParaRPr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 dirty="0"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</a:t>
            </a:r>
            <a:r>
              <a:rPr lang="es-ES_tradnl" sz="30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Algu</a:t>
            </a: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935-234-567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1701</TotalTime>
  <Words>768</Words>
  <Application>Microsoft Office PowerPoint</Application>
  <PresentationFormat>Personalitzat</PresentationFormat>
  <Paragraphs>224</Paragraphs>
  <Slides>34</Slides>
  <Notes>34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5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34</vt:i4>
      </vt:variant>
    </vt:vector>
  </HeadingPairs>
  <TitlesOfParts>
    <vt:vector size="40" baseType="lpstr">
      <vt:lpstr>Lato</vt:lpstr>
      <vt:lpstr>Poppins Black</vt:lpstr>
      <vt:lpstr>Poppins</vt:lpstr>
      <vt:lpstr>Arial</vt:lpstr>
      <vt:lpstr>Calibri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23</cp:revision>
  <dcterms:modified xsi:type="dcterms:W3CDTF">2026-05-17T21:39:20Z</dcterms:modified>
</cp:coreProperties>
</file>