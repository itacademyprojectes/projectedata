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4"/>
  </p:notesMasterIdLst>
  <p:sldIdLst>
    <p:sldId id="256" r:id="rId2"/>
    <p:sldId id="257" r:id="rId3"/>
    <p:sldId id="258" r:id="rId4"/>
    <p:sldId id="317" r:id="rId5"/>
    <p:sldId id="306" r:id="rId6"/>
    <p:sldId id="307" r:id="rId7"/>
    <p:sldId id="308" r:id="rId8"/>
    <p:sldId id="312" r:id="rId9"/>
    <p:sldId id="309" r:id="rId10"/>
    <p:sldId id="310" r:id="rId11"/>
    <p:sldId id="311" r:id="rId12"/>
    <p:sldId id="296" r:id="rId13"/>
    <p:sldId id="305" r:id="rId14"/>
    <p:sldId id="304" r:id="rId15"/>
    <p:sldId id="259" r:id="rId16"/>
    <p:sldId id="299" r:id="rId17"/>
    <p:sldId id="300" r:id="rId18"/>
    <p:sldId id="301" r:id="rId19"/>
    <p:sldId id="298" r:id="rId20"/>
    <p:sldId id="302" r:id="rId21"/>
    <p:sldId id="303" r:id="rId22"/>
    <p:sldId id="288" r:id="rId23"/>
    <p:sldId id="313" r:id="rId24"/>
    <p:sldId id="314" r:id="rId25"/>
    <p:sldId id="315" r:id="rId26"/>
    <p:sldId id="263" r:id="rId27"/>
    <p:sldId id="264" r:id="rId28"/>
    <p:sldId id="265" r:id="rId29"/>
    <p:sldId id="266" r:id="rId30"/>
    <p:sldId id="267" r:id="rId31"/>
    <p:sldId id="268" r:id="rId32"/>
    <p:sldId id="279" r:id="rId33"/>
  </p:sldIdLst>
  <p:sldSz cx="18288000" cy="10287000"/>
  <p:notesSz cx="6858000" cy="9144000"/>
  <p:embeddedFontLst>
    <p:embeddedFont>
      <p:font typeface="Lato" panose="020F0502020204030203" pitchFamily="34" charset="0"/>
      <p:regular r:id="rId35"/>
      <p:bold r:id="rId36"/>
      <p:italic r:id="rId37"/>
      <p:boldItalic r:id="rId38"/>
    </p:embeddedFont>
    <p:embeddedFont>
      <p:font typeface="Oswald" pitchFamily="2" charset="77"/>
      <p:regular r:id="rId39"/>
    </p:embeddedFont>
    <p:embeddedFont>
      <p:font typeface="Poppins" pitchFamily="2" charset="77"/>
      <p:regular r:id="rId40"/>
      <p:bold r:id="rId41"/>
      <p:italic r:id="rId42"/>
      <p:boldItalic r:id="rId43"/>
    </p:embeddedFont>
    <p:embeddedFont>
      <p:font typeface="Poppins Black" panose="00000A00000000000000" pitchFamily="2" charset="77"/>
      <p:bold r:id="rId44"/>
      <p:italic r:id="rId45"/>
      <p:boldItalic r:id="rId46"/>
    </p:embeddedFont>
    <p:embeddedFont>
      <p:font typeface="Poppins Light" panose="00000400000000000000" pitchFamily="2" charset="77"/>
      <p:regular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308" userDrawn="1">
          <p15:clr>
            <a:srgbClr val="000000"/>
          </p15:clr>
        </p15:guide>
        <p15:guide id="2" pos="576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E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18"/>
    <p:restoredTop sz="94676"/>
  </p:normalViewPr>
  <p:slideViewPr>
    <p:cSldViewPr snapToGrid="0">
      <p:cViewPr varScale="1">
        <p:scale>
          <a:sx n="79" d="100"/>
          <a:sy n="79" d="100"/>
        </p:scale>
        <p:origin x="264" y="928"/>
      </p:cViewPr>
      <p:guideLst>
        <p:guide orient="horz" pos="3308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8.fntdata"/><Relationship Id="rId47" Type="http://schemas.openxmlformats.org/officeDocument/2006/relationships/font" Target="fonts/font13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font" Target="fonts/font9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46" Type="http://schemas.openxmlformats.org/officeDocument/2006/relationships/font" Target="fonts/font12.fntdata"/><Relationship Id="rId20" Type="http://schemas.openxmlformats.org/officeDocument/2006/relationships/slide" Target="slides/slide19.xml"/><Relationship Id="rId41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be1710380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g3dbe1710380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298b6e5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3e298b6e5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e1d0e86918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1" name="Google Shape;151;g3e1d0e86918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19111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C1507893-DE05-C9B2-F793-F773CEAC5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12BCADDC-BA41-0361-1BD0-76FE509C81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CEAD387E-11D3-7812-A29C-64F61C896C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5820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10D86B06-EF5B-7514-F01F-AC7B14DE3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882A0A91-AF51-1B3C-D0BB-92D5737CF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2152F817-3841-8F6F-DC6C-98A7C5953D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877938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7F240AFD-480A-9C43-88A3-5337968A7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D13B102C-112C-FF85-B7C0-3E02D2C382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6C9CFB20-77B4-6AF5-3F53-E10B50E3A5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645628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F36F146B-692A-C49B-68B2-CA7D37B37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>
            <a:extLst>
              <a:ext uri="{FF2B5EF4-FFF2-40B4-BE49-F238E27FC236}">
                <a16:creationId xmlns:a16="http://schemas.microsoft.com/office/drawing/2014/main" id="{952FF37A-41D9-ED0A-4DA0-5BE9666124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>
            <a:extLst>
              <a:ext uri="{FF2B5EF4-FFF2-40B4-BE49-F238E27FC236}">
                <a16:creationId xmlns:a16="http://schemas.microsoft.com/office/drawing/2014/main" id="{7BE81315-011F-50D2-A748-9FF6FE5A0F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30882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6E94633E-A32F-6392-EF6D-C76C991E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>
            <a:extLst>
              <a:ext uri="{FF2B5EF4-FFF2-40B4-BE49-F238E27FC236}">
                <a16:creationId xmlns:a16="http://schemas.microsoft.com/office/drawing/2014/main" id="{A77F6A13-D024-F8A9-F9A8-0A6165F91D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>
            <a:extLst>
              <a:ext uri="{FF2B5EF4-FFF2-40B4-BE49-F238E27FC236}">
                <a16:creationId xmlns:a16="http://schemas.microsoft.com/office/drawing/2014/main" id="{F011FAC7-F36C-8996-1FC8-7877213B04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91092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61083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be1710380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3dbe1710380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11654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40368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92154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63167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6754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0630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>
          <a:extLst>
            <a:ext uri="{FF2B5EF4-FFF2-40B4-BE49-F238E27FC236}">
              <a16:creationId xmlns:a16="http://schemas.microsoft.com/office/drawing/2014/main" id="{68033C6D-CA4B-39C8-3566-B3082BE34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1:notes">
            <a:extLst>
              <a:ext uri="{FF2B5EF4-FFF2-40B4-BE49-F238E27FC236}">
                <a16:creationId xmlns:a16="http://schemas.microsoft.com/office/drawing/2014/main" id="{99F3EF2D-1DA0-6769-2A84-7EB054C8FA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1:notes">
            <a:extLst>
              <a:ext uri="{FF2B5EF4-FFF2-40B4-BE49-F238E27FC236}">
                <a16:creationId xmlns:a16="http://schemas.microsoft.com/office/drawing/2014/main" id="{13F44B19-8F08-E089-5982-64FED72C4E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292586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e298b6e5ff_0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4" name="Google Shape;174;g3e298b6e5ff_0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e1d0e86918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1" name="Google Shape;191;g3e1d0e86918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dbe1710380_1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8" name="Google Shape;208;g3dbe1710380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ddcbdc3c4f_1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1 ) La elevada carga de trabajo y el escaso tiempo disponible de los empleados de su empresa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2 ) El alto coste de los cursos de formación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3 ) Dificultades para acceder a ayudas o subvenciones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los valores indican ESTABILIDAD en la percepcion</a:t>
            </a:r>
            <a:endParaRPr/>
          </a:p>
        </p:txBody>
      </p:sp>
      <p:sp>
        <p:nvSpPr>
          <p:cNvPr id="235" name="Google Shape;235;g3ddcbdc3c4f_1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dbe1710380_1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0" name="Google Shape;250;g3dbe1710380_1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dbe1710380_1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El sector servicio percibe MAS el Coste como barrera mas de la empresas emdianasa. 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3" name="Google Shape;263;g3dbe1710380_1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e1e185a98a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Esta es la barrera con mayor brecha entre grupos - quizás porque la empresas mediana tiene más recursos para gestionar la burocracia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74" name="Google Shape;274;g3e1e185a98a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e1e185a98a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86" name="Google Shape;286;g3e1e185a98a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dbe1710380_1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FORMACION FLEXIBLE</a:t>
            </a:r>
            <a:br>
              <a:rPr lang="en-US"/>
            </a:br>
            <a:r>
              <a:rPr lang="en-US"/>
              <a:t>Microformación — sesiones de 15-20 minutos integradas en la jornada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E-learning asíncrono — el empleado forma cuando puede, no cuando el calendario lo impone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Formación en el puesto — aprendizaje mientras se trabaja, especialmente útil en logística y transporte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Rotación de turnos para liberar tiempo formativo sin impactar la operativa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FUNDACION ESTATAL PARA LA FORMACION EN EL EMPLEO - 42.3% percibe el alto coste como barrera y solo el 26% de empresas detecta necesidades formativas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responsable a la formacion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empresas de nuestro tamaño fomentan programas internos y tienen mas facilidad que empresa pequeña en gestionar financiacion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calendario formativo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1" name="Google Shape;301;g3dbe1710380_1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hyperlink" Target="https://www.mites.gob.es/es/estadisticas/mercado_trabajo/EAL/welcome.ht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hyperlink" Target="https://www.mites.gob.es/es/estadisticas/mercado_trabajo/EAL/welcome.htm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hyperlink" Target="https://www.mites.gob.es/es/estadisticas/mercado_trabajo/EAL/welcome.htm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6.emf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ites.gob.es/es/estadisticas/mercado_trabajo/EAL/welcome.htm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mites.gob.es/es/estadisticas/mercado_trabajo/EAL/welcome.htm" TargetMode="Externa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hyperlink" Target="https://www.mites.gob.es/es/estadisticas/mercado_trabajo/EAL/welcome.htm" TargetMode="Externa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25.png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ccl.org/" TargetMode="External"/><Relationship Id="rId5" Type="http://schemas.openxmlformats.org/officeDocument/2006/relationships/image" Target="../media/image26.pn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29.png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3.png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2" name="Google Shape;92;p13"/>
          <p:cNvSpPr txBox="1"/>
          <p:nvPr/>
        </p:nvSpPr>
        <p:spPr>
          <a:xfrm>
            <a:off x="1124998" y="8618274"/>
            <a:ext cx="6418801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es-ES_tradnl" sz="18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18 de Mayo de 2026</a:t>
            </a:r>
            <a:endParaRPr lang="es-ES_tradnl" sz="1800" b="1" dirty="0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, Nuria Paredes &amp; Andrea Caro</a:t>
            </a:r>
          </a:p>
        </p:txBody>
      </p:sp>
      <p:sp>
        <p:nvSpPr>
          <p:cNvPr id="93" name="Google Shape;93;p13"/>
          <p:cNvSpPr txBox="1"/>
          <p:nvPr/>
        </p:nvSpPr>
        <p:spPr>
          <a:xfrm>
            <a:off x="1125000" y="3042996"/>
            <a:ext cx="8269200" cy="228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1000"/>
              </a:lnSpc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Tendencias de Formación Laboral</a:t>
            </a:r>
          </a:p>
          <a:p>
            <a:pPr lvl="0">
              <a:lnSpc>
                <a:spcPct val="111000"/>
              </a:lnSpc>
            </a:pPr>
            <a:endParaRPr lang="es-ES_tradnl" dirty="0"/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1075236B-0FDF-D0D4-B64E-5171A089FB9B}"/>
              </a:ext>
            </a:extLst>
          </p:cNvPr>
          <p:cNvSpPr txBox="1"/>
          <p:nvPr/>
        </p:nvSpPr>
        <p:spPr>
          <a:xfrm>
            <a:off x="1041448" y="9613476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7"/>
              </a:rPr>
              <a:t>Encuesta Anual Laboral. Ministerio de Trabajo y Economía Social</a:t>
            </a:r>
            <a:endParaRPr lang="es-ES" dirty="0"/>
          </a:p>
        </p:txBody>
      </p:sp>
      <p:grpSp>
        <p:nvGrpSpPr>
          <p:cNvPr id="3" name="Google Shape;153;p17">
            <a:extLst>
              <a:ext uri="{FF2B5EF4-FFF2-40B4-BE49-F238E27FC236}">
                <a16:creationId xmlns:a16="http://schemas.microsoft.com/office/drawing/2014/main" id="{29336B14-81FA-2B3E-2E39-08B35DFF957D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4" name="Google Shape;154;p17">
              <a:extLst>
                <a:ext uri="{FF2B5EF4-FFF2-40B4-BE49-F238E27FC236}">
                  <a16:creationId xmlns:a16="http://schemas.microsoft.com/office/drawing/2014/main" id="{C1E892A0-A0F6-3AB4-E273-B620C6E7BEA7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" name="Google Shape;155;p17">
              <a:extLst>
                <a:ext uri="{FF2B5EF4-FFF2-40B4-BE49-F238E27FC236}">
                  <a16:creationId xmlns:a16="http://schemas.microsoft.com/office/drawing/2014/main" id="{3DF663FA-B84E-5740-1D6B-FF07CB635BB9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Google Shape;102;g3dbe1710380_1_211"/>
          <p:cNvCxnSpPr/>
          <p:nvPr/>
        </p:nvCxnSpPr>
        <p:spPr>
          <a:xfrm>
            <a:off x="7198632" y="-330798"/>
            <a:ext cx="0" cy="10946700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03" name="Google Shape;103;g3dbe1710380_1_211"/>
          <p:cNvGrpSpPr/>
          <p:nvPr/>
        </p:nvGrpSpPr>
        <p:grpSpPr>
          <a:xfrm>
            <a:off x="6904167" y="1550455"/>
            <a:ext cx="588874" cy="595774"/>
            <a:chOff x="0" y="-9525"/>
            <a:chExt cx="812800" cy="822325"/>
          </a:xfrm>
        </p:grpSpPr>
        <p:sp>
          <p:nvSpPr>
            <p:cNvPr id="104" name="Google Shape;104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05" name="Google Shape;105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g3dbe1710380_1_211"/>
          <p:cNvGrpSpPr/>
          <p:nvPr/>
        </p:nvGrpSpPr>
        <p:grpSpPr>
          <a:xfrm>
            <a:off x="6904180" y="4844657"/>
            <a:ext cx="588874" cy="595774"/>
            <a:chOff x="0" y="-9525"/>
            <a:chExt cx="812800" cy="822325"/>
          </a:xfrm>
        </p:grpSpPr>
        <p:sp>
          <p:nvSpPr>
            <p:cNvPr id="107" name="Google Shape;107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08" name="Google Shape;108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g3dbe1710380_1_211"/>
          <p:cNvGrpSpPr/>
          <p:nvPr/>
        </p:nvGrpSpPr>
        <p:grpSpPr>
          <a:xfrm>
            <a:off x="6904192" y="7703472"/>
            <a:ext cx="588874" cy="595774"/>
            <a:chOff x="0" y="-9525"/>
            <a:chExt cx="812800" cy="822325"/>
          </a:xfrm>
        </p:grpSpPr>
        <p:sp>
          <p:nvSpPr>
            <p:cNvPr id="110" name="Google Shape;110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11" name="Google Shape;111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2" name="Google Shape;112;g3dbe1710380_1_211"/>
          <p:cNvSpPr/>
          <p:nvPr/>
        </p:nvSpPr>
        <p:spPr>
          <a:xfrm>
            <a:off x="13196004" y="3159413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3" name="Google Shape;113;g3dbe1710380_1_211"/>
          <p:cNvSpPr/>
          <p:nvPr/>
        </p:nvSpPr>
        <p:spPr>
          <a:xfrm>
            <a:off x="13196004" y="-703241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4" name="Google Shape;114;g3dbe1710380_1_211"/>
          <p:cNvSpPr txBox="1"/>
          <p:nvPr/>
        </p:nvSpPr>
        <p:spPr>
          <a:xfrm>
            <a:off x="999300" y="2137250"/>
            <a:ext cx="4053600" cy="17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4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TAMAÑO</a:t>
            </a:r>
            <a:endParaRPr sz="3401" b="1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4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MUESTRA</a:t>
            </a:r>
            <a:endParaRPr sz="3401" b="1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4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(EAL)</a:t>
            </a:r>
            <a:endParaRPr sz="3401" b="1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" name="Google Shape;115;g3dbe1710380_1_211"/>
          <p:cNvSpPr txBox="1"/>
          <p:nvPr/>
        </p:nvSpPr>
        <p:spPr>
          <a:xfrm>
            <a:off x="7879812" y="4591750"/>
            <a:ext cx="4635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50-499 Empleados</a:t>
            </a:r>
            <a:endParaRPr sz="3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g3dbe1710380_1_211"/>
          <p:cNvSpPr txBox="1"/>
          <p:nvPr/>
        </p:nvSpPr>
        <p:spPr>
          <a:xfrm>
            <a:off x="8127719" y="5139231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025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g3dbe1710380_1_211"/>
          <p:cNvSpPr txBox="1"/>
          <p:nvPr/>
        </p:nvSpPr>
        <p:spPr>
          <a:xfrm>
            <a:off x="999294" y="4106537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2019-2024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g3dbe1710380_1_211"/>
          <p:cNvSpPr txBox="1"/>
          <p:nvPr/>
        </p:nvSpPr>
        <p:spPr>
          <a:xfrm>
            <a:off x="7753906" y="1296531"/>
            <a:ext cx="3805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Total Empresas</a:t>
            </a:r>
            <a:endParaRPr sz="2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g3dbe1710380_1_211"/>
          <p:cNvSpPr txBox="1"/>
          <p:nvPr/>
        </p:nvSpPr>
        <p:spPr>
          <a:xfrm>
            <a:off x="8001806" y="1846058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10322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g3dbe1710380_1_211"/>
          <p:cNvSpPr txBox="1"/>
          <p:nvPr/>
        </p:nvSpPr>
        <p:spPr>
          <a:xfrm>
            <a:off x="8045398" y="7870425"/>
            <a:ext cx="5150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lang="en-US" sz="2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Transporte</a:t>
            </a:r>
            <a:endParaRPr sz="2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be1710380_1_211"/>
          <p:cNvSpPr txBox="1"/>
          <p:nvPr/>
        </p:nvSpPr>
        <p:spPr>
          <a:xfrm>
            <a:off x="8188919" y="8316815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640</a:t>
            </a:r>
            <a:endParaRPr sz="3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2" name="Google Shape;122;g3dbe1710380_1_211"/>
          <p:cNvGrpSpPr/>
          <p:nvPr/>
        </p:nvGrpSpPr>
        <p:grpSpPr>
          <a:xfrm>
            <a:off x="47" y="5"/>
            <a:ext cx="2163366" cy="1886372"/>
            <a:chOff x="12784222" y="3675030"/>
            <a:chExt cx="2163366" cy="1886372"/>
          </a:xfrm>
        </p:grpSpPr>
        <p:sp>
          <p:nvSpPr>
            <p:cNvPr id="123" name="Google Shape;123;g3dbe1710380_1_21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g3dbe1710380_1_21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e298b6e5ff_0_0"/>
          <p:cNvSpPr/>
          <p:nvPr/>
        </p:nvSpPr>
        <p:spPr>
          <a:xfrm flipH="1">
            <a:off x="13327023" y="-1831276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0" name="Google Shape;130;g3e298b6e5ff_0_0"/>
          <p:cNvSpPr/>
          <p:nvPr/>
        </p:nvSpPr>
        <p:spPr>
          <a:xfrm flipH="1">
            <a:off x="14990317" y="-79416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1"/>
                </a:lnTo>
                <a:lnTo>
                  <a:pt x="7088187" y="6469581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1" name="Google Shape;131;g3e298b6e5ff_0_0"/>
          <p:cNvSpPr/>
          <p:nvPr/>
        </p:nvSpPr>
        <p:spPr>
          <a:xfrm flipH="1">
            <a:off x="16682965" y="26431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2" name="Google Shape;132;g3e298b6e5ff_0_0"/>
          <p:cNvSpPr/>
          <p:nvPr/>
        </p:nvSpPr>
        <p:spPr>
          <a:xfrm flipH="1">
            <a:off x="18365827" y="1291641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3" name="Google Shape;133;g3e298b6e5ff_0_0"/>
          <p:cNvSpPr/>
          <p:nvPr/>
        </p:nvSpPr>
        <p:spPr>
          <a:xfrm>
            <a:off x="13850661" y="2157399"/>
            <a:ext cx="2470941" cy="3102779"/>
          </a:xfrm>
          <a:custGeom>
            <a:avLst/>
            <a:gdLst/>
            <a:ahLst/>
            <a:cxnLst/>
            <a:rect l="l" t="t" r="r" b="b"/>
            <a:pathLst>
              <a:path w="3647145" h="4579748" extrusionOk="0">
                <a:moveTo>
                  <a:pt x="0" y="0"/>
                </a:moveTo>
                <a:lnTo>
                  <a:pt x="3647145" y="0"/>
                </a:lnTo>
                <a:lnTo>
                  <a:pt x="3647145" y="4579748"/>
                </a:lnTo>
                <a:lnTo>
                  <a:pt x="0" y="457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4" name="Google Shape;134;g3e298b6e5ff_0_0"/>
          <p:cNvSpPr txBox="1"/>
          <p:nvPr/>
        </p:nvSpPr>
        <p:spPr>
          <a:xfrm>
            <a:off x="1560900" y="998885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Propósito</a:t>
            </a:r>
            <a:r>
              <a:rPr lang="en-US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del </a:t>
            </a:r>
            <a:r>
              <a:rPr lang="en-US" sz="3601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</a:t>
            </a:r>
            <a:endParaRPr dirty="0"/>
          </a:p>
        </p:txBody>
      </p:sp>
      <p:grpSp>
        <p:nvGrpSpPr>
          <p:cNvPr id="135" name="Google Shape;135;g3e298b6e5ff_0_0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36" name="Google Shape;136;g3e298b6e5ff_0_0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g3e298b6e5ff_0_0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138" name="Google Shape;138;g3e298b6e5ff_0_0"/>
          <p:cNvSpPr/>
          <p:nvPr/>
        </p:nvSpPr>
        <p:spPr>
          <a:xfrm>
            <a:off x="5958450" y="3507225"/>
            <a:ext cx="2471100" cy="792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2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COMPETENCIAS </a:t>
            </a:r>
            <a:r>
              <a:rPr lang="en-US" sz="22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CLAVE</a:t>
            </a:r>
            <a:endParaRPr sz="22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9" name="Google Shape;139;g3e298b6e5ff_0_0"/>
          <p:cNvSpPr/>
          <p:nvPr/>
        </p:nvSpPr>
        <p:spPr>
          <a:xfrm>
            <a:off x="510675" y="4669925"/>
            <a:ext cx="3805500" cy="9339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2"/>
              <a:buFont typeface="Arial"/>
              <a:buNone/>
            </a:pPr>
            <a:r>
              <a:rPr lang="en-US" sz="25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TENDENCIAS FORMATIVAS SECTOR</a:t>
            </a:r>
            <a:endParaRPr sz="25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0" name="Google Shape;140;g3e298b6e5ff_0_0"/>
          <p:cNvSpPr/>
          <p:nvPr/>
        </p:nvSpPr>
        <p:spPr>
          <a:xfrm>
            <a:off x="10323900" y="4329000"/>
            <a:ext cx="2680800" cy="1629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8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AJUSTES </a:t>
            </a:r>
            <a:endParaRPr sz="28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8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 NUESTRAS </a:t>
            </a:r>
            <a:endParaRPr sz="28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8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POLITICAS</a:t>
            </a:r>
            <a:endParaRPr sz="28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1" name="Google Shape;141;g3e298b6e5ff_0_0"/>
          <p:cNvSpPr/>
          <p:nvPr/>
        </p:nvSpPr>
        <p:spPr>
          <a:xfrm rot="-1645724">
            <a:off x="4718837" y="4220556"/>
            <a:ext cx="827752" cy="274129"/>
          </a:xfrm>
          <a:prstGeom prst="rightArrow">
            <a:avLst>
              <a:gd name="adj1" fmla="val 48766"/>
              <a:gd name="adj2" fmla="val 59431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i="0" u="none" strike="noStrike" cap="none">
              <a:solidFill>
                <a:srgbClr val="CFE2F3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2" name="Google Shape;142;g3e298b6e5ff_0_0"/>
          <p:cNvSpPr/>
          <p:nvPr/>
        </p:nvSpPr>
        <p:spPr>
          <a:xfrm>
            <a:off x="6037800" y="5974525"/>
            <a:ext cx="2312400" cy="792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2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BARRERAS </a:t>
            </a:r>
            <a:r>
              <a:rPr lang="en-US" sz="22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FORMATIVAS</a:t>
            </a:r>
            <a:endParaRPr sz="22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3" name="Google Shape;143;g3e298b6e5ff_0_0"/>
          <p:cNvSpPr/>
          <p:nvPr/>
        </p:nvSpPr>
        <p:spPr>
          <a:xfrm>
            <a:off x="6037800" y="4740875"/>
            <a:ext cx="2312400" cy="792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2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MEDIOS </a:t>
            </a:r>
            <a:r>
              <a:rPr lang="en-US" sz="22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UTILIZADOS</a:t>
            </a:r>
            <a:endParaRPr sz="22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4" name="Google Shape;144;g3e298b6e5ff_0_0"/>
          <p:cNvSpPr/>
          <p:nvPr/>
        </p:nvSpPr>
        <p:spPr>
          <a:xfrm>
            <a:off x="4718863" y="4999766"/>
            <a:ext cx="827700" cy="274200"/>
          </a:xfrm>
          <a:prstGeom prst="rightArrow">
            <a:avLst>
              <a:gd name="adj1" fmla="val 48766"/>
              <a:gd name="adj2" fmla="val 59431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i="0" u="none" strike="noStrike" cap="none">
              <a:solidFill>
                <a:srgbClr val="CFE2F3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5" name="Google Shape;145;g3e298b6e5ff_0_0"/>
          <p:cNvSpPr/>
          <p:nvPr/>
        </p:nvSpPr>
        <p:spPr>
          <a:xfrm rot="2214686">
            <a:off x="4718863" y="5780991"/>
            <a:ext cx="827700" cy="274260"/>
          </a:xfrm>
          <a:prstGeom prst="rightArrow">
            <a:avLst>
              <a:gd name="adj1" fmla="val 48766"/>
              <a:gd name="adj2" fmla="val 59431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i="0" u="none" strike="noStrike" cap="none">
              <a:solidFill>
                <a:srgbClr val="CFE2F3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6" name="Google Shape;146;g3e298b6e5ff_0_0"/>
          <p:cNvSpPr/>
          <p:nvPr/>
        </p:nvSpPr>
        <p:spPr>
          <a:xfrm rot="2244089">
            <a:off x="8873407" y="4220551"/>
            <a:ext cx="827796" cy="274152"/>
          </a:xfrm>
          <a:prstGeom prst="rightArrow">
            <a:avLst>
              <a:gd name="adj1" fmla="val 48766"/>
              <a:gd name="adj2" fmla="val 59431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i="0" u="none" strike="noStrike" cap="none">
              <a:solidFill>
                <a:srgbClr val="CFE2F3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7" name="Google Shape;147;g3e298b6e5ff_0_0"/>
          <p:cNvSpPr/>
          <p:nvPr/>
        </p:nvSpPr>
        <p:spPr>
          <a:xfrm>
            <a:off x="8873455" y="4999766"/>
            <a:ext cx="827700" cy="274200"/>
          </a:xfrm>
          <a:prstGeom prst="rightArrow">
            <a:avLst>
              <a:gd name="adj1" fmla="val 48766"/>
              <a:gd name="adj2" fmla="val 59431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i="0" u="none" strike="noStrike" cap="none">
              <a:solidFill>
                <a:srgbClr val="CFE2F3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8" name="Google Shape;148;g3e298b6e5ff_0_0"/>
          <p:cNvSpPr/>
          <p:nvPr/>
        </p:nvSpPr>
        <p:spPr>
          <a:xfrm rot="-1474063">
            <a:off x="8873493" y="5781069"/>
            <a:ext cx="827624" cy="274129"/>
          </a:xfrm>
          <a:prstGeom prst="rightArrow">
            <a:avLst>
              <a:gd name="adj1" fmla="val 48766"/>
              <a:gd name="adj2" fmla="val 59431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i="0" u="none" strike="noStrike" cap="none">
              <a:solidFill>
                <a:srgbClr val="CFE2F3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e1d0e86918_0_1"/>
          <p:cNvSpPr/>
          <p:nvPr/>
        </p:nvSpPr>
        <p:spPr>
          <a:xfrm>
            <a:off x="3164838" y="5219301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4" name="Google Shape;154;g3e1d0e86918_0_1"/>
          <p:cNvSpPr txBox="1"/>
          <p:nvPr/>
        </p:nvSpPr>
        <p:spPr>
          <a:xfrm>
            <a:off x="2983360" y="1067987"/>
            <a:ext cx="12321300" cy="763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1"/>
              <a:buFont typeface="Arial"/>
              <a:buNone/>
            </a:pPr>
            <a:r>
              <a:rPr lang="en-US" sz="4101" b="1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Tendencias</a:t>
            </a:r>
            <a:r>
              <a:rPr lang="en-US" sz="41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4101" b="1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Formativas</a:t>
            </a:r>
            <a:r>
              <a:rPr lang="en-US" sz="41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4101" b="1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</a:t>
            </a:r>
            <a:r>
              <a:rPr lang="en-US" sz="41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2024</a:t>
            </a:r>
            <a:endParaRPr sz="4101" b="1" i="0" u="none" strike="noStrike" cap="none" dirty="0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155" name="Google Shape;155;g3e1d0e86918_0_1"/>
          <p:cNvGrpSpPr/>
          <p:nvPr/>
        </p:nvGrpSpPr>
        <p:grpSpPr>
          <a:xfrm>
            <a:off x="4138225" y="3429010"/>
            <a:ext cx="3448587" cy="2250865"/>
            <a:chOff x="4138225" y="3429010"/>
            <a:chExt cx="3448587" cy="2250865"/>
          </a:xfrm>
        </p:grpSpPr>
        <p:sp>
          <p:nvSpPr>
            <p:cNvPr id="156" name="Google Shape;156;g3e1d0e86918_0_1"/>
            <p:cNvSpPr txBox="1"/>
            <p:nvPr/>
          </p:nvSpPr>
          <p:spPr>
            <a:xfrm>
              <a:off x="4372825" y="3429010"/>
              <a:ext cx="24204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25.9%</a:t>
              </a:r>
              <a:endParaRPr sz="1400" b="0" i="0" u="none" strike="noStrike" cap="non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g3e1d0e86918_0_1"/>
            <p:cNvSpPr txBox="1"/>
            <p:nvPr/>
          </p:nvSpPr>
          <p:spPr>
            <a:xfrm>
              <a:off x="6781012" y="3544101"/>
              <a:ext cx="8058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27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1" i="0" u="none" strike="noStrike" cap="none">
                  <a:solidFill>
                    <a:srgbClr val="990000"/>
                  </a:solidFill>
                  <a:latin typeface="Poppins"/>
                  <a:ea typeface="Poppins"/>
                  <a:cs typeface="Poppins"/>
                  <a:sym typeface="Poppins"/>
                </a:rPr>
                <a:t>-2% </a:t>
              </a:r>
              <a:endParaRPr sz="2800" b="0" i="0" u="none" strike="noStrike" cap="none">
                <a:solidFill>
                  <a:srgbClr val="99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g3e1d0e86918_0_1"/>
            <p:cNvSpPr txBox="1"/>
            <p:nvPr/>
          </p:nvSpPr>
          <p:spPr>
            <a:xfrm>
              <a:off x="4138225" y="4460675"/>
              <a:ext cx="2889600" cy="121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0" i="0" u="none" strike="noStrike" cap="none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Detectaron Necesidades Formativas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9" name="Google Shape;159;g3e1d0e86918_0_1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60" name="Google Shape;160;g3e1d0e86918_0_1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61" name="Google Shape;161;g3e1d0e86918_0_1"/>
          <p:cNvGrpSpPr/>
          <p:nvPr/>
        </p:nvGrpSpPr>
        <p:grpSpPr>
          <a:xfrm>
            <a:off x="16124622" y="8400655"/>
            <a:ext cx="2163366" cy="1886372"/>
            <a:chOff x="12784222" y="3675030"/>
            <a:chExt cx="2163366" cy="1886372"/>
          </a:xfrm>
        </p:grpSpPr>
        <p:sp>
          <p:nvSpPr>
            <p:cNvPr id="162" name="Google Shape;162;g3e1d0e86918_0_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3" name="Google Shape;163;g3e1d0e86918_0_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164" name="Google Shape;164;g3e1d0e86918_0_1"/>
          <p:cNvSpPr txBox="1"/>
          <p:nvPr/>
        </p:nvSpPr>
        <p:spPr>
          <a:xfrm>
            <a:off x="2347938" y="4900538"/>
            <a:ext cx="816900" cy="35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FC5E8"/>
                </a:solidFill>
                <a:latin typeface="Poppins"/>
                <a:ea typeface="Poppins"/>
                <a:cs typeface="Poppins"/>
                <a:sym typeface="Poppins"/>
              </a:rPr>
              <a:t>EAL-18</a:t>
            </a:r>
            <a:endParaRPr sz="1400" b="0" i="0" u="none" strike="noStrike" cap="none">
              <a:solidFill>
                <a:srgbClr val="9FC5E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5" name="Google Shape;165;g3e1d0e86918_0_1"/>
          <p:cNvGrpSpPr/>
          <p:nvPr/>
        </p:nvGrpSpPr>
        <p:grpSpPr>
          <a:xfrm>
            <a:off x="11856000" y="3429010"/>
            <a:ext cx="3448587" cy="1825765"/>
            <a:chOff x="11856000" y="3429010"/>
            <a:chExt cx="3448587" cy="1825765"/>
          </a:xfrm>
        </p:grpSpPr>
        <p:sp>
          <p:nvSpPr>
            <p:cNvPr id="166" name="Google Shape;166;g3e1d0e86918_0_1"/>
            <p:cNvSpPr txBox="1"/>
            <p:nvPr/>
          </p:nvSpPr>
          <p:spPr>
            <a:xfrm>
              <a:off x="12090601" y="3429010"/>
              <a:ext cx="24204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83.5%</a:t>
              </a:r>
              <a:endParaRPr sz="1400" b="0" i="0" u="none" strike="noStrike" cap="none">
                <a:solidFill>
                  <a:srgbClr val="004AA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g3e1d0e86918_0_1"/>
            <p:cNvSpPr txBox="1"/>
            <p:nvPr/>
          </p:nvSpPr>
          <p:spPr>
            <a:xfrm>
              <a:off x="14498787" y="3544101"/>
              <a:ext cx="8058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27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1" i="0" u="none" strike="noStrike" cap="none">
                  <a:solidFill>
                    <a:srgbClr val="45818E"/>
                  </a:solidFill>
                  <a:latin typeface="Poppins"/>
                  <a:ea typeface="Poppins"/>
                  <a:cs typeface="Poppins"/>
                  <a:sym typeface="Poppins"/>
                </a:rPr>
                <a:t>+4% </a:t>
              </a:r>
              <a:endParaRPr sz="2800" b="0" i="0" u="none" strike="noStrike" cap="none">
                <a:solidFill>
                  <a:srgbClr val="45818E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g3e1d0e86918_0_1"/>
            <p:cNvSpPr txBox="1"/>
            <p:nvPr/>
          </p:nvSpPr>
          <p:spPr>
            <a:xfrm>
              <a:off x="11856000" y="4460675"/>
              <a:ext cx="2889600" cy="7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0" i="0" u="none" strike="noStrike" cap="none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Proporcionan Formación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9" name="Google Shape;169;g3e1d0e86918_0_1"/>
          <p:cNvSpPr/>
          <p:nvPr/>
        </p:nvSpPr>
        <p:spPr>
          <a:xfrm rot="-1593903">
            <a:off x="10446593" y="3755698"/>
            <a:ext cx="851348" cy="961482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70" name="Google Shape;170;g3e1d0e86918_0_1"/>
          <p:cNvSpPr txBox="1"/>
          <p:nvPr/>
        </p:nvSpPr>
        <p:spPr>
          <a:xfrm>
            <a:off x="10463813" y="4715800"/>
            <a:ext cx="816900" cy="35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9FC5E8"/>
                </a:solidFill>
                <a:latin typeface="Poppins"/>
                <a:ea typeface="Poppins"/>
                <a:cs typeface="Poppins"/>
                <a:sym typeface="Poppins"/>
              </a:rPr>
              <a:t>EAL-17</a:t>
            </a:r>
            <a:endParaRPr sz="1400" b="0" i="0" u="none" strike="noStrike" cap="none">
              <a:solidFill>
                <a:srgbClr val="9FC5E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g3e1d0e86918_0_1"/>
          <p:cNvSpPr/>
          <p:nvPr/>
        </p:nvSpPr>
        <p:spPr>
          <a:xfrm>
            <a:off x="2233777" y="3594586"/>
            <a:ext cx="1362677" cy="1241274"/>
          </a:xfrm>
          <a:custGeom>
            <a:avLst/>
            <a:gdLst/>
            <a:ahLst/>
            <a:cxnLst/>
            <a:rect l="l" t="t" r="r" b="b"/>
            <a:pathLst>
              <a:path w="1566295" h="1426752" extrusionOk="0">
                <a:moveTo>
                  <a:pt x="0" y="0"/>
                </a:moveTo>
                <a:lnTo>
                  <a:pt x="1566295" y="0"/>
                </a:lnTo>
                <a:lnTo>
                  <a:pt x="1566295" y="1426752"/>
                </a:lnTo>
                <a:lnTo>
                  <a:pt x="0" y="14267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9738609" y="-3564145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1779124" y="-201574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10119282" y="3963285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9582015" y="1910786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2068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</a:rPr>
              <a:t>Diagnóstico de Mercado</a:t>
            </a:r>
          </a:p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</a:rPr>
              <a:t>Análisis de Motores de Cambio</a:t>
            </a:r>
          </a:p>
          <a:p>
            <a:pPr marL="34290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</a:rPr>
              <a:t>Propuesta estratégica</a:t>
            </a:r>
          </a:p>
          <a:p>
            <a:pPr marL="342900" lvl="0" indent="-342900">
              <a:lnSpc>
                <a:spcPct val="139958"/>
              </a:lnSpc>
              <a:buFontTx/>
              <a:buChar char="-"/>
            </a:pP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4058858"/>
            <a:ext cx="1060512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Competencias</a:t>
            </a:r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23DCA223-E96B-22F4-FDA9-8EBB0B4A58D5}"/>
              </a:ext>
            </a:extLst>
          </p:cNvPr>
          <p:cNvSpPr txBox="1"/>
          <p:nvPr/>
        </p:nvSpPr>
        <p:spPr>
          <a:xfrm>
            <a:off x="1041448" y="9613476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7"/>
              </a:rPr>
              <a:t>Encuesta Anual Laboral. Ministerio de Trabajo y Economía Social</a:t>
            </a:r>
            <a:endParaRPr lang="es-ES" dirty="0"/>
          </a:p>
        </p:txBody>
      </p:sp>
      <p:grpSp>
        <p:nvGrpSpPr>
          <p:cNvPr id="3" name="Google Shape;153;p17">
            <a:extLst>
              <a:ext uri="{FF2B5EF4-FFF2-40B4-BE49-F238E27FC236}">
                <a16:creationId xmlns:a16="http://schemas.microsoft.com/office/drawing/2014/main" id="{6F58D432-E21A-3D3A-29D0-4120FCEF9FB0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4" name="Google Shape;154;p17">
              <a:extLst>
                <a:ext uri="{FF2B5EF4-FFF2-40B4-BE49-F238E27FC236}">
                  <a16:creationId xmlns:a16="http://schemas.microsoft.com/office/drawing/2014/main" id="{E62305D1-CA27-A820-C412-2DDF345ABF49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" name="Google Shape;155;p17">
              <a:extLst>
                <a:ext uri="{FF2B5EF4-FFF2-40B4-BE49-F238E27FC236}">
                  <a16:creationId xmlns:a16="http://schemas.microsoft.com/office/drawing/2014/main" id="{3F55D705-031A-27AE-CE1B-B65D39E6ADB8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677033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746875" y="1928332"/>
            <a:ext cx="1210460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Hoja de ruta para la Reestructuración Formativa</a:t>
            </a:r>
            <a:endParaRPr lang="es-ES_tradnl" dirty="0"/>
          </a:p>
        </p:txBody>
      </p: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2465108" y="2859430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SECTOR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5499762" y="2860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REGIÓN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8534416" y="2860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TAMAÑO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4860610" y="5288619"/>
            <a:ext cx="3875542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IDENTIFICACIÓN DE BRECHAS FORMATIVAS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3764518" y="4163551"/>
            <a:ext cx="993012" cy="979948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H="1">
            <a:off x="8839233" y="4179656"/>
            <a:ext cx="1015248" cy="963843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3956227" y="7867142"/>
            <a:ext cx="5684308" cy="6687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AJUSTES DE </a:t>
            </a:r>
            <a:r>
              <a:rPr lang="es-ES_tradnl" sz="2400" b="1">
                <a:solidFill>
                  <a:schemeClr val="bg2"/>
                </a:solidFill>
              </a:rPr>
              <a:t>NUESTRAS POLÍTICAS</a:t>
            </a:r>
            <a:endParaRPr lang="es-ES_tradnl" sz="2400" b="1" dirty="0">
              <a:solidFill>
                <a:schemeClr val="bg2"/>
              </a:solidFill>
            </a:endParaRPr>
          </a:p>
        </p:txBody>
      </p: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>
            <a:off x="6804200" y="6540645"/>
            <a:ext cx="0" cy="1145615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de fletxa recta 19">
            <a:extLst>
              <a:ext uri="{FF2B5EF4-FFF2-40B4-BE49-F238E27FC236}">
                <a16:creationId xmlns:a16="http://schemas.microsoft.com/office/drawing/2014/main" id="{1B61E99B-02C5-C181-1E9D-F7CE5E322ACB}"/>
              </a:ext>
            </a:extLst>
          </p:cNvPr>
          <p:cNvCxnSpPr>
            <a:cxnSpLocks/>
          </p:cNvCxnSpPr>
          <p:nvPr/>
        </p:nvCxnSpPr>
        <p:spPr>
          <a:xfrm>
            <a:off x="6798381" y="4163551"/>
            <a:ext cx="0" cy="97994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QuadreDeText 1">
            <a:extLst>
              <a:ext uri="{FF2B5EF4-FFF2-40B4-BE49-F238E27FC236}">
                <a16:creationId xmlns:a16="http://schemas.microsoft.com/office/drawing/2014/main" id="{B1F13600-9B2D-48DD-E55B-028BE99251AC}"/>
              </a:ext>
            </a:extLst>
          </p:cNvPr>
          <p:cNvSpPr txBox="1"/>
          <p:nvPr/>
        </p:nvSpPr>
        <p:spPr>
          <a:xfrm>
            <a:off x="1041448" y="9613476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4"/>
              </a:rPr>
              <a:t>Encuesta Anual Laboral. Ministerio de Trabajo y Economía Social</a:t>
            </a:r>
            <a:endParaRPr lang="es-ES" dirty="0"/>
          </a:p>
        </p:txBody>
      </p:sp>
      <p:grpSp>
        <p:nvGrpSpPr>
          <p:cNvPr id="9" name="Google Shape;153;p17">
            <a:extLst>
              <a:ext uri="{FF2B5EF4-FFF2-40B4-BE49-F238E27FC236}">
                <a16:creationId xmlns:a16="http://schemas.microsoft.com/office/drawing/2014/main" id="{5BBE2B43-4612-5154-4F47-8DB0E9B482FD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4" name="Google Shape;154;p17">
              <a:extLst>
                <a:ext uri="{FF2B5EF4-FFF2-40B4-BE49-F238E27FC236}">
                  <a16:creationId xmlns:a16="http://schemas.microsoft.com/office/drawing/2014/main" id="{C29C8BE8-9EAB-0BA1-2D08-613330B9991C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" name="Google Shape;155;p17">
              <a:extLst>
                <a:ext uri="{FF2B5EF4-FFF2-40B4-BE49-F238E27FC236}">
                  <a16:creationId xmlns:a16="http://schemas.microsoft.com/office/drawing/2014/main" id="{521EDAC8-35D4-0497-656B-864DDBA196C8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BC7F3D4D-6505-BACF-E670-CBD8A6F3D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25C1943A-5DBA-46B7-142B-AFC632588D38}"/>
              </a:ext>
            </a:extLst>
          </p:cNvPr>
          <p:cNvSpPr txBox="1"/>
          <p:nvPr/>
        </p:nvSpPr>
        <p:spPr>
          <a:xfrm>
            <a:off x="2124555" y="741546"/>
            <a:ext cx="1179026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Diagnóstico de Mercado</a:t>
            </a:r>
            <a:endParaRPr lang="es-ES_tradnl" dirty="0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6544C1B7-3ADD-E32B-BE45-CFF210CFDDD4}"/>
              </a:ext>
            </a:extLst>
          </p:cNvPr>
          <p:cNvSpPr/>
          <p:nvPr/>
        </p:nvSpPr>
        <p:spPr>
          <a:xfrm>
            <a:off x="14222440" y="4640388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D4C8648-473D-69FF-B340-7A88A16218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48" y="1934262"/>
            <a:ext cx="13686227" cy="7667062"/>
          </a:xfrm>
          <a:prstGeom prst="rect">
            <a:avLst/>
          </a:prstGeom>
        </p:spPr>
      </p:pic>
      <p:grpSp>
        <p:nvGrpSpPr>
          <p:cNvPr id="5" name="Google Shape;153;p17">
            <a:extLst>
              <a:ext uri="{FF2B5EF4-FFF2-40B4-BE49-F238E27FC236}">
                <a16:creationId xmlns:a16="http://schemas.microsoft.com/office/drawing/2014/main" id="{059C90F5-7AAB-A1CA-931B-912EE67526F9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6" name="Google Shape;154;p17">
              <a:extLst>
                <a:ext uri="{FF2B5EF4-FFF2-40B4-BE49-F238E27FC236}">
                  <a16:creationId xmlns:a16="http://schemas.microsoft.com/office/drawing/2014/main" id="{4C93FA5F-8DE9-F2E4-B778-2CD2D0872D1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7" name="Google Shape;155;p17">
              <a:extLst>
                <a:ext uri="{FF2B5EF4-FFF2-40B4-BE49-F238E27FC236}">
                  <a16:creationId xmlns:a16="http://schemas.microsoft.com/office/drawing/2014/main" id="{71F1A9E7-0A31-DEC7-01C3-C38A5BE33742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593404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1C2BD536-9B5D-3167-C63E-FCC9322A7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2C81506E-5BD0-2660-6C80-0FC059EC076F}"/>
              </a:ext>
            </a:extLst>
          </p:cNvPr>
          <p:cNvSpPr txBox="1"/>
          <p:nvPr/>
        </p:nvSpPr>
        <p:spPr>
          <a:xfrm>
            <a:off x="4056834" y="741546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Motores de Cambio</a:t>
            </a:r>
            <a:endParaRPr lang="es-ES_tradnl" dirty="0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CA5ED763-02ED-8046-D779-63DA3B913454}"/>
              </a:ext>
            </a:extLst>
          </p:cNvPr>
          <p:cNvSpPr/>
          <p:nvPr/>
        </p:nvSpPr>
        <p:spPr>
          <a:xfrm>
            <a:off x="14222440" y="4640388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F430C57-ED7C-AD06-69D5-BAA0F6EF4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126" y="1686730"/>
            <a:ext cx="13431113" cy="8333048"/>
          </a:xfrm>
          <a:prstGeom prst="rect">
            <a:avLst/>
          </a:prstGeom>
        </p:spPr>
      </p:pic>
      <p:grpSp>
        <p:nvGrpSpPr>
          <p:cNvPr id="3" name="Google Shape;153;p17">
            <a:extLst>
              <a:ext uri="{FF2B5EF4-FFF2-40B4-BE49-F238E27FC236}">
                <a16:creationId xmlns:a16="http://schemas.microsoft.com/office/drawing/2014/main" id="{136B7D72-578C-C724-42C5-02CA09F322A4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4" name="Google Shape;154;p17">
              <a:extLst>
                <a:ext uri="{FF2B5EF4-FFF2-40B4-BE49-F238E27FC236}">
                  <a16:creationId xmlns:a16="http://schemas.microsoft.com/office/drawing/2014/main" id="{BECD3A99-4303-AE81-36F0-CE49BB60AE49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6" name="Google Shape;155;p17">
              <a:extLst>
                <a:ext uri="{FF2B5EF4-FFF2-40B4-BE49-F238E27FC236}">
                  <a16:creationId xmlns:a16="http://schemas.microsoft.com/office/drawing/2014/main" id="{8E8EB7C2-413A-E0C6-9F8E-A2CAFB3AF51C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556328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42629D58-7240-F9DD-00E1-A85CE46B3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56B926ED-6B4F-C587-4575-B04E1C5938C0}"/>
              </a:ext>
            </a:extLst>
          </p:cNvPr>
          <p:cNvSpPr txBox="1"/>
          <p:nvPr/>
        </p:nvSpPr>
        <p:spPr>
          <a:xfrm>
            <a:off x="4056834" y="741546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Motores de Cambio</a:t>
            </a:r>
            <a:endParaRPr lang="es-ES_tradnl" dirty="0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FBE8221-084C-ED76-A3A8-B53D3666B0F0}"/>
              </a:ext>
            </a:extLst>
          </p:cNvPr>
          <p:cNvSpPr/>
          <p:nvPr/>
        </p:nvSpPr>
        <p:spPr>
          <a:xfrm>
            <a:off x="14222440" y="4640388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79EAFAF-4ED7-F7E6-E167-84713DEE41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000" y="2153594"/>
            <a:ext cx="13691638" cy="7866410"/>
          </a:xfrm>
          <a:prstGeom prst="rect">
            <a:avLst/>
          </a:prstGeom>
        </p:spPr>
      </p:pic>
      <p:grpSp>
        <p:nvGrpSpPr>
          <p:cNvPr id="2" name="Google Shape;153;p17">
            <a:extLst>
              <a:ext uri="{FF2B5EF4-FFF2-40B4-BE49-F238E27FC236}">
                <a16:creationId xmlns:a16="http://schemas.microsoft.com/office/drawing/2014/main" id="{38F27D68-02C0-A7BB-26D7-719B63595764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3" name="Google Shape;154;p17">
              <a:extLst>
                <a:ext uri="{FF2B5EF4-FFF2-40B4-BE49-F238E27FC236}">
                  <a16:creationId xmlns:a16="http://schemas.microsoft.com/office/drawing/2014/main" id="{80FAA0E9-3A13-C927-CF7D-7540442FF5F5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" name="Google Shape;155;p17">
              <a:extLst>
                <a:ext uri="{FF2B5EF4-FFF2-40B4-BE49-F238E27FC236}">
                  <a16:creationId xmlns:a16="http://schemas.microsoft.com/office/drawing/2014/main" id="{E88247C0-0FEA-B13F-D921-D6786037854E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1615419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C20388B7-5256-7399-9915-25078C008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>
            <a:extLst>
              <a:ext uri="{FF2B5EF4-FFF2-40B4-BE49-F238E27FC236}">
                <a16:creationId xmlns:a16="http://schemas.microsoft.com/office/drawing/2014/main" id="{9BD67FB5-CBEC-E325-7E19-568F5DE0F033}"/>
              </a:ext>
            </a:extLst>
          </p:cNvPr>
          <p:cNvSpPr/>
          <p:nvPr/>
        </p:nvSpPr>
        <p:spPr>
          <a:xfrm>
            <a:off x="6799176" y="5802761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>
            <a:extLst>
              <a:ext uri="{FF2B5EF4-FFF2-40B4-BE49-F238E27FC236}">
                <a16:creationId xmlns:a16="http://schemas.microsoft.com/office/drawing/2014/main" id="{382F6466-71EF-34E7-A385-D13745BD30F8}"/>
              </a:ext>
            </a:extLst>
          </p:cNvPr>
          <p:cNvSpPr txBox="1"/>
          <p:nvPr/>
        </p:nvSpPr>
        <p:spPr>
          <a:xfrm>
            <a:off x="2779655" y="1673826"/>
            <a:ext cx="12104602" cy="931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Implementación del Ajuste de Políticas</a:t>
            </a:r>
          </a:p>
          <a:p>
            <a:pPr algn="ctr">
              <a:lnSpc>
                <a:spcPct val="121055"/>
              </a:lnSpc>
            </a:pPr>
            <a:endParaRPr lang="es-ES_tradnl" dirty="0"/>
          </a:p>
        </p:txBody>
      </p:sp>
      <p:sp>
        <p:nvSpPr>
          <p:cNvPr id="52" name="Google Shape;89;p13">
            <a:extLst>
              <a:ext uri="{FF2B5EF4-FFF2-40B4-BE49-F238E27FC236}">
                <a16:creationId xmlns:a16="http://schemas.microsoft.com/office/drawing/2014/main" id="{41B54ED5-A065-5789-2645-F2B988F2268D}"/>
              </a:ext>
            </a:extLst>
          </p:cNvPr>
          <p:cNvSpPr/>
          <p:nvPr/>
        </p:nvSpPr>
        <p:spPr>
          <a:xfrm>
            <a:off x="3971628" y="8229779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53" name="Google Shape;89;p13">
            <a:extLst>
              <a:ext uri="{FF2B5EF4-FFF2-40B4-BE49-F238E27FC236}">
                <a16:creationId xmlns:a16="http://schemas.microsoft.com/office/drawing/2014/main" id="{991F66A3-67A3-C764-0A4A-C111425AF228}"/>
              </a:ext>
            </a:extLst>
          </p:cNvPr>
          <p:cNvSpPr/>
          <p:nvPr/>
        </p:nvSpPr>
        <p:spPr>
          <a:xfrm flipH="1">
            <a:off x="11283347" y="8229778"/>
            <a:ext cx="2124508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59" name="Imagen 58">
            <a:extLst>
              <a:ext uri="{FF2B5EF4-FFF2-40B4-BE49-F238E27FC236}">
                <a16:creationId xmlns:a16="http://schemas.microsoft.com/office/drawing/2014/main" id="{055CEB16-65B6-583A-C041-3DB84A6759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884" y="3880136"/>
            <a:ext cx="17792231" cy="2173711"/>
          </a:xfrm>
          <a:prstGeom prst="rect">
            <a:avLst/>
          </a:prstGeom>
        </p:spPr>
      </p:pic>
      <p:grpSp>
        <p:nvGrpSpPr>
          <p:cNvPr id="5" name="Google Shape;153;p17">
            <a:extLst>
              <a:ext uri="{FF2B5EF4-FFF2-40B4-BE49-F238E27FC236}">
                <a16:creationId xmlns:a16="http://schemas.microsoft.com/office/drawing/2014/main" id="{9E2A0257-5ACF-AA75-565D-350734C706EF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6" name="Google Shape;154;p17">
              <a:extLst>
                <a:ext uri="{FF2B5EF4-FFF2-40B4-BE49-F238E27FC236}">
                  <a16:creationId xmlns:a16="http://schemas.microsoft.com/office/drawing/2014/main" id="{7068FB39-5B12-A544-2CE2-836A93416CEB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7" name="Google Shape;155;p17">
              <a:extLst>
                <a:ext uri="{FF2B5EF4-FFF2-40B4-BE49-F238E27FC236}">
                  <a16:creationId xmlns:a16="http://schemas.microsoft.com/office/drawing/2014/main" id="{EC4A9C8B-6A07-6DCB-2743-BB48414FBFE1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7015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6A03F43A-6E8B-882B-74A1-789F69171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7">
            <a:extLst>
              <a:ext uri="{FF2B5EF4-FFF2-40B4-BE49-F238E27FC236}">
                <a16:creationId xmlns:a16="http://schemas.microsoft.com/office/drawing/2014/main" id="{ACBDF4F1-FE23-387B-CBEA-AD7E648E0B34}"/>
              </a:ext>
            </a:extLst>
          </p:cNvPr>
          <p:cNvSpPr txBox="1"/>
          <p:nvPr/>
        </p:nvSpPr>
        <p:spPr>
          <a:xfrm>
            <a:off x="2779655" y="1673826"/>
            <a:ext cx="12104602" cy="931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Implementación del Ajuste de Políticas</a:t>
            </a:r>
          </a:p>
          <a:p>
            <a:pPr algn="ctr">
              <a:lnSpc>
                <a:spcPct val="121055"/>
              </a:lnSpc>
            </a:pPr>
            <a:endParaRPr lang="es-ES_tradnl" dirty="0"/>
          </a:p>
        </p:txBody>
      </p:sp>
      <p:sp>
        <p:nvSpPr>
          <p:cNvPr id="52" name="Google Shape;89;p13">
            <a:extLst>
              <a:ext uri="{FF2B5EF4-FFF2-40B4-BE49-F238E27FC236}">
                <a16:creationId xmlns:a16="http://schemas.microsoft.com/office/drawing/2014/main" id="{71FAE02A-B6AE-1636-12DE-0BF19887164C}"/>
              </a:ext>
            </a:extLst>
          </p:cNvPr>
          <p:cNvSpPr/>
          <p:nvPr/>
        </p:nvSpPr>
        <p:spPr>
          <a:xfrm>
            <a:off x="4300812" y="8229779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53" name="Google Shape;89;p13">
            <a:extLst>
              <a:ext uri="{FF2B5EF4-FFF2-40B4-BE49-F238E27FC236}">
                <a16:creationId xmlns:a16="http://schemas.microsoft.com/office/drawing/2014/main" id="{B4A18EE2-E955-166A-EFC4-67343BDBCE0B}"/>
              </a:ext>
            </a:extLst>
          </p:cNvPr>
          <p:cNvSpPr/>
          <p:nvPr/>
        </p:nvSpPr>
        <p:spPr>
          <a:xfrm flipH="1">
            <a:off x="11228483" y="8229778"/>
            <a:ext cx="2124508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2" name="Google Shape;232;p23" descr="image.png">
            <a:extLst>
              <a:ext uri="{FF2B5EF4-FFF2-40B4-BE49-F238E27FC236}">
                <a16:creationId xmlns:a16="http://schemas.microsoft.com/office/drawing/2014/main" id="{E475E7AC-3975-863F-8667-ADF27FA60DE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579543" y="2605043"/>
            <a:ext cx="504825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233;p23">
            <a:extLst>
              <a:ext uri="{FF2B5EF4-FFF2-40B4-BE49-F238E27FC236}">
                <a16:creationId xmlns:a16="http://schemas.microsoft.com/office/drawing/2014/main" id="{1E65ACC1-E34F-EE00-8A70-40FF30878FB7}"/>
              </a:ext>
            </a:extLst>
          </p:cNvPr>
          <p:cNvSpPr txBox="1"/>
          <p:nvPr/>
        </p:nvSpPr>
        <p:spPr>
          <a:xfrm>
            <a:off x="4191376" y="3398488"/>
            <a:ext cx="928116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"La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formación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no es un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coste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operativo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, es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el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combustible de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nuestra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ventaja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competitiva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en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logística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.”</a:t>
            </a:r>
            <a:endParaRPr dirty="0"/>
          </a:p>
        </p:txBody>
      </p:sp>
      <p:sp>
        <p:nvSpPr>
          <p:cNvPr id="4" name="Google Shape;234;p23">
            <a:extLst>
              <a:ext uri="{FF2B5EF4-FFF2-40B4-BE49-F238E27FC236}">
                <a16:creationId xmlns:a16="http://schemas.microsoft.com/office/drawing/2014/main" id="{8F1389AD-508B-5A42-423E-DA8433B98626}"/>
              </a:ext>
            </a:extLst>
          </p:cNvPr>
          <p:cNvSpPr txBox="1"/>
          <p:nvPr/>
        </p:nvSpPr>
        <p:spPr>
          <a:xfrm>
            <a:off x="6618925" y="5193586"/>
            <a:ext cx="44260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EMILIO TORNOS </a:t>
            </a:r>
            <a:r>
              <a:rPr lang="en-US" sz="1500" b="1" i="0" u="none" strike="noStrike" cap="none" dirty="0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- RÁPID EXPRESS</a:t>
            </a:r>
            <a:endParaRPr dirty="0"/>
          </a:p>
        </p:txBody>
      </p:sp>
      <p:pic>
        <p:nvPicPr>
          <p:cNvPr id="5" name="Google Shape;168;p19" descr="image.png">
            <a:extLst>
              <a:ext uri="{FF2B5EF4-FFF2-40B4-BE49-F238E27FC236}">
                <a16:creationId xmlns:a16="http://schemas.microsoft.com/office/drawing/2014/main" id="{5B093FD9-35C5-40ED-F4F3-BB96988EE3D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14081" y="5853926"/>
            <a:ext cx="5635745" cy="443307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oogle Shape;153;p17">
            <a:extLst>
              <a:ext uri="{FF2B5EF4-FFF2-40B4-BE49-F238E27FC236}">
                <a16:creationId xmlns:a16="http://schemas.microsoft.com/office/drawing/2014/main" id="{BF9C6924-A3B2-B63B-B489-B3C22A0E3381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0" name="Google Shape;154;p17">
              <a:extLst>
                <a:ext uri="{FF2B5EF4-FFF2-40B4-BE49-F238E27FC236}">
                  <a16:creationId xmlns:a16="http://schemas.microsoft.com/office/drawing/2014/main" id="{A0640882-BABD-C5AB-DF91-07E74C884A5A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1" name="Google Shape;155;p17">
              <a:extLst>
                <a:ext uri="{FF2B5EF4-FFF2-40B4-BE49-F238E27FC236}">
                  <a16:creationId xmlns:a16="http://schemas.microsoft.com/office/drawing/2014/main" id="{7AC4A680-163B-8162-31A6-4907A67C9E2A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17172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tendencias</a:t>
            </a:r>
          </a:p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Propuestas estratégicas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6" name="QuadreDeText 15">
            <a:extLst>
              <a:ext uri="{FF2B5EF4-FFF2-40B4-BE49-F238E27FC236}">
                <a16:creationId xmlns:a16="http://schemas.microsoft.com/office/drawing/2014/main" id="{7A815501-4874-4A8D-881B-2353FD1EA1B6}"/>
              </a:ext>
            </a:extLst>
          </p:cNvPr>
          <p:cNvSpPr txBox="1"/>
          <p:nvPr/>
        </p:nvSpPr>
        <p:spPr>
          <a:xfrm>
            <a:off x="1124999" y="9516298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8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030669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2092913" y="1609520"/>
            <a:ext cx="1544821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alineación de tendencias según medio de formación</a:t>
            </a:r>
            <a:endParaRPr lang="es-ES_tradnl" dirty="0"/>
          </a:p>
        </p:txBody>
      </p:sp>
      <p:grpSp>
        <p:nvGrpSpPr>
          <p:cNvPr id="153" name="Google Shape;153;p17"/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54" name="Google Shape;154;p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2968129" y="3363356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TAMAÑO EMPRESA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1230912" y="5374886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SECTOR ECONÓMICO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2879440" y="7571741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COMUNIDAD</a:t>
            </a:r>
          </a:p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AUTÓNOMA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5566951" y="543868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TENDENCIAS</a:t>
            </a:r>
          </a:p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FORMATIVAS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4192503" y="4589121"/>
            <a:ext cx="1226624" cy="891307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V="1">
            <a:off x="4133369" y="6565045"/>
            <a:ext cx="1262204" cy="76501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de fletxa recta 19">
            <a:extLst>
              <a:ext uri="{FF2B5EF4-FFF2-40B4-BE49-F238E27FC236}">
                <a16:creationId xmlns:a16="http://schemas.microsoft.com/office/drawing/2014/main" id="{503C184A-52E8-4BDD-88C5-AB3981C81FC3}"/>
              </a:ext>
            </a:extLst>
          </p:cNvPr>
          <p:cNvCxnSpPr>
            <a:cxnSpLocks/>
          </p:cNvCxnSpPr>
          <p:nvPr/>
        </p:nvCxnSpPr>
        <p:spPr>
          <a:xfrm>
            <a:off x="4009956" y="5992137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10053142" y="548042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POLÍTICAS DE MEDIOS DE FORMACIÓN</a:t>
            </a:r>
          </a:p>
        </p:txBody>
      </p: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 flipV="1">
            <a:off x="8345109" y="5929015"/>
            <a:ext cx="1528696" cy="302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3" name="Google Shape;123;g3dbe1710380_1_211"/>
          <p:cNvCxnSpPr/>
          <p:nvPr/>
        </p:nvCxnSpPr>
        <p:spPr>
          <a:xfrm>
            <a:off x="7198632" y="-330798"/>
            <a:ext cx="0" cy="10946700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4" name="Google Shape;124;g3dbe1710380_1_211"/>
          <p:cNvGrpSpPr/>
          <p:nvPr/>
        </p:nvGrpSpPr>
        <p:grpSpPr>
          <a:xfrm>
            <a:off x="6904192" y="843911"/>
            <a:ext cx="588874" cy="595774"/>
            <a:chOff x="0" y="-9525"/>
            <a:chExt cx="812800" cy="822325"/>
          </a:xfrm>
        </p:grpSpPr>
        <p:sp>
          <p:nvSpPr>
            <p:cNvPr id="125" name="Google Shape;125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6" name="Google Shape;126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g3dbe1710380_1_211"/>
          <p:cNvGrpSpPr/>
          <p:nvPr/>
        </p:nvGrpSpPr>
        <p:grpSpPr>
          <a:xfrm>
            <a:off x="6904192" y="2979331"/>
            <a:ext cx="588874" cy="595774"/>
            <a:chOff x="0" y="-9525"/>
            <a:chExt cx="812800" cy="822325"/>
          </a:xfrm>
        </p:grpSpPr>
        <p:sp>
          <p:nvSpPr>
            <p:cNvPr id="128" name="Google Shape;128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9" name="Google Shape;129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g3dbe1710380_1_211"/>
          <p:cNvGrpSpPr/>
          <p:nvPr/>
        </p:nvGrpSpPr>
        <p:grpSpPr>
          <a:xfrm>
            <a:off x="6922001" y="4953563"/>
            <a:ext cx="588874" cy="595774"/>
            <a:chOff x="0" y="-9525"/>
            <a:chExt cx="812800" cy="822325"/>
          </a:xfrm>
        </p:grpSpPr>
        <p:sp>
          <p:nvSpPr>
            <p:cNvPr id="131" name="Google Shape;131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2" name="Google Shape;132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3" name="Google Shape;133;g3dbe1710380_1_211"/>
          <p:cNvGrpSpPr/>
          <p:nvPr/>
        </p:nvGrpSpPr>
        <p:grpSpPr>
          <a:xfrm>
            <a:off x="6904192" y="7062089"/>
            <a:ext cx="588874" cy="595774"/>
            <a:chOff x="0" y="-9525"/>
            <a:chExt cx="812800" cy="822325"/>
          </a:xfrm>
        </p:grpSpPr>
        <p:sp>
          <p:nvSpPr>
            <p:cNvPr id="134" name="Google Shape;134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5" name="Google Shape;135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6" name="Google Shape;136;g3dbe1710380_1_211"/>
          <p:cNvSpPr/>
          <p:nvPr/>
        </p:nvSpPr>
        <p:spPr>
          <a:xfrm>
            <a:off x="13196004" y="3159413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7" name="Google Shape;137;g3dbe1710380_1_211"/>
          <p:cNvSpPr/>
          <p:nvPr/>
        </p:nvSpPr>
        <p:spPr>
          <a:xfrm>
            <a:off x="13196004" y="-703241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8" name="Google Shape;138;g3dbe1710380_1_211"/>
          <p:cNvSpPr txBox="1"/>
          <p:nvPr/>
        </p:nvSpPr>
        <p:spPr>
          <a:xfrm>
            <a:off x="1028700" y="2777601"/>
            <a:ext cx="45306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 DE FORMACIÓN</a:t>
            </a:r>
            <a:endParaRPr dirty="0"/>
          </a:p>
        </p:txBody>
      </p:sp>
      <p:sp>
        <p:nvSpPr>
          <p:cNvPr id="139" name="Google Shape;139;g3dbe1710380_1_211"/>
          <p:cNvSpPr txBox="1"/>
          <p:nvPr/>
        </p:nvSpPr>
        <p:spPr>
          <a:xfrm>
            <a:off x="7941024" y="4803327"/>
            <a:ext cx="46350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FORMACIÓN EN EL PUESTO DE TRABAJO</a:t>
            </a:r>
            <a:endParaRPr sz="3000" dirty="0"/>
          </a:p>
        </p:txBody>
      </p:sp>
      <p:sp>
        <p:nvSpPr>
          <p:cNvPr id="141" name="Google Shape;141;g3dbe1710380_1_211"/>
          <p:cNvSpPr txBox="1"/>
          <p:nvPr/>
        </p:nvSpPr>
        <p:spPr>
          <a:xfrm>
            <a:off x="8045399" y="752171"/>
            <a:ext cx="45306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CURSOS EN LA PROPIA EMPRESA</a:t>
            </a:r>
            <a:endParaRPr lang="es-ES" sz="2600" dirty="0"/>
          </a:p>
        </p:txBody>
      </p:sp>
      <p:sp>
        <p:nvSpPr>
          <p:cNvPr id="142" name="Google Shape;142;g3dbe1710380_1_211"/>
          <p:cNvSpPr txBox="1"/>
          <p:nvPr/>
        </p:nvSpPr>
        <p:spPr>
          <a:xfrm>
            <a:off x="8294419" y="1583162"/>
            <a:ext cx="38058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600" dirty="0"/>
          </a:p>
        </p:txBody>
      </p:sp>
      <p:sp>
        <p:nvSpPr>
          <p:cNvPr id="143" name="Google Shape;143;g3dbe1710380_1_211"/>
          <p:cNvSpPr txBox="1"/>
          <p:nvPr/>
        </p:nvSpPr>
        <p:spPr>
          <a:xfrm>
            <a:off x="7941031" y="2820016"/>
            <a:ext cx="38058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CURSOS EN OTRA ORGANIZACIÓN</a:t>
            </a:r>
            <a:endParaRPr sz="2600" dirty="0"/>
          </a:p>
        </p:txBody>
      </p:sp>
      <p:sp>
        <p:nvSpPr>
          <p:cNvPr id="145" name="Google Shape;145;g3dbe1710380_1_211"/>
          <p:cNvSpPr txBox="1"/>
          <p:nvPr/>
        </p:nvSpPr>
        <p:spPr>
          <a:xfrm>
            <a:off x="7939888" y="6903274"/>
            <a:ext cx="5150700" cy="981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ROTACIÓN /INTERCAMBIO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DE PUESTOS</a:t>
            </a:r>
            <a:endParaRPr sz="2900" dirty="0"/>
          </a:p>
        </p:txBody>
      </p:sp>
      <p:grpSp>
        <p:nvGrpSpPr>
          <p:cNvPr id="147" name="Google Shape;147;g3dbe1710380_1_211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8" name="Google Shape;148;g3dbe1710380_1_21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g3dbe1710380_1_21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29" name="Google Shape;124;g3dbe1710380_1_211">
            <a:extLst>
              <a:ext uri="{FF2B5EF4-FFF2-40B4-BE49-F238E27FC236}">
                <a16:creationId xmlns:a16="http://schemas.microsoft.com/office/drawing/2014/main" id="{D89EB990-901C-45D6-AF83-9EF917EFEEA7}"/>
              </a:ext>
            </a:extLst>
          </p:cNvPr>
          <p:cNvGrpSpPr/>
          <p:nvPr/>
        </p:nvGrpSpPr>
        <p:grpSpPr>
          <a:xfrm>
            <a:off x="6886431" y="9082822"/>
            <a:ext cx="588874" cy="595774"/>
            <a:chOff x="0" y="-9525"/>
            <a:chExt cx="812800" cy="822325"/>
          </a:xfrm>
        </p:grpSpPr>
        <p:sp>
          <p:nvSpPr>
            <p:cNvPr id="30" name="Google Shape;125;g3dbe1710380_1_211">
              <a:extLst>
                <a:ext uri="{FF2B5EF4-FFF2-40B4-BE49-F238E27FC236}">
                  <a16:creationId xmlns:a16="http://schemas.microsoft.com/office/drawing/2014/main" id="{E5E3EAC1-FACE-46C7-A3BB-195DDA4C466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31" name="Google Shape;126;g3dbe1710380_1_211">
              <a:extLst>
                <a:ext uri="{FF2B5EF4-FFF2-40B4-BE49-F238E27FC236}">
                  <a16:creationId xmlns:a16="http://schemas.microsoft.com/office/drawing/2014/main" id="{67D4FF60-F0A4-48F8-9A4D-1F7AD66E31F1}"/>
                </a:ext>
              </a:extLst>
            </p:cNvPr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" name="Google Shape;145;g3dbe1710380_1_211">
            <a:extLst>
              <a:ext uri="{FF2B5EF4-FFF2-40B4-BE49-F238E27FC236}">
                <a16:creationId xmlns:a16="http://schemas.microsoft.com/office/drawing/2014/main" id="{22A2114F-E21B-4E83-8CE9-B05E57033A4E}"/>
              </a:ext>
            </a:extLst>
          </p:cNvPr>
          <p:cNvSpPr txBox="1"/>
          <p:nvPr/>
        </p:nvSpPr>
        <p:spPr>
          <a:xfrm>
            <a:off x="7916329" y="8919360"/>
            <a:ext cx="5150700" cy="981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CONFERENCIAS,TALLERES Y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SEMINARIOS</a:t>
            </a:r>
          </a:p>
        </p:txBody>
      </p:sp>
      <p:sp>
        <p:nvSpPr>
          <p:cNvPr id="33" name="QuadreDeText 32">
            <a:extLst>
              <a:ext uri="{FF2B5EF4-FFF2-40B4-BE49-F238E27FC236}">
                <a16:creationId xmlns:a16="http://schemas.microsoft.com/office/drawing/2014/main" id="{934E4FD5-D080-4B3C-880C-81EE84B769EB}"/>
              </a:ext>
            </a:extLst>
          </p:cNvPr>
          <p:cNvSpPr txBox="1"/>
          <p:nvPr/>
        </p:nvSpPr>
        <p:spPr>
          <a:xfrm>
            <a:off x="400090" y="9395172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5"/>
              </a:rPr>
              <a:t>Encuesta Anual Laboral. Ministerio de Trabajo y Economía Social</a:t>
            </a:r>
            <a:endParaRPr lang="es-E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 los Medios de Formación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2BEC3BD1-E06F-4A88-94A2-80FFCE6D4F87}"/>
              </a:ext>
            </a:extLst>
          </p:cNvPr>
          <p:cNvSpPr txBox="1"/>
          <p:nvPr/>
        </p:nvSpPr>
        <p:spPr>
          <a:xfrm>
            <a:off x="11287593" y="9458793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5"/>
              </a:rPr>
              <a:t>Encuesta Anual Laboral. Ministerio de Trabajo y Economía Social</a:t>
            </a:r>
            <a:endParaRPr lang="es-ES" dirty="0"/>
          </a:p>
        </p:txBody>
      </p:sp>
      <p:pic>
        <p:nvPicPr>
          <p:cNvPr id="7" name="Imatge 6">
            <a:extLst>
              <a:ext uri="{FF2B5EF4-FFF2-40B4-BE49-F238E27FC236}">
                <a16:creationId xmlns:a16="http://schemas.microsoft.com/office/drawing/2014/main" id="{EF8D80AC-68BF-4C74-AF63-D036E6A522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37" y="1919752"/>
            <a:ext cx="15245681" cy="697499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B328C3EF-B736-4BF4-AB4B-5E6E703E4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190" y="1966912"/>
            <a:ext cx="11696700" cy="635317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4335651" y="3990879"/>
            <a:ext cx="3485721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722372" y="4131041"/>
            <a:ext cx="3210396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QuadreDeText 12">
            <a:extLst>
              <a:ext uri="{FF2B5EF4-FFF2-40B4-BE49-F238E27FC236}">
                <a16:creationId xmlns:a16="http://schemas.microsoft.com/office/drawing/2014/main" id="{EC4ED6EC-FC33-4F3E-B445-1FDB1C856B6A}"/>
              </a:ext>
            </a:extLst>
          </p:cNvPr>
          <p:cNvSpPr txBox="1"/>
          <p:nvPr/>
        </p:nvSpPr>
        <p:spPr>
          <a:xfrm>
            <a:off x="11172881" y="9454919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241266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7" name="Imatge 6">
            <a:extLst>
              <a:ext uri="{FF2B5EF4-FFF2-40B4-BE49-F238E27FC236}">
                <a16:creationId xmlns:a16="http://schemas.microsoft.com/office/drawing/2014/main" id="{3E648FCE-7971-49F7-B1C4-73211CC4D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028" y="1992346"/>
            <a:ext cx="13487400" cy="644842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3818086" y="4340793"/>
            <a:ext cx="2805664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374698" y="4239665"/>
            <a:ext cx="3037901" cy="1034325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QuadreDeText 12">
            <a:extLst>
              <a:ext uri="{FF2B5EF4-FFF2-40B4-BE49-F238E27FC236}">
                <a16:creationId xmlns:a16="http://schemas.microsoft.com/office/drawing/2014/main" id="{5196AD66-857B-445F-8ACA-8B5866848235}"/>
              </a:ext>
            </a:extLst>
          </p:cNvPr>
          <p:cNvSpPr txBox="1"/>
          <p:nvPr/>
        </p:nvSpPr>
        <p:spPr>
          <a:xfrm>
            <a:off x="10598046" y="9157862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464056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42D5B2CC-4A8D-4CDB-8063-732212E764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395" y="1275255"/>
            <a:ext cx="10200871" cy="8929706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sector económico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5260632" y="2354376"/>
            <a:ext cx="2598821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QuadreDeText 9">
            <a:extLst>
              <a:ext uri="{FF2B5EF4-FFF2-40B4-BE49-F238E27FC236}">
                <a16:creationId xmlns:a16="http://schemas.microsoft.com/office/drawing/2014/main" id="{BFD99AF1-9DAA-451E-83AF-1058AB19BE6B}"/>
              </a:ext>
            </a:extLst>
          </p:cNvPr>
          <p:cNvSpPr txBox="1"/>
          <p:nvPr/>
        </p:nvSpPr>
        <p:spPr>
          <a:xfrm>
            <a:off x="11587397" y="9295283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EBBBF2B7-0BAE-486F-B9FD-CBE0F700B7FD}"/>
              </a:ext>
            </a:extLst>
          </p:cNvPr>
          <p:cNvSpPr/>
          <p:nvPr/>
        </p:nvSpPr>
        <p:spPr>
          <a:xfrm rot="5400000">
            <a:off x="5284696" y="5266018"/>
            <a:ext cx="2598821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03373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3" name="Imatge 2">
            <a:extLst>
              <a:ext uri="{FF2B5EF4-FFF2-40B4-BE49-F238E27FC236}">
                <a16:creationId xmlns:a16="http://schemas.microsoft.com/office/drawing/2014/main" id="{0B9CE290-D1C1-4189-9E21-0E59FAC07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83" y="1137967"/>
            <a:ext cx="13299546" cy="9104063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848133" y="4337802"/>
            <a:ext cx="9773586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QuadreDeText 9">
            <a:extLst>
              <a:ext uri="{FF2B5EF4-FFF2-40B4-BE49-F238E27FC236}">
                <a16:creationId xmlns:a16="http://schemas.microsoft.com/office/drawing/2014/main" id="{78EA8AD0-7D3A-4D72-BC07-3134E7C59809}"/>
              </a:ext>
            </a:extLst>
          </p:cNvPr>
          <p:cNvSpPr txBox="1"/>
          <p:nvPr/>
        </p:nvSpPr>
        <p:spPr>
          <a:xfrm>
            <a:off x="12037101" y="9762696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847268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5350F70C-B643-4590-B86F-BF44DB0AF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94" y="1452208"/>
            <a:ext cx="14763064" cy="8820277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964245" y="4381344"/>
            <a:ext cx="11521011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201505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3" name="Imatge 2">
            <a:extLst>
              <a:ext uri="{FF2B5EF4-FFF2-40B4-BE49-F238E27FC236}">
                <a16:creationId xmlns:a16="http://schemas.microsoft.com/office/drawing/2014/main" id="{F2254398-B710-4543-B10D-7353A4041C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550" y="2153594"/>
            <a:ext cx="14085695" cy="7362396"/>
          </a:xfrm>
          <a:prstGeom prst="rect">
            <a:avLst/>
          </a:prstGeom>
        </p:spPr>
      </p:pic>
      <p:sp>
        <p:nvSpPr>
          <p:cNvPr id="9" name="QuadreDeText 8">
            <a:extLst>
              <a:ext uri="{FF2B5EF4-FFF2-40B4-BE49-F238E27FC236}">
                <a16:creationId xmlns:a16="http://schemas.microsoft.com/office/drawing/2014/main" id="{94872647-7527-45A5-AB2A-5C75504F1D1F}"/>
              </a:ext>
            </a:extLst>
          </p:cNvPr>
          <p:cNvSpPr txBox="1"/>
          <p:nvPr/>
        </p:nvSpPr>
        <p:spPr>
          <a:xfrm>
            <a:off x="11857218" y="9787306"/>
            <a:ext cx="9233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138787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80">
          <a:extLst>
            <a:ext uri="{FF2B5EF4-FFF2-40B4-BE49-F238E27FC236}">
              <a16:creationId xmlns:a16="http://schemas.microsoft.com/office/drawing/2014/main" id="{9CF05CD1-42CF-1415-2507-014F0D5DA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1" name="Google Shape;281;p23">
            <a:extLst>
              <a:ext uri="{FF2B5EF4-FFF2-40B4-BE49-F238E27FC236}">
                <a16:creationId xmlns:a16="http://schemas.microsoft.com/office/drawing/2014/main" id="{FBD2D488-777B-F881-321D-7414A6F7B18A}"/>
              </a:ext>
            </a:extLst>
          </p:cNvPr>
          <p:cNvGrpSpPr/>
          <p:nvPr/>
        </p:nvGrpSpPr>
        <p:grpSpPr>
          <a:xfrm>
            <a:off x="8647101" y="1554020"/>
            <a:ext cx="1382928" cy="1389712"/>
            <a:chOff x="0" y="-9525"/>
            <a:chExt cx="963809" cy="968537"/>
          </a:xfrm>
        </p:grpSpPr>
        <p:sp>
          <p:nvSpPr>
            <p:cNvPr id="282" name="Google Shape;282;p23">
              <a:extLst>
                <a:ext uri="{FF2B5EF4-FFF2-40B4-BE49-F238E27FC236}">
                  <a16:creationId xmlns:a16="http://schemas.microsoft.com/office/drawing/2014/main" id="{0904FE46-466E-A0FE-64A7-933E7269DDAC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3" name="Google Shape;283;p23">
              <a:extLst>
                <a:ext uri="{FF2B5EF4-FFF2-40B4-BE49-F238E27FC236}">
                  <a16:creationId xmlns:a16="http://schemas.microsoft.com/office/drawing/2014/main" id="{35B35C79-17F9-73C2-E425-160AB7E1FED4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 lang="es-ES_tradnl" dirty="0"/>
            </a:p>
          </p:txBody>
        </p:sp>
      </p:grpSp>
      <p:grpSp>
        <p:nvGrpSpPr>
          <p:cNvPr id="284" name="Google Shape;284;p23">
            <a:extLst>
              <a:ext uri="{FF2B5EF4-FFF2-40B4-BE49-F238E27FC236}">
                <a16:creationId xmlns:a16="http://schemas.microsoft.com/office/drawing/2014/main" id="{D4DCD8B5-19F0-0D56-7A66-19EBF123EFC1}"/>
              </a:ext>
            </a:extLst>
          </p:cNvPr>
          <p:cNvGrpSpPr/>
          <p:nvPr/>
        </p:nvGrpSpPr>
        <p:grpSpPr>
          <a:xfrm>
            <a:off x="8647101" y="3546536"/>
            <a:ext cx="1382928" cy="1389712"/>
            <a:chOff x="0" y="-9525"/>
            <a:chExt cx="963809" cy="968537"/>
          </a:xfrm>
        </p:grpSpPr>
        <p:sp>
          <p:nvSpPr>
            <p:cNvPr id="285" name="Google Shape;285;p23">
              <a:extLst>
                <a:ext uri="{FF2B5EF4-FFF2-40B4-BE49-F238E27FC236}">
                  <a16:creationId xmlns:a16="http://schemas.microsoft.com/office/drawing/2014/main" id="{D9191FA8-EB35-68D8-CBB9-8124915F3660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6" name="Google Shape;286;p23">
              <a:extLst>
                <a:ext uri="{FF2B5EF4-FFF2-40B4-BE49-F238E27FC236}">
                  <a16:creationId xmlns:a16="http://schemas.microsoft.com/office/drawing/2014/main" id="{5D2F282B-5CFE-6353-0E3A-8E7AC934BA03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 lang="es-ES_tradnl" dirty="0"/>
            </a:p>
          </p:txBody>
        </p:sp>
      </p:grpSp>
      <p:grpSp>
        <p:nvGrpSpPr>
          <p:cNvPr id="287" name="Google Shape;287;p23">
            <a:extLst>
              <a:ext uri="{FF2B5EF4-FFF2-40B4-BE49-F238E27FC236}">
                <a16:creationId xmlns:a16="http://schemas.microsoft.com/office/drawing/2014/main" id="{736B4F0E-699C-B9C6-CB17-B4A44D8566BE}"/>
              </a:ext>
            </a:extLst>
          </p:cNvPr>
          <p:cNvGrpSpPr/>
          <p:nvPr/>
        </p:nvGrpSpPr>
        <p:grpSpPr>
          <a:xfrm>
            <a:off x="8647101" y="5578255"/>
            <a:ext cx="1382928" cy="1389712"/>
            <a:chOff x="0" y="-9525"/>
            <a:chExt cx="963809" cy="968537"/>
          </a:xfrm>
        </p:grpSpPr>
        <p:sp>
          <p:nvSpPr>
            <p:cNvPr id="288" name="Google Shape;288;p23">
              <a:extLst>
                <a:ext uri="{FF2B5EF4-FFF2-40B4-BE49-F238E27FC236}">
                  <a16:creationId xmlns:a16="http://schemas.microsoft.com/office/drawing/2014/main" id="{534FAD3D-081E-452B-11A8-EF8FC4505649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9" name="Google Shape;289;p23">
              <a:extLst>
                <a:ext uri="{FF2B5EF4-FFF2-40B4-BE49-F238E27FC236}">
                  <a16:creationId xmlns:a16="http://schemas.microsoft.com/office/drawing/2014/main" id="{F1D1B048-040C-1AF5-81F9-0F64D112826F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 lang="es-ES_tradnl" dirty="0"/>
            </a:p>
          </p:txBody>
        </p:sp>
      </p:grpSp>
      <p:sp>
        <p:nvSpPr>
          <p:cNvPr id="293" name="Google Shape;293;p23">
            <a:extLst>
              <a:ext uri="{FF2B5EF4-FFF2-40B4-BE49-F238E27FC236}">
                <a16:creationId xmlns:a16="http://schemas.microsoft.com/office/drawing/2014/main" id="{FFFE66FB-28AD-1476-E82E-46A9B8533C7C}"/>
              </a:ext>
            </a:extLst>
          </p:cNvPr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94" name="Google Shape;294;p23">
            <a:extLst>
              <a:ext uri="{FF2B5EF4-FFF2-40B4-BE49-F238E27FC236}">
                <a16:creationId xmlns:a16="http://schemas.microsoft.com/office/drawing/2014/main" id="{4335AF22-10B3-0245-6A1E-A7044BFDA00C}"/>
              </a:ext>
            </a:extLst>
          </p:cNvPr>
          <p:cNvSpPr txBox="1"/>
          <p:nvPr/>
        </p:nvSpPr>
        <p:spPr>
          <a:xfrm>
            <a:off x="1357220" y="2067019"/>
            <a:ext cx="59895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 DE FORMACIÓN 70-20-10</a:t>
            </a:r>
            <a:endParaRPr lang="es-ES_tradnl" dirty="0"/>
          </a:p>
        </p:txBody>
      </p:sp>
      <p:sp>
        <p:nvSpPr>
          <p:cNvPr id="298" name="Google Shape;298;p23">
            <a:extLst>
              <a:ext uri="{FF2B5EF4-FFF2-40B4-BE49-F238E27FC236}">
                <a16:creationId xmlns:a16="http://schemas.microsoft.com/office/drawing/2014/main" id="{186A78B8-C8E3-38CC-833A-72225D4995D6}"/>
              </a:ext>
            </a:extLst>
          </p:cNvPr>
          <p:cNvSpPr txBox="1"/>
          <p:nvPr/>
        </p:nvSpPr>
        <p:spPr>
          <a:xfrm>
            <a:off x="10393716" y="2031037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70% APRENDER TRABAJANDO</a:t>
            </a:r>
            <a:endParaRPr lang="es-ES_tradnl" dirty="0"/>
          </a:p>
        </p:txBody>
      </p:sp>
      <p:sp>
        <p:nvSpPr>
          <p:cNvPr id="301" name="Google Shape;301;p23">
            <a:extLst>
              <a:ext uri="{FF2B5EF4-FFF2-40B4-BE49-F238E27FC236}">
                <a16:creationId xmlns:a16="http://schemas.microsoft.com/office/drawing/2014/main" id="{0EB0886F-3824-8864-5A8D-63D9B2DF248C}"/>
              </a:ext>
            </a:extLst>
          </p:cNvPr>
          <p:cNvSpPr txBox="1"/>
          <p:nvPr/>
        </p:nvSpPr>
        <p:spPr>
          <a:xfrm>
            <a:off x="10393716" y="4021652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20% APRENDER DE </a:t>
            </a:r>
            <a:r>
              <a:rPr lang="es-ES_tradnl" sz="2400" b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OTROS </a:t>
            </a:r>
            <a:endParaRPr lang="es-ES_tradnl" sz="2400" b="1" dirty="0">
              <a:solidFill>
                <a:srgbClr val="004AAD"/>
              </a:solidFill>
              <a:latin typeface="Poppins"/>
              <a:cs typeface="Poppins"/>
              <a:sym typeface="Poppins"/>
            </a:endParaRPr>
          </a:p>
        </p:txBody>
      </p:sp>
      <p:sp>
        <p:nvSpPr>
          <p:cNvPr id="304" name="Google Shape;304;p23">
            <a:extLst>
              <a:ext uri="{FF2B5EF4-FFF2-40B4-BE49-F238E27FC236}">
                <a16:creationId xmlns:a16="http://schemas.microsoft.com/office/drawing/2014/main" id="{D81F7156-2EA7-892B-78D9-A6A96CEF51FB}"/>
              </a:ext>
            </a:extLst>
          </p:cNvPr>
          <p:cNvSpPr txBox="1"/>
          <p:nvPr/>
        </p:nvSpPr>
        <p:spPr>
          <a:xfrm>
            <a:off x="10393716" y="6053371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10% FORMACIÓN FORMAL</a:t>
            </a:r>
            <a:endParaRPr lang="es-ES_tradnl" dirty="0"/>
          </a:p>
        </p:txBody>
      </p:sp>
      <p:grpSp>
        <p:nvGrpSpPr>
          <p:cNvPr id="308" name="Google Shape;308;p23">
            <a:extLst>
              <a:ext uri="{FF2B5EF4-FFF2-40B4-BE49-F238E27FC236}">
                <a16:creationId xmlns:a16="http://schemas.microsoft.com/office/drawing/2014/main" id="{B3C6E7B3-9D31-55CD-CA26-CF5430B1F92E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309" name="Google Shape;309;p23">
              <a:extLst>
                <a:ext uri="{FF2B5EF4-FFF2-40B4-BE49-F238E27FC236}">
                  <a16:creationId xmlns:a16="http://schemas.microsoft.com/office/drawing/2014/main" id="{22DC04A7-9158-BB4E-F48C-FFFCB3796275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310" name="Google Shape;310;p23">
              <a:extLst>
                <a:ext uri="{FF2B5EF4-FFF2-40B4-BE49-F238E27FC236}">
                  <a16:creationId xmlns:a16="http://schemas.microsoft.com/office/drawing/2014/main" id="{61FD26A3-7C65-7F64-5E8A-A0DC8DCC11F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0" name="Google Shape;162;p18">
            <a:extLst>
              <a:ext uri="{FF2B5EF4-FFF2-40B4-BE49-F238E27FC236}">
                <a16:creationId xmlns:a16="http://schemas.microsoft.com/office/drawing/2014/main" id="{A239F5B4-C207-4A51-AE2F-F621521A6B0F}"/>
              </a:ext>
            </a:extLst>
          </p:cNvPr>
          <p:cNvSpPr/>
          <p:nvPr/>
        </p:nvSpPr>
        <p:spPr>
          <a:xfrm>
            <a:off x="14226839" y="7928731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1" name="QuadreDeText 20">
            <a:extLst>
              <a:ext uri="{FF2B5EF4-FFF2-40B4-BE49-F238E27FC236}">
                <a16:creationId xmlns:a16="http://schemas.microsoft.com/office/drawing/2014/main" id="{9DFD7447-688C-4313-A7DB-F0BBD3A18814}"/>
              </a:ext>
            </a:extLst>
          </p:cNvPr>
          <p:cNvSpPr txBox="1"/>
          <p:nvPr/>
        </p:nvSpPr>
        <p:spPr>
          <a:xfrm>
            <a:off x="7294897" y="9449125"/>
            <a:ext cx="9900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6"/>
              </a:rPr>
              <a:t>Developing Better Leaders For All Things Humanly Possible | CCL</a:t>
            </a:r>
            <a:endParaRPr lang="es-ES" dirty="0"/>
          </a:p>
        </p:txBody>
      </p:sp>
      <p:pic>
        <p:nvPicPr>
          <p:cNvPr id="3" name="Imatge 2">
            <a:extLst>
              <a:ext uri="{FF2B5EF4-FFF2-40B4-BE49-F238E27FC236}">
                <a16:creationId xmlns:a16="http://schemas.microsoft.com/office/drawing/2014/main" id="{C7D539AD-10F3-44B5-A433-A436E32D7C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58777" y="9824492"/>
            <a:ext cx="2429165" cy="317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3751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e298b6e5ff_0_106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77" name="Google Shape;177;g3e298b6e5ff_0_106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78" name="Google Shape;178;g3e298b6e5ff_0_106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79" name="Google Shape;179;g3e298b6e5ff_0_106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80" name="Google Shape;180;g3e298b6e5ff_0_106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81" name="Google Shape;181;g3e298b6e5ff_0_106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82" name="Google Shape;182;g3e298b6e5ff_0_106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g3e298b6e5ff_0_106"/>
          <p:cNvSpPr txBox="1"/>
          <p:nvPr/>
        </p:nvSpPr>
        <p:spPr>
          <a:xfrm>
            <a:off x="612800" y="5420825"/>
            <a:ext cx="84561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Estudio de sector sobre barreras formativas basado en la Encuesta Anual Laboral (EAL)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g3e298b6e5ff_0_106"/>
          <p:cNvSpPr txBox="1"/>
          <p:nvPr/>
        </p:nvSpPr>
        <p:spPr>
          <a:xfrm>
            <a:off x="1124999" y="8618274"/>
            <a:ext cx="4302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 Andrea C.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g3e298b6e5ff_0_106"/>
          <p:cNvSpPr txBox="1"/>
          <p:nvPr/>
        </p:nvSpPr>
        <p:spPr>
          <a:xfrm>
            <a:off x="612800" y="4197275"/>
            <a:ext cx="82692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Barreras Formativas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6" name="Google Shape;186;g3e298b6e5ff_0_106"/>
          <p:cNvGrpSpPr/>
          <p:nvPr/>
        </p:nvGrpSpPr>
        <p:grpSpPr>
          <a:xfrm>
            <a:off x="-46" y="-8"/>
            <a:ext cx="2163459" cy="1886317"/>
            <a:chOff x="12784129" y="3675030"/>
            <a:chExt cx="2163459" cy="1886317"/>
          </a:xfrm>
        </p:grpSpPr>
        <p:sp>
          <p:nvSpPr>
            <p:cNvPr id="187" name="Google Shape;187;g3e298b6e5ff_0_106"/>
            <p:cNvSpPr txBox="1"/>
            <p:nvPr/>
          </p:nvSpPr>
          <p:spPr>
            <a:xfrm rot="1830973">
              <a:off x="12805727" y="4425469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g3e298b6e5ff_0_10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e1d0e86918_0_129"/>
          <p:cNvSpPr/>
          <p:nvPr/>
        </p:nvSpPr>
        <p:spPr>
          <a:xfrm>
            <a:off x="12115033" y="262258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4" y="0"/>
                </a:lnTo>
                <a:lnTo>
                  <a:pt x="7914104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4" name="Google Shape;194;g3e1d0e86918_0_129"/>
          <p:cNvSpPr/>
          <p:nvPr/>
        </p:nvSpPr>
        <p:spPr>
          <a:xfrm>
            <a:off x="12966306" y="6222366"/>
            <a:ext cx="3403844" cy="3193424"/>
          </a:xfrm>
          <a:custGeom>
            <a:avLst/>
            <a:gdLst/>
            <a:ahLst/>
            <a:cxnLst/>
            <a:rect l="l" t="t" r="r" b="b"/>
            <a:pathLst>
              <a:path w="3403844" h="3193424" extrusionOk="0">
                <a:moveTo>
                  <a:pt x="0" y="0"/>
                </a:moveTo>
                <a:lnTo>
                  <a:pt x="3403844" y="0"/>
                </a:lnTo>
                <a:lnTo>
                  <a:pt x="3403844" y="3193424"/>
                </a:lnTo>
                <a:lnTo>
                  <a:pt x="0" y="31934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95" name="Google Shape;195;g3e1d0e86918_0_129"/>
          <p:cNvGrpSpPr/>
          <p:nvPr/>
        </p:nvGrpSpPr>
        <p:grpSpPr>
          <a:xfrm>
            <a:off x="47" y="5"/>
            <a:ext cx="2163366" cy="1886372"/>
            <a:chOff x="12784222" y="3675030"/>
            <a:chExt cx="2163366" cy="1886372"/>
          </a:xfrm>
        </p:grpSpPr>
        <p:sp>
          <p:nvSpPr>
            <p:cNvPr id="196" name="Google Shape;196;g3e1d0e86918_0_129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" name="Google Shape;197;g3e1d0e86918_0_129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198" name="Google Shape;198;g3e1d0e86918_0_129"/>
          <p:cNvSpPr/>
          <p:nvPr/>
        </p:nvSpPr>
        <p:spPr>
          <a:xfrm>
            <a:off x="3295425" y="2823275"/>
            <a:ext cx="1787100" cy="677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5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SECTOR</a:t>
            </a:r>
            <a:endParaRPr sz="25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9" name="Google Shape;199;g3e1d0e86918_0_129"/>
          <p:cNvSpPr/>
          <p:nvPr/>
        </p:nvSpPr>
        <p:spPr>
          <a:xfrm>
            <a:off x="3830325" y="5234838"/>
            <a:ext cx="4924200" cy="9339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2"/>
              <a:buFont typeface="Arial"/>
              <a:buNone/>
            </a:pPr>
            <a:r>
              <a:rPr lang="en-US" sz="25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IDENTIFICACIÓN</a:t>
            </a:r>
            <a:r>
              <a:rPr lang="en-US" sz="2500" b="1" i="0" u="none" strike="noStrike" cap="none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 BARRERAS </a:t>
            </a:r>
            <a:r>
              <a:rPr lang="en-US" sz="25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FORMATIVAS</a:t>
            </a:r>
            <a:endParaRPr sz="25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00" name="Google Shape;200;g3e1d0e86918_0_129"/>
          <p:cNvSpPr/>
          <p:nvPr/>
        </p:nvSpPr>
        <p:spPr>
          <a:xfrm>
            <a:off x="3741825" y="8014450"/>
            <a:ext cx="5101200" cy="9339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800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AJUSTES DE NUESTRAS POLITICAS</a:t>
            </a:r>
            <a:endParaRPr sz="28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01" name="Google Shape;201;g3e1d0e86918_0_129"/>
          <p:cNvSpPr/>
          <p:nvPr/>
        </p:nvSpPr>
        <p:spPr>
          <a:xfrm rot="2936607">
            <a:off x="4353154" y="3902156"/>
            <a:ext cx="962388" cy="442488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CFE2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g3e1d0e86918_0_129"/>
          <p:cNvSpPr txBox="1"/>
          <p:nvPr/>
        </p:nvSpPr>
        <p:spPr>
          <a:xfrm>
            <a:off x="2846925" y="472325"/>
            <a:ext cx="81504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OBJETIVO DE ANÁLISIS</a:t>
            </a:r>
            <a:endParaRPr sz="3300" b="1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03" name="Google Shape;203;g3e1d0e86918_0_129"/>
          <p:cNvSpPr/>
          <p:nvPr/>
        </p:nvSpPr>
        <p:spPr>
          <a:xfrm rot="7740174">
            <a:off x="7112428" y="3902212"/>
            <a:ext cx="962407" cy="44238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CFE2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g3e1d0e86918_0_129"/>
          <p:cNvSpPr/>
          <p:nvPr/>
        </p:nvSpPr>
        <p:spPr>
          <a:xfrm>
            <a:off x="7512113" y="2823275"/>
            <a:ext cx="1787100" cy="677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32"/>
              <a:buFont typeface="Arial"/>
              <a:buNone/>
            </a:pPr>
            <a:r>
              <a:rPr lang="en-US" sz="25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TAMAÑO</a:t>
            </a:r>
            <a:endParaRPr sz="2500" b="0" i="0" u="none" strike="noStrike" cap="none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05" name="Google Shape;205;g3e1d0e86918_0_129"/>
          <p:cNvSpPr/>
          <p:nvPr/>
        </p:nvSpPr>
        <p:spPr>
          <a:xfrm rot="5400000">
            <a:off x="5811227" y="6870351"/>
            <a:ext cx="962400" cy="4425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CFE2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dbe1710380_1_139"/>
          <p:cNvSpPr/>
          <p:nvPr/>
        </p:nvSpPr>
        <p:spPr>
          <a:xfrm>
            <a:off x="8574775" y="2784100"/>
            <a:ext cx="6972900" cy="6472200"/>
          </a:xfrm>
          <a:prstGeom prst="mathMultiply">
            <a:avLst>
              <a:gd name="adj1" fmla="val 23520"/>
            </a:avLst>
          </a:prstGeom>
          <a:noFill/>
          <a:ln w="114300" cap="flat" cmpd="sng">
            <a:solidFill>
              <a:srgbClr val="F9CB9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g3dbe1710380_1_139"/>
          <p:cNvSpPr/>
          <p:nvPr/>
        </p:nvSpPr>
        <p:spPr>
          <a:xfrm>
            <a:off x="13667995" y="-1478197"/>
            <a:ext cx="4807819" cy="4624247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4" y="0"/>
                </a:lnTo>
                <a:lnTo>
                  <a:pt x="7914104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12" name="Google Shape;212;g3dbe1710380_1_139"/>
          <p:cNvSpPr/>
          <p:nvPr/>
        </p:nvSpPr>
        <p:spPr>
          <a:xfrm>
            <a:off x="14184803" y="2140180"/>
            <a:ext cx="2067835" cy="1940005"/>
          </a:xfrm>
          <a:custGeom>
            <a:avLst/>
            <a:gdLst/>
            <a:ahLst/>
            <a:cxnLst/>
            <a:rect l="l" t="t" r="r" b="b"/>
            <a:pathLst>
              <a:path w="3403844" h="3193424" extrusionOk="0">
                <a:moveTo>
                  <a:pt x="0" y="0"/>
                </a:moveTo>
                <a:lnTo>
                  <a:pt x="3403844" y="0"/>
                </a:lnTo>
                <a:lnTo>
                  <a:pt x="3403844" y="3193424"/>
                </a:lnTo>
                <a:lnTo>
                  <a:pt x="0" y="31934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13" name="Google Shape;213;g3dbe1710380_1_139"/>
          <p:cNvGrpSpPr/>
          <p:nvPr/>
        </p:nvGrpSpPr>
        <p:grpSpPr>
          <a:xfrm>
            <a:off x="2997888" y="6481814"/>
            <a:ext cx="5532975" cy="412566"/>
            <a:chOff x="626300" y="-677554"/>
            <a:chExt cx="7377300" cy="550087"/>
          </a:xfrm>
        </p:grpSpPr>
        <p:sp>
          <p:nvSpPr>
            <p:cNvPr id="214" name="Google Shape;214;g3dbe1710380_1_139"/>
            <p:cNvSpPr txBox="1"/>
            <p:nvPr/>
          </p:nvSpPr>
          <p:spPr>
            <a:xfrm>
              <a:off x="626300" y="-677554"/>
              <a:ext cx="36114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g3dbe1710380_1_139"/>
            <p:cNvSpPr txBox="1"/>
            <p:nvPr/>
          </p:nvSpPr>
          <p:spPr>
            <a:xfrm>
              <a:off x="4392200" y="-620067"/>
              <a:ext cx="361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POCO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6" name="Google Shape;216;g3dbe1710380_1_139"/>
          <p:cNvSpPr txBox="1"/>
          <p:nvPr/>
        </p:nvSpPr>
        <p:spPr>
          <a:xfrm>
            <a:off x="3331351" y="6475725"/>
            <a:ext cx="1975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NADA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g3dbe1710380_1_139"/>
          <p:cNvSpPr txBox="1"/>
          <p:nvPr/>
        </p:nvSpPr>
        <p:spPr>
          <a:xfrm>
            <a:off x="9419371" y="6503438"/>
            <a:ext cx="181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B45F06"/>
                </a:solidFill>
                <a:latin typeface="Poppins"/>
                <a:ea typeface="Poppins"/>
                <a:cs typeface="Poppins"/>
                <a:sym typeface="Poppins"/>
              </a:rPr>
              <a:t>BASTANTE</a:t>
            </a:r>
            <a:endParaRPr sz="1400" b="0" i="0" u="none" strike="noStrike" cap="none">
              <a:solidFill>
                <a:srgbClr val="B45F0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g3dbe1710380_1_139"/>
          <p:cNvSpPr txBox="1"/>
          <p:nvPr/>
        </p:nvSpPr>
        <p:spPr>
          <a:xfrm>
            <a:off x="2867844" y="1409122"/>
            <a:ext cx="86175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TIPO DE ENCUESTA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g3dbe1710380_1_139"/>
          <p:cNvSpPr txBox="1"/>
          <p:nvPr/>
        </p:nvSpPr>
        <p:spPr>
          <a:xfrm>
            <a:off x="2163419" y="2072121"/>
            <a:ext cx="8714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0" name="Google Shape;220;g3dbe1710380_1_139"/>
          <p:cNvGrpSpPr/>
          <p:nvPr/>
        </p:nvGrpSpPr>
        <p:grpSpPr>
          <a:xfrm>
            <a:off x="47" y="5"/>
            <a:ext cx="2163366" cy="1886372"/>
            <a:chOff x="12784222" y="3675030"/>
            <a:chExt cx="2163366" cy="1886372"/>
          </a:xfrm>
        </p:grpSpPr>
        <p:sp>
          <p:nvSpPr>
            <p:cNvPr id="221" name="Google Shape;221;g3dbe1710380_1_139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" name="Google Shape;222;g3dbe1710380_1_139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23" name="Google Shape;223;g3dbe1710380_1_139"/>
          <p:cNvSpPr txBox="1"/>
          <p:nvPr/>
        </p:nvSpPr>
        <p:spPr>
          <a:xfrm>
            <a:off x="12654850" y="6383325"/>
            <a:ext cx="1647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B45F06"/>
                </a:solidFill>
                <a:latin typeface="Poppins"/>
                <a:ea typeface="Poppins"/>
                <a:cs typeface="Poppins"/>
                <a:sym typeface="Poppins"/>
              </a:rPr>
              <a:t>MUCHO</a:t>
            </a:r>
            <a:endParaRPr sz="1400" b="0" i="0" u="none" strike="noStrike" cap="none">
              <a:solidFill>
                <a:srgbClr val="B45F0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g3dbe1710380_1_139"/>
          <p:cNvSpPr/>
          <p:nvPr/>
        </p:nvSpPr>
        <p:spPr>
          <a:xfrm>
            <a:off x="3865800" y="5137950"/>
            <a:ext cx="906600" cy="9066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g3dbe1710380_1_139"/>
          <p:cNvSpPr txBox="1"/>
          <p:nvPr/>
        </p:nvSpPr>
        <p:spPr>
          <a:xfrm>
            <a:off x="3972300" y="5252700"/>
            <a:ext cx="693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🙂</a:t>
            </a:r>
            <a:endParaRPr/>
          </a:p>
        </p:txBody>
      </p:sp>
      <p:sp>
        <p:nvSpPr>
          <p:cNvPr id="226" name="Google Shape;226;g3dbe1710380_1_139"/>
          <p:cNvSpPr/>
          <p:nvPr/>
        </p:nvSpPr>
        <p:spPr>
          <a:xfrm>
            <a:off x="6723300" y="5137950"/>
            <a:ext cx="906600" cy="9066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g3dbe1710380_1_139"/>
          <p:cNvSpPr txBox="1"/>
          <p:nvPr/>
        </p:nvSpPr>
        <p:spPr>
          <a:xfrm>
            <a:off x="6829800" y="5252700"/>
            <a:ext cx="693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😏</a:t>
            </a:r>
            <a:endParaRPr/>
          </a:p>
        </p:txBody>
      </p:sp>
      <p:sp>
        <p:nvSpPr>
          <p:cNvPr id="228" name="Google Shape;228;g3dbe1710380_1_139"/>
          <p:cNvSpPr/>
          <p:nvPr/>
        </p:nvSpPr>
        <p:spPr>
          <a:xfrm>
            <a:off x="9874325" y="5137950"/>
            <a:ext cx="906600" cy="9066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g3dbe1710380_1_139"/>
          <p:cNvSpPr txBox="1"/>
          <p:nvPr/>
        </p:nvSpPr>
        <p:spPr>
          <a:xfrm>
            <a:off x="9980825" y="5252700"/>
            <a:ext cx="693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😒</a:t>
            </a:r>
            <a:endParaRPr/>
          </a:p>
        </p:txBody>
      </p:sp>
      <p:sp>
        <p:nvSpPr>
          <p:cNvPr id="230" name="Google Shape;230;g3dbe1710380_1_139"/>
          <p:cNvSpPr/>
          <p:nvPr/>
        </p:nvSpPr>
        <p:spPr>
          <a:xfrm>
            <a:off x="13025350" y="5137950"/>
            <a:ext cx="906600" cy="9066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g3dbe1710380_1_139"/>
          <p:cNvSpPr txBox="1"/>
          <p:nvPr/>
        </p:nvSpPr>
        <p:spPr>
          <a:xfrm>
            <a:off x="13131850" y="5252700"/>
            <a:ext cx="693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😠</a:t>
            </a:r>
            <a:endParaRPr/>
          </a:p>
        </p:txBody>
      </p:sp>
      <p:sp>
        <p:nvSpPr>
          <p:cNvPr id="232" name="Google Shape;232;g3dbe1710380_1_139"/>
          <p:cNvSpPr txBox="1"/>
          <p:nvPr/>
        </p:nvSpPr>
        <p:spPr>
          <a:xfrm>
            <a:off x="2933025" y="2072125"/>
            <a:ext cx="8889900" cy="62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chemeClr val="dk2"/>
                </a:solidFill>
                <a:latin typeface="Poppins Light"/>
                <a:ea typeface="Poppins Light"/>
                <a:cs typeface="Poppins Light"/>
                <a:sym typeface="Poppins Light"/>
              </a:rPr>
              <a:t>Que se percibe como BARRERA?</a:t>
            </a:r>
            <a:endParaRPr sz="2300">
              <a:solidFill>
                <a:schemeClr val="dk2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ddcbdc3c4f_1_356"/>
          <p:cNvSpPr/>
          <p:nvPr/>
        </p:nvSpPr>
        <p:spPr>
          <a:xfrm flipH="1">
            <a:off x="13327023" y="-1831276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38" name="Google Shape;238;g3ddcbdc3c4f_1_356"/>
          <p:cNvSpPr/>
          <p:nvPr/>
        </p:nvSpPr>
        <p:spPr>
          <a:xfrm flipH="1">
            <a:off x="14990317" y="-79416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1"/>
                </a:lnTo>
                <a:lnTo>
                  <a:pt x="7088187" y="6469581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39" name="Google Shape;239;g3ddcbdc3c4f_1_356"/>
          <p:cNvSpPr/>
          <p:nvPr/>
        </p:nvSpPr>
        <p:spPr>
          <a:xfrm flipH="1">
            <a:off x="16682965" y="26431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40" name="Google Shape;240;g3ddcbdc3c4f_1_356"/>
          <p:cNvSpPr/>
          <p:nvPr/>
        </p:nvSpPr>
        <p:spPr>
          <a:xfrm flipH="1">
            <a:off x="18365827" y="1291641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41" name="Google Shape;241;g3ddcbdc3c4f_1_356"/>
          <p:cNvSpPr txBox="1"/>
          <p:nvPr/>
        </p:nvSpPr>
        <p:spPr>
          <a:xfrm>
            <a:off x="1560900" y="998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IMPACTO BARRERAS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2" name="Google Shape;242;g3ddcbdc3c4f_1_356"/>
          <p:cNvGrpSpPr/>
          <p:nvPr/>
        </p:nvGrpSpPr>
        <p:grpSpPr>
          <a:xfrm>
            <a:off x="16124622" y="8400655"/>
            <a:ext cx="2163366" cy="1886372"/>
            <a:chOff x="12784222" y="3675030"/>
            <a:chExt cx="2163366" cy="1886372"/>
          </a:xfrm>
        </p:grpSpPr>
        <p:sp>
          <p:nvSpPr>
            <p:cNvPr id="243" name="Google Shape;243;g3ddcbdc3c4f_1_35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4" name="Google Shape;244;g3ddcbdc3c4f_1_35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45" name="Google Shape;245;g3ddcbdc3c4f_1_356"/>
          <p:cNvSpPr/>
          <p:nvPr/>
        </p:nvSpPr>
        <p:spPr>
          <a:xfrm>
            <a:off x="857075" y="2415275"/>
            <a:ext cx="11295600" cy="705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6" name="Google Shape;246;g3ddcbdc3c4f_1_356" title="ranking_barreras_impact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43600" y="2472625"/>
            <a:ext cx="11035899" cy="689745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g3ddcbdc3c4f_1_356"/>
          <p:cNvSpPr/>
          <p:nvPr/>
        </p:nvSpPr>
        <p:spPr>
          <a:xfrm>
            <a:off x="11045361" y="264324"/>
            <a:ext cx="2470941" cy="3102779"/>
          </a:xfrm>
          <a:custGeom>
            <a:avLst/>
            <a:gdLst/>
            <a:ahLst/>
            <a:cxnLst/>
            <a:rect l="l" t="t" r="r" b="b"/>
            <a:pathLst>
              <a:path w="3647145" h="4579748" extrusionOk="0">
                <a:moveTo>
                  <a:pt x="0" y="0"/>
                </a:moveTo>
                <a:lnTo>
                  <a:pt x="3647145" y="0"/>
                </a:lnTo>
                <a:lnTo>
                  <a:pt x="3647145" y="4579748"/>
                </a:lnTo>
                <a:lnTo>
                  <a:pt x="0" y="457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dbe1710380_1_127"/>
          <p:cNvSpPr/>
          <p:nvPr/>
        </p:nvSpPr>
        <p:spPr>
          <a:xfrm>
            <a:off x="-1415600" y="508519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53" name="Google Shape;253;g3dbe1710380_1_127"/>
          <p:cNvSpPr/>
          <p:nvPr/>
        </p:nvSpPr>
        <p:spPr>
          <a:xfrm>
            <a:off x="-599094" y="2785345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54" name="Google Shape;254;g3dbe1710380_1_127"/>
          <p:cNvSpPr/>
          <p:nvPr/>
        </p:nvSpPr>
        <p:spPr>
          <a:xfrm>
            <a:off x="-1592448" y="3443657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55" name="Google Shape;255;g3dbe1710380_1_127"/>
          <p:cNvGrpSpPr/>
          <p:nvPr/>
        </p:nvGrpSpPr>
        <p:grpSpPr>
          <a:xfrm>
            <a:off x="16124622" y="8400655"/>
            <a:ext cx="2163366" cy="1886372"/>
            <a:chOff x="12784222" y="3675030"/>
            <a:chExt cx="2163366" cy="1886372"/>
          </a:xfrm>
        </p:grpSpPr>
        <p:sp>
          <p:nvSpPr>
            <p:cNvPr id="256" name="Google Shape;256;g3dbe1710380_1_12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7" name="Google Shape;257;g3dbe1710380_1_12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58" name="Google Shape;258;g3dbe1710380_1_127"/>
          <p:cNvSpPr txBox="1"/>
          <p:nvPr/>
        </p:nvSpPr>
        <p:spPr>
          <a:xfrm>
            <a:off x="6487025" y="7056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CARGA DE TRABAJO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g3dbe1710380_1_127"/>
          <p:cNvSpPr/>
          <p:nvPr/>
        </p:nvSpPr>
        <p:spPr>
          <a:xfrm>
            <a:off x="3720650" y="2485800"/>
            <a:ext cx="11411700" cy="72066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76"/>
              <a:buFont typeface="Arial"/>
              <a:buNone/>
            </a:pPr>
            <a:endParaRPr sz="1876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0" name="Google Shape;260;g3dbe1710380_1_127" title="barrera_Carga_de_trabaj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76513" y="2696150"/>
            <a:ext cx="10925727" cy="6785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dbe1710380_1_117"/>
          <p:cNvSpPr/>
          <p:nvPr/>
        </p:nvSpPr>
        <p:spPr>
          <a:xfrm>
            <a:off x="14900450" y="1077150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66" name="Google Shape;266;g3dbe1710380_1_117"/>
          <p:cNvSpPr txBox="1"/>
          <p:nvPr/>
        </p:nvSpPr>
        <p:spPr>
          <a:xfrm>
            <a:off x="1847950" y="1077150"/>
            <a:ext cx="79014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ALTO COSTE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7" name="Google Shape;267;g3dbe1710380_1_117"/>
          <p:cNvGrpSpPr/>
          <p:nvPr/>
        </p:nvGrpSpPr>
        <p:grpSpPr>
          <a:xfrm>
            <a:off x="16124622" y="8400655"/>
            <a:ext cx="2163366" cy="1886372"/>
            <a:chOff x="12784222" y="3675030"/>
            <a:chExt cx="2163366" cy="1886372"/>
          </a:xfrm>
        </p:grpSpPr>
        <p:sp>
          <p:nvSpPr>
            <p:cNvPr id="268" name="Google Shape;268;g3dbe1710380_1_1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g3dbe1710380_1_1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70" name="Google Shape;270;g3dbe1710380_1_117"/>
          <p:cNvSpPr/>
          <p:nvPr/>
        </p:nvSpPr>
        <p:spPr>
          <a:xfrm>
            <a:off x="1504275" y="2526300"/>
            <a:ext cx="11027100" cy="6771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1" name="Google Shape;271;g3dbe1710380_1_117" title="barrera_Alto_cost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40350" y="2526300"/>
            <a:ext cx="10603699" cy="6585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e1e185a98a_0_23"/>
          <p:cNvSpPr/>
          <p:nvPr/>
        </p:nvSpPr>
        <p:spPr>
          <a:xfrm>
            <a:off x="15764356" y="1959908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77" name="Google Shape;277;g3e1e185a98a_0_23"/>
          <p:cNvSpPr/>
          <p:nvPr/>
        </p:nvSpPr>
        <p:spPr>
          <a:xfrm>
            <a:off x="15918902" y="304757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78" name="Google Shape;278;g3e1e185a98a_0_23"/>
          <p:cNvGrpSpPr/>
          <p:nvPr/>
        </p:nvGrpSpPr>
        <p:grpSpPr>
          <a:xfrm>
            <a:off x="16124529" y="8400655"/>
            <a:ext cx="2163459" cy="1886317"/>
            <a:chOff x="12784129" y="3675030"/>
            <a:chExt cx="2163459" cy="1886317"/>
          </a:xfrm>
        </p:grpSpPr>
        <p:sp>
          <p:nvSpPr>
            <p:cNvPr id="279" name="Google Shape;279;g3e1e185a98a_0_23"/>
            <p:cNvSpPr txBox="1"/>
            <p:nvPr/>
          </p:nvSpPr>
          <p:spPr>
            <a:xfrm rot="1830973">
              <a:off x="12805727" y="4425469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" name="Google Shape;280;g3e1e185a98a_0_2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81" name="Google Shape;281;g3e1e185a98a_0_23"/>
          <p:cNvSpPr txBox="1"/>
          <p:nvPr/>
        </p:nvSpPr>
        <p:spPr>
          <a:xfrm>
            <a:off x="5297550" y="534700"/>
            <a:ext cx="76929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DIFICULTAD SUBVENCIONES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g3e1e185a98a_0_23"/>
          <p:cNvSpPr/>
          <p:nvPr/>
        </p:nvSpPr>
        <p:spPr>
          <a:xfrm>
            <a:off x="2438425" y="1753100"/>
            <a:ext cx="11411700" cy="72066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76"/>
              <a:buFont typeface="Arial"/>
              <a:buNone/>
            </a:pPr>
            <a:endParaRPr sz="1876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3" name="Google Shape;283;g3e1e185a98a_0_23" title="barrera_Dificultad_subvencione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48325" y="1880788"/>
            <a:ext cx="11191900" cy="6951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e1e185a98a_0_36"/>
          <p:cNvSpPr/>
          <p:nvPr/>
        </p:nvSpPr>
        <p:spPr>
          <a:xfrm flipH="1">
            <a:off x="13327023" y="-1831276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89" name="Google Shape;289;g3e1e185a98a_0_36"/>
          <p:cNvSpPr/>
          <p:nvPr/>
        </p:nvSpPr>
        <p:spPr>
          <a:xfrm flipH="1">
            <a:off x="14990317" y="-79416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1"/>
                </a:lnTo>
                <a:lnTo>
                  <a:pt x="7088187" y="6469581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90" name="Google Shape;290;g3e1e185a98a_0_36"/>
          <p:cNvSpPr/>
          <p:nvPr/>
        </p:nvSpPr>
        <p:spPr>
          <a:xfrm flipH="1">
            <a:off x="16682965" y="26431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91" name="Google Shape;291;g3e1e185a98a_0_36"/>
          <p:cNvSpPr/>
          <p:nvPr/>
        </p:nvSpPr>
        <p:spPr>
          <a:xfrm flipH="1">
            <a:off x="18365827" y="1291641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92" name="Google Shape;292;g3e1e185a98a_0_36"/>
          <p:cNvSpPr txBox="1"/>
          <p:nvPr/>
        </p:nvSpPr>
        <p:spPr>
          <a:xfrm>
            <a:off x="1560900" y="998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TENDENCIA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93" name="Google Shape;293;g3e1e185a98a_0_36"/>
          <p:cNvGrpSpPr/>
          <p:nvPr/>
        </p:nvGrpSpPr>
        <p:grpSpPr>
          <a:xfrm>
            <a:off x="16124529" y="8400655"/>
            <a:ext cx="2163459" cy="1886317"/>
            <a:chOff x="12784129" y="3675030"/>
            <a:chExt cx="2163459" cy="1886317"/>
          </a:xfrm>
        </p:grpSpPr>
        <p:sp>
          <p:nvSpPr>
            <p:cNvPr id="294" name="Google Shape;294;g3e1e185a98a_0_36"/>
            <p:cNvSpPr txBox="1"/>
            <p:nvPr/>
          </p:nvSpPr>
          <p:spPr>
            <a:xfrm rot="1830973">
              <a:off x="12805727" y="4425469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g3e1e185a98a_0_3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96" name="Google Shape;296;g3e1e185a98a_0_36"/>
          <p:cNvSpPr/>
          <p:nvPr/>
        </p:nvSpPr>
        <p:spPr>
          <a:xfrm>
            <a:off x="857075" y="2415275"/>
            <a:ext cx="11295600" cy="705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g3e1e185a98a_0_36" title="ranking_barreras_tendencia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98975" y="2636905"/>
            <a:ext cx="10811802" cy="6757376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g3e1e185a98a_0_36"/>
          <p:cNvSpPr/>
          <p:nvPr/>
        </p:nvSpPr>
        <p:spPr>
          <a:xfrm>
            <a:off x="11045361" y="264324"/>
            <a:ext cx="2470941" cy="3102779"/>
          </a:xfrm>
          <a:custGeom>
            <a:avLst/>
            <a:gdLst/>
            <a:ahLst/>
            <a:cxnLst/>
            <a:rect l="l" t="t" r="r" b="b"/>
            <a:pathLst>
              <a:path w="3647145" h="4579748" extrusionOk="0">
                <a:moveTo>
                  <a:pt x="0" y="0"/>
                </a:moveTo>
                <a:lnTo>
                  <a:pt x="3647145" y="0"/>
                </a:lnTo>
                <a:lnTo>
                  <a:pt x="3647145" y="4579748"/>
                </a:lnTo>
                <a:lnTo>
                  <a:pt x="0" y="457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3" name="Google Shape;303;g3dbe1710380_1_242"/>
          <p:cNvGrpSpPr/>
          <p:nvPr/>
        </p:nvGrpSpPr>
        <p:grpSpPr>
          <a:xfrm>
            <a:off x="7932976" y="2859745"/>
            <a:ext cx="1383100" cy="1389754"/>
            <a:chOff x="0" y="-9525"/>
            <a:chExt cx="963900" cy="968537"/>
          </a:xfrm>
        </p:grpSpPr>
        <p:sp>
          <p:nvSpPr>
            <p:cNvPr id="304" name="Google Shape;304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305" name="Google Shape;305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0"/>
                <a:buFont typeface="Arial"/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6" name="Google Shape;306;g3dbe1710380_1_242"/>
          <p:cNvGrpSpPr/>
          <p:nvPr/>
        </p:nvGrpSpPr>
        <p:grpSpPr>
          <a:xfrm>
            <a:off x="7932976" y="5679173"/>
            <a:ext cx="1383100" cy="1389754"/>
            <a:chOff x="0" y="-9525"/>
            <a:chExt cx="963900" cy="968537"/>
          </a:xfrm>
        </p:grpSpPr>
        <p:sp>
          <p:nvSpPr>
            <p:cNvPr id="307" name="Google Shape;307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308" name="Google Shape;308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0"/>
                <a:buFont typeface="Arial"/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09" name="Google Shape;309;g3dbe1710380_1_242"/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10" name="Google Shape;310;g3dbe1710380_1_242"/>
          <p:cNvSpPr txBox="1"/>
          <p:nvPr/>
        </p:nvSpPr>
        <p:spPr>
          <a:xfrm>
            <a:off x="948375" y="2100827"/>
            <a:ext cx="5989500" cy="12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1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ESTRATEGIAS Y AJUSTES ORGANIZACIONALES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1" name="Google Shape;311;g3dbe1710380_1_242"/>
          <p:cNvGrpSpPr/>
          <p:nvPr/>
        </p:nvGrpSpPr>
        <p:grpSpPr>
          <a:xfrm>
            <a:off x="9679603" y="2855150"/>
            <a:ext cx="8063464" cy="1864197"/>
            <a:chOff x="0" y="-19050"/>
            <a:chExt cx="7986000" cy="2485596"/>
          </a:xfrm>
        </p:grpSpPr>
        <p:sp>
          <p:nvSpPr>
            <p:cNvPr id="312" name="Google Shape;312;g3dbe1710380_1_242"/>
            <p:cNvSpPr txBox="1"/>
            <p:nvPr/>
          </p:nvSpPr>
          <p:spPr>
            <a:xfrm>
              <a:off x="0" y="592446"/>
              <a:ext cx="7986000" cy="187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Micro-formación.</a:t>
              </a:r>
              <a:endParaRPr sz="1599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E-learning en lugar de trabajo.</a:t>
              </a:r>
              <a:endParaRPr sz="1599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Rotacion sin impactar operativa.</a:t>
              </a:r>
              <a:endParaRPr sz="1599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99"/>
                <a:buFont typeface="Arial"/>
                <a:buNone/>
              </a:pPr>
              <a:endParaRPr sz="1599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13" name="Google Shape;313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FORMACION FLEXIBLE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4" name="Google Shape;314;g3dbe1710380_1_242"/>
          <p:cNvGrpSpPr/>
          <p:nvPr/>
        </p:nvGrpSpPr>
        <p:grpSpPr>
          <a:xfrm>
            <a:off x="9679591" y="5571010"/>
            <a:ext cx="8677134" cy="1477640"/>
            <a:chOff x="0" y="-19050"/>
            <a:chExt cx="11569512" cy="1970187"/>
          </a:xfrm>
        </p:grpSpPr>
        <p:sp>
          <p:nvSpPr>
            <p:cNvPr id="315" name="Google Shape;315;g3dbe1710380_1_242"/>
            <p:cNvSpPr txBox="1"/>
            <p:nvPr/>
          </p:nvSpPr>
          <p:spPr>
            <a:xfrm>
              <a:off x="12" y="592437"/>
              <a:ext cx="11569500" cy="135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Responsable a la financiación.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Definir estrategia de formación interna.</a:t>
              </a:r>
              <a:endParaRPr sz="1599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 b="0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16" name="Google Shape;316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FUNDAE 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7" name="Google Shape;317;g3dbe1710380_1_242"/>
          <p:cNvGrpSpPr/>
          <p:nvPr/>
        </p:nvGrpSpPr>
        <p:grpSpPr>
          <a:xfrm>
            <a:off x="47" y="5"/>
            <a:ext cx="2163366" cy="1886372"/>
            <a:chOff x="12784222" y="3675030"/>
            <a:chExt cx="2163366" cy="1886372"/>
          </a:xfrm>
        </p:grpSpPr>
        <p:sp>
          <p:nvSpPr>
            <p:cNvPr id="318" name="Google Shape;318;g3dbe1710380_1_242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300"/>
                <a:buFont typeface="Arial"/>
                <a:buNone/>
              </a:pPr>
              <a:r>
                <a:rPr lang="en-US" sz="2300" b="1" i="1" u="none" strike="noStrike" cap="none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 u="none" strike="noStrike" cap="none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" name="Google Shape;319;g3dbe1710380_1_242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36"/>
          <p:cNvSpPr/>
          <p:nvPr/>
        </p:nvSpPr>
        <p:spPr>
          <a:xfrm>
            <a:off x="-2644213" y="-926268"/>
            <a:ext cx="10273778" cy="9881506"/>
          </a:xfrm>
          <a:custGeom>
            <a:avLst/>
            <a:gdLst/>
            <a:ahLst/>
            <a:cxnLst/>
            <a:rect l="l" t="t" r="r" b="b"/>
            <a:pathLst>
              <a:path w="10273778" h="9881506" extrusionOk="0">
                <a:moveTo>
                  <a:pt x="0" y="0"/>
                </a:moveTo>
                <a:lnTo>
                  <a:pt x="10273778" y="0"/>
                </a:lnTo>
                <a:lnTo>
                  <a:pt x="10273778" y="9881506"/>
                </a:lnTo>
                <a:lnTo>
                  <a:pt x="0" y="98815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3" name="Google Shape;623;p36"/>
          <p:cNvSpPr/>
          <p:nvPr/>
        </p:nvSpPr>
        <p:spPr>
          <a:xfrm>
            <a:off x="6098126" y="5494777"/>
            <a:ext cx="1496567" cy="1690168"/>
          </a:xfrm>
          <a:custGeom>
            <a:avLst/>
            <a:gdLst/>
            <a:ahLst/>
            <a:cxnLst/>
            <a:rect l="l" t="t" r="r" b="b"/>
            <a:pathLst>
              <a:path w="1496567" h="1690168" extrusionOk="0">
                <a:moveTo>
                  <a:pt x="0" y="0"/>
                </a:moveTo>
                <a:lnTo>
                  <a:pt x="1496567" y="0"/>
                </a:lnTo>
                <a:lnTo>
                  <a:pt x="1496567" y="1690168"/>
                </a:lnTo>
                <a:lnTo>
                  <a:pt x="0" y="16901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4" name="Google Shape;624;p36"/>
          <p:cNvSpPr/>
          <p:nvPr/>
        </p:nvSpPr>
        <p:spPr>
          <a:xfrm>
            <a:off x="3322594" y="6441030"/>
            <a:ext cx="3523815" cy="3421304"/>
          </a:xfrm>
          <a:custGeom>
            <a:avLst/>
            <a:gdLst/>
            <a:ahLst/>
            <a:cxnLst/>
            <a:rect l="l" t="t" r="r" b="b"/>
            <a:pathLst>
              <a:path w="3523815" h="3421304" extrusionOk="0">
                <a:moveTo>
                  <a:pt x="0" y="0"/>
                </a:moveTo>
                <a:lnTo>
                  <a:pt x="3523816" y="0"/>
                </a:lnTo>
                <a:lnTo>
                  <a:pt x="3523816" y="3421305"/>
                </a:lnTo>
                <a:lnTo>
                  <a:pt x="0" y="34213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5" name="Google Shape;625;p36"/>
          <p:cNvSpPr txBox="1"/>
          <p:nvPr/>
        </p:nvSpPr>
        <p:spPr>
          <a:xfrm>
            <a:off x="10420621" y="2375915"/>
            <a:ext cx="5400074" cy="944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¡GRACIAS!</a:t>
            </a:r>
            <a:endParaRPr lang="es-ES_tradnl" dirty="0"/>
          </a:p>
        </p:txBody>
      </p:sp>
      <p:sp>
        <p:nvSpPr>
          <p:cNvPr id="626" name="Google Shape;626;p36"/>
          <p:cNvSpPr txBox="1"/>
          <p:nvPr/>
        </p:nvSpPr>
        <p:spPr>
          <a:xfrm>
            <a:off x="10420621" y="3458464"/>
            <a:ext cx="5400074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</a:t>
            </a:r>
            <a:r>
              <a:rPr lang="es-ES_tradnl" sz="3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Algu</a:t>
            </a: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 pregunta?</a:t>
            </a:r>
            <a:endParaRPr lang="es-ES_tradnl" dirty="0"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Escríbenos.</a:t>
            </a:r>
            <a:endParaRPr lang="es-ES_tradnl" dirty="0"/>
          </a:p>
        </p:txBody>
      </p:sp>
      <p:sp>
        <p:nvSpPr>
          <p:cNvPr id="627" name="Google Shape;627;p36"/>
          <p:cNvSpPr txBox="1"/>
          <p:nvPr/>
        </p:nvSpPr>
        <p:spPr>
          <a:xfrm>
            <a:off x="10420621" y="4999100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Email</a:t>
            </a:r>
            <a:endParaRPr lang="es-ES_tradnl" dirty="0"/>
          </a:p>
        </p:txBody>
      </p:sp>
      <p:sp>
        <p:nvSpPr>
          <p:cNvPr id="628" name="Google Shape;628;p36"/>
          <p:cNvSpPr txBox="1"/>
          <p:nvPr/>
        </p:nvSpPr>
        <p:spPr>
          <a:xfrm>
            <a:off x="10425776" y="5591423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HOLA@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RAPIDEXPPRESS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29" name="Google Shape;629;p36"/>
          <p:cNvSpPr txBox="1"/>
          <p:nvPr/>
        </p:nvSpPr>
        <p:spPr>
          <a:xfrm>
            <a:off x="10425776" y="6180784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Web</a:t>
            </a:r>
            <a:endParaRPr lang="es-ES_tradnl" dirty="0"/>
          </a:p>
        </p:txBody>
      </p:sp>
      <p:sp>
        <p:nvSpPr>
          <p:cNvPr id="630" name="Google Shape;630;p36"/>
          <p:cNvSpPr txBox="1"/>
          <p:nvPr/>
        </p:nvSpPr>
        <p:spPr>
          <a:xfrm>
            <a:off x="10430931" y="6773107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WWW.RAPIE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XPRESS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31" name="Google Shape;631;p36"/>
          <p:cNvSpPr txBox="1"/>
          <p:nvPr/>
        </p:nvSpPr>
        <p:spPr>
          <a:xfrm>
            <a:off x="10420621" y="7333893"/>
            <a:ext cx="4023295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Teléfono</a:t>
            </a:r>
            <a:endParaRPr lang="es-ES_tradnl" dirty="0"/>
          </a:p>
        </p:txBody>
      </p:sp>
      <p:sp>
        <p:nvSpPr>
          <p:cNvPr id="632" name="Google Shape;632;p36"/>
          <p:cNvSpPr txBox="1"/>
          <p:nvPr/>
        </p:nvSpPr>
        <p:spPr>
          <a:xfrm>
            <a:off x="10425776" y="7926216"/>
            <a:ext cx="4023295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935-234-567</a:t>
            </a:r>
            <a:endParaRPr lang="es-ES_tradnl" dirty="0"/>
          </a:p>
        </p:txBody>
      </p:sp>
      <p:grpSp>
        <p:nvGrpSpPr>
          <p:cNvPr id="633" name="Google Shape;633;p3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634" name="Google Shape;634;p3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635" name="Google Shape;635;p3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1745</TotalTime>
  <Words>766</Words>
  <Application>Microsoft Macintosh PowerPoint</Application>
  <PresentationFormat>Personalizado</PresentationFormat>
  <Paragraphs>185</Paragraphs>
  <Slides>32</Slides>
  <Notes>32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32</vt:i4>
      </vt:variant>
    </vt:vector>
  </HeadingPairs>
  <TitlesOfParts>
    <vt:vector size="40" baseType="lpstr">
      <vt:lpstr>Poppins</vt:lpstr>
      <vt:lpstr>Lato</vt:lpstr>
      <vt:lpstr>Oswald</vt:lpstr>
      <vt:lpstr>Arial</vt:lpstr>
      <vt:lpstr>Poppins Light</vt:lpstr>
      <vt:lpstr>Calibri</vt:lpstr>
      <vt:lpstr>Poppins Black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 del PowerPoint</dc:title>
  <dc:creator>NURIA</dc:creator>
  <cp:lastModifiedBy>Emilio T</cp:lastModifiedBy>
  <cp:revision>27</cp:revision>
  <dcterms:modified xsi:type="dcterms:W3CDTF">2026-05-18T08:47:30Z</dcterms:modified>
</cp:coreProperties>
</file>