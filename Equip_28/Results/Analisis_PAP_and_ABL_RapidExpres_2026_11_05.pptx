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0"/>
  </p:notesMasterIdLst>
  <p:sldIdLst>
    <p:sldId id="256" r:id="rId2"/>
    <p:sldId id="281" r:id="rId3"/>
    <p:sldId id="296" r:id="rId4"/>
    <p:sldId id="305" r:id="rId5"/>
    <p:sldId id="304" r:id="rId6"/>
    <p:sldId id="259" r:id="rId7"/>
    <p:sldId id="299" r:id="rId8"/>
    <p:sldId id="300" r:id="rId9"/>
    <p:sldId id="301" r:id="rId10"/>
    <p:sldId id="298" r:id="rId11"/>
    <p:sldId id="302" r:id="rId12"/>
    <p:sldId id="303" r:id="rId13"/>
    <p:sldId id="288" r:id="rId14"/>
    <p:sldId id="297" r:id="rId15"/>
    <p:sldId id="258" r:id="rId16"/>
    <p:sldId id="260" r:id="rId17"/>
    <p:sldId id="287" r:id="rId18"/>
    <p:sldId id="284" r:id="rId19"/>
    <p:sldId id="285" r:id="rId20"/>
    <p:sldId id="295" r:id="rId21"/>
    <p:sldId id="289" r:id="rId22"/>
    <p:sldId id="257" r:id="rId23"/>
    <p:sldId id="291" r:id="rId24"/>
    <p:sldId id="292" r:id="rId25"/>
    <p:sldId id="261" r:id="rId26"/>
    <p:sldId id="262" r:id="rId27"/>
    <p:sldId id="293" r:id="rId28"/>
    <p:sldId id="279" r:id="rId29"/>
  </p:sldIdLst>
  <p:sldSz cx="18288000" cy="10287000"/>
  <p:notesSz cx="6858000" cy="9144000"/>
  <p:embeddedFontLst>
    <p:embeddedFont>
      <p:font typeface="Calibri" panose="020F0502020204030204" pitchFamily="34" charset="0"/>
      <p:regular r:id="rId31"/>
      <p:bold r:id="rId32"/>
      <p:italic r:id="rId33"/>
      <p:boldItalic r:id="rId34"/>
    </p:embeddedFont>
    <p:embeddedFont>
      <p:font typeface="Poppins" panose="00000500000000000000" pitchFamily="2" charset="0"/>
      <p:regular r:id="rId35"/>
      <p:bold r:id="rId36"/>
      <p:italic r:id="rId37"/>
      <p:boldItalic r:id="rId38"/>
    </p:embeddedFont>
    <p:embeddedFont>
      <p:font typeface="Poppins Black" panose="00000A00000000000000" pitchFamily="2" charset="0"/>
      <p:bold r:id="rId39"/>
      <p:italic r:id="rId40"/>
      <p:boldItalic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308" userDrawn="1">
          <p15:clr>
            <a:srgbClr val="000000"/>
          </p15:clr>
        </p15:guide>
        <p15:guide id="2" pos="5760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E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99"/>
    <p:restoredTop sz="94676"/>
  </p:normalViewPr>
  <p:slideViewPr>
    <p:cSldViewPr snapToGrid="0">
      <p:cViewPr varScale="1">
        <p:scale>
          <a:sx n="44" d="100"/>
          <a:sy n="44" d="100"/>
        </p:scale>
        <p:origin x="1301" y="82"/>
      </p:cViewPr>
      <p:guideLst>
        <p:guide orient="horz" pos="3308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9.fntdata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319111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561083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be1710380_1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g3dbe1710380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11654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040368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392154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63167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6754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0630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>
          <a:extLst>
            <a:ext uri="{FF2B5EF4-FFF2-40B4-BE49-F238E27FC236}">
              <a16:creationId xmlns:a16="http://schemas.microsoft.com/office/drawing/2014/main" id="{68033C6D-CA4B-39C8-3566-B3082BE34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1:notes">
            <a:extLst>
              <a:ext uri="{FF2B5EF4-FFF2-40B4-BE49-F238E27FC236}">
                <a16:creationId xmlns:a16="http://schemas.microsoft.com/office/drawing/2014/main" id="{99F3EF2D-1DA0-6769-2A84-7EB054C8FA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1:notes">
            <a:extLst>
              <a:ext uri="{FF2B5EF4-FFF2-40B4-BE49-F238E27FC236}">
                <a16:creationId xmlns:a16="http://schemas.microsoft.com/office/drawing/2014/main" id="{13F44B19-8F08-E089-5982-64FED72C4E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4292586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247201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9B9F2680-2F74-E4CF-F44B-EDAB2F0EF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DA6A1946-10C9-8123-02BD-4872867D12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9BD10A21-A8EE-1AE3-5A0D-2E0386995B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106624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0549D970-BD0F-9F4E-9B55-4500E6F65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0DA3B6D8-F33C-1571-6444-46E3ED66DA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F842C902-7082-89DE-6FC9-981ABC8454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752162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>
          <a:extLst>
            <a:ext uri="{FF2B5EF4-FFF2-40B4-BE49-F238E27FC236}">
              <a16:creationId xmlns:a16="http://schemas.microsoft.com/office/drawing/2014/main" id="{FCF5328D-5EF3-B3C2-ED5D-E6B9C72C5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>
            <a:extLst>
              <a:ext uri="{FF2B5EF4-FFF2-40B4-BE49-F238E27FC236}">
                <a16:creationId xmlns:a16="http://schemas.microsoft.com/office/drawing/2014/main" id="{2D46FA33-ABC3-5982-513A-88AF808BF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4:notes">
            <a:extLst>
              <a:ext uri="{FF2B5EF4-FFF2-40B4-BE49-F238E27FC236}">
                <a16:creationId xmlns:a16="http://schemas.microsoft.com/office/drawing/2014/main" id="{C456DE22-CE1E-6447-C306-D3F9178E7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48439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>
          <a:extLst>
            <a:ext uri="{FF2B5EF4-FFF2-40B4-BE49-F238E27FC236}">
              <a16:creationId xmlns:a16="http://schemas.microsoft.com/office/drawing/2014/main" id="{FCF5328D-5EF3-B3C2-ED5D-E6B9C72C5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>
            <a:extLst>
              <a:ext uri="{FF2B5EF4-FFF2-40B4-BE49-F238E27FC236}">
                <a16:creationId xmlns:a16="http://schemas.microsoft.com/office/drawing/2014/main" id="{2D46FA33-ABC3-5982-513A-88AF808BF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4:notes">
            <a:extLst>
              <a:ext uri="{FF2B5EF4-FFF2-40B4-BE49-F238E27FC236}">
                <a16:creationId xmlns:a16="http://schemas.microsoft.com/office/drawing/2014/main" id="{C456DE22-CE1E-6447-C306-D3F9178E7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385109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dbe1710380_1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dbe1710380_1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be1710380_1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g3dbe1710380_1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dcbdc3c4f_1_3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g3ddcbdc3c4f_1_3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dbe1710380_1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g3dbe1710380_1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dbe1710380_1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g3dbe1710380_1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dbe1710380_1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g3dbe1710380_1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0" name="Google Shape;62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mites.gob.es/es/estadisticas/mercado_trabajo/EAL/welcome.htm" TargetMode="Externa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hyperlink" Target="https://www.mites.gob.es/es/estadisticas/mercado_trabajo/EAL/welcome.htm" TargetMode="Externa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ccl.org/" TargetMode="External"/><Relationship Id="rId5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5.png"/><Relationship Id="rId4" Type="http://schemas.openxmlformats.org/officeDocument/2006/relationships/image" Target="../media/image19.png"/><Relationship Id="rId9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5.png"/><Relationship Id="rId4" Type="http://schemas.openxmlformats.org/officeDocument/2006/relationships/image" Target="../media/image5.png"/><Relationship Id="rId9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5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5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28.png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2" name="Google Shape;92;p13"/>
          <p:cNvSpPr txBox="1"/>
          <p:nvPr/>
        </p:nvSpPr>
        <p:spPr>
          <a:xfrm>
            <a:off x="1124998" y="8618274"/>
            <a:ext cx="6418801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40000"/>
              </a:lnSpc>
            </a:pPr>
            <a:r>
              <a:rPr lang="es-ES_tradnl" sz="18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18 de Mayo de 2026</a:t>
            </a:r>
            <a:endParaRPr lang="es-ES_tradnl" sz="1800" dirty="0"/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sz="1800" b="1" dirty="0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, Nuria Paredes &amp; Andrea Caro</a:t>
            </a:r>
          </a:p>
        </p:txBody>
      </p:sp>
      <p:sp>
        <p:nvSpPr>
          <p:cNvPr id="93" name="Google Shape;93;p13"/>
          <p:cNvSpPr txBox="1"/>
          <p:nvPr/>
        </p:nvSpPr>
        <p:spPr>
          <a:xfrm>
            <a:off x="1125000" y="3042996"/>
            <a:ext cx="8269200" cy="228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1000"/>
              </a:lnSpc>
            </a:pPr>
            <a:r>
              <a:rPr lang="es-ES_tradnl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Tendencias de Formación Laboral</a:t>
            </a:r>
          </a:p>
          <a:p>
            <a:pPr lvl="0">
              <a:lnSpc>
                <a:spcPct val="111000"/>
              </a:lnSpc>
            </a:pP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58"/>
              </a:lnSpc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-</a:t>
            </a: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&amp; Nuria Paredes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3331724"/>
            <a:ext cx="826920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Competencias</a:t>
            </a: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11057873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58"/>
              </a:lnSpc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-</a:t>
            </a: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&amp; Nuria Paredes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3331724"/>
            <a:ext cx="826920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Medios</a:t>
            </a: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3403066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2092913" y="1609520"/>
            <a:ext cx="1544821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alineación de tendencias según medio de formación</a:t>
            </a:r>
            <a:endParaRPr lang="es-ES_tradnl" dirty="0"/>
          </a:p>
        </p:txBody>
      </p:sp>
      <p:grpSp>
        <p:nvGrpSpPr>
          <p:cNvPr id="153" name="Google Shape;153;p17"/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54" name="Google Shape;154;p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56" name="Google Shape;156;p17"/>
          <p:cNvSpPr/>
          <p:nvPr/>
        </p:nvSpPr>
        <p:spPr>
          <a:xfrm>
            <a:off x="746875" y="2598837"/>
            <a:ext cx="12104601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B6A08-7CBD-42ED-A290-0D3CBBEBE747}"/>
              </a:ext>
            </a:extLst>
          </p:cNvPr>
          <p:cNvSpPr/>
          <p:nvPr/>
        </p:nvSpPr>
        <p:spPr>
          <a:xfrm>
            <a:off x="2968129" y="3363356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TAMAÑO EMPRESA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77A92D-B3AE-49AF-9B97-C5AF0DBFBCE9}"/>
              </a:ext>
            </a:extLst>
          </p:cNvPr>
          <p:cNvSpPr/>
          <p:nvPr/>
        </p:nvSpPr>
        <p:spPr>
          <a:xfrm>
            <a:off x="1230912" y="5374886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SECTOR ECONÓMICO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3A90B0-3711-4C1A-B59B-049DD31A5C94}"/>
              </a:ext>
            </a:extLst>
          </p:cNvPr>
          <p:cNvSpPr/>
          <p:nvPr/>
        </p:nvSpPr>
        <p:spPr>
          <a:xfrm>
            <a:off x="2879440" y="7571741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COMUNIDAD</a:t>
            </a:r>
          </a:p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AUTÓNOMA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FAE6EC-7E4C-4622-9755-AF6150B1BB98}"/>
              </a:ext>
            </a:extLst>
          </p:cNvPr>
          <p:cNvSpPr/>
          <p:nvPr/>
        </p:nvSpPr>
        <p:spPr>
          <a:xfrm>
            <a:off x="5566951" y="5438684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TENDENCIAS</a:t>
            </a:r>
          </a:p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FORMATIVAS</a:t>
            </a:r>
          </a:p>
        </p:txBody>
      </p:sp>
      <p:cxnSp>
        <p:nvCxnSpPr>
          <p:cNvPr id="4" name="Connector de fletxa recta 3">
            <a:extLst>
              <a:ext uri="{FF2B5EF4-FFF2-40B4-BE49-F238E27FC236}">
                <a16:creationId xmlns:a16="http://schemas.microsoft.com/office/drawing/2014/main" id="{6E2E7557-7AC6-41A1-9647-8CB5A5F8D857}"/>
              </a:ext>
            </a:extLst>
          </p:cNvPr>
          <p:cNvCxnSpPr>
            <a:cxnSpLocks/>
          </p:cNvCxnSpPr>
          <p:nvPr/>
        </p:nvCxnSpPr>
        <p:spPr>
          <a:xfrm>
            <a:off x="4192503" y="4589121"/>
            <a:ext cx="1226624" cy="891307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de fletxa recta 17">
            <a:extLst>
              <a:ext uri="{FF2B5EF4-FFF2-40B4-BE49-F238E27FC236}">
                <a16:creationId xmlns:a16="http://schemas.microsoft.com/office/drawing/2014/main" id="{679C43D3-063B-471C-98B4-4F1B9C10124D}"/>
              </a:ext>
            </a:extLst>
          </p:cNvPr>
          <p:cNvCxnSpPr>
            <a:cxnSpLocks/>
          </p:cNvCxnSpPr>
          <p:nvPr/>
        </p:nvCxnSpPr>
        <p:spPr>
          <a:xfrm flipV="1">
            <a:off x="4133369" y="6565045"/>
            <a:ext cx="1262204" cy="76501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de fletxa recta 19">
            <a:extLst>
              <a:ext uri="{FF2B5EF4-FFF2-40B4-BE49-F238E27FC236}">
                <a16:creationId xmlns:a16="http://schemas.microsoft.com/office/drawing/2014/main" id="{503C184A-52E8-4BDD-88C5-AB3981C81FC3}"/>
              </a:ext>
            </a:extLst>
          </p:cNvPr>
          <p:cNvCxnSpPr>
            <a:cxnSpLocks/>
          </p:cNvCxnSpPr>
          <p:nvPr/>
        </p:nvCxnSpPr>
        <p:spPr>
          <a:xfrm>
            <a:off x="4009956" y="5992137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10">
            <a:extLst>
              <a:ext uri="{FF2B5EF4-FFF2-40B4-BE49-F238E27FC236}">
                <a16:creationId xmlns:a16="http://schemas.microsoft.com/office/drawing/2014/main" id="{1638C51A-E06C-182E-FAB6-E30671F8DFDC}"/>
              </a:ext>
            </a:extLst>
          </p:cNvPr>
          <p:cNvSpPr/>
          <p:nvPr/>
        </p:nvSpPr>
        <p:spPr>
          <a:xfrm>
            <a:off x="10053142" y="5480428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POLÍTICAS DE MEDIOS DE FORMACIÓN</a:t>
            </a:r>
          </a:p>
        </p:txBody>
      </p:sp>
      <p:cxnSp>
        <p:nvCxnSpPr>
          <p:cNvPr id="10" name="Connector de fletxa recta 19">
            <a:extLst>
              <a:ext uri="{FF2B5EF4-FFF2-40B4-BE49-F238E27FC236}">
                <a16:creationId xmlns:a16="http://schemas.microsoft.com/office/drawing/2014/main" id="{2990E9D9-7239-470F-C09C-B2DF94F24E87}"/>
              </a:ext>
            </a:extLst>
          </p:cNvPr>
          <p:cNvCxnSpPr>
            <a:cxnSpLocks/>
          </p:cNvCxnSpPr>
          <p:nvPr/>
        </p:nvCxnSpPr>
        <p:spPr>
          <a:xfrm flipV="1">
            <a:off x="8345109" y="5929015"/>
            <a:ext cx="1528696" cy="302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3" name="Google Shape;123;g3dbe1710380_1_211"/>
          <p:cNvCxnSpPr/>
          <p:nvPr/>
        </p:nvCxnSpPr>
        <p:spPr>
          <a:xfrm>
            <a:off x="7198632" y="-330798"/>
            <a:ext cx="0" cy="10946700"/>
          </a:xfrm>
          <a:prstGeom prst="straightConnector1">
            <a:avLst/>
          </a:prstGeom>
          <a:noFill/>
          <a:ln w="114300" cap="rnd" cmpd="sng">
            <a:solidFill>
              <a:srgbClr val="004AAD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4" name="Google Shape;124;g3dbe1710380_1_211"/>
          <p:cNvGrpSpPr/>
          <p:nvPr/>
        </p:nvGrpSpPr>
        <p:grpSpPr>
          <a:xfrm>
            <a:off x="6904192" y="843911"/>
            <a:ext cx="588874" cy="595774"/>
            <a:chOff x="0" y="-9525"/>
            <a:chExt cx="812800" cy="822325"/>
          </a:xfrm>
        </p:grpSpPr>
        <p:sp>
          <p:nvSpPr>
            <p:cNvPr id="125" name="Google Shape;125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6" name="Google Shape;126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" name="Google Shape;127;g3dbe1710380_1_211"/>
          <p:cNvGrpSpPr/>
          <p:nvPr/>
        </p:nvGrpSpPr>
        <p:grpSpPr>
          <a:xfrm>
            <a:off x="6904192" y="2979331"/>
            <a:ext cx="588874" cy="595774"/>
            <a:chOff x="0" y="-9525"/>
            <a:chExt cx="812800" cy="822325"/>
          </a:xfrm>
        </p:grpSpPr>
        <p:sp>
          <p:nvSpPr>
            <p:cNvPr id="128" name="Google Shape;128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9" name="Google Shape;129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0" name="Google Shape;130;g3dbe1710380_1_211"/>
          <p:cNvGrpSpPr/>
          <p:nvPr/>
        </p:nvGrpSpPr>
        <p:grpSpPr>
          <a:xfrm>
            <a:off x="6922001" y="4953563"/>
            <a:ext cx="588874" cy="595774"/>
            <a:chOff x="0" y="-9525"/>
            <a:chExt cx="812800" cy="822325"/>
          </a:xfrm>
        </p:grpSpPr>
        <p:sp>
          <p:nvSpPr>
            <p:cNvPr id="131" name="Google Shape;131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2" name="Google Shape;132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3" name="Google Shape;133;g3dbe1710380_1_211"/>
          <p:cNvGrpSpPr/>
          <p:nvPr/>
        </p:nvGrpSpPr>
        <p:grpSpPr>
          <a:xfrm>
            <a:off x="6904192" y="7062089"/>
            <a:ext cx="588874" cy="595774"/>
            <a:chOff x="0" y="-9525"/>
            <a:chExt cx="812800" cy="822325"/>
          </a:xfrm>
        </p:grpSpPr>
        <p:sp>
          <p:nvSpPr>
            <p:cNvPr id="134" name="Google Shape;134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5" name="Google Shape;135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6" name="Google Shape;136;g3dbe1710380_1_211"/>
          <p:cNvSpPr/>
          <p:nvPr/>
        </p:nvSpPr>
        <p:spPr>
          <a:xfrm>
            <a:off x="13196004" y="3159413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7" name="Google Shape;137;g3dbe1710380_1_211"/>
          <p:cNvSpPr/>
          <p:nvPr/>
        </p:nvSpPr>
        <p:spPr>
          <a:xfrm>
            <a:off x="13196004" y="-703241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8" name="Google Shape;138;g3dbe1710380_1_211"/>
          <p:cNvSpPr txBox="1"/>
          <p:nvPr/>
        </p:nvSpPr>
        <p:spPr>
          <a:xfrm>
            <a:off x="1028700" y="2777601"/>
            <a:ext cx="4530600" cy="1341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MEDIOS DE FORMACIÓN</a:t>
            </a:r>
            <a:endParaRPr dirty="0"/>
          </a:p>
        </p:txBody>
      </p:sp>
      <p:sp>
        <p:nvSpPr>
          <p:cNvPr id="139" name="Google Shape;139;g3dbe1710380_1_211"/>
          <p:cNvSpPr txBox="1"/>
          <p:nvPr/>
        </p:nvSpPr>
        <p:spPr>
          <a:xfrm>
            <a:off x="7941024" y="4803327"/>
            <a:ext cx="46350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FORMACIÓN EN EL PUESTO DE TRABAJO</a:t>
            </a:r>
            <a:endParaRPr sz="3000" dirty="0"/>
          </a:p>
        </p:txBody>
      </p:sp>
      <p:sp>
        <p:nvSpPr>
          <p:cNvPr id="141" name="Google Shape;141;g3dbe1710380_1_211"/>
          <p:cNvSpPr txBox="1"/>
          <p:nvPr/>
        </p:nvSpPr>
        <p:spPr>
          <a:xfrm>
            <a:off x="8045399" y="752171"/>
            <a:ext cx="45306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CURSOS EN LA PROPIA EMPRESA</a:t>
            </a:r>
            <a:endParaRPr lang="es-ES" sz="2600" dirty="0"/>
          </a:p>
        </p:txBody>
      </p:sp>
      <p:sp>
        <p:nvSpPr>
          <p:cNvPr id="142" name="Google Shape;142;g3dbe1710380_1_211"/>
          <p:cNvSpPr txBox="1"/>
          <p:nvPr/>
        </p:nvSpPr>
        <p:spPr>
          <a:xfrm>
            <a:off x="8294419" y="1583162"/>
            <a:ext cx="38058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3600" dirty="0"/>
          </a:p>
        </p:txBody>
      </p:sp>
      <p:sp>
        <p:nvSpPr>
          <p:cNvPr id="143" name="Google Shape;143;g3dbe1710380_1_211"/>
          <p:cNvSpPr txBox="1"/>
          <p:nvPr/>
        </p:nvSpPr>
        <p:spPr>
          <a:xfrm>
            <a:off x="7941031" y="2820016"/>
            <a:ext cx="38058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CURSOS EN OTRA ORGANIZACIÓN</a:t>
            </a:r>
            <a:endParaRPr sz="2600" dirty="0"/>
          </a:p>
        </p:txBody>
      </p:sp>
      <p:sp>
        <p:nvSpPr>
          <p:cNvPr id="145" name="Google Shape;145;g3dbe1710380_1_211"/>
          <p:cNvSpPr txBox="1"/>
          <p:nvPr/>
        </p:nvSpPr>
        <p:spPr>
          <a:xfrm>
            <a:off x="7939888" y="6903274"/>
            <a:ext cx="5150700" cy="981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ROTACIÓN /INTERCAMBIO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DE PUESTOS</a:t>
            </a:r>
            <a:endParaRPr sz="2900" dirty="0"/>
          </a:p>
        </p:txBody>
      </p:sp>
      <p:grpSp>
        <p:nvGrpSpPr>
          <p:cNvPr id="147" name="Google Shape;147;g3dbe1710380_1_211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8" name="Google Shape;148;g3dbe1710380_1_211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g3dbe1710380_1_211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grpSp>
        <p:nvGrpSpPr>
          <p:cNvPr id="29" name="Google Shape;124;g3dbe1710380_1_211">
            <a:extLst>
              <a:ext uri="{FF2B5EF4-FFF2-40B4-BE49-F238E27FC236}">
                <a16:creationId xmlns:a16="http://schemas.microsoft.com/office/drawing/2014/main" id="{D89EB990-901C-45D6-AF83-9EF917EFEEA7}"/>
              </a:ext>
            </a:extLst>
          </p:cNvPr>
          <p:cNvGrpSpPr/>
          <p:nvPr/>
        </p:nvGrpSpPr>
        <p:grpSpPr>
          <a:xfrm>
            <a:off x="6886431" y="9082822"/>
            <a:ext cx="588874" cy="595774"/>
            <a:chOff x="0" y="-9525"/>
            <a:chExt cx="812800" cy="822325"/>
          </a:xfrm>
        </p:grpSpPr>
        <p:sp>
          <p:nvSpPr>
            <p:cNvPr id="30" name="Google Shape;125;g3dbe1710380_1_211">
              <a:extLst>
                <a:ext uri="{FF2B5EF4-FFF2-40B4-BE49-F238E27FC236}">
                  <a16:creationId xmlns:a16="http://schemas.microsoft.com/office/drawing/2014/main" id="{E5E3EAC1-FACE-46C7-A3BB-195DDA4C466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31" name="Google Shape;126;g3dbe1710380_1_211">
              <a:extLst>
                <a:ext uri="{FF2B5EF4-FFF2-40B4-BE49-F238E27FC236}">
                  <a16:creationId xmlns:a16="http://schemas.microsoft.com/office/drawing/2014/main" id="{67D4FF60-F0A4-48F8-9A4D-1F7AD66E31F1}"/>
                </a:ext>
              </a:extLst>
            </p:cNvPr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" name="Google Shape;145;g3dbe1710380_1_211">
            <a:extLst>
              <a:ext uri="{FF2B5EF4-FFF2-40B4-BE49-F238E27FC236}">
                <a16:creationId xmlns:a16="http://schemas.microsoft.com/office/drawing/2014/main" id="{22A2114F-E21B-4E83-8CE9-B05E57033A4E}"/>
              </a:ext>
            </a:extLst>
          </p:cNvPr>
          <p:cNvSpPr txBox="1"/>
          <p:nvPr/>
        </p:nvSpPr>
        <p:spPr>
          <a:xfrm>
            <a:off x="7916329" y="8919360"/>
            <a:ext cx="5150700" cy="981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CONFERENCIAS,TALLERES Y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SEMINARIOS</a:t>
            </a:r>
          </a:p>
        </p:txBody>
      </p:sp>
      <p:sp>
        <p:nvSpPr>
          <p:cNvPr id="33" name="QuadreDeText 32">
            <a:extLst>
              <a:ext uri="{FF2B5EF4-FFF2-40B4-BE49-F238E27FC236}">
                <a16:creationId xmlns:a16="http://schemas.microsoft.com/office/drawing/2014/main" id="{934E4FD5-D080-4B3C-880C-81EE84B769EB}"/>
              </a:ext>
            </a:extLst>
          </p:cNvPr>
          <p:cNvSpPr txBox="1"/>
          <p:nvPr/>
        </p:nvSpPr>
        <p:spPr>
          <a:xfrm>
            <a:off x="400090" y="9395172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5"/>
              </a:rPr>
              <a:t>Encuesta Anual Laboral. Ministerio de Trabajo y Economía Social</a:t>
            </a:r>
            <a:endParaRPr lang="es-E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de los Medios de Formación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" name="QuadreDeText 1">
            <a:extLst>
              <a:ext uri="{FF2B5EF4-FFF2-40B4-BE49-F238E27FC236}">
                <a16:creationId xmlns:a16="http://schemas.microsoft.com/office/drawing/2014/main" id="{2BEC3BD1-E06F-4A88-94A2-80FFCE6D4F87}"/>
              </a:ext>
            </a:extLst>
          </p:cNvPr>
          <p:cNvSpPr txBox="1"/>
          <p:nvPr/>
        </p:nvSpPr>
        <p:spPr>
          <a:xfrm>
            <a:off x="11287593" y="9458793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5"/>
              </a:rPr>
              <a:t>Encuesta Anual Laboral. Ministerio de Trabajo y Economía Social</a:t>
            </a:r>
            <a:endParaRPr lang="es-ES" dirty="0"/>
          </a:p>
        </p:txBody>
      </p:sp>
      <p:pic>
        <p:nvPicPr>
          <p:cNvPr id="7" name="Imatge 6">
            <a:extLst>
              <a:ext uri="{FF2B5EF4-FFF2-40B4-BE49-F238E27FC236}">
                <a16:creationId xmlns:a16="http://schemas.microsoft.com/office/drawing/2014/main" id="{EF8D80AC-68BF-4C74-AF63-D036E6A522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37" y="1919752"/>
            <a:ext cx="15245681" cy="697499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tge 2">
            <a:extLst>
              <a:ext uri="{FF2B5EF4-FFF2-40B4-BE49-F238E27FC236}">
                <a16:creationId xmlns:a16="http://schemas.microsoft.com/office/drawing/2014/main" id="{B328C3EF-B736-4BF4-AB4B-5E6E703E4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190" y="1966912"/>
            <a:ext cx="11696700" cy="6353175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tamaño de la Empresa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4335651" y="3990879"/>
            <a:ext cx="3485721" cy="884417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B5A7269B-1F62-4C1D-B2C3-8983402BB1CD}"/>
              </a:ext>
            </a:extLst>
          </p:cNvPr>
          <p:cNvSpPr/>
          <p:nvPr/>
        </p:nvSpPr>
        <p:spPr>
          <a:xfrm rot="5400000">
            <a:off x="9722372" y="4131041"/>
            <a:ext cx="3210396" cy="884417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QuadreDeText 12">
            <a:extLst>
              <a:ext uri="{FF2B5EF4-FFF2-40B4-BE49-F238E27FC236}">
                <a16:creationId xmlns:a16="http://schemas.microsoft.com/office/drawing/2014/main" id="{EC4ED6EC-FC33-4F3E-B445-1FDB1C856B6A}"/>
              </a:ext>
            </a:extLst>
          </p:cNvPr>
          <p:cNvSpPr txBox="1"/>
          <p:nvPr/>
        </p:nvSpPr>
        <p:spPr>
          <a:xfrm>
            <a:off x="11172881" y="9454919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241266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7" name="Imatge 6">
            <a:extLst>
              <a:ext uri="{FF2B5EF4-FFF2-40B4-BE49-F238E27FC236}">
                <a16:creationId xmlns:a16="http://schemas.microsoft.com/office/drawing/2014/main" id="{3E648FCE-7971-49F7-B1C4-73211CC4DE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028" y="1992346"/>
            <a:ext cx="13487400" cy="6448425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tamaño de la Empresa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3818086" y="4340793"/>
            <a:ext cx="2805664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B5A7269B-1F62-4C1D-B2C3-8983402BB1CD}"/>
              </a:ext>
            </a:extLst>
          </p:cNvPr>
          <p:cNvSpPr/>
          <p:nvPr/>
        </p:nvSpPr>
        <p:spPr>
          <a:xfrm rot="5400000">
            <a:off x="9374698" y="4239665"/>
            <a:ext cx="3037901" cy="1034325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QuadreDeText 12">
            <a:extLst>
              <a:ext uri="{FF2B5EF4-FFF2-40B4-BE49-F238E27FC236}">
                <a16:creationId xmlns:a16="http://schemas.microsoft.com/office/drawing/2014/main" id="{5196AD66-857B-445F-8ACA-8B5866848235}"/>
              </a:ext>
            </a:extLst>
          </p:cNvPr>
          <p:cNvSpPr txBox="1"/>
          <p:nvPr/>
        </p:nvSpPr>
        <p:spPr>
          <a:xfrm>
            <a:off x="10598046" y="9157862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464056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4" name="Imatge 3">
            <a:extLst>
              <a:ext uri="{FF2B5EF4-FFF2-40B4-BE49-F238E27FC236}">
                <a16:creationId xmlns:a16="http://schemas.microsoft.com/office/drawing/2014/main" id="{42D5B2CC-4A8D-4CDB-8063-732212E764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4395" y="1275255"/>
            <a:ext cx="10200871" cy="8929706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sector económico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5260632" y="2354376"/>
            <a:ext cx="2598821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QuadreDeText 9">
            <a:extLst>
              <a:ext uri="{FF2B5EF4-FFF2-40B4-BE49-F238E27FC236}">
                <a16:creationId xmlns:a16="http://schemas.microsoft.com/office/drawing/2014/main" id="{BFD99AF1-9DAA-451E-83AF-1058AB19BE6B}"/>
              </a:ext>
            </a:extLst>
          </p:cNvPr>
          <p:cNvSpPr txBox="1"/>
          <p:nvPr/>
        </p:nvSpPr>
        <p:spPr>
          <a:xfrm>
            <a:off x="11587397" y="9295283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EBBBF2B7-0BAE-486F-B9FD-CBE0F700B7FD}"/>
              </a:ext>
            </a:extLst>
          </p:cNvPr>
          <p:cNvSpPr/>
          <p:nvPr/>
        </p:nvSpPr>
        <p:spPr>
          <a:xfrm rot="5400000">
            <a:off x="5284696" y="5266018"/>
            <a:ext cx="2598821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603373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3" name="Imatge 2">
            <a:extLst>
              <a:ext uri="{FF2B5EF4-FFF2-40B4-BE49-F238E27FC236}">
                <a16:creationId xmlns:a16="http://schemas.microsoft.com/office/drawing/2014/main" id="{0B9CE290-D1C1-4189-9E21-0E59FAC078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83" y="1137967"/>
            <a:ext cx="13299546" cy="9104063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>
            <a:off x="2848133" y="4337802"/>
            <a:ext cx="9773586" cy="365760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QuadreDeText 9">
            <a:extLst>
              <a:ext uri="{FF2B5EF4-FFF2-40B4-BE49-F238E27FC236}">
                <a16:creationId xmlns:a16="http://schemas.microsoft.com/office/drawing/2014/main" id="{78EA8AD0-7D3A-4D72-BC07-3134E7C59809}"/>
              </a:ext>
            </a:extLst>
          </p:cNvPr>
          <p:cNvSpPr txBox="1"/>
          <p:nvPr/>
        </p:nvSpPr>
        <p:spPr>
          <a:xfrm>
            <a:off x="12037101" y="9762696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847268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4" name="Imatge 3">
            <a:extLst>
              <a:ext uri="{FF2B5EF4-FFF2-40B4-BE49-F238E27FC236}">
                <a16:creationId xmlns:a16="http://schemas.microsoft.com/office/drawing/2014/main" id="{5350F70C-B643-4590-B86F-BF44DB0AF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94" y="1452208"/>
            <a:ext cx="14763064" cy="8820277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>
            <a:off x="2964245" y="4381344"/>
            <a:ext cx="11521011" cy="365760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201505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pic>
        <p:nvPicPr>
          <p:cNvPr id="3" name="Imatge 2">
            <a:extLst>
              <a:ext uri="{FF2B5EF4-FFF2-40B4-BE49-F238E27FC236}">
                <a16:creationId xmlns:a16="http://schemas.microsoft.com/office/drawing/2014/main" id="{F2254398-B710-4543-B10D-7353A4041C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550" y="2153594"/>
            <a:ext cx="14085695" cy="7362396"/>
          </a:xfrm>
          <a:prstGeom prst="rect">
            <a:avLst/>
          </a:prstGeom>
        </p:spPr>
      </p:pic>
      <p:sp>
        <p:nvSpPr>
          <p:cNvPr id="9" name="QuadreDeText 8">
            <a:extLst>
              <a:ext uri="{FF2B5EF4-FFF2-40B4-BE49-F238E27FC236}">
                <a16:creationId xmlns:a16="http://schemas.microsoft.com/office/drawing/2014/main" id="{94872647-7527-45A5-AB2A-5C75504F1D1F}"/>
              </a:ext>
            </a:extLst>
          </p:cNvPr>
          <p:cNvSpPr txBox="1"/>
          <p:nvPr/>
        </p:nvSpPr>
        <p:spPr>
          <a:xfrm>
            <a:off x="11857218" y="9787306"/>
            <a:ext cx="9233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9138787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80">
          <a:extLst>
            <a:ext uri="{FF2B5EF4-FFF2-40B4-BE49-F238E27FC236}">
              <a16:creationId xmlns:a16="http://schemas.microsoft.com/office/drawing/2014/main" id="{9CF05CD1-42CF-1415-2507-014F0D5DA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1" name="Google Shape;281;p23">
            <a:extLst>
              <a:ext uri="{FF2B5EF4-FFF2-40B4-BE49-F238E27FC236}">
                <a16:creationId xmlns:a16="http://schemas.microsoft.com/office/drawing/2014/main" id="{FBD2D488-777B-F881-321D-7414A6F7B18A}"/>
              </a:ext>
            </a:extLst>
          </p:cNvPr>
          <p:cNvGrpSpPr/>
          <p:nvPr/>
        </p:nvGrpSpPr>
        <p:grpSpPr>
          <a:xfrm>
            <a:off x="8647101" y="1554020"/>
            <a:ext cx="1382928" cy="1389712"/>
            <a:chOff x="0" y="-9525"/>
            <a:chExt cx="963809" cy="968537"/>
          </a:xfrm>
        </p:grpSpPr>
        <p:sp>
          <p:nvSpPr>
            <p:cNvPr id="282" name="Google Shape;282;p23">
              <a:extLst>
                <a:ext uri="{FF2B5EF4-FFF2-40B4-BE49-F238E27FC236}">
                  <a16:creationId xmlns:a16="http://schemas.microsoft.com/office/drawing/2014/main" id="{0904FE46-466E-A0FE-64A7-933E7269DDAC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3" name="Google Shape;283;p23">
              <a:extLst>
                <a:ext uri="{FF2B5EF4-FFF2-40B4-BE49-F238E27FC236}">
                  <a16:creationId xmlns:a16="http://schemas.microsoft.com/office/drawing/2014/main" id="{35B35C79-17F9-73C2-E425-160AB7E1FED4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 lang="es-ES_tradnl" dirty="0"/>
            </a:p>
          </p:txBody>
        </p:sp>
      </p:grpSp>
      <p:grpSp>
        <p:nvGrpSpPr>
          <p:cNvPr id="284" name="Google Shape;284;p23">
            <a:extLst>
              <a:ext uri="{FF2B5EF4-FFF2-40B4-BE49-F238E27FC236}">
                <a16:creationId xmlns:a16="http://schemas.microsoft.com/office/drawing/2014/main" id="{D4DCD8B5-19F0-0D56-7A66-19EBF123EFC1}"/>
              </a:ext>
            </a:extLst>
          </p:cNvPr>
          <p:cNvGrpSpPr/>
          <p:nvPr/>
        </p:nvGrpSpPr>
        <p:grpSpPr>
          <a:xfrm>
            <a:off x="8647101" y="3546536"/>
            <a:ext cx="1382928" cy="1389712"/>
            <a:chOff x="0" y="-9525"/>
            <a:chExt cx="963809" cy="968537"/>
          </a:xfrm>
        </p:grpSpPr>
        <p:sp>
          <p:nvSpPr>
            <p:cNvPr id="285" name="Google Shape;285;p23">
              <a:extLst>
                <a:ext uri="{FF2B5EF4-FFF2-40B4-BE49-F238E27FC236}">
                  <a16:creationId xmlns:a16="http://schemas.microsoft.com/office/drawing/2014/main" id="{D9191FA8-EB35-68D8-CBB9-8124915F3660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6" name="Google Shape;286;p23">
              <a:extLst>
                <a:ext uri="{FF2B5EF4-FFF2-40B4-BE49-F238E27FC236}">
                  <a16:creationId xmlns:a16="http://schemas.microsoft.com/office/drawing/2014/main" id="{5D2F282B-5CFE-6353-0E3A-8E7AC934BA03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 lang="es-ES_tradnl" dirty="0"/>
            </a:p>
          </p:txBody>
        </p:sp>
      </p:grpSp>
      <p:grpSp>
        <p:nvGrpSpPr>
          <p:cNvPr id="287" name="Google Shape;287;p23">
            <a:extLst>
              <a:ext uri="{FF2B5EF4-FFF2-40B4-BE49-F238E27FC236}">
                <a16:creationId xmlns:a16="http://schemas.microsoft.com/office/drawing/2014/main" id="{736B4F0E-699C-B9C6-CB17-B4A44D8566BE}"/>
              </a:ext>
            </a:extLst>
          </p:cNvPr>
          <p:cNvGrpSpPr/>
          <p:nvPr/>
        </p:nvGrpSpPr>
        <p:grpSpPr>
          <a:xfrm>
            <a:off x="8647101" y="5578255"/>
            <a:ext cx="1382928" cy="1389712"/>
            <a:chOff x="0" y="-9525"/>
            <a:chExt cx="963809" cy="968537"/>
          </a:xfrm>
        </p:grpSpPr>
        <p:sp>
          <p:nvSpPr>
            <p:cNvPr id="288" name="Google Shape;288;p23">
              <a:extLst>
                <a:ext uri="{FF2B5EF4-FFF2-40B4-BE49-F238E27FC236}">
                  <a16:creationId xmlns:a16="http://schemas.microsoft.com/office/drawing/2014/main" id="{534FAD3D-081E-452B-11A8-EF8FC4505649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9" name="Google Shape;289;p23">
              <a:extLst>
                <a:ext uri="{FF2B5EF4-FFF2-40B4-BE49-F238E27FC236}">
                  <a16:creationId xmlns:a16="http://schemas.microsoft.com/office/drawing/2014/main" id="{F1D1B048-040C-1AF5-81F9-0F64D112826F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3</a:t>
              </a:r>
              <a:endParaRPr lang="es-ES_tradnl" dirty="0"/>
            </a:p>
          </p:txBody>
        </p:sp>
      </p:grpSp>
      <p:sp>
        <p:nvSpPr>
          <p:cNvPr id="293" name="Google Shape;293;p23">
            <a:extLst>
              <a:ext uri="{FF2B5EF4-FFF2-40B4-BE49-F238E27FC236}">
                <a16:creationId xmlns:a16="http://schemas.microsoft.com/office/drawing/2014/main" id="{FFFE66FB-28AD-1476-E82E-46A9B8533C7C}"/>
              </a:ext>
            </a:extLst>
          </p:cNvPr>
          <p:cNvSpPr/>
          <p:nvPr/>
        </p:nvSpPr>
        <p:spPr>
          <a:xfrm>
            <a:off x="-1518115" y="5138796"/>
            <a:ext cx="7760440" cy="6137802"/>
          </a:xfrm>
          <a:custGeom>
            <a:avLst/>
            <a:gdLst/>
            <a:ahLst/>
            <a:cxnLst/>
            <a:rect l="l" t="t" r="r" b="b"/>
            <a:pathLst>
              <a:path w="7760440" h="6137802" extrusionOk="0">
                <a:moveTo>
                  <a:pt x="0" y="0"/>
                </a:moveTo>
                <a:lnTo>
                  <a:pt x="7760439" y="0"/>
                </a:lnTo>
                <a:lnTo>
                  <a:pt x="7760439" y="6137802"/>
                </a:lnTo>
                <a:lnTo>
                  <a:pt x="0" y="6137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94" name="Google Shape;294;p23">
            <a:extLst>
              <a:ext uri="{FF2B5EF4-FFF2-40B4-BE49-F238E27FC236}">
                <a16:creationId xmlns:a16="http://schemas.microsoft.com/office/drawing/2014/main" id="{4335AF22-10B3-0245-6A1E-A7044BFDA00C}"/>
              </a:ext>
            </a:extLst>
          </p:cNvPr>
          <p:cNvSpPr txBox="1"/>
          <p:nvPr/>
        </p:nvSpPr>
        <p:spPr>
          <a:xfrm>
            <a:off x="1357220" y="2067019"/>
            <a:ext cx="5989500" cy="1341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ESTRATEGIA DE FORMACIÓN 70-20-10</a:t>
            </a:r>
            <a:endParaRPr lang="es-ES_tradnl" dirty="0"/>
          </a:p>
        </p:txBody>
      </p:sp>
      <p:sp>
        <p:nvSpPr>
          <p:cNvPr id="298" name="Google Shape;298;p23">
            <a:extLst>
              <a:ext uri="{FF2B5EF4-FFF2-40B4-BE49-F238E27FC236}">
                <a16:creationId xmlns:a16="http://schemas.microsoft.com/office/drawing/2014/main" id="{186A78B8-C8E3-38CC-833A-72225D4995D6}"/>
              </a:ext>
            </a:extLst>
          </p:cNvPr>
          <p:cNvSpPr txBox="1"/>
          <p:nvPr/>
        </p:nvSpPr>
        <p:spPr>
          <a:xfrm>
            <a:off x="10393716" y="2031037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70% APRENDER TRABAJANDO</a:t>
            </a:r>
            <a:endParaRPr lang="es-ES_tradnl" dirty="0"/>
          </a:p>
        </p:txBody>
      </p:sp>
      <p:sp>
        <p:nvSpPr>
          <p:cNvPr id="301" name="Google Shape;301;p23">
            <a:extLst>
              <a:ext uri="{FF2B5EF4-FFF2-40B4-BE49-F238E27FC236}">
                <a16:creationId xmlns:a16="http://schemas.microsoft.com/office/drawing/2014/main" id="{0EB0886F-3824-8864-5A8D-63D9B2DF248C}"/>
              </a:ext>
            </a:extLst>
          </p:cNvPr>
          <p:cNvSpPr txBox="1"/>
          <p:nvPr/>
        </p:nvSpPr>
        <p:spPr>
          <a:xfrm>
            <a:off x="10393716" y="4021652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20% APRENDER DE </a:t>
            </a:r>
            <a:r>
              <a:rPr lang="es-ES_tradnl" sz="2400" b="1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OTROS </a:t>
            </a:r>
            <a:endParaRPr lang="es-ES_tradnl" sz="2400" b="1" dirty="0">
              <a:solidFill>
                <a:srgbClr val="004AAD"/>
              </a:solidFill>
              <a:latin typeface="Poppins"/>
              <a:cs typeface="Poppins"/>
              <a:sym typeface="Poppins"/>
            </a:endParaRPr>
          </a:p>
        </p:txBody>
      </p:sp>
      <p:sp>
        <p:nvSpPr>
          <p:cNvPr id="304" name="Google Shape;304;p23">
            <a:extLst>
              <a:ext uri="{FF2B5EF4-FFF2-40B4-BE49-F238E27FC236}">
                <a16:creationId xmlns:a16="http://schemas.microsoft.com/office/drawing/2014/main" id="{D81F7156-2EA7-892B-78D9-A6A96CEF51FB}"/>
              </a:ext>
            </a:extLst>
          </p:cNvPr>
          <p:cNvSpPr txBox="1"/>
          <p:nvPr/>
        </p:nvSpPr>
        <p:spPr>
          <a:xfrm>
            <a:off x="10393716" y="6053371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10% FORMACIÓN FORMAL</a:t>
            </a:r>
            <a:endParaRPr lang="es-ES_tradnl" dirty="0"/>
          </a:p>
        </p:txBody>
      </p:sp>
      <p:grpSp>
        <p:nvGrpSpPr>
          <p:cNvPr id="308" name="Google Shape;308;p23">
            <a:extLst>
              <a:ext uri="{FF2B5EF4-FFF2-40B4-BE49-F238E27FC236}">
                <a16:creationId xmlns:a16="http://schemas.microsoft.com/office/drawing/2014/main" id="{B3C6E7B3-9D31-55CD-CA26-CF5430B1F92E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309" name="Google Shape;309;p23">
              <a:extLst>
                <a:ext uri="{FF2B5EF4-FFF2-40B4-BE49-F238E27FC236}">
                  <a16:creationId xmlns:a16="http://schemas.microsoft.com/office/drawing/2014/main" id="{22DC04A7-9158-BB4E-F48C-FFFCB3796275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310" name="Google Shape;310;p23">
              <a:extLst>
                <a:ext uri="{FF2B5EF4-FFF2-40B4-BE49-F238E27FC236}">
                  <a16:creationId xmlns:a16="http://schemas.microsoft.com/office/drawing/2014/main" id="{61FD26A3-7C65-7F64-5E8A-A0DC8DCC11F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0" name="Google Shape;162;p18">
            <a:extLst>
              <a:ext uri="{FF2B5EF4-FFF2-40B4-BE49-F238E27FC236}">
                <a16:creationId xmlns:a16="http://schemas.microsoft.com/office/drawing/2014/main" id="{A239F5B4-C207-4A51-AE2F-F621521A6B0F}"/>
              </a:ext>
            </a:extLst>
          </p:cNvPr>
          <p:cNvSpPr/>
          <p:nvPr/>
        </p:nvSpPr>
        <p:spPr>
          <a:xfrm>
            <a:off x="14226839" y="7928731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1" name="QuadreDeText 20">
            <a:extLst>
              <a:ext uri="{FF2B5EF4-FFF2-40B4-BE49-F238E27FC236}">
                <a16:creationId xmlns:a16="http://schemas.microsoft.com/office/drawing/2014/main" id="{9DFD7447-688C-4313-A7DB-F0BBD3A18814}"/>
              </a:ext>
            </a:extLst>
          </p:cNvPr>
          <p:cNvSpPr txBox="1"/>
          <p:nvPr/>
        </p:nvSpPr>
        <p:spPr>
          <a:xfrm>
            <a:off x="3437792" y="5481981"/>
            <a:ext cx="9900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6"/>
              </a:rPr>
              <a:t>Developing Better Leaders For All Things Humanly Possible | CCL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493751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58"/>
              </a:lnSpc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-</a:t>
            </a: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&amp; Nuria Paredes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3331724"/>
            <a:ext cx="826920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Barreras</a:t>
            </a: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3991516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5"/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16" name="Google Shape;116;p15"/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17" name="Google Shape;117;p15"/>
          <p:cNvSpPr txBox="1"/>
          <p:nvPr/>
        </p:nvSpPr>
        <p:spPr>
          <a:xfrm>
            <a:off x="2983285" y="1152887"/>
            <a:ext cx="12321300" cy="763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b="1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KPIs</a:t>
            </a:r>
            <a:endParaRPr lang="es-ES" sz="4100" dirty="0"/>
          </a:p>
        </p:txBody>
      </p:sp>
      <p:sp>
        <p:nvSpPr>
          <p:cNvPr id="118" name="Google Shape;118;p15"/>
          <p:cNvSpPr txBox="1"/>
          <p:nvPr/>
        </p:nvSpPr>
        <p:spPr>
          <a:xfrm>
            <a:off x="780236" y="2955571"/>
            <a:ext cx="2420383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94.6</a:t>
            </a:r>
            <a:endParaRPr lang="es-ES_tradnl" dirty="0"/>
          </a:p>
        </p:txBody>
      </p:sp>
      <p:sp>
        <p:nvSpPr>
          <p:cNvPr id="119" name="Google Shape;119;p15"/>
          <p:cNvSpPr txBox="1"/>
          <p:nvPr/>
        </p:nvSpPr>
        <p:spPr>
          <a:xfrm>
            <a:off x="3863364" y="2831746"/>
            <a:ext cx="2889663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12.5</a:t>
            </a:r>
            <a:endParaRPr lang="es-ES_tradnl" dirty="0"/>
          </a:p>
        </p:txBody>
      </p:sp>
      <p:sp>
        <p:nvSpPr>
          <p:cNvPr id="120" name="Google Shape;120;p15"/>
          <p:cNvSpPr txBox="1"/>
          <p:nvPr/>
        </p:nvSpPr>
        <p:spPr>
          <a:xfrm>
            <a:off x="6993052" y="2831746"/>
            <a:ext cx="2850800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256.7%</a:t>
            </a:r>
            <a:endParaRPr lang="es-ES_tradnl" dirty="0"/>
          </a:p>
        </p:txBody>
      </p:sp>
      <p:sp>
        <p:nvSpPr>
          <p:cNvPr id="121" name="Google Shape;121;p15"/>
          <p:cNvSpPr txBox="1"/>
          <p:nvPr/>
        </p:nvSpPr>
        <p:spPr>
          <a:xfrm>
            <a:off x="11019122" y="2831746"/>
            <a:ext cx="2960055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29,1</a:t>
            </a:r>
            <a:endParaRPr lang="es-ES_tradnl" dirty="0"/>
          </a:p>
        </p:txBody>
      </p:sp>
      <p:sp>
        <p:nvSpPr>
          <p:cNvPr id="122" name="Google Shape;122;p15"/>
          <p:cNvSpPr txBox="1"/>
          <p:nvPr/>
        </p:nvSpPr>
        <p:spPr>
          <a:xfrm>
            <a:off x="14556979" y="2955571"/>
            <a:ext cx="2420383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386</a:t>
            </a:r>
            <a:endParaRPr lang="es-ES_tradnl" dirty="0"/>
          </a:p>
        </p:txBody>
      </p:sp>
      <p:sp>
        <p:nvSpPr>
          <p:cNvPr id="123" name="Google Shape;123;p15"/>
          <p:cNvSpPr txBox="1"/>
          <p:nvPr/>
        </p:nvSpPr>
        <p:spPr>
          <a:xfrm>
            <a:off x="663345" y="4033814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Desempeño Promedio</a:t>
            </a:r>
            <a:endParaRPr lang="es-ES_tradnl" dirty="0"/>
          </a:p>
        </p:txBody>
      </p:sp>
      <p:sp>
        <p:nvSpPr>
          <p:cNvPr id="124" name="Google Shape;124;p15"/>
          <p:cNvSpPr txBox="1"/>
          <p:nvPr/>
        </p:nvSpPr>
        <p:spPr>
          <a:xfrm>
            <a:off x="3964489" y="4071435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Años servicio</a:t>
            </a: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Promedio</a:t>
            </a:r>
            <a:endParaRPr lang="es-ES_tradnl" dirty="0"/>
          </a:p>
        </p:txBody>
      </p:sp>
      <p:sp>
        <p:nvSpPr>
          <p:cNvPr id="125" name="Google Shape;125;p15"/>
          <p:cNvSpPr txBox="1"/>
          <p:nvPr/>
        </p:nvSpPr>
        <p:spPr>
          <a:xfrm>
            <a:off x="6969024" y="4125806"/>
            <a:ext cx="2736450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Carga de Trabajo Diaria Promedio</a:t>
            </a:r>
            <a:endParaRPr lang="es-ES_tradnl" dirty="0"/>
          </a:p>
        </p:txBody>
      </p:sp>
      <p:sp>
        <p:nvSpPr>
          <p:cNvPr id="126" name="Google Shape;126;p15"/>
          <p:cNvSpPr txBox="1"/>
          <p:nvPr/>
        </p:nvSpPr>
        <p:spPr>
          <a:xfrm>
            <a:off x="11153960" y="4159948"/>
            <a:ext cx="2889663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Distancia Casa Trabajo Promedio</a:t>
            </a:r>
            <a:endParaRPr lang="es-ES_tradnl" dirty="0"/>
          </a:p>
        </p:txBody>
      </p:sp>
      <p:sp>
        <p:nvSpPr>
          <p:cNvPr id="127" name="Google Shape;127;p15"/>
          <p:cNvSpPr txBox="1"/>
          <p:nvPr/>
        </p:nvSpPr>
        <p:spPr>
          <a:xfrm>
            <a:off x="14440088" y="4159948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Empleados Totales</a:t>
            </a:r>
            <a:endParaRPr lang="es-ES_tradnl" dirty="0"/>
          </a:p>
        </p:txBody>
      </p:sp>
      <p:sp>
        <p:nvSpPr>
          <p:cNvPr id="129" name="Google Shape;129;p15"/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0" name="Google Shape;130;p15"/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1" name="Google Shape;131;p15"/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grpSp>
        <p:nvGrpSpPr>
          <p:cNvPr id="132" name="Google Shape;132;p15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33" name="Google Shape;133;p15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34" name="Google Shape;134;p15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8904E1C4-BA55-74CE-C240-E59815127484}"/>
              </a:ext>
            </a:extLst>
          </p:cNvPr>
          <p:cNvCxnSpPr>
            <a:cxnSpLocks/>
          </p:cNvCxnSpPr>
          <p:nvPr/>
        </p:nvCxnSpPr>
        <p:spPr>
          <a:xfrm>
            <a:off x="9839320" y="3127605"/>
            <a:ext cx="0" cy="646375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Google Shape;120;p15">
            <a:extLst>
              <a:ext uri="{FF2B5EF4-FFF2-40B4-BE49-F238E27FC236}">
                <a16:creationId xmlns:a16="http://schemas.microsoft.com/office/drawing/2014/main" id="{84F3F4B0-0611-9E7D-6C26-310E18D2F994}"/>
              </a:ext>
            </a:extLst>
          </p:cNvPr>
          <p:cNvSpPr txBox="1"/>
          <p:nvPr/>
        </p:nvSpPr>
        <p:spPr>
          <a:xfrm>
            <a:off x="9623199" y="3127605"/>
            <a:ext cx="1474517" cy="469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B050"/>
                </a:solidFill>
                <a:latin typeface="Poppins"/>
                <a:cs typeface="Poppins"/>
                <a:sym typeface="Poppins"/>
              </a:rPr>
              <a:t>15.3%</a:t>
            </a:r>
            <a:endParaRPr lang="es-ES_tradnl" sz="600" dirty="0">
              <a:solidFill>
                <a:srgbClr val="00B050"/>
              </a:solidFill>
            </a:endParaRPr>
          </a:p>
        </p:txBody>
      </p:sp>
      <p:sp>
        <p:nvSpPr>
          <p:cNvPr id="8" name="Google Shape;120;p15">
            <a:extLst>
              <a:ext uri="{FF2B5EF4-FFF2-40B4-BE49-F238E27FC236}">
                <a16:creationId xmlns:a16="http://schemas.microsoft.com/office/drawing/2014/main" id="{6CA926DD-7C71-23B0-3C7C-4FC51EF46AAF}"/>
              </a:ext>
            </a:extLst>
          </p:cNvPr>
          <p:cNvSpPr txBox="1"/>
          <p:nvPr/>
        </p:nvSpPr>
        <p:spPr>
          <a:xfrm>
            <a:off x="16429044" y="3103531"/>
            <a:ext cx="986317" cy="469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B050"/>
                </a:solidFill>
                <a:latin typeface="Poppins"/>
                <a:cs typeface="Poppins"/>
                <a:sym typeface="Poppins"/>
              </a:rPr>
              <a:t>250</a:t>
            </a:r>
            <a:endParaRPr lang="es-ES_tradnl" sz="600" dirty="0">
              <a:solidFill>
                <a:srgbClr val="00B050"/>
              </a:solidFill>
            </a:endParaRPr>
          </a:p>
        </p:txBody>
      </p: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062C2540-D75C-7571-7D7D-E0A5275EA232}"/>
              </a:ext>
            </a:extLst>
          </p:cNvPr>
          <p:cNvCxnSpPr>
            <a:cxnSpLocks/>
          </p:cNvCxnSpPr>
          <p:nvPr/>
        </p:nvCxnSpPr>
        <p:spPr>
          <a:xfrm flipV="1">
            <a:off x="16525524" y="2955571"/>
            <a:ext cx="0" cy="700287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2092914" y="1609520"/>
            <a:ext cx="1075856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y Perfiles de riesgo</a:t>
            </a:r>
            <a:endParaRPr lang="es-ES_tradnl" dirty="0"/>
          </a:p>
        </p:txBody>
      </p:sp>
      <p:grpSp>
        <p:nvGrpSpPr>
          <p:cNvPr id="153" name="Google Shape;153;p17"/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54" name="Google Shape;154;p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56" name="Google Shape;156;p17"/>
          <p:cNvSpPr/>
          <p:nvPr/>
        </p:nvSpPr>
        <p:spPr>
          <a:xfrm>
            <a:off x="746875" y="2598837"/>
            <a:ext cx="12104601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B6A08-7CBD-42ED-A290-0D3CBBEBE747}"/>
              </a:ext>
            </a:extLst>
          </p:cNvPr>
          <p:cNvSpPr/>
          <p:nvPr/>
        </p:nvSpPr>
        <p:spPr>
          <a:xfrm>
            <a:off x="1206008" y="3777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AÑOS DE SERVICIO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77A92D-B3AE-49AF-9B97-C5AF0DBFBCE9}"/>
              </a:ext>
            </a:extLst>
          </p:cNvPr>
          <p:cNvSpPr/>
          <p:nvPr/>
        </p:nvSpPr>
        <p:spPr>
          <a:xfrm>
            <a:off x="1165698" y="5282758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LABORAL MEDIA DIARIA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3A90B0-3711-4C1A-B59B-049DD31A5C94}"/>
              </a:ext>
            </a:extLst>
          </p:cNvPr>
          <p:cNvSpPr/>
          <p:nvPr/>
        </p:nvSpPr>
        <p:spPr>
          <a:xfrm>
            <a:off x="1165698" y="6780644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DISTANCIA CASA TRABAJO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FAE6EC-7E4C-4622-9755-AF6150B1BB98}"/>
              </a:ext>
            </a:extLst>
          </p:cNvPr>
          <p:cNvSpPr/>
          <p:nvPr/>
        </p:nvSpPr>
        <p:spPr>
          <a:xfrm>
            <a:off x="5544476" y="527273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cxnSp>
        <p:nvCxnSpPr>
          <p:cNvPr id="4" name="Connector de fletxa recta 3">
            <a:extLst>
              <a:ext uri="{FF2B5EF4-FFF2-40B4-BE49-F238E27FC236}">
                <a16:creationId xmlns:a16="http://schemas.microsoft.com/office/drawing/2014/main" id="{6E2E7557-7AC6-41A1-9647-8CB5A5F8D857}"/>
              </a:ext>
            </a:extLst>
          </p:cNvPr>
          <p:cNvCxnSpPr>
            <a:cxnSpLocks/>
          </p:cNvCxnSpPr>
          <p:nvPr/>
        </p:nvCxnSpPr>
        <p:spPr>
          <a:xfrm>
            <a:off x="4057297" y="4447742"/>
            <a:ext cx="1218088" cy="96237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de fletxa recta 17">
            <a:extLst>
              <a:ext uri="{FF2B5EF4-FFF2-40B4-BE49-F238E27FC236}">
                <a16:creationId xmlns:a16="http://schemas.microsoft.com/office/drawing/2014/main" id="{679C43D3-063B-471C-98B4-4F1B9C10124D}"/>
              </a:ext>
            </a:extLst>
          </p:cNvPr>
          <p:cNvCxnSpPr>
            <a:cxnSpLocks/>
          </p:cNvCxnSpPr>
          <p:nvPr/>
        </p:nvCxnSpPr>
        <p:spPr>
          <a:xfrm flipV="1">
            <a:off x="4031640" y="6404030"/>
            <a:ext cx="1226330" cy="94664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de fletxa recta 19">
            <a:extLst>
              <a:ext uri="{FF2B5EF4-FFF2-40B4-BE49-F238E27FC236}">
                <a16:creationId xmlns:a16="http://schemas.microsoft.com/office/drawing/2014/main" id="{503C184A-52E8-4BDD-88C5-AB3981C81FC3}"/>
              </a:ext>
            </a:extLst>
          </p:cNvPr>
          <p:cNvCxnSpPr>
            <a:cxnSpLocks/>
          </p:cNvCxnSpPr>
          <p:nvPr/>
        </p:nvCxnSpPr>
        <p:spPr>
          <a:xfrm>
            <a:off x="3993289" y="5935989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1">
            <a:extLst>
              <a:ext uri="{FF2B5EF4-FFF2-40B4-BE49-F238E27FC236}">
                <a16:creationId xmlns:a16="http://schemas.microsoft.com/office/drawing/2014/main" id="{42F22800-C809-CD56-7D7A-5160DC5287BB}"/>
              </a:ext>
            </a:extLst>
          </p:cNvPr>
          <p:cNvSpPr/>
          <p:nvPr/>
        </p:nvSpPr>
        <p:spPr>
          <a:xfrm>
            <a:off x="10060202" y="3777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BAJO</a:t>
            </a:r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1638C51A-E06C-182E-FAB6-E30671F8DFDC}"/>
              </a:ext>
            </a:extLst>
          </p:cNvPr>
          <p:cNvSpPr/>
          <p:nvPr/>
        </p:nvSpPr>
        <p:spPr>
          <a:xfrm>
            <a:off x="10053142" y="5282758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MEDIO</a:t>
            </a:r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76D68A47-58FB-E99C-1AA1-74A6EBBC9A72}"/>
              </a:ext>
            </a:extLst>
          </p:cNvPr>
          <p:cNvSpPr/>
          <p:nvPr/>
        </p:nvSpPr>
        <p:spPr>
          <a:xfrm>
            <a:off x="10053142" y="6780644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ALTO</a:t>
            </a:r>
          </a:p>
        </p:txBody>
      </p:sp>
      <p:cxnSp>
        <p:nvCxnSpPr>
          <p:cNvPr id="8" name="Connector de fletxa recta 3">
            <a:extLst>
              <a:ext uri="{FF2B5EF4-FFF2-40B4-BE49-F238E27FC236}">
                <a16:creationId xmlns:a16="http://schemas.microsoft.com/office/drawing/2014/main" id="{19E23486-15F3-13A5-A805-8924C9F5C846}"/>
              </a:ext>
            </a:extLst>
          </p:cNvPr>
          <p:cNvCxnSpPr>
            <a:cxnSpLocks/>
          </p:cNvCxnSpPr>
          <p:nvPr/>
        </p:nvCxnSpPr>
        <p:spPr>
          <a:xfrm>
            <a:off x="8363449" y="6299458"/>
            <a:ext cx="1218088" cy="96237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de fletxa recta 17">
            <a:extLst>
              <a:ext uri="{FF2B5EF4-FFF2-40B4-BE49-F238E27FC236}">
                <a16:creationId xmlns:a16="http://schemas.microsoft.com/office/drawing/2014/main" id="{FBFEE702-CB4E-27B6-3FD5-01F488761405}"/>
              </a:ext>
            </a:extLst>
          </p:cNvPr>
          <p:cNvCxnSpPr>
            <a:cxnSpLocks/>
          </p:cNvCxnSpPr>
          <p:nvPr/>
        </p:nvCxnSpPr>
        <p:spPr>
          <a:xfrm flipV="1">
            <a:off x="8357348" y="4432382"/>
            <a:ext cx="1226330" cy="94664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de fletxa recta 19">
            <a:extLst>
              <a:ext uri="{FF2B5EF4-FFF2-40B4-BE49-F238E27FC236}">
                <a16:creationId xmlns:a16="http://schemas.microsoft.com/office/drawing/2014/main" id="{2990E9D9-7239-470F-C09C-B2DF94F24E87}"/>
              </a:ext>
            </a:extLst>
          </p:cNvPr>
          <p:cNvCxnSpPr>
            <a:cxnSpLocks/>
          </p:cNvCxnSpPr>
          <p:nvPr/>
        </p:nvCxnSpPr>
        <p:spPr>
          <a:xfrm>
            <a:off x="8363449" y="5839240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4B642E1B-EAAD-846C-7213-818F9B082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50;p17">
            <a:extLst>
              <a:ext uri="{FF2B5EF4-FFF2-40B4-BE49-F238E27FC236}">
                <a16:creationId xmlns:a16="http://schemas.microsoft.com/office/drawing/2014/main" id="{F86CEE5F-E76A-4B02-BD77-12DF8281C89B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693086C1-3A88-EB59-4013-101D3A37FAA6}"/>
              </a:ext>
            </a:extLst>
          </p:cNvPr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en el Desempeño</a:t>
            </a:r>
            <a:endParaRPr lang="es-ES_tradnl" dirty="0"/>
          </a:p>
        </p:txBody>
      </p:sp>
      <p:grpSp>
        <p:nvGrpSpPr>
          <p:cNvPr id="143" name="Google Shape;143;p16">
            <a:extLst>
              <a:ext uri="{FF2B5EF4-FFF2-40B4-BE49-F238E27FC236}">
                <a16:creationId xmlns:a16="http://schemas.microsoft.com/office/drawing/2014/main" id="{BB7F3992-FFE1-2424-CA16-0C8A71549DC2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>
              <a:extLst>
                <a:ext uri="{FF2B5EF4-FFF2-40B4-BE49-F238E27FC236}">
                  <a16:creationId xmlns:a16="http://schemas.microsoft.com/office/drawing/2014/main" id="{C03B731F-3CB9-C9D1-0B50-FA6635DF58A3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>
              <a:extLst>
                <a:ext uri="{FF2B5EF4-FFF2-40B4-BE49-F238E27FC236}">
                  <a16:creationId xmlns:a16="http://schemas.microsoft.com/office/drawing/2014/main" id="{08C7B611-92BA-5C21-A37C-B93DA08A165B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pic>
        <p:nvPicPr>
          <p:cNvPr id="4" name="Imagen 3">
            <a:extLst>
              <a:ext uri="{FF2B5EF4-FFF2-40B4-BE49-F238E27FC236}">
                <a16:creationId xmlns:a16="http://schemas.microsoft.com/office/drawing/2014/main" id="{D1F1D1B5-06AD-37C8-261A-BA3200F320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006" y="1542472"/>
            <a:ext cx="15353775" cy="8380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65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63E80783-2808-D9A9-2296-58D7B84EC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861740C8-2715-C62E-41D0-4545EEC1AAB8}"/>
              </a:ext>
            </a:extLst>
          </p:cNvPr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en el Desempeño</a:t>
            </a:r>
            <a:endParaRPr lang="es-ES_tradnl" dirty="0"/>
          </a:p>
        </p:txBody>
      </p:sp>
      <p:grpSp>
        <p:nvGrpSpPr>
          <p:cNvPr id="143" name="Google Shape;143;p16">
            <a:extLst>
              <a:ext uri="{FF2B5EF4-FFF2-40B4-BE49-F238E27FC236}">
                <a16:creationId xmlns:a16="http://schemas.microsoft.com/office/drawing/2014/main" id="{C48D0062-7916-1CEC-0AEA-2300BC4525D5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>
              <a:extLst>
                <a:ext uri="{FF2B5EF4-FFF2-40B4-BE49-F238E27FC236}">
                  <a16:creationId xmlns:a16="http://schemas.microsoft.com/office/drawing/2014/main" id="{251AD685-409E-218B-B9BF-C7EEEF2F42EB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>
              <a:extLst>
                <a:ext uri="{FF2B5EF4-FFF2-40B4-BE49-F238E27FC236}">
                  <a16:creationId xmlns:a16="http://schemas.microsoft.com/office/drawing/2014/main" id="{3304A7D0-ED7D-15AB-75E4-7BE82AA31F29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Google Shape;142;p16">
            <a:extLst>
              <a:ext uri="{FF2B5EF4-FFF2-40B4-BE49-F238E27FC236}">
                <a16:creationId xmlns:a16="http://schemas.microsoft.com/office/drawing/2014/main" id="{33860D4C-35DB-8674-B456-D91CBD9BE121}"/>
              </a:ext>
            </a:extLst>
          </p:cNvPr>
          <p:cNvSpPr txBox="1"/>
          <p:nvPr/>
        </p:nvSpPr>
        <p:spPr>
          <a:xfrm>
            <a:off x="6977513" y="3187638"/>
            <a:ext cx="3250633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FF0000"/>
                </a:solidFill>
                <a:latin typeface="Poppins"/>
                <a:ea typeface="Poppins"/>
                <a:cs typeface="Poppins"/>
                <a:sym typeface="Poppins"/>
              </a:rPr>
              <a:t>0% Impacto</a:t>
            </a:r>
            <a:endParaRPr lang="es-ES_tradnl" dirty="0">
              <a:solidFill>
                <a:srgbClr val="FF0000"/>
              </a:solidFill>
            </a:endParaRPr>
          </a:p>
        </p:txBody>
      </p:sp>
      <p:sp>
        <p:nvSpPr>
          <p:cNvPr id="4" name="Google Shape;142;p16">
            <a:extLst>
              <a:ext uri="{FF2B5EF4-FFF2-40B4-BE49-F238E27FC236}">
                <a16:creationId xmlns:a16="http://schemas.microsoft.com/office/drawing/2014/main" id="{A068B446-C788-A91F-BC12-679FDD6AB5DA}"/>
              </a:ext>
            </a:extLst>
          </p:cNvPr>
          <p:cNvSpPr txBox="1">
            <a:spLocks noChangeAspect="1"/>
          </p:cNvSpPr>
          <p:nvPr/>
        </p:nvSpPr>
        <p:spPr>
          <a:xfrm>
            <a:off x="3465347" y="5045538"/>
            <a:ext cx="2430957" cy="1787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9600" dirty="0">
                <a:solidFill>
                  <a:srgbClr val="FF0000"/>
                </a:solidFill>
              </a:rPr>
              <a:t>🏠</a:t>
            </a:r>
          </a:p>
        </p:txBody>
      </p:sp>
      <p:sp>
        <p:nvSpPr>
          <p:cNvPr id="5" name="Google Shape;142;p16">
            <a:extLst>
              <a:ext uri="{FF2B5EF4-FFF2-40B4-BE49-F238E27FC236}">
                <a16:creationId xmlns:a16="http://schemas.microsoft.com/office/drawing/2014/main" id="{6F05B33D-C9EC-24C4-6E68-40CEAC788EDE}"/>
              </a:ext>
            </a:extLst>
          </p:cNvPr>
          <p:cNvSpPr txBox="1">
            <a:spLocks noChangeAspect="1"/>
          </p:cNvSpPr>
          <p:nvPr/>
        </p:nvSpPr>
        <p:spPr>
          <a:xfrm>
            <a:off x="11626643" y="4984184"/>
            <a:ext cx="1950523" cy="1787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9600" dirty="0">
                <a:solidFill>
                  <a:srgbClr val="FF0000"/>
                </a:solidFill>
              </a:rPr>
              <a:t>⏳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D691DCF0-EA6C-ACB7-6926-9C60ED2B293B}"/>
              </a:ext>
            </a:extLst>
          </p:cNvPr>
          <p:cNvCxnSpPr>
            <a:cxnSpLocks/>
          </p:cNvCxnSpPr>
          <p:nvPr/>
        </p:nvCxnSpPr>
        <p:spPr>
          <a:xfrm flipH="1">
            <a:off x="5574780" y="3825551"/>
            <a:ext cx="1296785" cy="140413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0FBD80B7-C760-C653-3BEC-38595DD47B70}"/>
              </a:ext>
            </a:extLst>
          </p:cNvPr>
          <p:cNvCxnSpPr>
            <a:cxnSpLocks/>
          </p:cNvCxnSpPr>
          <p:nvPr/>
        </p:nvCxnSpPr>
        <p:spPr>
          <a:xfrm>
            <a:off x="10310940" y="3823321"/>
            <a:ext cx="1411958" cy="140413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Google Shape;115;p15">
            <a:extLst>
              <a:ext uri="{FF2B5EF4-FFF2-40B4-BE49-F238E27FC236}">
                <a16:creationId xmlns:a16="http://schemas.microsoft.com/office/drawing/2014/main" id="{8FB33FCD-A80E-470E-810C-7AAE52B4218B}"/>
              </a:ext>
            </a:extLst>
          </p:cNvPr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" name="Google Shape;116;p15">
            <a:extLst>
              <a:ext uri="{FF2B5EF4-FFF2-40B4-BE49-F238E27FC236}">
                <a16:creationId xmlns:a16="http://schemas.microsoft.com/office/drawing/2014/main" id="{8DAB3E1D-B952-4765-8585-83E2CDEF6DBE}"/>
              </a:ext>
            </a:extLst>
          </p:cNvPr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" name="Google Shape;129;p15">
            <a:extLst>
              <a:ext uri="{FF2B5EF4-FFF2-40B4-BE49-F238E27FC236}">
                <a16:creationId xmlns:a16="http://schemas.microsoft.com/office/drawing/2014/main" id="{F5FBBCFA-3965-4E20-9EF0-B84FF43FDB01}"/>
              </a:ext>
            </a:extLst>
          </p:cNvPr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" name="Google Shape;130;p15">
            <a:extLst>
              <a:ext uri="{FF2B5EF4-FFF2-40B4-BE49-F238E27FC236}">
                <a16:creationId xmlns:a16="http://schemas.microsoft.com/office/drawing/2014/main" id="{B74CD591-F99B-499C-9966-331AB7425F8D}"/>
              </a:ext>
            </a:extLst>
          </p:cNvPr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" name="Google Shape;131;p15">
            <a:extLst>
              <a:ext uri="{FF2B5EF4-FFF2-40B4-BE49-F238E27FC236}">
                <a16:creationId xmlns:a16="http://schemas.microsoft.com/office/drawing/2014/main" id="{A3D8AAD5-872B-4286-9C59-9F7CC6BFEBD2}"/>
              </a:ext>
            </a:extLst>
          </p:cNvPr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9332422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60">
          <a:extLst>
            <a:ext uri="{FF2B5EF4-FFF2-40B4-BE49-F238E27FC236}">
              <a16:creationId xmlns:a16="http://schemas.microsoft.com/office/drawing/2014/main" id="{DA297602-4BBB-8124-85EA-38BC67F0E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FA7FADFD-60A0-32BE-B0F0-F90CE928063D}"/>
              </a:ext>
            </a:extLst>
          </p:cNvPr>
          <p:cNvSpPr/>
          <p:nvPr/>
        </p:nvSpPr>
        <p:spPr>
          <a:xfrm>
            <a:off x="-411641" y="7198177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2" name="Google Shape;162;p18">
            <a:extLst>
              <a:ext uri="{FF2B5EF4-FFF2-40B4-BE49-F238E27FC236}">
                <a16:creationId xmlns:a16="http://schemas.microsoft.com/office/drawing/2014/main" id="{C440BC94-E658-41A3-E378-7422709BA398}"/>
              </a:ext>
            </a:extLst>
          </p:cNvPr>
          <p:cNvSpPr/>
          <p:nvPr/>
        </p:nvSpPr>
        <p:spPr>
          <a:xfrm>
            <a:off x="5482809" y="8188196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3" name="Google Shape;163;p18">
            <a:extLst>
              <a:ext uri="{FF2B5EF4-FFF2-40B4-BE49-F238E27FC236}">
                <a16:creationId xmlns:a16="http://schemas.microsoft.com/office/drawing/2014/main" id="{CFCEAEBD-EF5E-82A0-0B56-8E2B61FEEFA3}"/>
              </a:ext>
            </a:extLst>
          </p:cNvPr>
          <p:cNvSpPr/>
          <p:nvPr/>
        </p:nvSpPr>
        <p:spPr>
          <a:xfrm>
            <a:off x="9504429" y="8159082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7" name="Google Shape;167;p18">
            <a:extLst>
              <a:ext uri="{FF2B5EF4-FFF2-40B4-BE49-F238E27FC236}">
                <a16:creationId xmlns:a16="http://schemas.microsoft.com/office/drawing/2014/main" id="{31C7F14F-C1D2-243D-7A0B-9520357B6CFB}"/>
              </a:ext>
            </a:extLst>
          </p:cNvPr>
          <p:cNvSpPr txBox="1"/>
          <p:nvPr/>
        </p:nvSpPr>
        <p:spPr>
          <a:xfrm>
            <a:off x="5794045" y="553200"/>
            <a:ext cx="60222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Identificación de perfiles</a:t>
            </a:r>
            <a:endParaRPr lang="es-ES_tradnl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F05D9C-A020-4BB4-E559-6C31990412CF}"/>
              </a:ext>
            </a:extLst>
          </p:cNvPr>
          <p:cNvSpPr/>
          <p:nvPr/>
        </p:nvSpPr>
        <p:spPr>
          <a:xfrm>
            <a:off x="7177595" y="1772428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ÓPTIMO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A71E87-3B90-32C4-7C27-58EDCC2D761B}"/>
              </a:ext>
            </a:extLst>
          </p:cNvPr>
          <p:cNvSpPr/>
          <p:nvPr/>
        </p:nvSpPr>
        <p:spPr>
          <a:xfrm>
            <a:off x="1213913" y="2362717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CRÍTICO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2D5BD7-5072-A712-E89D-315E1246CCD2}"/>
              </a:ext>
            </a:extLst>
          </p:cNvPr>
          <p:cNvSpPr/>
          <p:nvPr/>
        </p:nvSpPr>
        <p:spPr>
          <a:xfrm>
            <a:off x="13262477" y="2335213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SATURADO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FA6F57-08F9-AB33-9203-BBB34C284455}"/>
              </a:ext>
            </a:extLst>
          </p:cNvPr>
          <p:cNvSpPr/>
          <p:nvPr/>
        </p:nvSpPr>
        <p:spPr>
          <a:xfrm>
            <a:off x="3083700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grpSp>
        <p:nvGrpSpPr>
          <p:cNvPr id="164" name="Google Shape;164;p18">
            <a:extLst>
              <a:ext uri="{FF2B5EF4-FFF2-40B4-BE49-F238E27FC236}">
                <a16:creationId xmlns:a16="http://schemas.microsoft.com/office/drawing/2014/main" id="{5C8F871A-0C94-7ACA-9EC2-2CF655A37500}"/>
              </a:ext>
            </a:extLst>
          </p:cNvPr>
          <p:cNvGrpSpPr/>
          <p:nvPr/>
        </p:nvGrpSpPr>
        <p:grpSpPr>
          <a:xfrm>
            <a:off x="-118494" y="0"/>
            <a:ext cx="2163413" cy="1886345"/>
            <a:chOff x="12784175" y="3675030"/>
            <a:chExt cx="2163413" cy="1886345"/>
          </a:xfrm>
        </p:grpSpPr>
        <p:sp>
          <p:nvSpPr>
            <p:cNvPr id="165" name="Google Shape;165;p18">
              <a:extLst>
                <a:ext uri="{FF2B5EF4-FFF2-40B4-BE49-F238E27FC236}">
                  <a16:creationId xmlns:a16="http://schemas.microsoft.com/office/drawing/2014/main" id="{0F8A5375-035A-B275-BEA1-4DAECA3886F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66" name="Google Shape;166;p18">
              <a:extLst>
                <a:ext uri="{FF2B5EF4-FFF2-40B4-BE49-F238E27FC236}">
                  <a16:creationId xmlns:a16="http://schemas.microsoft.com/office/drawing/2014/main" id="{5E8E3819-634B-8278-8583-C3C352EA55E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Rectangle 14">
            <a:extLst>
              <a:ext uri="{FF2B5EF4-FFF2-40B4-BE49-F238E27FC236}">
                <a16:creationId xmlns:a16="http://schemas.microsoft.com/office/drawing/2014/main" id="{2C4573BD-4062-5928-8D40-C2F880FE60B9}"/>
              </a:ext>
            </a:extLst>
          </p:cNvPr>
          <p:cNvSpPr/>
          <p:nvPr/>
        </p:nvSpPr>
        <p:spPr>
          <a:xfrm>
            <a:off x="845798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D73DF1B4-7E07-1FFB-F523-7DC8DC5EECDF}"/>
              </a:ext>
            </a:extLst>
          </p:cNvPr>
          <p:cNvSpPr/>
          <p:nvPr/>
        </p:nvSpPr>
        <p:spPr>
          <a:xfrm>
            <a:off x="9021997" y="3616080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4" name="Rectangle 14">
            <a:extLst>
              <a:ext uri="{FF2B5EF4-FFF2-40B4-BE49-F238E27FC236}">
                <a16:creationId xmlns:a16="http://schemas.microsoft.com/office/drawing/2014/main" id="{5E7CDE07-09E1-9659-2686-57651D05F2A7}"/>
              </a:ext>
            </a:extLst>
          </p:cNvPr>
          <p:cNvSpPr/>
          <p:nvPr/>
        </p:nvSpPr>
        <p:spPr>
          <a:xfrm>
            <a:off x="6692170" y="3626941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7B9DE141-DEAD-5D5C-77C3-4E9EF984166B}"/>
              </a:ext>
            </a:extLst>
          </p:cNvPr>
          <p:cNvSpPr/>
          <p:nvPr/>
        </p:nvSpPr>
        <p:spPr>
          <a:xfrm>
            <a:off x="15076684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6" name="Rectangle 14">
            <a:extLst>
              <a:ext uri="{FF2B5EF4-FFF2-40B4-BE49-F238E27FC236}">
                <a16:creationId xmlns:a16="http://schemas.microsoft.com/office/drawing/2014/main" id="{AAA1FC9E-85E7-5CC1-7D4C-008E402DA12E}"/>
              </a:ext>
            </a:extLst>
          </p:cNvPr>
          <p:cNvSpPr/>
          <p:nvPr/>
        </p:nvSpPr>
        <p:spPr>
          <a:xfrm>
            <a:off x="12872043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1A371D18-CFF7-7C81-AB14-A754411D14F9}"/>
              </a:ext>
            </a:extLst>
          </p:cNvPr>
          <p:cNvSpPr/>
          <p:nvPr/>
        </p:nvSpPr>
        <p:spPr>
          <a:xfrm>
            <a:off x="3161026" y="5891203"/>
            <a:ext cx="1569433" cy="751127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81%</a:t>
            </a:r>
          </a:p>
        </p:txBody>
      </p:sp>
      <p:sp>
        <p:nvSpPr>
          <p:cNvPr id="8" name="Rectangle 14">
            <a:extLst>
              <a:ext uri="{FF2B5EF4-FFF2-40B4-BE49-F238E27FC236}">
                <a16:creationId xmlns:a16="http://schemas.microsoft.com/office/drawing/2014/main" id="{FFF26C2C-4A64-4E35-607C-B6984CE1B315}"/>
              </a:ext>
            </a:extLst>
          </p:cNvPr>
          <p:cNvSpPr/>
          <p:nvPr/>
        </p:nvSpPr>
        <p:spPr>
          <a:xfrm>
            <a:off x="845798" y="588834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289 – 298 paquetes</a:t>
            </a:r>
          </a:p>
        </p:txBody>
      </p:sp>
      <p:sp>
        <p:nvSpPr>
          <p:cNvPr id="9" name="Rectangle 14">
            <a:extLst>
              <a:ext uri="{FF2B5EF4-FFF2-40B4-BE49-F238E27FC236}">
                <a16:creationId xmlns:a16="http://schemas.microsoft.com/office/drawing/2014/main" id="{2C786784-9FA6-D511-DA8C-F5E16FE4EADD}"/>
              </a:ext>
            </a:extLst>
          </p:cNvPr>
          <p:cNvSpPr/>
          <p:nvPr/>
        </p:nvSpPr>
        <p:spPr>
          <a:xfrm>
            <a:off x="9021996" y="5143501"/>
            <a:ext cx="1569433" cy="760440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98.7%</a:t>
            </a:r>
          </a:p>
        </p:txBody>
      </p:sp>
      <p:sp>
        <p:nvSpPr>
          <p:cNvPr id="10" name="Rectangle 14">
            <a:extLst>
              <a:ext uri="{FF2B5EF4-FFF2-40B4-BE49-F238E27FC236}">
                <a16:creationId xmlns:a16="http://schemas.microsoft.com/office/drawing/2014/main" id="{AA30C771-E6A3-FE09-F41C-D9F5FEC85A32}"/>
              </a:ext>
            </a:extLst>
          </p:cNvPr>
          <p:cNvSpPr/>
          <p:nvPr/>
        </p:nvSpPr>
        <p:spPr>
          <a:xfrm>
            <a:off x="6692169" y="5143500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237 – 239 paquetes</a:t>
            </a: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BCA2D389-3019-B741-E06C-B5218ED92F60}"/>
              </a:ext>
            </a:extLst>
          </p:cNvPr>
          <p:cNvSpPr/>
          <p:nvPr/>
        </p:nvSpPr>
        <p:spPr>
          <a:xfrm>
            <a:off x="15187271" y="5880162"/>
            <a:ext cx="1587813" cy="751128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95.5%</a:t>
            </a:r>
          </a:p>
        </p:txBody>
      </p:sp>
      <p:sp>
        <p:nvSpPr>
          <p:cNvPr id="18" name="Rectangle 14">
            <a:extLst>
              <a:ext uri="{FF2B5EF4-FFF2-40B4-BE49-F238E27FC236}">
                <a16:creationId xmlns:a16="http://schemas.microsoft.com/office/drawing/2014/main" id="{07227D69-5E0C-A63D-B5C0-BD57482FD335}"/>
              </a:ext>
            </a:extLst>
          </p:cNvPr>
          <p:cNvSpPr/>
          <p:nvPr/>
        </p:nvSpPr>
        <p:spPr>
          <a:xfrm>
            <a:off x="12872043" y="589048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&gt; 304</a:t>
            </a:r>
            <a:br>
              <a:rPr lang="es-ES_tradnl" sz="2400" b="1" dirty="0">
                <a:solidFill>
                  <a:schemeClr val="bg2"/>
                </a:solidFill>
              </a:rPr>
            </a:br>
            <a:r>
              <a:rPr lang="es-ES_tradnl" sz="2400" b="1" dirty="0">
                <a:solidFill>
                  <a:schemeClr val="bg2"/>
                </a:solidFill>
              </a:rPr>
              <a:t>paquetes</a:t>
            </a:r>
          </a:p>
        </p:txBody>
      </p:sp>
      <p:sp>
        <p:nvSpPr>
          <p:cNvPr id="19" name="Flecha abajo 18">
            <a:extLst>
              <a:ext uri="{FF2B5EF4-FFF2-40B4-BE49-F238E27FC236}">
                <a16:creationId xmlns:a16="http://schemas.microsoft.com/office/drawing/2014/main" id="{06892AA4-0E84-0998-2A87-8514C668B258}"/>
              </a:ext>
            </a:extLst>
          </p:cNvPr>
          <p:cNvSpPr/>
          <p:nvPr/>
        </p:nvSpPr>
        <p:spPr>
          <a:xfrm>
            <a:off x="7639189" y="2947681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Flecha abajo 19">
            <a:extLst>
              <a:ext uri="{FF2B5EF4-FFF2-40B4-BE49-F238E27FC236}">
                <a16:creationId xmlns:a16="http://schemas.microsoft.com/office/drawing/2014/main" id="{27DF9403-FC07-1FE3-C630-B4CCB48243CD}"/>
              </a:ext>
            </a:extLst>
          </p:cNvPr>
          <p:cNvSpPr/>
          <p:nvPr/>
        </p:nvSpPr>
        <p:spPr>
          <a:xfrm>
            <a:off x="9504430" y="2961410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Flecha abajo 20">
            <a:extLst>
              <a:ext uri="{FF2B5EF4-FFF2-40B4-BE49-F238E27FC236}">
                <a16:creationId xmlns:a16="http://schemas.microsoft.com/office/drawing/2014/main" id="{4AE8A597-AD4C-6807-9C29-6DF665B918CA}"/>
              </a:ext>
            </a:extLst>
          </p:cNvPr>
          <p:cNvSpPr/>
          <p:nvPr/>
        </p:nvSpPr>
        <p:spPr>
          <a:xfrm>
            <a:off x="7639188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Flecha abajo 21">
            <a:extLst>
              <a:ext uri="{FF2B5EF4-FFF2-40B4-BE49-F238E27FC236}">
                <a16:creationId xmlns:a16="http://schemas.microsoft.com/office/drawing/2014/main" id="{07ECE06B-223A-0567-4341-27AA5F848363}"/>
              </a:ext>
            </a:extLst>
          </p:cNvPr>
          <p:cNvSpPr/>
          <p:nvPr/>
        </p:nvSpPr>
        <p:spPr>
          <a:xfrm>
            <a:off x="9504429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Flecha abajo 22">
            <a:extLst>
              <a:ext uri="{FF2B5EF4-FFF2-40B4-BE49-F238E27FC236}">
                <a16:creationId xmlns:a16="http://schemas.microsoft.com/office/drawing/2014/main" id="{356C1CDD-C354-2A09-BFC9-FADEB6A7E64A}"/>
              </a:ext>
            </a:extLst>
          </p:cNvPr>
          <p:cNvSpPr/>
          <p:nvPr/>
        </p:nvSpPr>
        <p:spPr>
          <a:xfrm>
            <a:off x="13672226" y="3598578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Flecha abajo 23">
            <a:extLst>
              <a:ext uri="{FF2B5EF4-FFF2-40B4-BE49-F238E27FC236}">
                <a16:creationId xmlns:a16="http://schemas.microsoft.com/office/drawing/2014/main" id="{7C533EBD-554B-77AE-8C4D-66526DB7A975}"/>
              </a:ext>
            </a:extLst>
          </p:cNvPr>
          <p:cNvSpPr/>
          <p:nvPr/>
        </p:nvSpPr>
        <p:spPr>
          <a:xfrm>
            <a:off x="15537467" y="3612307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Flecha abajo 24">
            <a:extLst>
              <a:ext uri="{FF2B5EF4-FFF2-40B4-BE49-F238E27FC236}">
                <a16:creationId xmlns:a16="http://schemas.microsoft.com/office/drawing/2014/main" id="{36297C3E-7832-B3A4-DE68-A8D5264D0CDB}"/>
              </a:ext>
            </a:extLst>
          </p:cNvPr>
          <p:cNvSpPr/>
          <p:nvPr/>
        </p:nvSpPr>
        <p:spPr>
          <a:xfrm>
            <a:off x="13672225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Flecha abajo 25">
            <a:extLst>
              <a:ext uri="{FF2B5EF4-FFF2-40B4-BE49-F238E27FC236}">
                <a16:creationId xmlns:a16="http://schemas.microsoft.com/office/drawing/2014/main" id="{464B6C5F-A562-BF84-839D-9AC0DBF1899D}"/>
              </a:ext>
            </a:extLst>
          </p:cNvPr>
          <p:cNvSpPr/>
          <p:nvPr/>
        </p:nvSpPr>
        <p:spPr>
          <a:xfrm>
            <a:off x="15537466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Flecha abajo 26">
            <a:extLst>
              <a:ext uri="{FF2B5EF4-FFF2-40B4-BE49-F238E27FC236}">
                <a16:creationId xmlns:a16="http://schemas.microsoft.com/office/drawing/2014/main" id="{53168283-7E04-F1E2-E520-A02E58E33E99}"/>
              </a:ext>
            </a:extLst>
          </p:cNvPr>
          <p:cNvSpPr/>
          <p:nvPr/>
        </p:nvSpPr>
        <p:spPr>
          <a:xfrm>
            <a:off x="1725016" y="3563204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Flecha abajo 27">
            <a:extLst>
              <a:ext uri="{FF2B5EF4-FFF2-40B4-BE49-F238E27FC236}">
                <a16:creationId xmlns:a16="http://schemas.microsoft.com/office/drawing/2014/main" id="{DBF47D44-AEE3-B620-5B96-0CD65447D6A3}"/>
              </a:ext>
            </a:extLst>
          </p:cNvPr>
          <p:cNvSpPr/>
          <p:nvPr/>
        </p:nvSpPr>
        <p:spPr>
          <a:xfrm>
            <a:off x="3590257" y="3576933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FF0000"/>
              </a:solidFill>
            </a:endParaRPr>
          </a:p>
        </p:txBody>
      </p:sp>
      <p:sp>
        <p:nvSpPr>
          <p:cNvPr id="29" name="Flecha abajo 28">
            <a:extLst>
              <a:ext uri="{FF2B5EF4-FFF2-40B4-BE49-F238E27FC236}">
                <a16:creationId xmlns:a16="http://schemas.microsoft.com/office/drawing/2014/main" id="{3EF09888-3FB9-8476-A9C9-58D4C2AA24B7}"/>
              </a:ext>
            </a:extLst>
          </p:cNvPr>
          <p:cNvSpPr/>
          <p:nvPr/>
        </p:nvSpPr>
        <p:spPr>
          <a:xfrm>
            <a:off x="1725015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Flecha abajo 29">
            <a:extLst>
              <a:ext uri="{FF2B5EF4-FFF2-40B4-BE49-F238E27FC236}">
                <a16:creationId xmlns:a16="http://schemas.microsoft.com/office/drawing/2014/main" id="{030F277A-7CD4-62F5-A2EE-C651FF9F555A}"/>
              </a:ext>
            </a:extLst>
          </p:cNvPr>
          <p:cNvSpPr/>
          <p:nvPr/>
        </p:nvSpPr>
        <p:spPr>
          <a:xfrm>
            <a:off x="3590256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778511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60">
          <a:extLst>
            <a:ext uri="{FF2B5EF4-FFF2-40B4-BE49-F238E27FC236}">
              <a16:creationId xmlns:a16="http://schemas.microsoft.com/office/drawing/2014/main" id="{DA297602-4BBB-8124-85EA-38BC67F0E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FA7FADFD-60A0-32BE-B0F0-F90CE928063D}"/>
              </a:ext>
            </a:extLst>
          </p:cNvPr>
          <p:cNvSpPr/>
          <p:nvPr/>
        </p:nvSpPr>
        <p:spPr>
          <a:xfrm>
            <a:off x="-411641" y="7198177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2" name="Google Shape;162;p18">
            <a:extLst>
              <a:ext uri="{FF2B5EF4-FFF2-40B4-BE49-F238E27FC236}">
                <a16:creationId xmlns:a16="http://schemas.microsoft.com/office/drawing/2014/main" id="{C440BC94-E658-41A3-E378-7422709BA398}"/>
              </a:ext>
            </a:extLst>
          </p:cNvPr>
          <p:cNvSpPr/>
          <p:nvPr/>
        </p:nvSpPr>
        <p:spPr>
          <a:xfrm>
            <a:off x="5482809" y="8188196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3" name="Google Shape;163;p18">
            <a:extLst>
              <a:ext uri="{FF2B5EF4-FFF2-40B4-BE49-F238E27FC236}">
                <a16:creationId xmlns:a16="http://schemas.microsoft.com/office/drawing/2014/main" id="{CFCEAEBD-EF5E-82A0-0B56-8E2B61FEEFA3}"/>
              </a:ext>
            </a:extLst>
          </p:cNvPr>
          <p:cNvSpPr/>
          <p:nvPr/>
        </p:nvSpPr>
        <p:spPr>
          <a:xfrm>
            <a:off x="9504429" y="8159082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7" name="Google Shape;167;p18">
            <a:extLst>
              <a:ext uri="{FF2B5EF4-FFF2-40B4-BE49-F238E27FC236}">
                <a16:creationId xmlns:a16="http://schemas.microsoft.com/office/drawing/2014/main" id="{31C7F14F-C1D2-243D-7A0B-9520357B6CFB}"/>
              </a:ext>
            </a:extLst>
          </p:cNvPr>
          <p:cNvSpPr txBox="1"/>
          <p:nvPr/>
        </p:nvSpPr>
        <p:spPr>
          <a:xfrm>
            <a:off x="5794045" y="553200"/>
            <a:ext cx="60222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Identificación de perfiles</a:t>
            </a:r>
            <a:endParaRPr lang="es-ES_tradnl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F05D9C-A020-4BB4-E559-6C31990412CF}"/>
              </a:ext>
            </a:extLst>
          </p:cNvPr>
          <p:cNvSpPr/>
          <p:nvPr/>
        </p:nvSpPr>
        <p:spPr>
          <a:xfrm>
            <a:off x="7177595" y="1772428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ÓPTIMO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A71E87-3B90-32C4-7C27-58EDCC2D761B}"/>
              </a:ext>
            </a:extLst>
          </p:cNvPr>
          <p:cNvSpPr/>
          <p:nvPr/>
        </p:nvSpPr>
        <p:spPr>
          <a:xfrm>
            <a:off x="1213913" y="2362717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CRÍTICO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2D5BD7-5072-A712-E89D-315E1246CCD2}"/>
              </a:ext>
            </a:extLst>
          </p:cNvPr>
          <p:cNvSpPr/>
          <p:nvPr/>
        </p:nvSpPr>
        <p:spPr>
          <a:xfrm>
            <a:off x="13262477" y="2335213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SATURADO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FA6F57-08F9-AB33-9203-BBB34C284455}"/>
              </a:ext>
            </a:extLst>
          </p:cNvPr>
          <p:cNvSpPr/>
          <p:nvPr/>
        </p:nvSpPr>
        <p:spPr>
          <a:xfrm>
            <a:off x="3083700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grpSp>
        <p:nvGrpSpPr>
          <p:cNvPr id="164" name="Google Shape;164;p18">
            <a:extLst>
              <a:ext uri="{FF2B5EF4-FFF2-40B4-BE49-F238E27FC236}">
                <a16:creationId xmlns:a16="http://schemas.microsoft.com/office/drawing/2014/main" id="{5C8F871A-0C94-7ACA-9EC2-2CF655A37500}"/>
              </a:ext>
            </a:extLst>
          </p:cNvPr>
          <p:cNvGrpSpPr/>
          <p:nvPr/>
        </p:nvGrpSpPr>
        <p:grpSpPr>
          <a:xfrm>
            <a:off x="-118494" y="0"/>
            <a:ext cx="2163413" cy="1886345"/>
            <a:chOff x="12784175" y="3675030"/>
            <a:chExt cx="2163413" cy="1886345"/>
          </a:xfrm>
        </p:grpSpPr>
        <p:sp>
          <p:nvSpPr>
            <p:cNvPr id="165" name="Google Shape;165;p18">
              <a:extLst>
                <a:ext uri="{FF2B5EF4-FFF2-40B4-BE49-F238E27FC236}">
                  <a16:creationId xmlns:a16="http://schemas.microsoft.com/office/drawing/2014/main" id="{0F8A5375-035A-B275-BEA1-4DAECA3886F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66" name="Google Shape;166;p18">
              <a:extLst>
                <a:ext uri="{FF2B5EF4-FFF2-40B4-BE49-F238E27FC236}">
                  <a16:creationId xmlns:a16="http://schemas.microsoft.com/office/drawing/2014/main" id="{5E8E3819-634B-8278-8583-C3C352EA55E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Rectangle 14">
            <a:extLst>
              <a:ext uri="{FF2B5EF4-FFF2-40B4-BE49-F238E27FC236}">
                <a16:creationId xmlns:a16="http://schemas.microsoft.com/office/drawing/2014/main" id="{2C4573BD-4062-5928-8D40-C2F880FE60B9}"/>
              </a:ext>
            </a:extLst>
          </p:cNvPr>
          <p:cNvSpPr/>
          <p:nvPr/>
        </p:nvSpPr>
        <p:spPr>
          <a:xfrm>
            <a:off x="845798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D73DF1B4-7E07-1FFB-F523-7DC8DC5EECDF}"/>
              </a:ext>
            </a:extLst>
          </p:cNvPr>
          <p:cNvSpPr/>
          <p:nvPr/>
        </p:nvSpPr>
        <p:spPr>
          <a:xfrm>
            <a:off x="9021997" y="3616080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4" name="Rectangle 14">
            <a:extLst>
              <a:ext uri="{FF2B5EF4-FFF2-40B4-BE49-F238E27FC236}">
                <a16:creationId xmlns:a16="http://schemas.microsoft.com/office/drawing/2014/main" id="{5E7CDE07-09E1-9659-2686-57651D05F2A7}"/>
              </a:ext>
            </a:extLst>
          </p:cNvPr>
          <p:cNvSpPr/>
          <p:nvPr/>
        </p:nvSpPr>
        <p:spPr>
          <a:xfrm>
            <a:off x="6692170" y="3626941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7B9DE141-DEAD-5D5C-77C3-4E9EF984166B}"/>
              </a:ext>
            </a:extLst>
          </p:cNvPr>
          <p:cNvSpPr/>
          <p:nvPr/>
        </p:nvSpPr>
        <p:spPr>
          <a:xfrm>
            <a:off x="15076684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6" name="Rectangle 14">
            <a:extLst>
              <a:ext uri="{FF2B5EF4-FFF2-40B4-BE49-F238E27FC236}">
                <a16:creationId xmlns:a16="http://schemas.microsoft.com/office/drawing/2014/main" id="{AAA1FC9E-85E7-5CC1-7D4C-008E402DA12E}"/>
              </a:ext>
            </a:extLst>
          </p:cNvPr>
          <p:cNvSpPr/>
          <p:nvPr/>
        </p:nvSpPr>
        <p:spPr>
          <a:xfrm>
            <a:off x="12872043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1A371D18-CFF7-7C81-AB14-A754411D14F9}"/>
              </a:ext>
            </a:extLst>
          </p:cNvPr>
          <p:cNvSpPr/>
          <p:nvPr/>
        </p:nvSpPr>
        <p:spPr>
          <a:xfrm>
            <a:off x="3161026" y="5891203"/>
            <a:ext cx="1569433" cy="751127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81%</a:t>
            </a:r>
          </a:p>
        </p:txBody>
      </p:sp>
      <p:sp>
        <p:nvSpPr>
          <p:cNvPr id="8" name="Rectangle 14">
            <a:extLst>
              <a:ext uri="{FF2B5EF4-FFF2-40B4-BE49-F238E27FC236}">
                <a16:creationId xmlns:a16="http://schemas.microsoft.com/office/drawing/2014/main" id="{FFF26C2C-4A64-4E35-607C-B6984CE1B315}"/>
              </a:ext>
            </a:extLst>
          </p:cNvPr>
          <p:cNvSpPr/>
          <p:nvPr/>
        </p:nvSpPr>
        <p:spPr>
          <a:xfrm>
            <a:off x="845798" y="588834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289 – 298 paquetes</a:t>
            </a:r>
          </a:p>
        </p:txBody>
      </p:sp>
      <p:sp>
        <p:nvSpPr>
          <p:cNvPr id="9" name="Rectangle 14">
            <a:extLst>
              <a:ext uri="{FF2B5EF4-FFF2-40B4-BE49-F238E27FC236}">
                <a16:creationId xmlns:a16="http://schemas.microsoft.com/office/drawing/2014/main" id="{2C786784-9FA6-D511-DA8C-F5E16FE4EADD}"/>
              </a:ext>
            </a:extLst>
          </p:cNvPr>
          <p:cNvSpPr/>
          <p:nvPr/>
        </p:nvSpPr>
        <p:spPr>
          <a:xfrm>
            <a:off x="9021996" y="5143501"/>
            <a:ext cx="1569433" cy="760440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98.7%</a:t>
            </a:r>
          </a:p>
        </p:txBody>
      </p:sp>
      <p:sp>
        <p:nvSpPr>
          <p:cNvPr id="10" name="Rectangle 14">
            <a:extLst>
              <a:ext uri="{FF2B5EF4-FFF2-40B4-BE49-F238E27FC236}">
                <a16:creationId xmlns:a16="http://schemas.microsoft.com/office/drawing/2014/main" id="{AA30C771-E6A3-FE09-F41C-D9F5FEC85A32}"/>
              </a:ext>
            </a:extLst>
          </p:cNvPr>
          <p:cNvSpPr/>
          <p:nvPr/>
        </p:nvSpPr>
        <p:spPr>
          <a:xfrm>
            <a:off x="6692169" y="5143500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237 – 239 paquetes</a:t>
            </a: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BCA2D389-3019-B741-E06C-B5218ED92F60}"/>
              </a:ext>
            </a:extLst>
          </p:cNvPr>
          <p:cNvSpPr/>
          <p:nvPr/>
        </p:nvSpPr>
        <p:spPr>
          <a:xfrm>
            <a:off x="15187271" y="5880162"/>
            <a:ext cx="1587813" cy="751128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95.5%</a:t>
            </a:r>
          </a:p>
        </p:txBody>
      </p:sp>
      <p:sp>
        <p:nvSpPr>
          <p:cNvPr id="18" name="Rectangle 14">
            <a:extLst>
              <a:ext uri="{FF2B5EF4-FFF2-40B4-BE49-F238E27FC236}">
                <a16:creationId xmlns:a16="http://schemas.microsoft.com/office/drawing/2014/main" id="{07227D69-5E0C-A63D-B5C0-BD57482FD335}"/>
              </a:ext>
            </a:extLst>
          </p:cNvPr>
          <p:cNvSpPr/>
          <p:nvPr/>
        </p:nvSpPr>
        <p:spPr>
          <a:xfrm>
            <a:off x="12872043" y="589048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&gt; 304</a:t>
            </a:r>
            <a:br>
              <a:rPr lang="es-ES_tradnl" sz="2400" b="1" dirty="0">
                <a:solidFill>
                  <a:schemeClr val="bg2"/>
                </a:solidFill>
              </a:rPr>
            </a:br>
            <a:r>
              <a:rPr lang="es-ES_tradnl" sz="2400" b="1" dirty="0">
                <a:solidFill>
                  <a:schemeClr val="bg2"/>
                </a:solidFill>
              </a:rPr>
              <a:t>paquetes</a:t>
            </a:r>
          </a:p>
        </p:txBody>
      </p:sp>
      <p:sp>
        <p:nvSpPr>
          <p:cNvPr id="19" name="Flecha abajo 18">
            <a:extLst>
              <a:ext uri="{FF2B5EF4-FFF2-40B4-BE49-F238E27FC236}">
                <a16:creationId xmlns:a16="http://schemas.microsoft.com/office/drawing/2014/main" id="{06892AA4-0E84-0998-2A87-8514C668B258}"/>
              </a:ext>
            </a:extLst>
          </p:cNvPr>
          <p:cNvSpPr/>
          <p:nvPr/>
        </p:nvSpPr>
        <p:spPr>
          <a:xfrm>
            <a:off x="7639189" y="2947681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Flecha abajo 19">
            <a:extLst>
              <a:ext uri="{FF2B5EF4-FFF2-40B4-BE49-F238E27FC236}">
                <a16:creationId xmlns:a16="http://schemas.microsoft.com/office/drawing/2014/main" id="{27DF9403-FC07-1FE3-C630-B4CCB48243CD}"/>
              </a:ext>
            </a:extLst>
          </p:cNvPr>
          <p:cNvSpPr/>
          <p:nvPr/>
        </p:nvSpPr>
        <p:spPr>
          <a:xfrm>
            <a:off x="9504430" y="2961410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Flecha abajo 20">
            <a:extLst>
              <a:ext uri="{FF2B5EF4-FFF2-40B4-BE49-F238E27FC236}">
                <a16:creationId xmlns:a16="http://schemas.microsoft.com/office/drawing/2014/main" id="{4AE8A597-AD4C-6807-9C29-6DF665B918CA}"/>
              </a:ext>
            </a:extLst>
          </p:cNvPr>
          <p:cNvSpPr/>
          <p:nvPr/>
        </p:nvSpPr>
        <p:spPr>
          <a:xfrm>
            <a:off x="7639188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Flecha abajo 21">
            <a:extLst>
              <a:ext uri="{FF2B5EF4-FFF2-40B4-BE49-F238E27FC236}">
                <a16:creationId xmlns:a16="http://schemas.microsoft.com/office/drawing/2014/main" id="{07ECE06B-223A-0567-4341-27AA5F848363}"/>
              </a:ext>
            </a:extLst>
          </p:cNvPr>
          <p:cNvSpPr/>
          <p:nvPr/>
        </p:nvSpPr>
        <p:spPr>
          <a:xfrm>
            <a:off x="9504429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Flecha abajo 22">
            <a:extLst>
              <a:ext uri="{FF2B5EF4-FFF2-40B4-BE49-F238E27FC236}">
                <a16:creationId xmlns:a16="http://schemas.microsoft.com/office/drawing/2014/main" id="{356C1CDD-C354-2A09-BFC9-FADEB6A7E64A}"/>
              </a:ext>
            </a:extLst>
          </p:cNvPr>
          <p:cNvSpPr/>
          <p:nvPr/>
        </p:nvSpPr>
        <p:spPr>
          <a:xfrm>
            <a:off x="13672226" y="3598578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Flecha abajo 23">
            <a:extLst>
              <a:ext uri="{FF2B5EF4-FFF2-40B4-BE49-F238E27FC236}">
                <a16:creationId xmlns:a16="http://schemas.microsoft.com/office/drawing/2014/main" id="{7C533EBD-554B-77AE-8C4D-66526DB7A975}"/>
              </a:ext>
            </a:extLst>
          </p:cNvPr>
          <p:cNvSpPr/>
          <p:nvPr/>
        </p:nvSpPr>
        <p:spPr>
          <a:xfrm>
            <a:off x="15537467" y="3612307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Flecha abajo 24">
            <a:extLst>
              <a:ext uri="{FF2B5EF4-FFF2-40B4-BE49-F238E27FC236}">
                <a16:creationId xmlns:a16="http://schemas.microsoft.com/office/drawing/2014/main" id="{36297C3E-7832-B3A4-DE68-A8D5264D0CDB}"/>
              </a:ext>
            </a:extLst>
          </p:cNvPr>
          <p:cNvSpPr/>
          <p:nvPr/>
        </p:nvSpPr>
        <p:spPr>
          <a:xfrm>
            <a:off x="13672225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Flecha abajo 25">
            <a:extLst>
              <a:ext uri="{FF2B5EF4-FFF2-40B4-BE49-F238E27FC236}">
                <a16:creationId xmlns:a16="http://schemas.microsoft.com/office/drawing/2014/main" id="{464B6C5F-A562-BF84-839D-9AC0DBF1899D}"/>
              </a:ext>
            </a:extLst>
          </p:cNvPr>
          <p:cNvSpPr/>
          <p:nvPr/>
        </p:nvSpPr>
        <p:spPr>
          <a:xfrm>
            <a:off x="15537466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Flecha abajo 26">
            <a:extLst>
              <a:ext uri="{FF2B5EF4-FFF2-40B4-BE49-F238E27FC236}">
                <a16:creationId xmlns:a16="http://schemas.microsoft.com/office/drawing/2014/main" id="{53168283-7E04-F1E2-E520-A02E58E33E99}"/>
              </a:ext>
            </a:extLst>
          </p:cNvPr>
          <p:cNvSpPr/>
          <p:nvPr/>
        </p:nvSpPr>
        <p:spPr>
          <a:xfrm>
            <a:off x="1725016" y="3563204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Flecha abajo 27">
            <a:extLst>
              <a:ext uri="{FF2B5EF4-FFF2-40B4-BE49-F238E27FC236}">
                <a16:creationId xmlns:a16="http://schemas.microsoft.com/office/drawing/2014/main" id="{DBF47D44-AEE3-B620-5B96-0CD65447D6A3}"/>
              </a:ext>
            </a:extLst>
          </p:cNvPr>
          <p:cNvSpPr/>
          <p:nvPr/>
        </p:nvSpPr>
        <p:spPr>
          <a:xfrm>
            <a:off x="3590257" y="3576933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FF0000"/>
              </a:solidFill>
            </a:endParaRPr>
          </a:p>
        </p:txBody>
      </p:sp>
      <p:sp>
        <p:nvSpPr>
          <p:cNvPr id="29" name="Flecha abajo 28">
            <a:extLst>
              <a:ext uri="{FF2B5EF4-FFF2-40B4-BE49-F238E27FC236}">
                <a16:creationId xmlns:a16="http://schemas.microsoft.com/office/drawing/2014/main" id="{3EF09888-3FB9-8476-A9C9-58D4C2AA24B7}"/>
              </a:ext>
            </a:extLst>
          </p:cNvPr>
          <p:cNvSpPr/>
          <p:nvPr/>
        </p:nvSpPr>
        <p:spPr>
          <a:xfrm>
            <a:off x="1725015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Flecha abajo 29">
            <a:extLst>
              <a:ext uri="{FF2B5EF4-FFF2-40B4-BE49-F238E27FC236}">
                <a16:creationId xmlns:a16="http://schemas.microsoft.com/office/drawing/2014/main" id="{030F277A-7CD4-62F5-A2EE-C651FF9F555A}"/>
              </a:ext>
            </a:extLst>
          </p:cNvPr>
          <p:cNvSpPr/>
          <p:nvPr/>
        </p:nvSpPr>
        <p:spPr>
          <a:xfrm>
            <a:off x="3590256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6" name="Fletxa: corbada cap amunt 35">
            <a:extLst>
              <a:ext uri="{FF2B5EF4-FFF2-40B4-BE49-F238E27FC236}">
                <a16:creationId xmlns:a16="http://schemas.microsoft.com/office/drawing/2014/main" id="{DB43EA59-B123-40D4-8071-6AFA381F64F5}"/>
              </a:ext>
            </a:extLst>
          </p:cNvPr>
          <p:cNvSpPr/>
          <p:nvPr/>
        </p:nvSpPr>
        <p:spPr>
          <a:xfrm rot="21121263">
            <a:off x="2436267" y="6479680"/>
            <a:ext cx="5311961" cy="1364949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37" name="Fletxa: corbada cap amunt 36">
            <a:extLst>
              <a:ext uri="{FF2B5EF4-FFF2-40B4-BE49-F238E27FC236}">
                <a16:creationId xmlns:a16="http://schemas.microsoft.com/office/drawing/2014/main" id="{B62AEE80-2CB0-4905-9F53-C2B97175BC79}"/>
              </a:ext>
            </a:extLst>
          </p:cNvPr>
          <p:cNvSpPr/>
          <p:nvPr/>
        </p:nvSpPr>
        <p:spPr>
          <a:xfrm rot="11217565" flipV="1">
            <a:off x="7694672" y="6500352"/>
            <a:ext cx="5410960" cy="1320943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44854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dbe1710380_1_0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5" name="Google Shape;85;g3dbe1710380_1_0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6" name="Google Shape;86;g3dbe1710380_1_0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7" name="Google Shape;87;g3dbe1710380_1_0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8" name="Google Shape;88;g3dbe1710380_1_0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9" name="Google Shape;89;g3dbe1710380_1_0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90" name="Google Shape;90;g3dbe1710380_1_0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g3dbe1710380_1_0"/>
          <p:cNvSpPr txBox="1"/>
          <p:nvPr/>
        </p:nvSpPr>
        <p:spPr>
          <a:xfrm>
            <a:off x="1041449" y="5799800"/>
            <a:ext cx="706110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- Factores sociales y laborales que influyen en niveles de ausentismo</a:t>
            </a:r>
            <a:endParaRPr lang="es-ES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g3dbe1710380_1_0"/>
          <p:cNvSpPr txBox="1"/>
          <p:nvPr/>
        </p:nvSpPr>
        <p:spPr>
          <a:xfrm>
            <a:off x="1124999" y="8618274"/>
            <a:ext cx="4302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</a:t>
            </a:r>
            <a:r>
              <a:rPr lang="en-US" sz="18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or Andrea C.</a:t>
            </a:r>
            <a:endParaRPr/>
          </a:p>
        </p:txBody>
      </p:sp>
      <p:sp>
        <p:nvSpPr>
          <p:cNvPr id="93" name="Google Shape;93;g3dbe1710380_1_0"/>
          <p:cNvSpPr txBox="1"/>
          <p:nvPr/>
        </p:nvSpPr>
        <p:spPr>
          <a:xfrm>
            <a:off x="1125000" y="3325625"/>
            <a:ext cx="8269200" cy="194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Ausentismo y Bienestar Laboral</a:t>
            </a:r>
            <a:endParaRPr/>
          </a:p>
        </p:txBody>
      </p:sp>
      <p:grpSp>
        <p:nvGrpSpPr>
          <p:cNvPr id="94" name="Google Shape;94;g3dbe1710380_1_0"/>
          <p:cNvGrpSpPr/>
          <p:nvPr/>
        </p:nvGrpSpPr>
        <p:grpSpPr>
          <a:xfrm>
            <a:off x="0" y="-8"/>
            <a:ext cx="2163413" cy="1886345"/>
            <a:chOff x="12784175" y="3675030"/>
            <a:chExt cx="2163413" cy="1886345"/>
          </a:xfrm>
        </p:grpSpPr>
        <p:sp>
          <p:nvSpPr>
            <p:cNvPr id="95" name="Google Shape;95;g3dbe1710380_1_0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g3dbe1710380_1_0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be1710380_1_46"/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2" name="Google Shape;102;g3dbe1710380_1_46"/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3" name="Google Shape;103;g3dbe1710380_1_46"/>
          <p:cNvSpPr txBox="1"/>
          <p:nvPr/>
        </p:nvSpPr>
        <p:spPr>
          <a:xfrm>
            <a:off x="2983285" y="1152887"/>
            <a:ext cx="12321300" cy="63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RRHH - KPIs</a:t>
            </a:r>
            <a:endParaRPr sz="1900" dirty="0"/>
          </a:p>
        </p:txBody>
      </p:sp>
      <p:sp>
        <p:nvSpPr>
          <p:cNvPr id="104" name="Google Shape;104;g3dbe1710380_1_46"/>
          <p:cNvSpPr txBox="1"/>
          <p:nvPr/>
        </p:nvSpPr>
        <p:spPr>
          <a:xfrm>
            <a:off x="2802201" y="3545935"/>
            <a:ext cx="24204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96%</a:t>
            </a:r>
            <a:endParaRPr dirty="0"/>
          </a:p>
        </p:txBody>
      </p:sp>
      <p:sp>
        <p:nvSpPr>
          <p:cNvPr id="105" name="Google Shape;105;g3dbe1710380_1_46"/>
          <p:cNvSpPr txBox="1"/>
          <p:nvPr/>
        </p:nvSpPr>
        <p:spPr>
          <a:xfrm>
            <a:off x="5909855" y="3630535"/>
            <a:ext cx="2889600" cy="7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Julio</a:t>
            </a:r>
            <a:endParaRPr sz="300"/>
          </a:p>
        </p:txBody>
      </p:sp>
      <p:sp>
        <p:nvSpPr>
          <p:cNvPr id="106" name="Google Shape;106;g3dbe1710380_1_46"/>
          <p:cNvSpPr txBox="1"/>
          <p:nvPr/>
        </p:nvSpPr>
        <p:spPr>
          <a:xfrm>
            <a:off x="9347524" y="3413635"/>
            <a:ext cx="26301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Consulta Medica</a:t>
            </a:r>
            <a:endParaRPr sz="3400"/>
          </a:p>
        </p:txBody>
      </p:sp>
      <p:sp>
        <p:nvSpPr>
          <p:cNvPr id="107" name="Google Shape;107;g3dbe1710380_1_46"/>
          <p:cNvSpPr txBox="1"/>
          <p:nvPr/>
        </p:nvSpPr>
        <p:spPr>
          <a:xfrm>
            <a:off x="12525700" y="3553585"/>
            <a:ext cx="2960100" cy="9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0.35</a:t>
            </a:r>
            <a:endParaRPr sz="1300"/>
          </a:p>
        </p:txBody>
      </p:sp>
      <p:sp>
        <p:nvSpPr>
          <p:cNvPr id="108" name="Google Shape;108;g3dbe1710380_1_46"/>
          <p:cNvSpPr txBox="1"/>
          <p:nvPr/>
        </p:nvSpPr>
        <p:spPr>
          <a:xfrm>
            <a:off x="2664082" y="4662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Empleados</a:t>
            </a:r>
            <a:r>
              <a:rPr lang="en-US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con </a:t>
            </a:r>
            <a:r>
              <a:rPr lang="en-US" sz="24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ausencia</a:t>
            </a:r>
            <a:endParaRPr dirty="0"/>
          </a:p>
        </p:txBody>
      </p:sp>
      <p:sp>
        <p:nvSpPr>
          <p:cNvPr id="109" name="Google Shape;109;g3dbe1710380_1_46"/>
          <p:cNvSpPr txBox="1"/>
          <p:nvPr/>
        </p:nvSpPr>
        <p:spPr>
          <a:xfrm>
            <a:off x="5992882" y="4746447"/>
            <a:ext cx="2654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Mes pico</a:t>
            </a:r>
            <a:endParaRPr/>
          </a:p>
        </p:txBody>
      </p:sp>
      <p:sp>
        <p:nvSpPr>
          <p:cNvPr id="110" name="Google Shape;110;g3dbe1710380_1_46"/>
          <p:cNvSpPr txBox="1"/>
          <p:nvPr/>
        </p:nvSpPr>
        <p:spPr>
          <a:xfrm>
            <a:off x="9321683" y="4845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Motivo modal ausentismo</a:t>
            </a:r>
            <a:endParaRPr/>
          </a:p>
        </p:txBody>
      </p:sp>
      <p:sp>
        <p:nvSpPr>
          <p:cNvPr id="111" name="Google Shape;111;g3dbe1710380_1_46"/>
          <p:cNvSpPr txBox="1"/>
          <p:nvPr/>
        </p:nvSpPr>
        <p:spPr>
          <a:xfrm>
            <a:off x="12650483" y="4662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Index Carga Laboral</a:t>
            </a:r>
            <a:endParaRPr/>
          </a:p>
        </p:txBody>
      </p:sp>
      <p:sp>
        <p:nvSpPr>
          <p:cNvPr id="112" name="Google Shape;112;g3dbe1710380_1_46"/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3" name="Google Shape;113;g3dbe1710380_1_46"/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4" name="Google Shape;114;g3dbe1710380_1_46"/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15" name="Google Shape;115;g3dbe1710380_1_4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116" name="Google Shape;116;g3dbe1710380_1_4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17;g3dbe1710380_1_4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cxnSp>
        <p:nvCxnSpPr>
          <p:cNvPr id="118" name="Google Shape;118;g3dbe1710380_1_46"/>
          <p:cNvCxnSpPr/>
          <p:nvPr/>
        </p:nvCxnSpPr>
        <p:spPr>
          <a:xfrm rot="10800000">
            <a:off x="5091151" y="3693085"/>
            <a:ext cx="7500" cy="629100"/>
          </a:xfrm>
          <a:prstGeom prst="straightConnector1">
            <a:avLst/>
          </a:prstGeom>
          <a:noFill/>
          <a:ln w="38100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0" name="Google Shape;94;g3dbe1710380_1_0">
            <a:extLst>
              <a:ext uri="{FF2B5EF4-FFF2-40B4-BE49-F238E27FC236}">
                <a16:creationId xmlns:a16="http://schemas.microsoft.com/office/drawing/2014/main" id="{AB9B897D-D39E-45FC-8A85-319849CB72BC}"/>
              </a:ext>
            </a:extLst>
          </p:cNvPr>
          <p:cNvGrpSpPr/>
          <p:nvPr/>
        </p:nvGrpSpPr>
        <p:grpSpPr>
          <a:xfrm>
            <a:off x="0" y="-8"/>
            <a:ext cx="2163413" cy="1886345"/>
            <a:chOff x="12784175" y="3675030"/>
            <a:chExt cx="2163413" cy="1886345"/>
          </a:xfrm>
        </p:grpSpPr>
        <p:sp>
          <p:nvSpPr>
            <p:cNvPr id="21" name="Google Shape;95;g3dbe1710380_1_0">
              <a:extLst>
                <a:ext uri="{FF2B5EF4-FFF2-40B4-BE49-F238E27FC236}">
                  <a16:creationId xmlns:a16="http://schemas.microsoft.com/office/drawing/2014/main" id="{D90A857D-F0ED-4884-9E46-BC5AA596FD5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96;g3dbe1710380_1_0">
              <a:extLst>
                <a:ext uri="{FF2B5EF4-FFF2-40B4-BE49-F238E27FC236}">
                  <a16:creationId xmlns:a16="http://schemas.microsoft.com/office/drawing/2014/main" id="{D06B0BB4-F06F-454B-99B0-27D12AF61BDC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oogle Shape;154;g3dbe1710380_1_139"/>
          <p:cNvGrpSpPr/>
          <p:nvPr/>
        </p:nvGrpSpPr>
        <p:grpSpPr>
          <a:xfrm>
            <a:off x="11390450" y="3270437"/>
            <a:ext cx="1572362" cy="1590788"/>
            <a:chOff x="0" y="-9525"/>
            <a:chExt cx="812800" cy="822325"/>
          </a:xfrm>
        </p:grpSpPr>
        <p:sp>
          <p:nvSpPr>
            <p:cNvPr id="155" name="Google Shape;155;g3dbe1710380_1_1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3900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56" name="Google Shape;156;g3dbe1710380_1_139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500" tIns="42500" rIns="42500" bIns="425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171"/>
            </a:p>
          </p:txBody>
        </p:sp>
      </p:grpSp>
      <p:sp>
        <p:nvSpPr>
          <p:cNvPr id="157" name="Google Shape;157;g3dbe1710380_1_139"/>
          <p:cNvSpPr/>
          <p:nvPr/>
        </p:nvSpPr>
        <p:spPr>
          <a:xfrm>
            <a:off x="13667995" y="-1478197"/>
            <a:ext cx="4807819" cy="4624247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4" y="0"/>
                </a:lnTo>
                <a:lnTo>
                  <a:pt x="7914104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58" name="Google Shape;158;g3dbe1710380_1_139"/>
          <p:cNvSpPr/>
          <p:nvPr/>
        </p:nvSpPr>
        <p:spPr>
          <a:xfrm>
            <a:off x="14184803" y="2140180"/>
            <a:ext cx="2067835" cy="1940005"/>
          </a:xfrm>
          <a:custGeom>
            <a:avLst/>
            <a:gdLst/>
            <a:ahLst/>
            <a:cxnLst/>
            <a:rect l="l" t="t" r="r" b="b"/>
            <a:pathLst>
              <a:path w="3403844" h="3193424" extrusionOk="0">
                <a:moveTo>
                  <a:pt x="0" y="0"/>
                </a:moveTo>
                <a:lnTo>
                  <a:pt x="3403844" y="0"/>
                </a:lnTo>
                <a:lnTo>
                  <a:pt x="3403844" y="3193424"/>
                </a:lnTo>
                <a:lnTo>
                  <a:pt x="0" y="31934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59" name="Google Shape;159;g3dbe1710380_1_139"/>
          <p:cNvGrpSpPr/>
          <p:nvPr/>
        </p:nvGrpSpPr>
        <p:grpSpPr>
          <a:xfrm>
            <a:off x="1723063" y="5294054"/>
            <a:ext cx="2774700" cy="369450"/>
            <a:chOff x="538100" y="-780150"/>
            <a:chExt cx="3699600" cy="492600"/>
          </a:xfrm>
        </p:grpSpPr>
        <p:sp>
          <p:nvSpPr>
            <p:cNvPr id="160" name="Google Shape;160;g3dbe1710380_1_139"/>
            <p:cNvSpPr txBox="1"/>
            <p:nvPr/>
          </p:nvSpPr>
          <p:spPr>
            <a:xfrm>
              <a:off x="626300" y="-677554"/>
              <a:ext cx="3611400" cy="28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g3dbe1710380_1_139"/>
            <p:cNvSpPr txBox="1"/>
            <p:nvPr/>
          </p:nvSpPr>
          <p:spPr>
            <a:xfrm>
              <a:off x="538100" y="-780150"/>
              <a:ext cx="36114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Bebedor Social</a:t>
              </a:r>
              <a:endParaRPr/>
            </a:p>
          </p:txBody>
        </p:sp>
      </p:grpSp>
      <p:sp>
        <p:nvSpPr>
          <p:cNvPr id="162" name="Google Shape;162;g3dbe1710380_1_139"/>
          <p:cNvSpPr txBox="1"/>
          <p:nvPr/>
        </p:nvSpPr>
        <p:spPr>
          <a:xfrm>
            <a:off x="6461654" y="5294116"/>
            <a:ext cx="2705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Fumador Social</a:t>
            </a:r>
            <a:endParaRPr/>
          </a:p>
        </p:txBody>
      </p:sp>
      <p:sp>
        <p:nvSpPr>
          <p:cNvPr id="163" name="Google Shape;163;g3dbe1710380_1_139"/>
          <p:cNvSpPr txBox="1"/>
          <p:nvPr/>
        </p:nvSpPr>
        <p:spPr>
          <a:xfrm>
            <a:off x="9836694" y="5163100"/>
            <a:ext cx="4804800" cy="8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Faltas </a:t>
            </a:r>
            <a:endParaRPr sz="2400" b="1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Disciplinaria</a:t>
            </a:r>
            <a:endParaRPr/>
          </a:p>
        </p:txBody>
      </p:sp>
      <p:sp>
        <p:nvSpPr>
          <p:cNvPr id="164" name="Google Shape;164;g3dbe1710380_1_139"/>
          <p:cNvSpPr txBox="1"/>
          <p:nvPr/>
        </p:nvSpPr>
        <p:spPr>
          <a:xfrm>
            <a:off x="2163419" y="1433547"/>
            <a:ext cx="86175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TRES </a:t>
            </a: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FACTORES AUSENTISMO</a:t>
            </a:r>
            <a:endParaRPr/>
          </a:p>
        </p:txBody>
      </p:sp>
      <p:sp>
        <p:nvSpPr>
          <p:cNvPr id="165" name="Google Shape;165;g3dbe1710380_1_139"/>
          <p:cNvSpPr txBox="1"/>
          <p:nvPr/>
        </p:nvSpPr>
        <p:spPr>
          <a:xfrm>
            <a:off x="2163419" y="2072121"/>
            <a:ext cx="87144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¿Qué factores inciden sobre los niveles de ausentismo?</a:t>
            </a:r>
            <a:endParaRPr lang="es-ES" dirty="0"/>
          </a:p>
        </p:txBody>
      </p:sp>
      <p:grpSp>
        <p:nvGrpSpPr>
          <p:cNvPr id="166" name="Google Shape;166;g3dbe1710380_1_139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67" name="Google Shape;167;g3dbe1710380_1_139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g3dbe1710380_1_139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grpSp>
        <p:nvGrpSpPr>
          <p:cNvPr id="169" name="Google Shape;169;g3dbe1710380_1_139"/>
          <p:cNvGrpSpPr/>
          <p:nvPr/>
        </p:nvGrpSpPr>
        <p:grpSpPr>
          <a:xfrm>
            <a:off x="2291183" y="3270440"/>
            <a:ext cx="1572339" cy="1590763"/>
            <a:chOff x="1172969" y="3769468"/>
            <a:chExt cx="1879440" cy="1901462"/>
          </a:xfrm>
        </p:grpSpPr>
        <p:grpSp>
          <p:nvGrpSpPr>
            <p:cNvPr id="170" name="Google Shape;170;g3dbe1710380_1_139"/>
            <p:cNvGrpSpPr/>
            <p:nvPr/>
          </p:nvGrpSpPr>
          <p:grpSpPr>
            <a:xfrm>
              <a:off x="1172969" y="3769468"/>
              <a:ext cx="1879437" cy="1901462"/>
              <a:chOff x="0" y="-9525"/>
              <a:chExt cx="812800" cy="822325"/>
            </a:xfrm>
          </p:grpSpPr>
          <p:sp>
            <p:nvSpPr>
              <p:cNvPr id="171" name="Google Shape;171;g3dbe1710380_1_13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FFFFFF"/>
              </a:solidFill>
              <a:ln w="23900" cap="sq" cmpd="sng">
                <a:solidFill>
                  <a:srgbClr val="004AAD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</p:sp>
          <p:sp>
            <p:nvSpPr>
              <p:cNvPr id="172" name="Google Shape;172;g3dbe1710380_1_139"/>
              <p:cNvSpPr txBox="1"/>
              <p:nvPr/>
            </p:nvSpPr>
            <p:spPr>
              <a:xfrm>
                <a:off x="0" y="-9525"/>
                <a:ext cx="812700" cy="82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2500" tIns="42500" rIns="42500" bIns="425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71"/>
              </a:p>
            </p:txBody>
          </p:sp>
        </p:grpSp>
        <p:pic>
          <p:nvPicPr>
            <p:cNvPr id="173" name="Google Shape;173;g3dbe1710380_1_139" title="drink.png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1297919" y="3842950"/>
              <a:ext cx="1754490" cy="175449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4" name="Google Shape;174;g3dbe1710380_1_139"/>
          <p:cNvGrpSpPr/>
          <p:nvPr/>
        </p:nvGrpSpPr>
        <p:grpSpPr>
          <a:xfrm>
            <a:off x="7028035" y="3324610"/>
            <a:ext cx="1572337" cy="1590763"/>
            <a:chOff x="6125509" y="3596431"/>
            <a:chExt cx="1879437" cy="1901462"/>
          </a:xfrm>
        </p:grpSpPr>
        <p:grpSp>
          <p:nvGrpSpPr>
            <p:cNvPr id="175" name="Google Shape;175;g3dbe1710380_1_139"/>
            <p:cNvGrpSpPr/>
            <p:nvPr/>
          </p:nvGrpSpPr>
          <p:grpSpPr>
            <a:xfrm>
              <a:off x="6125509" y="3596431"/>
              <a:ext cx="1879437" cy="1901462"/>
              <a:chOff x="0" y="-9525"/>
              <a:chExt cx="812800" cy="822325"/>
            </a:xfrm>
          </p:grpSpPr>
          <p:sp>
            <p:nvSpPr>
              <p:cNvPr id="176" name="Google Shape;176;g3dbe1710380_1_13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FFFFFF"/>
              </a:solidFill>
              <a:ln w="23900" cap="sq" cmpd="sng">
                <a:solidFill>
                  <a:srgbClr val="004AAD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</p:sp>
          <p:sp>
            <p:nvSpPr>
              <p:cNvPr id="177" name="Google Shape;177;g3dbe1710380_1_139"/>
              <p:cNvSpPr txBox="1"/>
              <p:nvPr/>
            </p:nvSpPr>
            <p:spPr>
              <a:xfrm>
                <a:off x="0" y="-9525"/>
                <a:ext cx="812700" cy="82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2500" tIns="42500" rIns="42500" bIns="425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71"/>
              </a:p>
            </p:txBody>
          </p:sp>
        </p:grpSp>
        <p:pic>
          <p:nvPicPr>
            <p:cNvPr id="178" name="Google Shape;178;g3dbe1710380_1_139" title="smoker.png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6137425" y="3701325"/>
              <a:ext cx="1691675" cy="16916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9" name="Google Shape;179;g3dbe1710380_1_139"/>
          <p:cNvGrpSpPr/>
          <p:nvPr/>
        </p:nvGrpSpPr>
        <p:grpSpPr>
          <a:xfrm>
            <a:off x="6963025" y="7585137"/>
            <a:ext cx="1572362" cy="1590788"/>
            <a:chOff x="0" y="-9525"/>
            <a:chExt cx="812800" cy="822325"/>
          </a:xfrm>
        </p:grpSpPr>
        <p:sp>
          <p:nvSpPr>
            <p:cNvPr id="180" name="Google Shape;180;g3dbe1710380_1_1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3900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81" name="Google Shape;181;g3dbe1710380_1_139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500" tIns="42500" rIns="42500" bIns="425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171"/>
            </a:p>
          </p:txBody>
        </p:sp>
      </p:grpSp>
      <p:pic>
        <p:nvPicPr>
          <p:cNvPr id="182" name="Google Shape;182;g3dbe1710380_1_139" title="vehicle-accident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1351288" y="3240487"/>
            <a:ext cx="1650675" cy="1650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g3dbe1710380_1_139" title="cross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060750" y="7692075"/>
            <a:ext cx="1376900" cy="13769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g3dbe1710380_1_139"/>
          <p:cNvSpPr txBox="1"/>
          <p:nvPr/>
        </p:nvSpPr>
        <p:spPr>
          <a:xfrm>
            <a:off x="6314200" y="9175925"/>
            <a:ext cx="30000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Ausentismo</a:t>
            </a:r>
            <a:endParaRPr/>
          </a:p>
        </p:txBody>
      </p:sp>
      <p:cxnSp>
        <p:nvCxnSpPr>
          <p:cNvPr id="185" name="Google Shape;185;g3dbe1710380_1_139"/>
          <p:cNvCxnSpPr/>
          <p:nvPr/>
        </p:nvCxnSpPr>
        <p:spPr>
          <a:xfrm flipH="1">
            <a:off x="10049450" y="6244150"/>
            <a:ext cx="1880700" cy="1702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86" name="Google Shape;186;g3dbe1710380_1_139"/>
          <p:cNvCxnSpPr/>
          <p:nvPr/>
        </p:nvCxnSpPr>
        <p:spPr>
          <a:xfrm>
            <a:off x="7818150" y="5967575"/>
            <a:ext cx="13500" cy="1206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87" name="Google Shape;187;g3dbe1710380_1_139"/>
          <p:cNvCxnSpPr/>
          <p:nvPr/>
        </p:nvCxnSpPr>
        <p:spPr>
          <a:xfrm>
            <a:off x="3863525" y="6166200"/>
            <a:ext cx="1801800" cy="16758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ddcbdc3c4f_1_356"/>
          <p:cNvSpPr/>
          <p:nvPr/>
        </p:nvSpPr>
        <p:spPr>
          <a:xfrm flipH="1">
            <a:off x="13327023" y="-1831276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3" name="Google Shape;193;g3ddcbdc3c4f_1_356"/>
          <p:cNvSpPr/>
          <p:nvPr/>
        </p:nvSpPr>
        <p:spPr>
          <a:xfrm flipH="1">
            <a:off x="14990317" y="-79416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1"/>
                </a:lnTo>
                <a:lnTo>
                  <a:pt x="7088187" y="6469581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4" name="Google Shape;194;g3ddcbdc3c4f_1_356"/>
          <p:cNvSpPr/>
          <p:nvPr/>
        </p:nvSpPr>
        <p:spPr>
          <a:xfrm flipH="1">
            <a:off x="16682965" y="26431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5" name="Google Shape;195;g3ddcbdc3c4f_1_356"/>
          <p:cNvSpPr/>
          <p:nvPr/>
        </p:nvSpPr>
        <p:spPr>
          <a:xfrm flipH="1">
            <a:off x="18365827" y="1291641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6" name="Google Shape;196;g3ddcbdc3c4f_1_356"/>
          <p:cNvSpPr txBox="1"/>
          <p:nvPr/>
        </p:nvSpPr>
        <p:spPr>
          <a:xfrm>
            <a:off x="1560900" y="998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PESO FACTORES</a:t>
            </a:r>
            <a:endParaRPr/>
          </a:p>
        </p:txBody>
      </p:sp>
      <p:grpSp>
        <p:nvGrpSpPr>
          <p:cNvPr id="197" name="Google Shape;197;g3ddcbdc3c4f_1_35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198" name="Google Shape;198;g3ddcbdc3c4f_1_35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9" name="Google Shape;199;g3ddcbdc3c4f_1_35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00" name="Google Shape;200;g3ddcbdc3c4f_1_356"/>
          <p:cNvSpPr/>
          <p:nvPr/>
        </p:nvSpPr>
        <p:spPr>
          <a:xfrm>
            <a:off x="276425" y="2796750"/>
            <a:ext cx="16231800" cy="6015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1" name="Google Shape;201;g3ddcbdc3c4f_1_356" title="boxplot_mann_whitney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2925" y="2898475"/>
            <a:ext cx="16031549" cy="570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g3ddcbdc3c4f_1_356" title="vehicle-accident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3608620" y="3777130"/>
            <a:ext cx="1025400" cy="102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g3ddcbdc3c4f_1_356" title="smoker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283550" y="3777125"/>
            <a:ext cx="1025400" cy="102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g3ddcbdc3c4f_1_356" title="drink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958475" y="3777125"/>
            <a:ext cx="1025400" cy="10254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g3ddcbdc3c4f_1_356"/>
          <p:cNvSpPr/>
          <p:nvPr/>
        </p:nvSpPr>
        <p:spPr>
          <a:xfrm>
            <a:off x="2665975" y="2623300"/>
            <a:ext cx="1317900" cy="443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6FA8D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SIGNIFICATIVO</a:t>
            </a:r>
            <a:endParaRPr b="1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P.0001</a:t>
            </a:r>
            <a:endParaRPr b="1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g3ddcbdc3c4f_1_356"/>
          <p:cNvSpPr/>
          <p:nvPr/>
        </p:nvSpPr>
        <p:spPr>
          <a:xfrm>
            <a:off x="11045361" y="264324"/>
            <a:ext cx="2470941" cy="3102779"/>
          </a:xfrm>
          <a:custGeom>
            <a:avLst/>
            <a:gdLst/>
            <a:ahLst/>
            <a:cxnLst/>
            <a:rect l="l" t="t" r="r" b="b"/>
            <a:pathLst>
              <a:path w="3647145" h="4579748" extrusionOk="0">
                <a:moveTo>
                  <a:pt x="0" y="0"/>
                </a:moveTo>
                <a:lnTo>
                  <a:pt x="3647145" y="0"/>
                </a:lnTo>
                <a:lnTo>
                  <a:pt x="3647145" y="4579748"/>
                </a:lnTo>
                <a:lnTo>
                  <a:pt x="0" y="457974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dbe1710380_1_117"/>
          <p:cNvSpPr/>
          <p:nvPr/>
        </p:nvSpPr>
        <p:spPr>
          <a:xfrm>
            <a:off x="14900450" y="1077150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12" name="Google Shape;212;g3dbe1710380_1_117"/>
          <p:cNvGrpSpPr/>
          <p:nvPr/>
        </p:nvGrpSpPr>
        <p:grpSpPr>
          <a:xfrm>
            <a:off x="280400" y="3598650"/>
            <a:ext cx="3353400" cy="2950875"/>
            <a:chOff x="802325" y="4733825"/>
            <a:chExt cx="3353400" cy="2950875"/>
          </a:xfrm>
        </p:grpSpPr>
        <p:sp>
          <p:nvSpPr>
            <p:cNvPr id="213" name="Google Shape;213;g3dbe1710380_1_117"/>
            <p:cNvSpPr/>
            <p:nvPr/>
          </p:nvSpPr>
          <p:spPr>
            <a:xfrm>
              <a:off x="802325" y="5897000"/>
              <a:ext cx="3353400" cy="17877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g3dbe1710380_1_117"/>
            <p:cNvSpPr txBox="1"/>
            <p:nvPr/>
          </p:nvSpPr>
          <p:spPr>
            <a:xfrm>
              <a:off x="877925" y="4733825"/>
              <a:ext cx="3277800" cy="2835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ctr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NIVELES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BAJO — hasta 1 dia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MODERADO — 1 a 3 dias 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GRAVE — mas 3 dias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215" name="Google Shape;215;g3dbe1710380_1_117"/>
          <p:cNvSpPr txBox="1"/>
          <p:nvPr/>
        </p:nvSpPr>
        <p:spPr>
          <a:xfrm>
            <a:off x="1847950" y="1077150"/>
            <a:ext cx="79014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FACTORES POR NIVELES</a:t>
            </a:r>
            <a:endParaRPr dirty="0"/>
          </a:p>
        </p:txBody>
      </p:sp>
      <p:grpSp>
        <p:nvGrpSpPr>
          <p:cNvPr id="216" name="Google Shape;216;g3dbe1710380_1_117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217" name="Google Shape;217;g3dbe1710380_1_1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g3dbe1710380_1_1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19" name="Google Shape;219;g3dbe1710380_1_117"/>
          <p:cNvSpPr/>
          <p:nvPr/>
        </p:nvSpPr>
        <p:spPr>
          <a:xfrm>
            <a:off x="3958800" y="2404175"/>
            <a:ext cx="11495400" cy="6785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" name="Google Shape;220;g3dbe1710380_1_117" title="mapa_calor.png"/>
          <p:cNvPicPr preferRelativeResize="0"/>
          <p:nvPr/>
        </p:nvPicPr>
        <p:blipFill rotWithShape="1">
          <a:blip r:embed="rId5">
            <a:alphaModFix/>
          </a:blip>
          <a:srcRect l="2950" b="5159"/>
          <a:stretch/>
        </p:blipFill>
        <p:spPr>
          <a:xfrm>
            <a:off x="4193300" y="2569138"/>
            <a:ext cx="11026401" cy="6455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be1710380_1_127"/>
          <p:cNvSpPr/>
          <p:nvPr/>
        </p:nvSpPr>
        <p:spPr>
          <a:xfrm>
            <a:off x="-1415600" y="508519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6" name="Google Shape;226;g3dbe1710380_1_127"/>
          <p:cNvSpPr/>
          <p:nvPr/>
        </p:nvSpPr>
        <p:spPr>
          <a:xfrm>
            <a:off x="-599094" y="2785345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7" name="Google Shape;227;g3dbe1710380_1_127"/>
          <p:cNvSpPr/>
          <p:nvPr/>
        </p:nvSpPr>
        <p:spPr>
          <a:xfrm>
            <a:off x="-1592448" y="3443657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28" name="Google Shape;228;g3dbe1710380_1_127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229" name="Google Shape;229;g3dbe1710380_1_12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0" name="Google Shape;230;g3dbe1710380_1_12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31" name="Google Shape;231;g3dbe1710380_1_127"/>
          <p:cNvSpPr txBox="1"/>
          <p:nvPr/>
        </p:nvSpPr>
        <p:spPr>
          <a:xfrm>
            <a:off x="6792325" y="1987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MODELO PREDICTIVO</a:t>
            </a:r>
            <a:endParaRPr/>
          </a:p>
        </p:txBody>
      </p:sp>
      <p:sp>
        <p:nvSpPr>
          <p:cNvPr id="232" name="Google Shape;232;g3dbe1710380_1_127"/>
          <p:cNvSpPr/>
          <p:nvPr/>
        </p:nvSpPr>
        <p:spPr>
          <a:xfrm>
            <a:off x="3525275" y="1594350"/>
            <a:ext cx="11277000" cy="62580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76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g3dbe1710380_1_127" title="importancia_variable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64448" y="1699886"/>
            <a:ext cx="10998339" cy="6046935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g3dbe1710380_1_127"/>
          <p:cNvSpPr/>
          <p:nvPr/>
        </p:nvSpPr>
        <p:spPr>
          <a:xfrm>
            <a:off x="13018809" y="8010824"/>
            <a:ext cx="1783200" cy="1119300"/>
          </a:xfrm>
          <a:prstGeom prst="flowChartAlternateProcess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76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FIABILIDAD MODELO</a:t>
            </a:r>
            <a:endParaRPr sz="1876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76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73%</a:t>
            </a:r>
            <a:endParaRPr sz="1876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g3dbe1710380_1_127"/>
          <p:cNvSpPr/>
          <p:nvPr/>
        </p:nvSpPr>
        <p:spPr>
          <a:xfrm>
            <a:off x="14120264" y="2390470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44.18%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g3dbe1710380_1_127"/>
          <p:cNvSpPr/>
          <p:nvPr/>
        </p:nvSpPr>
        <p:spPr>
          <a:xfrm>
            <a:off x="12319466" y="4093856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34.43%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g3dbe1710380_1_127"/>
          <p:cNvSpPr/>
          <p:nvPr/>
        </p:nvSpPr>
        <p:spPr>
          <a:xfrm>
            <a:off x="9889303" y="5737314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21.39%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8" name="Google Shape;238;g3dbe1710380_1_127" title="drink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412275" y="2548775"/>
            <a:ext cx="802675" cy="802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g3dbe1710380_1_127" title="smoker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1180063" y="5895638"/>
            <a:ext cx="802675" cy="802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g3dbe1710380_1_127" title="vehicle-accident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3577345" y="4178680"/>
            <a:ext cx="949626" cy="949626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215;g3dbe1710380_1_117">
            <a:extLst>
              <a:ext uri="{FF2B5EF4-FFF2-40B4-BE49-F238E27FC236}">
                <a16:creationId xmlns:a16="http://schemas.microsoft.com/office/drawing/2014/main" id="{7F0242F4-EE1D-4876-908A-7A7CEDF72209}"/>
              </a:ext>
            </a:extLst>
          </p:cNvPr>
          <p:cNvSpPr txBox="1"/>
          <p:nvPr/>
        </p:nvSpPr>
        <p:spPr>
          <a:xfrm>
            <a:off x="2393073" y="779845"/>
            <a:ext cx="79014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MODELO PREDICTIVO</a:t>
            </a:r>
            <a:endParaRPr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5" name="Google Shape;245;g3dbe1710380_1_242"/>
          <p:cNvGrpSpPr/>
          <p:nvPr/>
        </p:nvGrpSpPr>
        <p:grpSpPr>
          <a:xfrm>
            <a:off x="7133551" y="1567070"/>
            <a:ext cx="1383100" cy="1389754"/>
            <a:chOff x="0" y="-9525"/>
            <a:chExt cx="963900" cy="968537"/>
          </a:xfrm>
        </p:grpSpPr>
        <p:sp>
          <p:nvSpPr>
            <p:cNvPr id="246" name="Google Shape;246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47" name="Google Shape;247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/>
            </a:p>
          </p:txBody>
        </p:sp>
      </p:grpSp>
      <p:grpSp>
        <p:nvGrpSpPr>
          <p:cNvPr id="248" name="Google Shape;248;g3dbe1710380_1_242"/>
          <p:cNvGrpSpPr/>
          <p:nvPr/>
        </p:nvGrpSpPr>
        <p:grpSpPr>
          <a:xfrm>
            <a:off x="7133551" y="4199398"/>
            <a:ext cx="1383100" cy="1389754"/>
            <a:chOff x="0" y="-9525"/>
            <a:chExt cx="963900" cy="968537"/>
          </a:xfrm>
        </p:grpSpPr>
        <p:sp>
          <p:nvSpPr>
            <p:cNvPr id="249" name="Google Shape;249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50" name="Google Shape;250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/>
            </a:p>
          </p:txBody>
        </p:sp>
      </p:grpSp>
      <p:grpSp>
        <p:nvGrpSpPr>
          <p:cNvPr id="251" name="Google Shape;251;g3dbe1710380_1_242"/>
          <p:cNvGrpSpPr/>
          <p:nvPr/>
        </p:nvGrpSpPr>
        <p:grpSpPr>
          <a:xfrm>
            <a:off x="7133551" y="7026580"/>
            <a:ext cx="1383100" cy="1389754"/>
            <a:chOff x="0" y="-9525"/>
            <a:chExt cx="963900" cy="968537"/>
          </a:xfrm>
        </p:grpSpPr>
        <p:sp>
          <p:nvSpPr>
            <p:cNvPr id="252" name="Google Shape;252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53" name="Google Shape;253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3</a:t>
              </a:r>
              <a:endParaRPr/>
            </a:p>
          </p:txBody>
        </p:sp>
      </p:grpSp>
      <p:sp>
        <p:nvSpPr>
          <p:cNvPr id="254" name="Google Shape;254;g3dbe1710380_1_242"/>
          <p:cNvSpPr/>
          <p:nvPr/>
        </p:nvSpPr>
        <p:spPr>
          <a:xfrm>
            <a:off x="-1518115" y="5138796"/>
            <a:ext cx="7760440" cy="6137802"/>
          </a:xfrm>
          <a:custGeom>
            <a:avLst/>
            <a:gdLst/>
            <a:ahLst/>
            <a:cxnLst/>
            <a:rect l="l" t="t" r="r" b="b"/>
            <a:pathLst>
              <a:path w="7760440" h="6137802" extrusionOk="0">
                <a:moveTo>
                  <a:pt x="0" y="0"/>
                </a:moveTo>
                <a:lnTo>
                  <a:pt x="7760439" y="0"/>
                </a:lnTo>
                <a:lnTo>
                  <a:pt x="7760439" y="6137802"/>
                </a:lnTo>
                <a:lnTo>
                  <a:pt x="0" y="6137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55" name="Google Shape;255;g3dbe1710380_1_242"/>
          <p:cNvSpPr txBox="1"/>
          <p:nvPr/>
        </p:nvSpPr>
        <p:spPr>
          <a:xfrm>
            <a:off x="455100" y="2373002"/>
            <a:ext cx="5989500" cy="12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ESTRATEGIAS Y AJUSTES ORGANIZACIONALES</a:t>
            </a:r>
            <a:endParaRPr/>
          </a:p>
        </p:txBody>
      </p:sp>
      <p:grpSp>
        <p:nvGrpSpPr>
          <p:cNvPr id="256" name="Google Shape;256;g3dbe1710380_1_242"/>
          <p:cNvGrpSpPr/>
          <p:nvPr/>
        </p:nvGrpSpPr>
        <p:grpSpPr>
          <a:xfrm>
            <a:off x="8880178" y="1562475"/>
            <a:ext cx="8063464" cy="1864197"/>
            <a:chOff x="0" y="-19050"/>
            <a:chExt cx="7986000" cy="2485596"/>
          </a:xfrm>
        </p:grpSpPr>
        <p:sp>
          <p:nvSpPr>
            <p:cNvPr id="257" name="Google Shape;257;g3dbe1710380_1_242"/>
            <p:cNvSpPr txBox="1"/>
            <p:nvPr/>
          </p:nvSpPr>
          <p:spPr>
            <a:xfrm>
              <a:off x="0" y="592446"/>
              <a:ext cx="7986000" cy="187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Programa de sensibilización sobre consumo responsable.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Detención preventiva tipo de casos graves.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Promover hábitos saludables.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58" name="Google Shape;258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ACCIONES PREVENTIVAS</a:t>
              </a:r>
              <a:endParaRPr dirty="0"/>
            </a:p>
          </p:txBody>
        </p:sp>
      </p:grpSp>
      <p:grpSp>
        <p:nvGrpSpPr>
          <p:cNvPr id="259" name="Google Shape;259;g3dbe1710380_1_242"/>
          <p:cNvGrpSpPr/>
          <p:nvPr/>
        </p:nvGrpSpPr>
        <p:grpSpPr>
          <a:xfrm>
            <a:off x="8880166" y="4091235"/>
            <a:ext cx="8677134" cy="2250740"/>
            <a:chOff x="0" y="-19050"/>
            <a:chExt cx="11569512" cy="3000987"/>
          </a:xfrm>
        </p:grpSpPr>
        <p:sp>
          <p:nvSpPr>
            <p:cNvPr id="260" name="Google Shape;260;g3dbe1710380_1_242"/>
            <p:cNvSpPr txBox="1"/>
            <p:nvPr/>
          </p:nvSpPr>
          <p:spPr>
            <a:xfrm>
              <a:off x="12" y="592437"/>
              <a:ext cx="11569500" cy="2389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Promover espacios de diálogo sobre el impacto del consumo de alcohol.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Ofrecer apoyo psicológico.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Implementar incentivos para fomentar 0 faltas disciplinarias.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61" name="Google Shape;261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CULTURA CORPORATIVA</a:t>
              </a:r>
              <a:endParaRPr/>
            </a:p>
          </p:txBody>
        </p:sp>
      </p:grpSp>
      <p:grpSp>
        <p:nvGrpSpPr>
          <p:cNvPr id="262" name="Google Shape;262;g3dbe1710380_1_242"/>
          <p:cNvGrpSpPr/>
          <p:nvPr/>
        </p:nvGrpSpPr>
        <p:grpSpPr>
          <a:xfrm>
            <a:off x="8880175" y="6966050"/>
            <a:ext cx="8546560" cy="2130150"/>
            <a:chOff x="-2" y="-19050"/>
            <a:chExt cx="9500400" cy="2840200"/>
          </a:xfrm>
        </p:grpSpPr>
        <p:sp>
          <p:nvSpPr>
            <p:cNvPr id="263" name="Google Shape;263;g3dbe1710380_1_242"/>
            <p:cNvSpPr txBox="1"/>
            <p:nvPr/>
          </p:nvSpPr>
          <p:spPr>
            <a:xfrm>
              <a:off x="-2" y="592450"/>
              <a:ext cx="9500400" cy="222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Revisión periódica de los patrones de ausentismo por perfil de empleado.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Fomentar comunicación para prevenir faltas disciplinarias. 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100">
                <a:solidFill>
                  <a:schemeClr val="dk1"/>
                </a:solidFill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64" name="Google Shape;264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MONITOREO CONTINUO</a:t>
              </a:r>
              <a:endParaRPr/>
            </a:p>
          </p:txBody>
        </p:sp>
      </p:grpSp>
      <p:grpSp>
        <p:nvGrpSpPr>
          <p:cNvPr id="265" name="Google Shape;265;g3dbe1710380_1_242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266" name="Google Shape;266;g3dbe1710380_1_242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7" name="Google Shape;267;g3dbe1710380_1_242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36"/>
          <p:cNvSpPr/>
          <p:nvPr/>
        </p:nvSpPr>
        <p:spPr>
          <a:xfrm>
            <a:off x="-2644213" y="-926268"/>
            <a:ext cx="10273778" cy="9881506"/>
          </a:xfrm>
          <a:custGeom>
            <a:avLst/>
            <a:gdLst/>
            <a:ahLst/>
            <a:cxnLst/>
            <a:rect l="l" t="t" r="r" b="b"/>
            <a:pathLst>
              <a:path w="10273778" h="9881506" extrusionOk="0">
                <a:moveTo>
                  <a:pt x="0" y="0"/>
                </a:moveTo>
                <a:lnTo>
                  <a:pt x="10273778" y="0"/>
                </a:lnTo>
                <a:lnTo>
                  <a:pt x="10273778" y="9881506"/>
                </a:lnTo>
                <a:lnTo>
                  <a:pt x="0" y="98815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3" name="Google Shape;623;p36"/>
          <p:cNvSpPr/>
          <p:nvPr/>
        </p:nvSpPr>
        <p:spPr>
          <a:xfrm>
            <a:off x="6098126" y="5494777"/>
            <a:ext cx="1496567" cy="1690168"/>
          </a:xfrm>
          <a:custGeom>
            <a:avLst/>
            <a:gdLst/>
            <a:ahLst/>
            <a:cxnLst/>
            <a:rect l="l" t="t" r="r" b="b"/>
            <a:pathLst>
              <a:path w="1496567" h="1690168" extrusionOk="0">
                <a:moveTo>
                  <a:pt x="0" y="0"/>
                </a:moveTo>
                <a:lnTo>
                  <a:pt x="1496567" y="0"/>
                </a:lnTo>
                <a:lnTo>
                  <a:pt x="1496567" y="1690168"/>
                </a:lnTo>
                <a:lnTo>
                  <a:pt x="0" y="16901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4" name="Google Shape;624;p36"/>
          <p:cNvSpPr/>
          <p:nvPr/>
        </p:nvSpPr>
        <p:spPr>
          <a:xfrm>
            <a:off x="3322594" y="6441030"/>
            <a:ext cx="3523815" cy="3421304"/>
          </a:xfrm>
          <a:custGeom>
            <a:avLst/>
            <a:gdLst/>
            <a:ahLst/>
            <a:cxnLst/>
            <a:rect l="l" t="t" r="r" b="b"/>
            <a:pathLst>
              <a:path w="3523815" h="3421304" extrusionOk="0">
                <a:moveTo>
                  <a:pt x="0" y="0"/>
                </a:moveTo>
                <a:lnTo>
                  <a:pt x="3523816" y="0"/>
                </a:lnTo>
                <a:lnTo>
                  <a:pt x="3523816" y="3421305"/>
                </a:lnTo>
                <a:lnTo>
                  <a:pt x="0" y="34213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5" name="Google Shape;625;p36"/>
          <p:cNvSpPr txBox="1"/>
          <p:nvPr/>
        </p:nvSpPr>
        <p:spPr>
          <a:xfrm>
            <a:off x="10420621" y="2375915"/>
            <a:ext cx="5400074" cy="944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¡GRACIAS!</a:t>
            </a:r>
            <a:endParaRPr lang="es-ES_tradnl" dirty="0"/>
          </a:p>
        </p:txBody>
      </p:sp>
      <p:sp>
        <p:nvSpPr>
          <p:cNvPr id="626" name="Google Shape;626;p36"/>
          <p:cNvSpPr txBox="1"/>
          <p:nvPr/>
        </p:nvSpPr>
        <p:spPr>
          <a:xfrm>
            <a:off x="10420621" y="3458464"/>
            <a:ext cx="5400074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¿</a:t>
            </a:r>
            <a:r>
              <a:rPr lang="es-ES_tradnl" sz="3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Algu</a:t>
            </a: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na pregunta?</a:t>
            </a:r>
            <a:endParaRPr lang="es-ES_tradnl" dirty="0"/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Escríbenos.</a:t>
            </a:r>
            <a:endParaRPr lang="es-ES_tradnl" dirty="0"/>
          </a:p>
        </p:txBody>
      </p:sp>
      <p:sp>
        <p:nvSpPr>
          <p:cNvPr id="627" name="Google Shape;627;p36"/>
          <p:cNvSpPr txBox="1"/>
          <p:nvPr/>
        </p:nvSpPr>
        <p:spPr>
          <a:xfrm>
            <a:off x="10420621" y="4999100"/>
            <a:ext cx="4018140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Email</a:t>
            </a:r>
            <a:endParaRPr lang="es-ES_tradnl" dirty="0"/>
          </a:p>
        </p:txBody>
      </p:sp>
      <p:sp>
        <p:nvSpPr>
          <p:cNvPr id="628" name="Google Shape;628;p36"/>
          <p:cNvSpPr txBox="1"/>
          <p:nvPr/>
        </p:nvSpPr>
        <p:spPr>
          <a:xfrm>
            <a:off x="10425776" y="5591423"/>
            <a:ext cx="4018140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HOLA@</a:t>
            </a:r>
            <a:r>
              <a:rPr lang="es-ES_tradnl" sz="1599" b="1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RAPIDEXPPRESS</a:t>
            </a: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.ES</a:t>
            </a:r>
            <a:endParaRPr lang="es-ES_tradnl" dirty="0"/>
          </a:p>
        </p:txBody>
      </p:sp>
      <p:sp>
        <p:nvSpPr>
          <p:cNvPr id="629" name="Google Shape;629;p36"/>
          <p:cNvSpPr txBox="1"/>
          <p:nvPr/>
        </p:nvSpPr>
        <p:spPr>
          <a:xfrm>
            <a:off x="10425776" y="6180784"/>
            <a:ext cx="4018140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Web</a:t>
            </a:r>
            <a:endParaRPr lang="es-ES_tradnl" dirty="0"/>
          </a:p>
        </p:txBody>
      </p:sp>
      <p:sp>
        <p:nvSpPr>
          <p:cNvPr id="630" name="Google Shape;630;p36"/>
          <p:cNvSpPr txBox="1"/>
          <p:nvPr/>
        </p:nvSpPr>
        <p:spPr>
          <a:xfrm>
            <a:off x="10430931" y="6773107"/>
            <a:ext cx="4018140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WWW.RAPIE</a:t>
            </a:r>
            <a:r>
              <a:rPr lang="es-ES_tradnl" sz="1599" b="1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XPRESS</a:t>
            </a: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.ES</a:t>
            </a:r>
            <a:endParaRPr lang="es-ES_tradnl" dirty="0"/>
          </a:p>
        </p:txBody>
      </p:sp>
      <p:sp>
        <p:nvSpPr>
          <p:cNvPr id="631" name="Google Shape;631;p36"/>
          <p:cNvSpPr txBox="1"/>
          <p:nvPr/>
        </p:nvSpPr>
        <p:spPr>
          <a:xfrm>
            <a:off x="10420621" y="7333893"/>
            <a:ext cx="4023295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Teléfono</a:t>
            </a:r>
            <a:endParaRPr lang="es-ES_tradnl" dirty="0"/>
          </a:p>
        </p:txBody>
      </p:sp>
      <p:sp>
        <p:nvSpPr>
          <p:cNvPr id="632" name="Google Shape;632;p36"/>
          <p:cNvSpPr txBox="1"/>
          <p:nvPr/>
        </p:nvSpPr>
        <p:spPr>
          <a:xfrm>
            <a:off x="10425776" y="7926216"/>
            <a:ext cx="4023295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935-234-567</a:t>
            </a:r>
            <a:endParaRPr lang="es-ES_tradnl" dirty="0"/>
          </a:p>
        </p:txBody>
      </p:sp>
      <p:grpSp>
        <p:nvGrpSpPr>
          <p:cNvPr id="633" name="Google Shape;633;p3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634" name="Google Shape;634;p3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635" name="Google Shape;635;p3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1564</TotalTime>
  <Words>637</Words>
  <Application>Microsoft Office PowerPoint</Application>
  <PresentationFormat>Personalitzat</PresentationFormat>
  <Paragraphs>199</Paragraphs>
  <Slides>28</Slides>
  <Notes>28</Notes>
  <HiddenSlides>0</HiddenSlides>
  <MMClips>0</MMClips>
  <ScaleCrop>false</ScaleCrop>
  <HeadingPairs>
    <vt:vector size="6" baseType="variant">
      <vt:variant>
        <vt:lpstr>Tipus de lletra utilitzats</vt:lpstr>
      </vt:variant>
      <vt:variant>
        <vt:i4>4</vt:i4>
      </vt:variant>
      <vt:variant>
        <vt:lpstr>Tema</vt:lpstr>
      </vt:variant>
      <vt:variant>
        <vt:i4>1</vt:i4>
      </vt:variant>
      <vt:variant>
        <vt:lpstr>Títols de les diapositives</vt:lpstr>
      </vt:variant>
      <vt:variant>
        <vt:i4>28</vt:i4>
      </vt:variant>
    </vt:vector>
  </HeadingPairs>
  <TitlesOfParts>
    <vt:vector size="33" baseType="lpstr">
      <vt:lpstr>Calibri</vt:lpstr>
      <vt:lpstr>Poppins Black</vt:lpstr>
      <vt:lpstr>Arial</vt:lpstr>
      <vt:lpstr>Poppins</vt:lpstr>
      <vt:lpstr>Office Theme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 del PowerPoint</dc:title>
  <dc:creator>NURIA</dc:creator>
  <cp:lastModifiedBy>Nuria Paredes</cp:lastModifiedBy>
  <cp:revision>20</cp:revision>
  <dcterms:modified xsi:type="dcterms:W3CDTF">2026-05-14T12:01:43Z</dcterms:modified>
</cp:coreProperties>
</file>