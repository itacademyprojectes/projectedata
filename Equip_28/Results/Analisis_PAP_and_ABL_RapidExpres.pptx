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92" r:id="rId2"/>
    <p:sldId id="299" r:id="rId3"/>
    <p:sldId id="297" r:id="rId4"/>
    <p:sldId id="279" r:id="rId5"/>
    <p:sldId id="300" r:id="rId6"/>
    <p:sldId id="306" r:id="rId7"/>
    <p:sldId id="302" r:id="rId8"/>
    <p:sldId id="310" r:id="rId9"/>
    <p:sldId id="311" r:id="rId10"/>
    <p:sldId id="308" r:id="rId11"/>
    <p:sldId id="309" r:id="rId12"/>
    <p:sldId id="31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A06E2-0DF3-432C-9669-7DF986ACE8B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AAB3B-1C4E-4889-8450-73628779892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882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94D7A-605A-4AA1-B711-5FA23C46F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E335B2-AB66-DB4F-B453-0B60065C0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FFEAF8-3741-61E3-B146-374C0A3C7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16D24-00CD-CF58-4F7A-66E42C844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15898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23558-8D18-A916-C2A8-525967662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6579E2-C281-1DB2-C75B-231EF8FAB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096211-FF13-3AAD-B419-D2CDFB51D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Long – 1.752 – 28 solicitudes – 15 </a:t>
            </a:r>
            <a:r>
              <a:rPr lang="en-US" dirty="0" err="1"/>
              <a:t>empleados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20C9E-AC80-D854-2674-32EA9D7F1B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46685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6EB67-9CBD-8A9E-BA3E-981A31B89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F6861-43D4-BB77-3E16-B67DF4C138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23BAF-59A4-F45B-1ECE-F7696CEF0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5DF66-C78F-A47A-774E-5220A9C034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67513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94D7A-605A-4AA1-B711-5FA23C46F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E335B2-AB66-DB4F-B453-0B60065C0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FFEAF8-3741-61E3-B146-374C0A3C7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16D24-00CD-CF58-4F7A-66E42C844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52185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922EF-E12B-CA81-2820-157C077C6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E38776-CC39-CEC6-F62D-9586967B0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6DFEF-56FC-7FFB-F81D-76F164060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D434A-83FD-40C7-B814-5B722EE835FE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ABC80-84B0-3F79-0B1D-B0972FBD7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C5D3D-2C58-1D12-BFFE-48F7F857E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D57-9D10-4D47-9091-49E61AADFCF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988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184AA-B015-8CDD-4B75-C7BDDD84E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508CD-BD0F-7E17-285D-B8AFCA824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ED7EF-E4B0-79EF-78B5-E1F328A8F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D434A-83FD-40C7-B814-5B722EE835FE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A043E-1A27-C434-0DEE-C87A5E63E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C1804-9A77-4752-29A4-BB85E6B3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D57-9D10-4D47-9091-49E61AADFCF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555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687E9-51EA-4BA5-EDA0-4557BB83E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4371D-4B7A-964E-D065-0840B93E2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D3CC5-3985-97D4-B660-3B3497B2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D434A-83FD-40C7-B814-5B722EE835FE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D9539-EA5B-39B6-5C96-4FD6362D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2EFF8-9AD1-4A24-2C6F-0405326D8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D57-9D10-4D47-9091-49E61AADFCF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10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20265-CFD4-6521-6651-55C70AA07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560E4-997A-B687-3EE6-08C2F9B3B0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F246E-4FEA-0FC5-A049-AB90B439B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109DFB-BB79-6200-1BFE-6EE575113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D434A-83FD-40C7-B814-5B722EE835FE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40142-F185-95A2-BF3D-D8BC33208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77755-186E-5EA8-0E37-7ABBF7E0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D57-9D10-4D47-9091-49E61AADFCF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642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457B8-9DB2-1BE6-B755-440D8763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72861-033E-EE16-AFD5-E461FAEF9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EB92A-EB11-BE1F-A0FA-8515ADEA4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7E625C-96D7-66BD-2EDE-318A087F0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D1303B-FCD4-47D4-0141-25AD42F1CF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7F451F-5BEC-621A-FCDF-99E70D5F8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D434A-83FD-40C7-B814-5B722EE835FE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341A02-0008-719A-11E4-F72E8E80A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9DD76-61F0-692F-325B-4107138E0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D57-9D10-4D47-9091-49E61AADFCF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3993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4008F-46ED-ED20-93B9-1421AB6B9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7D8C0D-E62E-5272-3AB4-DCE194A21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D434A-83FD-40C7-B814-5B722EE835FE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69814A-0E6E-5098-CC5B-158AA8979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8177A8-C5E2-3C35-280B-2E95EE707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D57-9D10-4D47-9091-49E61AADFCF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251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9B1244-8AE4-AC4B-26B7-A9BBE264B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D434A-83FD-40C7-B814-5B722EE835FE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A710D9-EF00-8EB7-2A09-9F2B8235D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89A3B-7054-804D-5470-749438A32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D57-9D10-4D47-9091-49E61AADFCF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428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E7AF9-3F95-16A9-1E62-B71490560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C1A46-3F36-E189-1D13-E00EECEB5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4672A8-59D8-182D-4E5D-BBEF2AF0D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28EB8-FD7E-90A9-2978-AF7431F3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D434A-83FD-40C7-B814-5B722EE835FE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1061F-5C75-70E3-3656-2C790E0CB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32AEF-0B1F-8178-9542-14FBE0EFA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D57-9D10-4D47-9091-49E61AADFCF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30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1C392-901E-8603-9928-E372CEC46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AFBA5A-59B3-B12B-5BB6-2F6D0C5DEB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4324F9-151D-8A54-82FB-59617B765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FD8D7-E1B0-67A5-9FEC-DB5401429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D434A-83FD-40C7-B814-5B722EE835FE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41F0D9-E7A3-C8AE-22EA-DDC1299A4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658CD-660D-E3B0-B616-DDF1C5F65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D57-9D10-4D47-9091-49E61AADFCF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8144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52932-ADF7-865D-F58F-9874FBD69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1B0B10-1606-6B70-2856-923875662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61D19-C96E-6202-A311-5229E8CA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D434A-83FD-40C7-B814-5B722EE835FE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89269-DFA3-BF09-F6CA-095F45107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CB14C-FA25-02D1-75A9-8800D34D1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D57-9D10-4D47-9091-49E61AADFCF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7133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654F50-E714-4642-1714-4260599EB3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86A30C-A2E6-D712-2807-8E75D7F8F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6BA21-2154-1A1D-FE52-F5FF113CA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D434A-83FD-40C7-B814-5B722EE835FE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66074-1D80-AF6E-03C7-2535BC98B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C938D-0416-5167-BA73-526F3B04A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D57-9D10-4D47-9091-49E61AADFCF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229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22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‹Nº›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530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546531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‹Nº›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515103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34A8B6-64B4-271A-5122-D642D38C5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54B30-660B-49C7-90F3-F454682C6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7C7CE-9CF6-2B71-E1EE-FFDC675481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7D434A-83FD-40C7-B814-5B722EE835FE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50493-823A-0928-E3A2-37EE2B0E78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35E03-DCBF-17D8-7A92-61687F872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6A8D57-9D10-4D47-9091-49E61AADFCF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8038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78" y="506668"/>
            <a:ext cx="5903669" cy="3291840"/>
          </a:xfrm>
        </p:spPr>
        <p:txBody>
          <a:bodyPr lIns="0" anchor="b" anchorCtr="0"/>
          <a:lstStyle/>
          <a:p>
            <a:r>
              <a:rPr lang="en-US" altLang="zh-CN" dirty="0">
                <a:solidFill>
                  <a:schemeClr val="bg1"/>
                </a:solidFill>
              </a:rPr>
              <a:t>Rapid Express – </a:t>
            </a:r>
            <a:r>
              <a:rPr lang="en-US" altLang="zh-CN" dirty="0" err="1">
                <a:solidFill>
                  <a:schemeClr val="bg1"/>
                </a:solidFill>
              </a:rPr>
              <a:t>Análisis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br>
              <a:rPr lang="en-US" altLang="zh-CN" dirty="0">
                <a:solidFill>
                  <a:schemeClr val="bg1"/>
                </a:solidFill>
              </a:rPr>
            </a:br>
            <a:r>
              <a:rPr lang="en-US" altLang="zh-CN" dirty="0" err="1">
                <a:solidFill>
                  <a:schemeClr val="bg1"/>
                </a:solidFill>
              </a:rPr>
              <a:t>Perfil</a:t>
            </a:r>
            <a:r>
              <a:rPr lang="en-US" altLang="zh-CN" dirty="0">
                <a:solidFill>
                  <a:schemeClr val="bg1"/>
                </a:solidFill>
              </a:rPr>
              <a:t> de Empleado y </a:t>
            </a:r>
            <a:r>
              <a:rPr lang="en-US" altLang="zh-CN" dirty="0" err="1">
                <a:solidFill>
                  <a:schemeClr val="bg1"/>
                </a:solidFill>
              </a:rPr>
              <a:t>Absentismo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</p:spPr>
        <p:txBody>
          <a:bodyPr/>
          <a:lstStyle/>
          <a:p>
            <a:r>
              <a:rPr lang="en-US" dirty="0" err="1"/>
              <a:t>Equipo</a:t>
            </a:r>
            <a:r>
              <a:rPr lang="en-US" dirty="0"/>
              <a:t> 28</a:t>
            </a:r>
          </a:p>
          <a:p>
            <a:r>
              <a:rPr lang="en-US" dirty="0"/>
              <a:t>Emilio T., Núria P., Andrea C. &amp; Ana C.</a:t>
            </a:r>
          </a:p>
        </p:txBody>
      </p:sp>
      <p:pic>
        <p:nvPicPr>
          <p:cNvPr id="20" name="Picture Placeholder 19" descr="Two people looking at a laptop at a table">
            <a:extLst>
              <a:ext uri="{FF2B5EF4-FFF2-40B4-BE49-F238E27FC236}">
                <a16:creationId xmlns:a16="http://schemas.microsoft.com/office/drawing/2014/main" id="{E83BB08F-E403-8715-0B24-AD9E4B72C80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3" r="23"/>
          <a:stretch/>
        </p:blipFill>
        <p:spPr>
          <a:xfrm>
            <a:off x="6742557" y="821836"/>
            <a:ext cx="4405503" cy="5066346"/>
          </a:xfr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021C-3CEB-0FBA-DA89-C9C82E74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 anchorCtr="0"/>
          <a:lstStyle/>
          <a:p>
            <a:r>
              <a:rPr lang="en-US" dirty="0"/>
              <a:t>Agenda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746B3-AFD9-641E-7CBF-9A783646B36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3840480" y="3429000"/>
            <a:ext cx="5028883" cy="2378075"/>
          </a:xfrm>
        </p:spPr>
        <p:txBody>
          <a:bodyPr anchor="t" anchorCtr="0">
            <a:normAutofit fontScale="92500" lnSpcReduction="10000"/>
          </a:bodyPr>
          <a:lstStyle/>
          <a:p>
            <a:endParaRPr lang="en-US" dirty="0"/>
          </a:p>
          <a:p>
            <a:r>
              <a:rPr lang="en-US" dirty="0" err="1"/>
              <a:t>Perfil</a:t>
            </a:r>
            <a:r>
              <a:rPr lang="en-US" dirty="0"/>
              <a:t> </a:t>
            </a:r>
            <a:r>
              <a:rPr lang="en-US" dirty="0" err="1"/>
              <a:t>sociodemográfico</a:t>
            </a:r>
            <a:endParaRPr lang="en-US" dirty="0"/>
          </a:p>
          <a:p>
            <a:r>
              <a:rPr lang="en-US" dirty="0" err="1"/>
              <a:t>Estrategias</a:t>
            </a:r>
            <a:r>
              <a:rPr lang="en-US" dirty="0"/>
              <a:t> de </a:t>
            </a:r>
            <a:r>
              <a:rPr lang="en-US" dirty="0" err="1"/>
              <a:t>Compromiso</a:t>
            </a:r>
            <a:r>
              <a:rPr lang="en-US" dirty="0"/>
              <a:t> y Desarrollo</a:t>
            </a:r>
          </a:p>
          <a:p>
            <a:r>
              <a:rPr lang="en-US" dirty="0" err="1"/>
              <a:t>Análisis</a:t>
            </a:r>
            <a:r>
              <a:rPr lang="en-US" dirty="0"/>
              <a:t> de </a:t>
            </a:r>
            <a:r>
              <a:rPr lang="en-US" dirty="0" err="1"/>
              <a:t>Ausentismo</a:t>
            </a:r>
            <a:r>
              <a:rPr lang="en-US" dirty="0"/>
              <a:t>: </a:t>
            </a:r>
            <a:r>
              <a:rPr lang="en-US" dirty="0" err="1"/>
              <a:t>Magnitud</a:t>
            </a:r>
            <a:r>
              <a:rPr lang="en-US" dirty="0"/>
              <a:t> y </a:t>
            </a:r>
            <a:r>
              <a:rPr lang="en-US" dirty="0" err="1"/>
              <a:t>variación</a:t>
            </a:r>
            <a:r>
              <a:rPr lang="en-US" dirty="0"/>
              <a:t> temporal</a:t>
            </a:r>
          </a:p>
          <a:p>
            <a:r>
              <a:rPr lang="en-US" dirty="0" err="1"/>
              <a:t>Estrategias</a:t>
            </a:r>
            <a:r>
              <a:rPr lang="en-US" dirty="0"/>
              <a:t> para </a:t>
            </a:r>
            <a:r>
              <a:rPr lang="en-US" dirty="0" err="1"/>
              <a:t>reducir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Ausentismo</a:t>
            </a:r>
            <a:r>
              <a:rPr lang="en-US" dirty="0"/>
              <a:t> </a:t>
            </a:r>
          </a:p>
          <a:p>
            <a:r>
              <a:rPr lang="en-US" dirty="0"/>
              <a:t>KPIs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lIns="0" anchor="b" anchorCtr="0"/>
          <a:lstStyle/>
          <a:p>
            <a:r>
              <a:rPr lang="en-US" dirty="0" err="1">
                <a:solidFill>
                  <a:schemeClr val="bg1"/>
                </a:solidFill>
              </a:rPr>
              <a:t>Perfil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sociodemográfico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90503-C2C6-37F4-4636-9B4A8A3DE4E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4800F032-5102-94C2-865C-AE9D448B2744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5C5013-A563-C783-9185-9C847D4B4A4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4</a:t>
            </a:fld>
            <a:endParaRPr lang="en-US" altLang="zh-CN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4D3EACF-8C15-C3B6-9890-0444ABF9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40" y="277210"/>
            <a:ext cx="6830768" cy="572624"/>
          </a:xfrm>
        </p:spPr>
        <p:txBody>
          <a:bodyPr>
            <a:noAutofit/>
          </a:bodyPr>
          <a:lstStyle/>
          <a:p>
            <a:r>
              <a:rPr lang="es-ES" sz="4000" dirty="0"/>
              <a:t>Perfil sociodemográfico</a:t>
            </a:r>
            <a:endParaRPr lang="en-GB" sz="4000" dirty="0"/>
          </a:p>
        </p:txBody>
      </p:sp>
      <p:pic>
        <p:nvPicPr>
          <p:cNvPr id="12" name="Contenidor de contingut 11">
            <a:extLst>
              <a:ext uri="{FF2B5EF4-FFF2-40B4-BE49-F238E27FC236}">
                <a16:creationId xmlns:a16="http://schemas.microsoft.com/office/drawing/2014/main" id="{56FD9FE2-47D2-4063-8FEB-F53946440409}"/>
              </a:ext>
            </a:extLst>
          </p:cNvPr>
          <p:cNvPicPr>
            <a:picLocks noGrp="1" noChangeAspect="1"/>
          </p:cNvPicPr>
          <p:nvPr>
            <p:ph idx="3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30" y="1133936"/>
            <a:ext cx="10293629" cy="3172250"/>
          </a:xfrm>
        </p:spPr>
      </p:pic>
      <p:sp>
        <p:nvSpPr>
          <p:cNvPr id="14" name="QuadreDeText 13">
            <a:extLst>
              <a:ext uri="{FF2B5EF4-FFF2-40B4-BE49-F238E27FC236}">
                <a16:creationId xmlns:a16="http://schemas.microsoft.com/office/drawing/2014/main" id="{4E14FB81-D1A7-478D-8CDA-C69095B97D1C}"/>
              </a:ext>
            </a:extLst>
          </p:cNvPr>
          <p:cNvSpPr txBox="1"/>
          <p:nvPr/>
        </p:nvSpPr>
        <p:spPr>
          <a:xfrm>
            <a:off x="1031358" y="5018567"/>
            <a:ext cx="3755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Educación: </a:t>
            </a:r>
            <a:r>
              <a:rPr lang="es-ES" dirty="0"/>
              <a:t>77.8% No universitarios</a:t>
            </a:r>
          </a:p>
        </p:txBody>
      </p:sp>
      <p:sp>
        <p:nvSpPr>
          <p:cNvPr id="15" name="QuadreDeText 14">
            <a:extLst>
              <a:ext uri="{FF2B5EF4-FFF2-40B4-BE49-F238E27FC236}">
                <a16:creationId xmlns:a16="http://schemas.microsoft.com/office/drawing/2014/main" id="{B8FE7E1E-13BA-4867-8606-523191E93ECD}"/>
              </a:ext>
            </a:extLst>
          </p:cNvPr>
          <p:cNvSpPr txBox="1"/>
          <p:nvPr/>
        </p:nvSpPr>
        <p:spPr>
          <a:xfrm>
            <a:off x="4947333" y="4797926"/>
            <a:ext cx="22029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Edad media: </a:t>
            </a:r>
            <a:r>
              <a:rPr lang="es-ES" dirty="0"/>
              <a:t>38 años</a:t>
            </a:r>
          </a:p>
          <a:p>
            <a:endParaRPr lang="es-ES" b="1" dirty="0"/>
          </a:p>
          <a:p>
            <a:r>
              <a:rPr lang="es-ES" b="1" dirty="0"/>
              <a:t>Intervalo: </a:t>
            </a:r>
            <a:r>
              <a:rPr lang="es-ES" dirty="0"/>
              <a:t>27-58 años</a:t>
            </a:r>
          </a:p>
        </p:txBody>
      </p:sp>
      <p:sp>
        <p:nvSpPr>
          <p:cNvPr id="16" name="QuadreDeText 15">
            <a:extLst>
              <a:ext uri="{FF2B5EF4-FFF2-40B4-BE49-F238E27FC236}">
                <a16:creationId xmlns:a16="http://schemas.microsoft.com/office/drawing/2014/main" id="{BD266384-21EC-4D1A-924D-08403B46C59F}"/>
              </a:ext>
            </a:extLst>
          </p:cNvPr>
          <p:cNvSpPr txBox="1"/>
          <p:nvPr/>
        </p:nvSpPr>
        <p:spPr>
          <a:xfrm>
            <a:off x="7945937" y="4964686"/>
            <a:ext cx="222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err="1"/>
              <a:t>Num</a:t>
            </a:r>
            <a:r>
              <a:rPr lang="es-ES" b="1" dirty="0"/>
              <a:t>. Hijos: entre 0-4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9F8D9F-C89A-034F-7B09-105545104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A39A-B6E7-BF09-3F81-BF2A1E0AF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lIns="0" anchor="b" anchorCtr="0"/>
          <a:lstStyle/>
          <a:p>
            <a:r>
              <a:rPr lang="en-US" dirty="0" err="1">
                <a:solidFill>
                  <a:schemeClr val="bg1"/>
                </a:solidFill>
              </a:rPr>
              <a:t>Estrategias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Compromiso</a:t>
            </a:r>
            <a:r>
              <a:rPr lang="en-US" dirty="0">
                <a:solidFill>
                  <a:schemeClr val="bg1"/>
                </a:solidFill>
              </a:rPr>
              <a:t> y Desarrollo</a:t>
            </a:r>
            <a:br>
              <a:rPr lang="en-US" dirty="0"/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34173-5868-D8F5-63A1-3DA29FF2FE3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29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58946-A531-561B-3AA3-35914E7C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5BCD14-0CCC-526E-9180-8F037954D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812" y="136525"/>
            <a:ext cx="8867553" cy="788936"/>
          </a:xfrm>
        </p:spPr>
        <p:txBody>
          <a:bodyPr/>
          <a:lstStyle/>
          <a:p>
            <a:r>
              <a:rPr lang="en-US" dirty="0" err="1"/>
              <a:t>Estrategias</a:t>
            </a:r>
            <a:r>
              <a:rPr lang="en-US" dirty="0"/>
              <a:t> de </a:t>
            </a:r>
            <a:r>
              <a:rPr lang="en-US" dirty="0" err="1"/>
              <a:t>Compromiso</a:t>
            </a:r>
            <a:r>
              <a:rPr lang="en-US" dirty="0"/>
              <a:t> y Desarrollo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2161D003-994C-C1AF-75C5-78249C16A41F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C1DB30-6C5F-A09A-EF49-666C8F08A983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6</a:t>
            </a:fld>
            <a:endParaRPr lang="en-US" altLang="zh-CN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980DF7-A09D-57C4-737A-0D3BF834840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1319134" y="1741932"/>
            <a:ext cx="8348472" cy="3374136"/>
          </a:xfrm>
        </p:spPr>
        <p:txBody>
          <a:bodyPr/>
          <a:lstStyle/>
          <a:p>
            <a:r>
              <a:rPr lang="es-ES" b="1" dirty="0">
                <a:effectLst/>
                <a:latin typeface="Consolas" panose="020B0609020204030204" pitchFamily="49" charset="0"/>
              </a:rPr>
              <a:t>Planes de </a:t>
            </a:r>
            <a:r>
              <a:rPr lang="es-ES" b="1" dirty="0" err="1">
                <a:effectLst/>
                <a:latin typeface="Consolas" panose="020B0609020204030204" pitchFamily="49" charset="0"/>
              </a:rPr>
              <a:t>micro-formación</a:t>
            </a:r>
            <a:r>
              <a:rPr lang="es-ES" b="1" dirty="0">
                <a:effectLst/>
                <a:latin typeface="Consolas" panose="020B0609020204030204" pitchFamily="49" charset="0"/>
              </a:rPr>
              <a:t> y </a:t>
            </a:r>
            <a:r>
              <a:rPr lang="es-ES" b="1" dirty="0" err="1">
                <a:effectLst/>
                <a:latin typeface="Consolas" panose="020B0609020204030204" pitchFamily="49" charset="0"/>
              </a:rPr>
              <a:t>Upskilling</a:t>
            </a:r>
            <a:endParaRPr lang="es-ES" b="1" dirty="0">
              <a:effectLst/>
              <a:latin typeface="Consolas" panose="020B0609020204030204" pitchFamily="49" charset="0"/>
            </a:endParaRPr>
          </a:p>
          <a:p>
            <a:pPr lvl="1"/>
            <a:r>
              <a:rPr lang="es-ES" b="1" dirty="0">
                <a:latin typeface="Consolas" panose="020B0609020204030204" pitchFamily="49" charset="0"/>
              </a:rPr>
              <a:t>Certificaciones técnicas y otros Desarrollos Profesionales</a:t>
            </a:r>
            <a:endParaRPr lang="es-ES" b="1" dirty="0">
              <a:effectLst/>
              <a:latin typeface="Consolas" panose="020B0609020204030204" pitchFamily="49" charset="0"/>
            </a:endParaRPr>
          </a:p>
          <a:p>
            <a:endParaRPr lang="es-ES" b="1" dirty="0">
              <a:latin typeface="Consolas" panose="020B0609020204030204" pitchFamily="49" charset="0"/>
            </a:endParaRPr>
          </a:p>
          <a:p>
            <a:endParaRPr lang="es-ES" b="0" dirty="0">
              <a:effectLst/>
              <a:latin typeface="Consolas" panose="020B0609020204030204" pitchFamily="49" charset="0"/>
            </a:endParaRPr>
          </a:p>
          <a:p>
            <a:r>
              <a:rPr lang="en-GB" b="1" dirty="0" err="1">
                <a:latin typeface="Consolas" panose="020B0609020204030204" pitchFamily="49" charset="0"/>
              </a:rPr>
              <a:t>Políticas</a:t>
            </a:r>
            <a:r>
              <a:rPr lang="en-GB" b="1" dirty="0">
                <a:latin typeface="Consolas" panose="020B0609020204030204" pitchFamily="49" charset="0"/>
              </a:rPr>
              <a:t> de </a:t>
            </a:r>
            <a:r>
              <a:rPr lang="en-GB" b="1" dirty="0" err="1">
                <a:latin typeface="Consolas" panose="020B0609020204030204" pitchFamily="49" charset="0"/>
              </a:rPr>
              <a:t>conciliación</a:t>
            </a:r>
            <a:endParaRPr lang="en-GB" b="1" dirty="0">
              <a:latin typeface="Consolas" panose="020B0609020204030204" pitchFamily="49" charset="0"/>
            </a:endParaRPr>
          </a:p>
          <a:p>
            <a:pPr lvl="1"/>
            <a:r>
              <a:rPr lang="en-GB" b="1" dirty="0" err="1">
                <a:latin typeface="Consolas" panose="020B0609020204030204" pitchFamily="49" charset="0"/>
              </a:rPr>
              <a:t>Flexibilidad</a:t>
            </a:r>
            <a:r>
              <a:rPr lang="en-GB" b="1" dirty="0">
                <a:latin typeface="Consolas" panose="020B0609020204030204" pitchFamily="49" charset="0"/>
              </a:rPr>
              <a:t> </a:t>
            </a:r>
            <a:r>
              <a:rPr lang="en-GB" b="1" dirty="0" err="1">
                <a:latin typeface="Consolas" panose="020B0609020204030204" pitchFamily="49" charset="0"/>
              </a:rPr>
              <a:t>horaria</a:t>
            </a:r>
            <a:r>
              <a:rPr lang="en-GB" b="1" dirty="0">
                <a:latin typeface="Consolas" panose="020B0609020204030204" pitchFamily="49" charset="0"/>
              </a:rPr>
              <a:t> (</a:t>
            </a:r>
            <a:r>
              <a:rPr lang="en-GB" b="1" dirty="0" err="1">
                <a:latin typeface="Consolas" panose="020B0609020204030204" pitchFamily="49" charset="0"/>
              </a:rPr>
              <a:t>bolsas</a:t>
            </a:r>
            <a:r>
              <a:rPr lang="en-GB" b="1" dirty="0">
                <a:latin typeface="Consolas" panose="020B0609020204030204" pitchFamily="49" charset="0"/>
              </a:rPr>
              <a:t> de horas)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1D39ED-D8F2-F7BE-3F70-E09BC6D6E3C4}"/>
              </a:ext>
            </a:extLst>
          </p:cNvPr>
          <p:cNvSpPr/>
          <p:nvPr/>
        </p:nvSpPr>
        <p:spPr>
          <a:xfrm>
            <a:off x="69121" y="825263"/>
            <a:ext cx="10598046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956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8F3D91-3F25-C8AD-C56E-5654F4022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63560-5215-1F3A-952F-5BA3A7B1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lIns="0" anchor="b" anchorCtr="0"/>
          <a:lstStyle/>
          <a:p>
            <a:r>
              <a:rPr lang="en-US" dirty="0" err="1">
                <a:solidFill>
                  <a:schemeClr val="bg1"/>
                </a:solidFill>
              </a:rPr>
              <a:t>Análisis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Ausentismo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EBBA5-E421-4E85-51FD-D342C6122DD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</p:spPr>
        <p:txBody>
          <a:bodyPr/>
          <a:lstStyle/>
          <a:p>
            <a:r>
              <a:rPr lang="en-US" dirty="0" err="1"/>
              <a:t>Magnitud</a:t>
            </a:r>
            <a:r>
              <a:rPr lang="en-US" dirty="0"/>
              <a:t> y </a:t>
            </a:r>
            <a:r>
              <a:rPr lang="en-US" dirty="0" err="1"/>
              <a:t>análisis</a:t>
            </a:r>
            <a:r>
              <a:rPr lang="en-US" dirty="0"/>
              <a:t> temporal</a:t>
            </a:r>
          </a:p>
        </p:txBody>
      </p:sp>
    </p:spTree>
    <p:extLst>
      <p:ext uri="{BB962C8B-B14F-4D97-AF65-F5344CB8AC3E}">
        <p14:creationId xmlns:p14="http://schemas.microsoft.com/office/powerpoint/2010/main" val="98482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98254-9054-B295-350B-8FC820E52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8F5123-76B7-4371-D7F2-02854D5A7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461" y="136525"/>
            <a:ext cx="8867553" cy="788936"/>
          </a:xfrm>
        </p:spPr>
        <p:txBody>
          <a:bodyPr/>
          <a:lstStyle/>
          <a:p>
            <a:r>
              <a:rPr lang="es-ES" dirty="0"/>
              <a:t>Análisis de la Magnitud del Ausentismo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33C14B-7076-C6A5-66B7-B5C9F03928E3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45CDC8-71B9-2703-34BB-4AB57F9FB1A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8</a:t>
            </a:fld>
            <a:endParaRPr lang="en-US" altLang="zh-CN" noProof="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549BF28-A7A5-78F7-5764-48177124F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273971"/>
              </p:ext>
            </p:extLst>
          </p:nvPr>
        </p:nvGraphicFramePr>
        <p:xfrm>
          <a:off x="6789831" y="1793938"/>
          <a:ext cx="4563969" cy="3080986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1973093">
                  <a:extLst>
                    <a:ext uri="{9D8B030D-6E8A-4147-A177-3AD203B41FA5}">
                      <a16:colId xmlns:a16="http://schemas.microsoft.com/office/drawing/2014/main" val="2775726035"/>
                    </a:ext>
                  </a:extLst>
                </a:gridCol>
                <a:gridCol w="1308246">
                  <a:extLst>
                    <a:ext uri="{9D8B030D-6E8A-4147-A177-3AD203B41FA5}">
                      <a16:colId xmlns:a16="http://schemas.microsoft.com/office/drawing/2014/main" val="3784628675"/>
                    </a:ext>
                  </a:extLst>
                </a:gridCol>
                <a:gridCol w="1282630">
                  <a:extLst>
                    <a:ext uri="{9D8B030D-6E8A-4147-A177-3AD203B41FA5}">
                      <a16:colId xmlns:a16="http://schemas.microsoft.com/office/drawing/2014/main" val="431904990"/>
                    </a:ext>
                  </a:extLst>
                </a:gridCol>
              </a:tblGrid>
              <a:tr h="661852">
                <a:tc>
                  <a:txBody>
                    <a:bodyPr/>
                    <a:lstStyle/>
                    <a:p>
                      <a:r>
                        <a:rPr lang="es-ES" sz="1400" dirty="0"/>
                        <a:t>Tipo de Ausencia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Total de horas</a:t>
                      </a:r>
                      <a:endParaRPr lang="en-GB" sz="1400" dirty="0"/>
                    </a:p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% sobre el total de horas</a:t>
                      </a:r>
                      <a:endParaRPr lang="en-GB" sz="1400" dirty="0"/>
                    </a:p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153823"/>
                  </a:ext>
                </a:extLst>
              </a:tr>
              <a:tr h="4923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Very Short (media jornada)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905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17.95%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704882"/>
                  </a:ext>
                </a:extLst>
              </a:tr>
              <a:tr h="4736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Short (hasta 1 día)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1.698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33.67%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41339"/>
                  </a:ext>
                </a:extLst>
              </a:tr>
              <a:tr h="4736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Medium (hasta 2 días)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688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13.64%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159774"/>
                  </a:ext>
                </a:extLst>
              </a:tr>
              <a:tr h="2786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Long (+ 2 días)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1.752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34.74%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45049"/>
                  </a:ext>
                </a:extLst>
              </a:tr>
              <a:tr h="334372">
                <a:tc>
                  <a:txBody>
                    <a:bodyPr/>
                    <a:lstStyle/>
                    <a:p>
                      <a:r>
                        <a:rPr lang="es-ES" dirty="0"/>
                        <a:t>Total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5.043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4389060"/>
                  </a:ext>
                </a:extLst>
              </a:tr>
            </a:tbl>
          </a:graphicData>
        </a:graphic>
      </p:graphicFrame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FAF840-17EB-C13A-8B01-F443F9DFF87E}"/>
              </a:ext>
            </a:extLst>
          </p:cNvPr>
          <p:cNvSpPr/>
          <p:nvPr/>
        </p:nvSpPr>
        <p:spPr>
          <a:xfrm>
            <a:off x="6789832" y="1117438"/>
            <a:ext cx="4563968" cy="4760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% Horas de Ausentismo (año)</a:t>
            </a:r>
            <a:r>
              <a:rPr lang="en-GB" b="1" dirty="0"/>
              <a:t> – 7.36%</a:t>
            </a:r>
            <a:endParaRPr lang="es-ES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32A096-E024-AED6-8D31-064054C6AB74}"/>
              </a:ext>
            </a:extLst>
          </p:cNvPr>
          <p:cNvSpPr/>
          <p:nvPr/>
        </p:nvSpPr>
        <p:spPr>
          <a:xfrm>
            <a:off x="69121" y="825263"/>
            <a:ext cx="10598046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94D585C-14B1-A8F6-EB10-B0FCFEEE2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61" y="1117438"/>
            <a:ext cx="6377343" cy="407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899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14E69-8F85-2514-D380-2C2E0954B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DE266A-98F7-0E25-D71F-2AEAF9FCE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842" y="188275"/>
            <a:ext cx="8867553" cy="788936"/>
          </a:xfrm>
        </p:spPr>
        <p:txBody>
          <a:bodyPr>
            <a:normAutofit fontScale="90000"/>
          </a:bodyPr>
          <a:lstStyle/>
          <a:p>
            <a:r>
              <a:rPr lang="es-ES" dirty="0"/>
              <a:t>Análisis de la Variación Temporal del Ausentismo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6EF2F0E3-CF12-8773-FEB6-4B5A6EAEA995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182FC7-FF71-C779-28D2-650FA908E18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9</a:t>
            </a:fld>
            <a:endParaRPr lang="en-US" altLang="zh-CN" noProof="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09C754B-B68F-142A-B20E-5A46E009EFD4}"/>
              </a:ext>
            </a:extLst>
          </p:cNvPr>
          <p:cNvPicPr>
            <a:picLocks noGrp="1" noChangeAspect="1"/>
          </p:cNvPicPr>
          <p:nvPr>
            <p:ph idx="30"/>
          </p:nvPr>
        </p:nvPicPr>
        <p:blipFill>
          <a:blip r:embed="rId3"/>
          <a:stretch>
            <a:fillRect/>
          </a:stretch>
        </p:blipFill>
        <p:spPr>
          <a:xfrm>
            <a:off x="664284" y="1791966"/>
            <a:ext cx="4679913" cy="28301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BAA50C-2CA4-56AA-8757-800B3CA74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454" y="1802963"/>
            <a:ext cx="5140429" cy="277531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FE18A4-11F8-C3C1-E724-5966BC3D1A6A}"/>
              </a:ext>
            </a:extLst>
          </p:cNvPr>
          <p:cNvSpPr/>
          <p:nvPr/>
        </p:nvSpPr>
        <p:spPr>
          <a:xfrm>
            <a:off x="69121" y="825263"/>
            <a:ext cx="10598046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965C8D-0B36-32ED-164E-17DC2AAE3B04}"/>
              </a:ext>
            </a:extLst>
          </p:cNvPr>
          <p:cNvSpPr/>
          <p:nvPr/>
        </p:nvSpPr>
        <p:spPr>
          <a:xfrm>
            <a:off x="1048312" y="1088679"/>
            <a:ext cx="4288186" cy="525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Mes pico (Horas Ausencias) | Marzo – 755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526B33-1D67-8E53-2255-8606382476AF}"/>
              </a:ext>
            </a:extLst>
          </p:cNvPr>
          <p:cNvSpPr txBox="1"/>
          <p:nvPr/>
        </p:nvSpPr>
        <p:spPr>
          <a:xfrm>
            <a:off x="794476" y="4799634"/>
            <a:ext cx="4679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Outliers</a:t>
            </a:r>
            <a:r>
              <a:rPr lang="es-ES" dirty="0"/>
              <a:t> – Muy presentes en </a:t>
            </a:r>
            <a:r>
              <a:rPr lang="es-ES" b="1" dirty="0"/>
              <a:t>Marzo y Julio</a:t>
            </a:r>
          </a:p>
          <a:p>
            <a:endParaRPr lang="es-E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7D6945-D926-ACC6-985D-6D7E46D62F68}"/>
              </a:ext>
            </a:extLst>
          </p:cNvPr>
          <p:cNvSpPr txBox="1"/>
          <p:nvPr/>
        </p:nvSpPr>
        <p:spPr>
          <a:xfrm>
            <a:off x="6109315" y="4590149"/>
            <a:ext cx="46235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Estacion con más horas de ausencias: </a:t>
            </a:r>
            <a:r>
              <a:rPr lang="es-ES" b="1" dirty="0"/>
              <a:t>Invierno</a:t>
            </a:r>
          </a:p>
          <a:p>
            <a:endParaRPr lang="es-ES" dirty="0"/>
          </a:p>
          <a:p>
            <a:r>
              <a:rPr lang="es-ES" dirty="0"/>
              <a:t>De otoño a invierno: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bajas medias  +</a:t>
            </a:r>
            <a:r>
              <a:rPr lang="es-ES" b="1" dirty="0"/>
              <a:t>90.5%</a:t>
            </a:r>
            <a:r>
              <a:rPr lang="es-E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bajas largas +</a:t>
            </a:r>
            <a:r>
              <a:rPr lang="es-ES" b="1" dirty="0"/>
              <a:t>68%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69948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9F8D9F-C89A-034F-7B09-105545104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A39A-B6E7-BF09-3F81-BF2A1E0AF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lIns="0" anchor="b" anchorCtr="0"/>
          <a:lstStyle/>
          <a:p>
            <a:r>
              <a:rPr lang="en-US" dirty="0" err="1">
                <a:solidFill>
                  <a:schemeClr val="bg1"/>
                </a:solidFill>
              </a:rPr>
              <a:t>Estrategias</a:t>
            </a:r>
            <a:r>
              <a:rPr lang="en-US" dirty="0">
                <a:solidFill>
                  <a:schemeClr val="bg1"/>
                </a:solidFill>
              </a:rPr>
              <a:t> para </a:t>
            </a:r>
            <a:r>
              <a:rPr lang="en-US" dirty="0" err="1">
                <a:solidFill>
                  <a:schemeClr val="bg1"/>
                </a:solidFill>
              </a:rPr>
              <a:t>reducir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ausentismo</a:t>
            </a:r>
            <a:br>
              <a:rPr lang="en-US" dirty="0"/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34173-5868-D8F5-63A1-3DA29FF2FE3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739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58946-A531-561B-3AA3-35914E7C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5BCD14-0CCC-526E-9180-8F037954D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832" y="136525"/>
            <a:ext cx="8867553" cy="788936"/>
          </a:xfrm>
        </p:spPr>
        <p:txBody>
          <a:bodyPr>
            <a:normAutofit/>
          </a:bodyPr>
          <a:lstStyle/>
          <a:p>
            <a:r>
              <a:rPr lang="es-ES" dirty="0"/>
              <a:t>Estrategias para reducir el Ausentismo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2161D003-994C-C1AF-75C5-78249C16A41F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C1DB30-6C5F-A09A-EF49-666C8F08A983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11</a:t>
            </a:fld>
            <a:endParaRPr lang="en-US" altLang="zh-CN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980DF7-A09D-57C4-737A-0D3BF834840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254832" y="1224803"/>
            <a:ext cx="9653667" cy="4520677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sz="1600" b="1" dirty="0"/>
              <a:t>Las enfermedades más observadas son:</a:t>
            </a:r>
          </a:p>
          <a:p>
            <a:pPr marL="457200" lvl="1" indent="0">
              <a:buNone/>
            </a:pPr>
            <a:endParaRPr lang="es-ES" sz="1600" dirty="0"/>
          </a:p>
          <a:p>
            <a:pPr lvl="1"/>
            <a:r>
              <a:rPr lang="en-GB" sz="1600" dirty="0"/>
              <a:t>Diseases of the musculoskeletal system and connective tissue </a:t>
            </a:r>
          </a:p>
          <a:p>
            <a:pPr lvl="1"/>
            <a:r>
              <a:rPr lang="en-GB" sz="1600" dirty="0"/>
              <a:t>Injury, poisoning and other consequences of external causes</a:t>
            </a:r>
          </a:p>
          <a:p>
            <a:pPr marL="457200" lvl="1" indent="0">
              <a:buNone/>
            </a:pPr>
            <a:endParaRPr lang="es-ES" sz="1600" dirty="0"/>
          </a:p>
          <a:p>
            <a:pPr marL="457200" lvl="1" indent="0">
              <a:buNone/>
            </a:pPr>
            <a:r>
              <a:rPr lang="es-ES" sz="1600" b="1" dirty="0"/>
              <a:t>Propuestas:</a:t>
            </a:r>
          </a:p>
          <a:p>
            <a:pPr lvl="1">
              <a:buFontTx/>
              <a:buChar char="-"/>
            </a:pPr>
            <a:r>
              <a:rPr lang="es-ES" sz="1600" dirty="0"/>
              <a:t>Programa de prevención física para asegurar manipulación correcta de paquetes</a:t>
            </a:r>
          </a:p>
          <a:p>
            <a:pPr lvl="1">
              <a:buFontTx/>
              <a:buChar char="-"/>
            </a:pPr>
            <a:r>
              <a:rPr lang="es-ES" sz="1600" dirty="0"/>
              <a:t>Uso obligatorio de equipamientos de protección</a:t>
            </a:r>
          </a:p>
          <a:p>
            <a:pPr lvl="1">
              <a:buFontTx/>
              <a:buChar char="-"/>
            </a:pPr>
            <a:r>
              <a:rPr lang="es-ES" sz="1600" dirty="0"/>
              <a:t>Medicina preventiva – ergonomía, </a:t>
            </a:r>
            <a:r>
              <a:rPr lang="es-ES" sz="1600" dirty="0" err="1"/>
              <a:t>fisioterápia</a:t>
            </a:r>
            <a:endParaRPr lang="es-ES" sz="1600" dirty="0"/>
          </a:p>
          <a:p>
            <a:pPr marL="457200" lvl="1" indent="0">
              <a:buNone/>
            </a:pPr>
            <a:endParaRPr lang="en-GB" sz="1600" dirty="0"/>
          </a:p>
          <a:p>
            <a:pPr marL="457200" lvl="1" indent="0">
              <a:buNone/>
            </a:pPr>
            <a:r>
              <a:rPr lang="en-GB" sz="1600" dirty="0"/>
              <a:t>- </a:t>
            </a:r>
            <a:r>
              <a:rPr lang="en-GB" sz="1600" dirty="0" err="1"/>
              <a:t>Revisar</a:t>
            </a:r>
            <a:r>
              <a:rPr lang="en-GB" sz="1600" dirty="0"/>
              <a:t> </a:t>
            </a:r>
            <a:r>
              <a:rPr lang="en-GB" sz="1600" dirty="0" err="1"/>
              <a:t>el</a:t>
            </a:r>
            <a:r>
              <a:rPr lang="en-GB" sz="1600" dirty="0"/>
              <a:t>  </a:t>
            </a:r>
            <a:r>
              <a:rPr lang="en-GB" sz="1600" dirty="0" err="1"/>
              <a:t>periodo</a:t>
            </a:r>
            <a:r>
              <a:rPr lang="en-GB" sz="1600" dirty="0"/>
              <a:t> </a:t>
            </a:r>
            <a:r>
              <a:rPr lang="en-GB" sz="1600" dirty="0" err="1"/>
              <a:t>vacacional</a:t>
            </a:r>
            <a:r>
              <a:rPr lang="en-GB" sz="1600" dirty="0"/>
              <a:t> </a:t>
            </a:r>
            <a:r>
              <a:rPr lang="en-GB" sz="1600" dirty="0" err="1"/>
              <a:t>acorde</a:t>
            </a:r>
            <a:r>
              <a:rPr lang="en-GB" sz="1600" dirty="0"/>
              <a:t> con </a:t>
            </a:r>
            <a:r>
              <a:rPr lang="en-GB" sz="1600" dirty="0" err="1"/>
              <a:t>los</a:t>
            </a:r>
            <a:r>
              <a:rPr lang="en-GB" sz="1600" dirty="0"/>
              <a:t> meses </a:t>
            </a:r>
            <a:r>
              <a:rPr lang="en-GB" sz="1600" dirty="0" err="1"/>
              <a:t>pico</a:t>
            </a:r>
            <a:r>
              <a:rPr lang="en-GB" sz="1600" dirty="0"/>
              <a:t> de </a:t>
            </a:r>
            <a:r>
              <a:rPr lang="en-GB" sz="1600" dirty="0" err="1"/>
              <a:t>ausentísmo</a:t>
            </a:r>
            <a:r>
              <a:rPr lang="en-GB" sz="1600" dirty="0"/>
              <a:t>.</a:t>
            </a:r>
          </a:p>
          <a:p>
            <a:pPr marL="457200" lvl="1" indent="0">
              <a:buNone/>
            </a:pPr>
            <a:endParaRPr lang="en-GB" sz="1600" dirty="0"/>
          </a:p>
          <a:p>
            <a:pPr marL="457200" lvl="1" indent="0">
              <a:buNone/>
            </a:pPr>
            <a:r>
              <a:rPr lang="en-GB" sz="1600" dirty="0"/>
              <a:t>. </a:t>
            </a:r>
            <a:r>
              <a:rPr lang="en-GB" sz="1600" b="1" dirty="0"/>
              <a:t>Mayor </a:t>
            </a:r>
            <a:r>
              <a:rPr lang="en-GB" sz="1600" b="1" dirty="0" err="1"/>
              <a:t>acumulo</a:t>
            </a:r>
            <a:r>
              <a:rPr lang="en-GB" sz="1600" b="1" dirty="0"/>
              <a:t> de horas</a:t>
            </a:r>
          </a:p>
          <a:p>
            <a:pPr marL="457200" lvl="1" indent="0">
              <a:buNone/>
            </a:pPr>
            <a:r>
              <a:rPr lang="en-GB" sz="1600" b="1" dirty="0"/>
              <a:t> </a:t>
            </a:r>
            <a:r>
              <a:rPr lang="en-GB" sz="1600" dirty="0"/>
              <a:t>- </a:t>
            </a:r>
            <a:r>
              <a:rPr lang="en-GB" sz="1600" dirty="0" err="1"/>
              <a:t>Coordinación</a:t>
            </a:r>
            <a:r>
              <a:rPr lang="en-GB" sz="1600" dirty="0"/>
              <a:t> con </a:t>
            </a:r>
            <a:r>
              <a:rPr lang="en-GB" sz="1600" dirty="0" err="1"/>
              <a:t>servicios</a:t>
            </a:r>
            <a:r>
              <a:rPr lang="en-GB" sz="1600" dirty="0"/>
              <a:t> </a:t>
            </a:r>
            <a:r>
              <a:rPr lang="en-GB" sz="1600" dirty="0" err="1"/>
              <a:t>médicos</a:t>
            </a:r>
            <a:r>
              <a:rPr lang="en-GB" sz="1600" dirty="0"/>
              <a:t> para </a:t>
            </a:r>
            <a:r>
              <a:rPr lang="en-GB" sz="1600" dirty="0" err="1"/>
              <a:t>seguimiento</a:t>
            </a:r>
            <a:r>
              <a:rPr lang="en-GB" sz="1600" dirty="0"/>
              <a:t> </a:t>
            </a:r>
            <a:r>
              <a:rPr lang="en-GB" sz="1600" dirty="0" err="1"/>
              <a:t>temprano</a:t>
            </a:r>
            <a:r>
              <a:rPr lang="en-GB" sz="1600" dirty="0"/>
              <a:t> de </a:t>
            </a:r>
            <a:r>
              <a:rPr lang="en-GB" sz="1600" dirty="0" err="1"/>
              <a:t>casos</a:t>
            </a:r>
            <a:r>
              <a:rPr lang="en-GB" sz="1600" dirty="0"/>
              <a:t> &gt; 24h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E44C10-C1E7-A9E1-17AD-11A2CA6F229A}"/>
              </a:ext>
            </a:extLst>
          </p:cNvPr>
          <p:cNvSpPr/>
          <p:nvPr/>
        </p:nvSpPr>
        <p:spPr>
          <a:xfrm>
            <a:off x="69121" y="825263"/>
            <a:ext cx="10598046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1655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KPIs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4800F032-5102-94C2-865C-AE9D448B2744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5C5013-A563-C783-9185-9C847D4B4A4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12</a:t>
            </a:fld>
            <a:endParaRPr lang="en-US" altLang="zh-CN" noProof="0" dirty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AC177AA5-E431-BC4B-9713-B2F512D4D20D}"/>
              </a:ext>
            </a:extLst>
          </p:cNvPr>
          <p:cNvSpPr/>
          <p:nvPr/>
        </p:nvSpPr>
        <p:spPr>
          <a:xfrm>
            <a:off x="3173136" y="2196346"/>
            <a:ext cx="1060704" cy="914400"/>
          </a:xfrm>
          <a:prstGeom prst="hexag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E34C36-3CEC-FF35-5273-12AAB907AC12}"/>
              </a:ext>
            </a:extLst>
          </p:cNvPr>
          <p:cNvSpPr txBox="1"/>
          <p:nvPr/>
        </p:nvSpPr>
        <p:spPr>
          <a:xfrm>
            <a:off x="640080" y="2468880"/>
            <a:ext cx="2280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Empleados</a:t>
            </a:r>
            <a:r>
              <a:rPr lang="es-ES" dirty="0"/>
              <a:t> </a:t>
            </a:r>
            <a:r>
              <a:rPr lang="es-ES" dirty="0">
                <a:solidFill>
                  <a:schemeClr val="bg1"/>
                </a:solidFill>
              </a:rPr>
              <a:t>ausentes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A815D7EC-EA74-2E10-214A-5F3B2C0519C0}"/>
              </a:ext>
            </a:extLst>
          </p:cNvPr>
          <p:cNvSpPr/>
          <p:nvPr/>
        </p:nvSpPr>
        <p:spPr>
          <a:xfrm>
            <a:off x="3173136" y="4389121"/>
            <a:ext cx="1060704" cy="914400"/>
          </a:xfrm>
          <a:prstGeom prst="hexag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142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B55E61-595D-EA93-BD95-A6127F622FF1}"/>
              </a:ext>
            </a:extLst>
          </p:cNvPr>
          <p:cNvSpPr txBox="1"/>
          <p:nvPr/>
        </p:nvSpPr>
        <p:spPr>
          <a:xfrm>
            <a:off x="567366" y="4402576"/>
            <a:ext cx="27774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Motivo modal</a:t>
            </a:r>
          </a:p>
          <a:p>
            <a:r>
              <a:rPr lang="es-ES" dirty="0" err="1">
                <a:solidFill>
                  <a:schemeClr val="bg1"/>
                </a:solidFill>
              </a:rPr>
              <a:t>ausentísmo</a:t>
            </a:r>
            <a:r>
              <a:rPr lang="es-ES" dirty="0">
                <a:solidFill>
                  <a:schemeClr val="bg1"/>
                </a:solidFill>
              </a:rPr>
              <a:t> laboral:</a:t>
            </a:r>
          </a:p>
          <a:p>
            <a:r>
              <a:rPr lang="es-ES" dirty="0">
                <a:solidFill>
                  <a:schemeClr val="bg1"/>
                </a:solidFill>
              </a:rPr>
              <a:t>MEDICAL CONSULTATION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41E513B-1F34-8976-39B2-2901B22145CB}"/>
              </a:ext>
            </a:extLst>
          </p:cNvPr>
          <p:cNvSpPr/>
          <p:nvPr/>
        </p:nvSpPr>
        <p:spPr>
          <a:xfrm>
            <a:off x="7712112" y="2170807"/>
            <a:ext cx="1060704" cy="914400"/>
          </a:xfrm>
          <a:prstGeom prst="hexag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Marzo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137DCA-5EE4-D4DA-8B17-D884CC7C3F54}"/>
              </a:ext>
            </a:extLst>
          </p:cNvPr>
          <p:cNvSpPr txBox="1"/>
          <p:nvPr/>
        </p:nvSpPr>
        <p:spPr>
          <a:xfrm>
            <a:off x="5179056" y="2443341"/>
            <a:ext cx="2636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Mes pico carga ausencia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EFEBDBDE-A8B2-472E-8A64-C8984F159F07}"/>
              </a:ext>
            </a:extLst>
          </p:cNvPr>
          <p:cNvSpPr/>
          <p:nvPr/>
        </p:nvSpPr>
        <p:spPr>
          <a:xfrm>
            <a:off x="7712112" y="4389121"/>
            <a:ext cx="1060704" cy="914400"/>
          </a:xfrm>
          <a:prstGeom prst="hexag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0.35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4602DE-0E1E-3021-07B4-C47B7275E433}"/>
              </a:ext>
            </a:extLst>
          </p:cNvPr>
          <p:cNvSpPr txBox="1"/>
          <p:nvPr/>
        </p:nvSpPr>
        <p:spPr>
          <a:xfrm>
            <a:off x="5179056" y="4541075"/>
            <a:ext cx="26617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solidFill>
                  <a:schemeClr val="bg1"/>
                </a:solidFill>
              </a:rPr>
              <a:t>Índice </a:t>
            </a:r>
            <a:r>
              <a:rPr lang="es-ES" dirty="0">
                <a:solidFill>
                  <a:schemeClr val="bg1"/>
                </a:solidFill>
              </a:rPr>
              <a:t>eficiencia relativa</a:t>
            </a:r>
          </a:p>
          <a:p>
            <a:r>
              <a:rPr lang="es-ES" dirty="0">
                <a:solidFill>
                  <a:schemeClr val="bg1"/>
                </a:solidFill>
              </a:rPr>
              <a:t>Por carga laboral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F45087-837F-E003-D689-94804A3CF084}"/>
              </a:ext>
            </a:extLst>
          </p:cNvPr>
          <p:cNvSpPr txBox="1"/>
          <p:nvPr/>
        </p:nvSpPr>
        <p:spPr>
          <a:xfrm>
            <a:off x="3326917" y="2529840"/>
            <a:ext cx="769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91.67%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008532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367</Words>
  <Application>Microsoft Macintosh PowerPoint</Application>
  <PresentationFormat>Panorámica</PresentationFormat>
  <Paragraphs>103</Paragraphs>
  <Slides>12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Posterama Text SemiBold</vt:lpstr>
      <vt:lpstr>Office Theme</vt:lpstr>
      <vt:lpstr>Rapid Express – Análisis  Perfil de Empleado y Absentismo</vt:lpstr>
      <vt:lpstr>Agenda </vt:lpstr>
      <vt:lpstr>Perfil sociodemográfico </vt:lpstr>
      <vt:lpstr>Perfil sociodemográfico</vt:lpstr>
      <vt:lpstr>Estrategias de Compromiso y Desarrollo </vt:lpstr>
      <vt:lpstr>Estrategias de Compromiso y Desarrollo</vt:lpstr>
      <vt:lpstr>Análisis Ausentismo</vt:lpstr>
      <vt:lpstr>Análisis de la Magnitud del Ausentismo</vt:lpstr>
      <vt:lpstr>Análisis de la Variación Temporal del Ausentismo</vt:lpstr>
      <vt:lpstr>Estrategias para reducir el ausentismo </vt:lpstr>
      <vt:lpstr>Estrategias para reducir el Ausentismo</vt:lpstr>
      <vt:lpstr>KPIs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 Express – Analisis  Perfil de Empleado y Absentismo</dc:title>
  <dc:creator>Ana Claudia Dionisio</dc:creator>
  <cp:lastModifiedBy>Emilio T</cp:lastModifiedBy>
  <cp:revision>9</cp:revision>
  <dcterms:created xsi:type="dcterms:W3CDTF">2026-04-21T09:34:24Z</dcterms:created>
  <dcterms:modified xsi:type="dcterms:W3CDTF">2026-04-27T08:44:11Z</dcterms:modified>
</cp:coreProperties>
</file>