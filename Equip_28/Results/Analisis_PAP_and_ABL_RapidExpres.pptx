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92" r:id="rId2"/>
    <p:sldId id="299" r:id="rId3"/>
    <p:sldId id="297" r:id="rId4"/>
    <p:sldId id="279" r:id="rId5"/>
    <p:sldId id="300" r:id="rId6"/>
    <p:sldId id="306" r:id="rId7"/>
    <p:sldId id="302" r:id="rId8"/>
    <p:sldId id="301" r:id="rId9"/>
    <p:sldId id="307" r:id="rId10"/>
    <p:sldId id="308" r:id="rId11"/>
    <p:sldId id="309" r:id="rId12"/>
    <p:sldId id="304" r:id="rId13"/>
    <p:sldId id="30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16"/>
    <p:restoredTop sz="94715"/>
  </p:normalViewPr>
  <p:slideViewPr>
    <p:cSldViewPr snapToGrid="0">
      <p:cViewPr varScale="1">
        <p:scale>
          <a:sx n="143" d="100"/>
          <a:sy n="143" d="100"/>
        </p:scale>
        <p:origin x="34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3A06E2-0DF3-432C-9669-7DF986ACE8BA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5AAB3B-1C4E-4889-8450-736287798921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4882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681593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4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8809061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94D7A-605A-4AA1-B711-5FA23C46F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E335B2-AB66-DB4F-B453-0B60065C02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FFEAF8-3741-61E3-B146-374C0A3C71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16D24-00CD-CF58-4F7A-66E42C8443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6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8158984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94D7A-605A-4AA1-B711-5FA23C46F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E335B2-AB66-DB4F-B453-0B60065C02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FFEAF8-3741-61E3-B146-374C0A3C71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16D24-00CD-CF58-4F7A-66E42C8443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8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6121053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94D7A-605A-4AA1-B711-5FA23C46F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E335B2-AB66-DB4F-B453-0B60065C02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FFEAF8-3741-61E3-B146-374C0A3C71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16D24-00CD-CF58-4F7A-66E42C8443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9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7088506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94D7A-605A-4AA1-B711-5FA23C46F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E335B2-AB66-DB4F-B453-0B60065C02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FFEAF8-3741-61E3-B146-374C0A3C71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16D24-00CD-CF58-4F7A-66E42C8443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11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7521856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9074C-77A2-7240-B244-AF356ACE5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83A008-BA98-7279-801F-7CC20F22BC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444793-56C3-7E9D-EEE0-28D19EC13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3CE3A0-0AFA-EB68-1884-62C62F957C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13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2024953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922EF-E12B-CA81-2820-157C077C62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E38776-CC39-CEC6-F62D-9586967B0E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6DFEF-56FC-7FFB-F81D-76F164060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9ABC80-84B0-3F79-0B1D-B0972FBD7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2C5D3D-2C58-1D12-BFFE-48F7F857E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49886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184AA-B015-8CDD-4B75-C7BDDD84E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2508CD-BD0F-7E17-285D-B8AFCA824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ED7EF-E4B0-79EF-78B5-E1F328A8F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6A043E-1A27-C434-0DEE-C87A5E63E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2C1804-9A77-4752-29A4-BB85E6B32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555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687E9-51EA-4BA5-EDA0-4557BB83E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54371D-4B7A-964E-D065-0840B93E26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BD3CC5-3985-97D4-B660-3B3497B24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3D9539-EA5B-39B6-5C96-4FD6362D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52EFF8-9AD1-4A24-2C6F-0405326D8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110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20265-CFD4-6521-6651-55C70AA07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9560E4-997A-B687-3EE6-08C2F9B3B0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7F246E-4FEA-0FC5-A049-AB90B439B9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109DFB-BB79-6200-1BFE-6EE575113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440142-F185-95A2-BF3D-D8BC33208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977755-186E-5EA8-0E37-7ABBF7E0A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1642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457B8-9DB2-1BE6-B755-440D87631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672861-033E-EE16-AFD5-E461FAEF9C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3EB92A-EB11-BE1F-A0FA-8515ADEA4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625C-96D7-66BD-2EDE-318A087F0E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D1303B-FCD4-47D4-0141-25AD42F1CF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7F451F-5BEC-621A-FCDF-99E70D5F8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341A02-0008-719A-11E4-F72E8E80A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9DD76-61F0-692F-325B-4107138E0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3993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4008F-46ED-ED20-93B9-1421AB6B9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7D8C0D-E62E-5272-3AB4-DCE194A21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69814A-0E6E-5098-CC5B-158AA8979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8177A8-C5E2-3C35-280B-2E95EE707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22515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9B1244-8AE4-AC4B-26B7-A9BBE264B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A710D9-EF00-8EB7-2A09-9F2B8235D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489A3B-7054-804D-5470-749438A32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428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E7AF9-3F95-16A9-1E62-B71490560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DC1A46-3F36-E189-1D13-E00EECEB51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4672A8-59D8-182D-4E5D-BBEF2AF0D6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128EB8-FD7E-90A9-2978-AF7431F3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11061F-5C75-70E3-3656-2C790E0CB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032AEF-0B1F-8178-9542-14FBE0EFA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930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1C392-901E-8603-9928-E372CEC46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AFBA5A-59B3-B12B-5BB6-2F6D0C5DEB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4324F9-151D-8A54-82FB-59617B7651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CFD8D7-E1B0-67A5-9FEC-DB54014296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41F0D9-E7A3-C8AE-22EA-DDC1299A4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6658CD-660D-E3B0-B616-DDF1C5F65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144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52932-ADF7-865D-F58F-9874FBD69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1B0B10-1606-6B70-2856-923875662D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161D19-C96E-6202-A311-5229E8CA4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789269-DFA3-BF09-F6CA-095F45107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CB14C-FA25-02D1-75A9-8800D34D1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7133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654F50-E714-4642-1714-4260599EB3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86A30C-A2E6-D712-2807-8E75D7F8FE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6BA21-2154-1A1D-FE52-F5FF113CA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66074-1D80-AF6E-03C7-2535BC98B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C938D-0416-5167-BA73-526F3B04A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52290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Shape 33">
            <a:extLst>
              <a:ext uri="{FF2B5EF4-FFF2-40B4-BE49-F238E27FC236}">
                <a16:creationId xmlns:a16="http://schemas.microsoft.com/office/drawing/2014/main" id="{4D81E37E-7366-D88D-83B8-BBA577CA4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97686" y="106446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pic>
        <p:nvPicPr>
          <p:cNvPr id="12" name="Shape 31">
            <a:extLst>
              <a:ext uri="{FF2B5EF4-FFF2-40B4-BE49-F238E27FC236}">
                <a16:creationId xmlns:a16="http://schemas.microsoft.com/office/drawing/2014/main" id="{A2E096B7-3B4F-355B-58E5-41784AC8BE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284315" y="398445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292" y="731520"/>
            <a:ext cx="5029200" cy="3291840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cxnSp>
        <p:nvCxnSpPr>
          <p:cNvPr id="24" name="Straight Connector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168533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47" name="Content placeholder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220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73CCCCFD-E0FE-BDB7-CF9D-FCA345E6BA5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394325" y="3429000"/>
            <a:ext cx="3475038" cy="2378075"/>
          </a:xfrm>
        </p:spPr>
        <p:txBody>
          <a:bodyPr anchor="ctr"/>
          <a:lstStyle>
            <a:lvl1pPr marL="347472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‹Nº›</a:t>
            </a:fld>
            <a:endParaRPr lang="en-US" altLang="zh-CN" noProof="0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4C8F37E-3F74-F3FA-C9D8-7083DF2BBECC}"/>
              </a:ext>
            </a:extLst>
          </p:cNvPr>
          <p:cNvSpPr/>
          <p:nvPr userDrawn="1"/>
        </p:nvSpPr>
        <p:spPr>
          <a:xfrm>
            <a:off x="7325349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B905CE6-1C2F-E053-4D14-6B86F4EFDC10}"/>
              </a:ext>
            </a:extLst>
          </p:cNvPr>
          <p:cNvSpPr/>
          <p:nvPr userDrawn="1"/>
        </p:nvSpPr>
        <p:spPr>
          <a:xfrm>
            <a:off x="9416816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: Shape 12">
            <a:extLst>
              <a:ext uri="{FF2B5EF4-FFF2-40B4-BE49-F238E27FC236}">
                <a16:creationId xmlns:a16="http://schemas.microsoft.com/office/drawing/2014/main" id="{0B2D3BF4-495E-23C2-9911-15BC9E0D8EA7}"/>
              </a:ext>
            </a:extLst>
          </p:cNvPr>
          <p:cNvSpPr/>
          <p:nvPr userDrawn="1"/>
        </p:nvSpPr>
        <p:spPr>
          <a:xfrm>
            <a:off x="1571157" y="505838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2629C19-89EB-BC19-9230-7F7675E16EFF}"/>
              </a:ext>
            </a:extLst>
          </p:cNvPr>
          <p:cNvSpPr/>
          <p:nvPr userDrawn="1"/>
        </p:nvSpPr>
        <p:spPr>
          <a:xfrm>
            <a:off x="521034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2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85309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break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anchor="b">
            <a:norm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2" name="Freeform: Shape 5">
            <a:extLst>
              <a:ext uri="{FF2B5EF4-FFF2-40B4-BE49-F238E27FC236}">
                <a16:creationId xmlns:a16="http://schemas.microsoft.com/office/drawing/2014/main" id="{B17C1EC9-3787-8D41-B5F1-BF16FD5C7ACB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Freeform: Shape 6">
            <a:extLst>
              <a:ext uri="{FF2B5EF4-FFF2-40B4-BE49-F238E27FC236}">
                <a16:creationId xmlns:a16="http://schemas.microsoft.com/office/drawing/2014/main" id="{E945D8B2-8BED-B43F-8D56-AB19D0D29970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600" noProof="0" dirty="0"/>
          </a:p>
        </p:txBody>
      </p:sp>
      <p:sp>
        <p:nvSpPr>
          <p:cNvPr id="5" name="Freeform: Shape 7">
            <a:extLst>
              <a:ext uri="{FF2B5EF4-FFF2-40B4-BE49-F238E27FC236}">
                <a16:creationId xmlns:a16="http://schemas.microsoft.com/office/drawing/2014/main" id="{3853EA5E-735A-20F3-684A-C0AD030EC2D4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75DB4848-0824-8316-ED27-44DF37AD6F3D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7" name="Straight Connector 2">
            <a:extLst>
              <a:ext uri="{FF2B5EF4-FFF2-40B4-BE49-F238E27FC236}">
                <a16:creationId xmlns:a16="http://schemas.microsoft.com/office/drawing/2014/main" id="{8784B377-2FE4-4091-C29F-46938ECFA73E}"/>
              </a:ext>
            </a:extLst>
          </p:cNvPr>
          <p:cNvCxnSpPr/>
          <p:nvPr userDrawn="1"/>
        </p:nvCxnSpPr>
        <p:spPr>
          <a:xfrm>
            <a:off x="5998709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546531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663440" cy="17373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7A93C-2947-B6E4-C693-7C485DDC0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486400" cy="17373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A3F288-990F-014E-F099-1E3091477CA7}"/>
              </a:ext>
            </a:extLst>
          </p:cNvPr>
          <p:cNvSpPr>
            <a:spLocks noGrp="1"/>
          </p:cNvSpPr>
          <p:nvPr>
            <p:ph idx="30"/>
          </p:nvPr>
        </p:nvSpPr>
        <p:spPr>
          <a:xfrm>
            <a:off x="914400" y="2743200"/>
            <a:ext cx="8348472" cy="337413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‹Nº›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515103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34A8B6-64B4-271A-5122-D642D38C5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D54B30-660B-49C7-90F3-F454682C6D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27C7CE-9CF6-2B71-E1EE-FFDC675481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7D434A-83FD-40C7-B814-5B722EE835FE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350493-823A-0928-E3A2-37EE2B0E78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35E03-DCBF-17D8-7A92-61687F872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6A8D57-9D10-4D47-9091-49E61AADFCFC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8038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278" y="506668"/>
            <a:ext cx="5903669" cy="3291840"/>
          </a:xfrm>
        </p:spPr>
        <p:txBody>
          <a:bodyPr lIns="0" anchor="b" anchorCtr="0"/>
          <a:lstStyle/>
          <a:p>
            <a:r>
              <a:rPr lang="es-ES_tradnl" noProof="1">
                <a:solidFill>
                  <a:schemeClr val="bg1"/>
                </a:solidFill>
              </a:rPr>
              <a:t>Rapid Express – Análisis </a:t>
            </a:r>
            <a:br>
              <a:rPr lang="es-ES_tradnl" noProof="1">
                <a:solidFill>
                  <a:schemeClr val="bg1"/>
                </a:solidFill>
              </a:rPr>
            </a:br>
            <a:r>
              <a:rPr lang="es-ES_tradnl" noProof="1">
                <a:solidFill>
                  <a:schemeClr val="bg1"/>
                </a:solidFill>
              </a:rPr>
              <a:t>Perfil de Empleado y Absentismo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85E0237-B9A1-0B58-E0AA-05EF84817EB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</p:spPr>
        <p:txBody>
          <a:bodyPr/>
          <a:lstStyle/>
          <a:p>
            <a:r>
              <a:rPr lang="es-ES_tradnl" noProof="1"/>
              <a:t>Equipo 28</a:t>
            </a:r>
          </a:p>
          <a:p>
            <a:r>
              <a:rPr lang="es-ES_tradnl" noProof="1"/>
              <a:t>Emilio T., Núria P., Andrea C. &amp; Ana C.</a:t>
            </a:r>
          </a:p>
        </p:txBody>
      </p:sp>
      <p:pic>
        <p:nvPicPr>
          <p:cNvPr id="20" name="Picture Placeholder 19" descr="Two people looking at a laptop at a table">
            <a:extLst>
              <a:ext uri="{FF2B5EF4-FFF2-40B4-BE49-F238E27FC236}">
                <a16:creationId xmlns:a16="http://schemas.microsoft.com/office/drawing/2014/main" id="{E83BB08F-E403-8715-0B24-AD9E4B72C80E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3"/>
          <a:srcRect l="23" r="23"/>
          <a:stretch/>
        </p:blipFill>
        <p:spPr>
          <a:xfrm>
            <a:off x="6742557" y="821836"/>
            <a:ext cx="4405503" cy="5066346"/>
          </a:xfrm>
        </p:spPr>
      </p:pic>
    </p:spTree>
    <p:extLst>
      <p:ext uri="{BB962C8B-B14F-4D97-AF65-F5344CB8AC3E}">
        <p14:creationId xmlns:p14="http://schemas.microsoft.com/office/powerpoint/2010/main" val="3898447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F021C-3CEB-0FBA-DA89-C9C82E741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 anchorCtr="0"/>
          <a:lstStyle/>
          <a:p>
            <a:r>
              <a:rPr lang="es-ES_tradnl" noProof="1"/>
              <a:t>Agenda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6746B3-AFD9-641E-7CBF-9A783646B368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3840480" y="3429000"/>
            <a:ext cx="5028883" cy="2378075"/>
          </a:xfrm>
        </p:spPr>
        <p:txBody>
          <a:bodyPr anchor="t" anchorCtr="0">
            <a:normAutofit fontScale="92500" lnSpcReduction="10000"/>
          </a:bodyPr>
          <a:lstStyle/>
          <a:p>
            <a:endParaRPr lang="es-ES_tradnl" noProof="1"/>
          </a:p>
          <a:p>
            <a:r>
              <a:rPr lang="es-ES_tradnl" noProof="1"/>
              <a:t>Perfil sociodemográfico</a:t>
            </a:r>
          </a:p>
          <a:p>
            <a:r>
              <a:rPr lang="es-ES_tradnl" noProof="1"/>
              <a:t>Estrategias de Compromiso y Desarrollo</a:t>
            </a:r>
          </a:p>
          <a:p>
            <a:r>
              <a:rPr lang="es-ES_tradnl" noProof="1"/>
              <a:t>Análisis de Ausentismo: Magnitud y variación temporal</a:t>
            </a:r>
          </a:p>
          <a:p>
            <a:r>
              <a:rPr lang="es-ES_tradnl" noProof="1"/>
              <a:t>Estrategias para reducir el Ausentismo </a:t>
            </a:r>
          </a:p>
          <a:p>
            <a:r>
              <a:rPr lang="es-ES_tradnl" noProof="1"/>
              <a:t>KPIs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559569-83D5-A20B-653C-B9D6C8D98164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s-ES_tradnl" noProof="1" smtClean="0"/>
              <a:pPr/>
              <a:t>2</a:t>
            </a:fld>
            <a:endParaRPr lang="es-ES_tradnl" noProof="1"/>
          </a:p>
        </p:txBody>
      </p:sp>
    </p:spTree>
    <p:extLst>
      <p:ext uri="{BB962C8B-B14F-4D97-AF65-F5344CB8AC3E}">
        <p14:creationId xmlns:p14="http://schemas.microsoft.com/office/powerpoint/2010/main" val="1485080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2A73C-F597-27B7-8F29-D6406DC4D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lIns="0" anchor="b" anchorCtr="0"/>
          <a:lstStyle/>
          <a:p>
            <a:r>
              <a:rPr lang="es-ES_tradnl" noProof="1">
                <a:solidFill>
                  <a:schemeClr val="bg1"/>
                </a:solidFill>
              </a:rPr>
              <a:t>Perfil sociodemográfico</a:t>
            </a:r>
            <a:br>
              <a:rPr lang="es-ES_tradnl" noProof="1">
                <a:solidFill>
                  <a:schemeClr val="bg1"/>
                </a:solidFill>
              </a:rPr>
            </a:br>
            <a:endParaRPr lang="es-ES_tradnl" noProof="1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90503-C2C6-37F4-4636-9B4A8A3DE4EB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</p:spPr>
        <p:txBody>
          <a:bodyPr/>
          <a:lstStyle/>
          <a:p>
            <a:endParaRPr lang="es-ES_tradnl" noProof="1"/>
          </a:p>
        </p:txBody>
      </p:sp>
    </p:spTree>
    <p:extLst>
      <p:ext uri="{BB962C8B-B14F-4D97-AF65-F5344CB8AC3E}">
        <p14:creationId xmlns:p14="http://schemas.microsoft.com/office/powerpoint/2010/main" val="3530111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4800F032-5102-94C2-865C-AE9D448B2744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s-ES_tradnl" sz="1200" u="none" strike="noStrike" kern="1200" cap="none" spc="0" normalizeH="0" baseline="0" noProof="1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s-ES_tradnl" sz="1200" u="none" strike="noStrike" kern="1200" cap="none" spc="0" normalizeH="0" baseline="0" noProof="1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B5C5013-A563-C783-9185-9C847D4B4A46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s-ES_tradnl" noProof="1" smtClean="0"/>
              <a:pPr/>
              <a:t>4</a:t>
            </a:fld>
            <a:endParaRPr lang="es-ES_tradnl" noProof="1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4D3EACF-8C15-C3B6-9890-0444ABF9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40" y="277210"/>
            <a:ext cx="6830768" cy="572624"/>
          </a:xfrm>
        </p:spPr>
        <p:txBody>
          <a:bodyPr>
            <a:noAutofit/>
          </a:bodyPr>
          <a:lstStyle/>
          <a:p>
            <a:r>
              <a:rPr lang="es-ES_tradnl" sz="4000" noProof="1"/>
              <a:t>Perfil sociodemográfico</a:t>
            </a:r>
          </a:p>
        </p:txBody>
      </p:sp>
      <p:pic>
        <p:nvPicPr>
          <p:cNvPr id="12" name="Contenidor de contingut 11">
            <a:extLst>
              <a:ext uri="{FF2B5EF4-FFF2-40B4-BE49-F238E27FC236}">
                <a16:creationId xmlns:a16="http://schemas.microsoft.com/office/drawing/2014/main" id="{56FD9FE2-47D2-4063-8FEB-F53946440409}"/>
              </a:ext>
            </a:extLst>
          </p:cNvPr>
          <p:cNvPicPr>
            <a:picLocks noGrp="1" noChangeAspect="1"/>
          </p:cNvPicPr>
          <p:nvPr>
            <p:ph idx="3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730" y="1133936"/>
            <a:ext cx="10293629" cy="3172250"/>
          </a:xfrm>
        </p:spPr>
      </p:pic>
      <p:sp>
        <p:nvSpPr>
          <p:cNvPr id="14" name="QuadreDeText 13">
            <a:extLst>
              <a:ext uri="{FF2B5EF4-FFF2-40B4-BE49-F238E27FC236}">
                <a16:creationId xmlns:a16="http://schemas.microsoft.com/office/drawing/2014/main" id="{4E14FB81-D1A7-478D-8CDA-C69095B97D1C}"/>
              </a:ext>
            </a:extLst>
          </p:cNvPr>
          <p:cNvSpPr txBox="1"/>
          <p:nvPr/>
        </p:nvSpPr>
        <p:spPr>
          <a:xfrm>
            <a:off x="1031358" y="5018567"/>
            <a:ext cx="3755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b="1" noProof="1"/>
              <a:t>Educación: </a:t>
            </a:r>
            <a:r>
              <a:rPr lang="es-ES_tradnl" noProof="1"/>
              <a:t>77.8% No universitarios</a:t>
            </a:r>
          </a:p>
        </p:txBody>
      </p:sp>
      <p:sp>
        <p:nvSpPr>
          <p:cNvPr id="15" name="QuadreDeText 14">
            <a:extLst>
              <a:ext uri="{FF2B5EF4-FFF2-40B4-BE49-F238E27FC236}">
                <a16:creationId xmlns:a16="http://schemas.microsoft.com/office/drawing/2014/main" id="{B8FE7E1E-13BA-4867-8606-523191E93ECD}"/>
              </a:ext>
            </a:extLst>
          </p:cNvPr>
          <p:cNvSpPr txBox="1"/>
          <p:nvPr/>
        </p:nvSpPr>
        <p:spPr>
          <a:xfrm>
            <a:off x="4947333" y="4797926"/>
            <a:ext cx="220297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b="1" noProof="1"/>
              <a:t>Edad media: </a:t>
            </a:r>
            <a:r>
              <a:rPr lang="es-ES_tradnl" noProof="1"/>
              <a:t>38 años</a:t>
            </a:r>
          </a:p>
          <a:p>
            <a:endParaRPr lang="es-ES_tradnl" b="1" noProof="1"/>
          </a:p>
          <a:p>
            <a:r>
              <a:rPr lang="es-ES_tradnl" b="1" noProof="1"/>
              <a:t>Intervalo: </a:t>
            </a:r>
            <a:r>
              <a:rPr lang="es-ES_tradnl" noProof="1"/>
              <a:t>27-58 años</a:t>
            </a:r>
          </a:p>
        </p:txBody>
      </p:sp>
      <p:sp>
        <p:nvSpPr>
          <p:cNvPr id="16" name="QuadreDeText 15">
            <a:extLst>
              <a:ext uri="{FF2B5EF4-FFF2-40B4-BE49-F238E27FC236}">
                <a16:creationId xmlns:a16="http://schemas.microsoft.com/office/drawing/2014/main" id="{BD266384-21EC-4D1A-924D-08403B46C59F}"/>
              </a:ext>
            </a:extLst>
          </p:cNvPr>
          <p:cNvSpPr txBox="1"/>
          <p:nvPr/>
        </p:nvSpPr>
        <p:spPr>
          <a:xfrm>
            <a:off x="7945937" y="4964686"/>
            <a:ext cx="2223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b="1" noProof="1"/>
              <a:t>Num. Hijos: entre 0-4</a:t>
            </a:r>
            <a:endParaRPr lang="es-ES_tradnl" noProof="1"/>
          </a:p>
        </p:txBody>
      </p:sp>
    </p:spTree>
    <p:extLst>
      <p:ext uri="{BB962C8B-B14F-4D97-AF65-F5344CB8AC3E}">
        <p14:creationId xmlns:p14="http://schemas.microsoft.com/office/powerpoint/2010/main" val="1246021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9F8D9F-C89A-034F-7B09-105545104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BA39A-B6E7-BF09-3F81-BF2A1E0AF1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lIns="0" anchor="b" anchorCtr="0"/>
          <a:lstStyle/>
          <a:p>
            <a:r>
              <a:rPr lang="es-ES_tradnl" noProof="1">
                <a:solidFill>
                  <a:schemeClr val="bg1"/>
                </a:solidFill>
              </a:rPr>
              <a:t>Estrategias de Compromiso y Desarrollo</a:t>
            </a:r>
            <a:br>
              <a:rPr lang="es-ES_tradnl" noProof="1"/>
            </a:br>
            <a:endParaRPr lang="es-ES_tradnl" noProof="1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034173-5868-D8F5-63A1-3DA29FF2FE3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</p:spPr>
        <p:txBody>
          <a:bodyPr/>
          <a:lstStyle/>
          <a:p>
            <a:endParaRPr lang="es-ES_tradnl" noProof="1"/>
          </a:p>
        </p:txBody>
      </p:sp>
    </p:spTree>
    <p:extLst>
      <p:ext uri="{BB962C8B-B14F-4D97-AF65-F5344CB8AC3E}">
        <p14:creationId xmlns:p14="http://schemas.microsoft.com/office/powerpoint/2010/main" val="3454294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58946-A531-561B-3AA3-35914E7C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15BCD14-0CCC-526E-9180-8F037954D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731520"/>
            <a:ext cx="8867553" cy="788936"/>
          </a:xfrm>
        </p:spPr>
        <p:txBody>
          <a:bodyPr/>
          <a:lstStyle/>
          <a:p>
            <a:r>
              <a:rPr lang="es-ES_tradnl" noProof="1"/>
              <a:t>Estrategias de Compromiso y Desarrollo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2161D003-994C-C1AF-75C5-78249C16A41F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s-ES_tradnl" sz="1200" u="none" strike="noStrike" kern="1200" cap="none" spc="0" normalizeH="0" baseline="0" noProof="1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s-ES_tradnl" sz="1200" u="none" strike="noStrike" kern="1200" cap="none" spc="0" normalizeH="0" baseline="0" noProof="1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C1DB30-6C5F-A09A-EF49-666C8F08A983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s-ES_tradnl" noProof="1" smtClean="0"/>
              <a:pPr/>
              <a:t>6</a:t>
            </a:fld>
            <a:endParaRPr lang="es-ES_tradnl" noProof="1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980DF7-A09D-57C4-737A-0D3BF8348406}"/>
              </a:ext>
            </a:extLst>
          </p:cNvPr>
          <p:cNvSpPr>
            <a:spLocks noGrp="1"/>
          </p:cNvSpPr>
          <p:nvPr>
            <p:ph idx="30"/>
          </p:nvPr>
        </p:nvSpPr>
        <p:spPr/>
        <p:txBody>
          <a:bodyPr/>
          <a:lstStyle/>
          <a:p>
            <a:r>
              <a:rPr lang="es-ES_tradnl" b="1" noProof="1">
                <a:effectLst/>
                <a:latin typeface="Consolas" panose="020B0609020204030204" pitchFamily="49" charset="0"/>
              </a:rPr>
              <a:t>Planes de micro-formación y Upskilling</a:t>
            </a:r>
          </a:p>
          <a:p>
            <a:pPr lvl="1"/>
            <a:r>
              <a:rPr lang="es-ES_tradnl" b="1" noProof="1">
                <a:latin typeface="Consolas" panose="020B0609020204030204" pitchFamily="49" charset="0"/>
              </a:rPr>
              <a:t>Certificaciones técnicas y otros Desarrollos Profesionales</a:t>
            </a:r>
            <a:endParaRPr lang="es-ES_tradnl" b="1" noProof="1">
              <a:effectLst/>
              <a:latin typeface="Consolas" panose="020B0609020204030204" pitchFamily="49" charset="0"/>
            </a:endParaRPr>
          </a:p>
          <a:p>
            <a:endParaRPr lang="es-ES_tradnl" b="1" noProof="1">
              <a:latin typeface="Consolas" panose="020B0609020204030204" pitchFamily="49" charset="0"/>
            </a:endParaRPr>
          </a:p>
          <a:p>
            <a:endParaRPr lang="es-ES_tradnl" b="0" noProof="1">
              <a:effectLst/>
              <a:latin typeface="Consolas" panose="020B0609020204030204" pitchFamily="49" charset="0"/>
            </a:endParaRPr>
          </a:p>
          <a:p>
            <a:r>
              <a:rPr lang="es-ES_tradnl" b="1" noProof="1">
                <a:latin typeface="Consolas" panose="020B0609020204030204" pitchFamily="49" charset="0"/>
              </a:rPr>
              <a:t>Políticas de conciliación</a:t>
            </a:r>
          </a:p>
          <a:p>
            <a:pPr lvl="1"/>
            <a:r>
              <a:rPr lang="es-ES_tradnl" b="1" noProof="1">
                <a:latin typeface="Consolas" panose="020B0609020204030204" pitchFamily="49" charset="0"/>
              </a:rPr>
              <a:t>Flexibilidad horaria (bolsas de horas)</a:t>
            </a:r>
          </a:p>
        </p:txBody>
      </p:sp>
    </p:spTree>
    <p:extLst>
      <p:ext uri="{BB962C8B-B14F-4D97-AF65-F5344CB8AC3E}">
        <p14:creationId xmlns:p14="http://schemas.microsoft.com/office/powerpoint/2010/main" val="3310956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8F3D91-3F25-C8AD-C56E-5654F4022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63560-5215-1F3A-952F-5BA3A7B1F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lIns="0" anchor="b" anchorCtr="0"/>
          <a:lstStyle/>
          <a:p>
            <a:r>
              <a:rPr lang="es-ES_tradnl" noProof="1">
                <a:solidFill>
                  <a:schemeClr val="bg1"/>
                </a:solidFill>
              </a:rPr>
              <a:t>Analisis Ausentismo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0EBBA5-E421-4E85-51FD-D342C6122DD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</p:spPr>
        <p:txBody>
          <a:bodyPr/>
          <a:lstStyle/>
          <a:p>
            <a:r>
              <a:rPr lang="es-ES_tradnl" noProof="1"/>
              <a:t>Magnitud y análisis temporal</a:t>
            </a:r>
          </a:p>
        </p:txBody>
      </p:sp>
    </p:spTree>
    <p:extLst>
      <p:ext uri="{BB962C8B-B14F-4D97-AF65-F5344CB8AC3E}">
        <p14:creationId xmlns:p14="http://schemas.microsoft.com/office/powerpoint/2010/main" val="984820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58946-A531-561B-3AA3-35914E7C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15BCD14-0CCC-526E-9180-8F037954D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731520"/>
            <a:ext cx="8867553" cy="788936"/>
          </a:xfrm>
        </p:spPr>
        <p:txBody>
          <a:bodyPr/>
          <a:lstStyle/>
          <a:p>
            <a:r>
              <a:rPr lang="es-ES_tradnl" noProof="1"/>
              <a:t>Analisis de la Magnitud del Ausentismo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2161D003-994C-C1AF-75C5-78249C16A41F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s-ES_tradnl" sz="1200" u="none" strike="noStrike" kern="1200" cap="none" spc="0" normalizeH="0" baseline="0" noProof="1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s-ES_tradnl" sz="1200" u="none" strike="noStrike" kern="1200" cap="none" spc="0" normalizeH="0" baseline="0" noProof="1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C1DB30-6C5F-A09A-EF49-666C8F08A983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s-ES_tradnl" noProof="1" smtClean="0"/>
              <a:pPr/>
              <a:t>8</a:t>
            </a:fld>
            <a:endParaRPr lang="es-ES_tradnl" noProof="1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343A460-0061-9980-BD58-1B802E49313E}"/>
              </a:ext>
            </a:extLst>
          </p:cNvPr>
          <p:cNvPicPr>
            <a:picLocks noGrp="1" noChangeAspect="1"/>
          </p:cNvPicPr>
          <p:nvPr>
            <p:ph idx="30"/>
          </p:nvPr>
        </p:nvPicPr>
        <p:blipFill>
          <a:blip r:embed="rId3"/>
          <a:stretch>
            <a:fillRect/>
          </a:stretch>
        </p:blipFill>
        <p:spPr>
          <a:xfrm>
            <a:off x="333652" y="2053653"/>
            <a:ext cx="5336668" cy="337343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FE71423-B06A-2A95-FE4C-ECAF5CB449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1550" y="1834548"/>
            <a:ext cx="5038100" cy="3592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7662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58946-A531-561B-3AA3-35914E7C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15BCD14-0CCC-526E-9180-8F037954D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731520"/>
            <a:ext cx="8867553" cy="788936"/>
          </a:xfrm>
        </p:spPr>
        <p:txBody>
          <a:bodyPr>
            <a:normAutofit fontScale="90000"/>
          </a:bodyPr>
          <a:lstStyle/>
          <a:p>
            <a:r>
              <a:rPr lang="es-ES_tradnl" noProof="1"/>
              <a:t>Analisis de la Variación Temporal del Ausentismo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2161D003-994C-C1AF-75C5-78249C16A41F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s-ES_tradnl" sz="1200" u="none" strike="noStrike" kern="1200" cap="none" spc="0" normalizeH="0" baseline="0" noProof="1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s-ES_tradnl" sz="1200" u="none" strike="noStrike" kern="1200" cap="none" spc="0" normalizeH="0" baseline="0" noProof="1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C1DB30-6C5F-A09A-EF49-666C8F08A983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s-ES_tradnl" noProof="1" smtClean="0"/>
              <a:pPr/>
              <a:t>9</a:t>
            </a:fld>
            <a:endParaRPr lang="es-ES_tradnl" noProof="1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CA7B066-56F3-903C-55CF-5E4907F2B09E}"/>
              </a:ext>
            </a:extLst>
          </p:cNvPr>
          <p:cNvPicPr>
            <a:picLocks noGrp="1" noChangeAspect="1"/>
          </p:cNvPicPr>
          <p:nvPr>
            <p:ph idx="30"/>
          </p:nvPr>
        </p:nvPicPr>
        <p:blipFill>
          <a:blip r:embed="rId3"/>
          <a:stretch>
            <a:fillRect/>
          </a:stretch>
        </p:blipFill>
        <p:spPr>
          <a:xfrm>
            <a:off x="528612" y="1708879"/>
            <a:ext cx="4507604" cy="24924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39BC8FE-223B-9DD7-262A-A777F126EA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6382" y="4153915"/>
            <a:ext cx="4041775" cy="270408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0CAEE3F-AF86-05B7-D1DC-1E272BD82B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4731" y="1805261"/>
            <a:ext cx="5112606" cy="2396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486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9F8D9F-C89A-034F-7B09-105545104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BA39A-B6E7-BF09-3F81-BF2A1E0AF1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lIns="0" anchor="b" anchorCtr="0"/>
          <a:lstStyle/>
          <a:p>
            <a:r>
              <a:rPr lang="es-ES_tradnl" noProof="1">
                <a:solidFill>
                  <a:schemeClr val="bg1"/>
                </a:solidFill>
              </a:rPr>
              <a:t>Estrategias para reducir el ausentismo</a:t>
            </a:r>
            <a:br>
              <a:rPr lang="es-ES_tradnl" noProof="1"/>
            </a:br>
            <a:endParaRPr lang="es-ES_tradnl" noProof="1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034173-5868-D8F5-63A1-3DA29FF2FE3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</p:spPr>
        <p:txBody>
          <a:bodyPr/>
          <a:lstStyle/>
          <a:p>
            <a:endParaRPr lang="es-ES_tradnl" noProof="1"/>
          </a:p>
        </p:txBody>
      </p:sp>
    </p:spTree>
    <p:extLst>
      <p:ext uri="{BB962C8B-B14F-4D97-AF65-F5344CB8AC3E}">
        <p14:creationId xmlns:p14="http://schemas.microsoft.com/office/powerpoint/2010/main" val="16267391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58946-A531-561B-3AA3-35914E7C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15BCD14-0CCC-526E-9180-8F037954D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731520"/>
            <a:ext cx="8867553" cy="788936"/>
          </a:xfrm>
        </p:spPr>
        <p:txBody>
          <a:bodyPr>
            <a:normAutofit/>
          </a:bodyPr>
          <a:lstStyle/>
          <a:p>
            <a:r>
              <a:rPr lang="es-ES_tradnl" noProof="1"/>
              <a:t>Estrategias para reducir el Ausentismo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2161D003-994C-C1AF-75C5-78249C16A41F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s-ES_tradnl" sz="1200" u="none" strike="noStrike" kern="1200" cap="none" spc="0" normalizeH="0" baseline="0" noProof="1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s-ES_tradnl" sz="1200" u="none" strike="noStrike" kern="1200" cap="none" spc="0" normalizeH="0" baseline="0" noProof="1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C1DB30-6C5F-A09A-EF49-666C8F08A983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s-ES_tradnl" noProof="1" smtClean="0"/>
              <a:pPr/>
              <a:t>11</a:t>
            </a:fld>
            <a:endParaRPr lang="es-ES_tradnl" noProof="1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980DF7-A09D-57C4-737A-0D3BF8348406}"/>
              </a:ext>
            </a:extLst>
          </p:cNvPr>
          <p:cNvSpPr>
            <a:spLocks noGrp="1"/>
          </p:cNvSpPr>
          <p:nvPr>
            <p:ph idx="30"/>
          </p:nvPr>
        </p:nvSpPr>
        <p:spPr>
          <a:xfrm>
            <a:off x="914398" y="2128603"/>
            <a:ext cx="9653667" cy="3374136"/>
          </a:xfrm>
        </p:spPr>
        <p:txBody>
          <a:bodyPr/>
          <a:lstStyle/>
          <a:p>
            <a:pPr marL="457200" lvl="1" indent="0">
              <a:buNone/>
            </a:pPr>
            <a:r>
              <a:rPr lang="es-ES_tradnl" noProof="1"/>
              <a:t>. </a:t>
            </a:r>
            <a:r>
              <a:rPr lang="es-ES_tradnl" b="1" noProof="1"/>
              <a:t>Invierno</a:t>
            </a:r>
            <a:r>
              <a:rPr lang="es-ES_tradnl" noProof="1"/>
              <a:t> - Campañas de salud, ergonomía, prevención de lesiones, vacunación</a:t>
            </a:r>
            <a:r>
              <a:rPr lang="es-ES_tradnl" b="1" noProof="1"/>
              <a:t>.</a:t>
            </a:r>
          </a:p>
          <a:p>
            <a:pPr marL="457200" lvl="1" indent="0">
              <a:buNone/>
            </a:pPr>
            <a:endParaRPr lang="es-ES_tradnl" noProof="1"/>
          </a:p>
          <a:p>
            <a:pPr marL="457200" lvl="1" indent="0">
              <a:buNone/>
            </a:pPr>
            <a:r>
              <a:rPr lang="es-ES_tradnl" noProof="1"/>
              <a:t>. </a:t>
            </a:r>
            <a:r>
              <a:rPr lang="es-ES_tradnl" b="1" noProof="1"/>
              <a:t>Meses pico (Marzo, Abril, Julio y Noviembre) </a:t>
            </a:r>
            <a:r>
              <a:rPr lang="es-ES_tradnl" noProof="1"/>
              <a:t>- Redimensionar período vacacional acorde con los meses pico de ausentísmo (Marzo, Abril, Julio y Noviembe</a:t>
            </a:r>
          </a:p>
          <a:p>
            <a:pPr marL="457200" lvl="1" indent="0">
              <a:buNone/>
            </a:pPr>
            <a:endParaRPr lang="es-ES_tradnl" noProof="1"/>
          </a:p>
          <a:p>
            <a:pPr marL="457200" lvl="1" indent="0">
              <a:buNone/>
            </a:pPr>
            <a:r>
              <a:rPr lang="es-ES_tradnl" noProof="1"/>
              <a:t>. </a:t>
            </a:r>
            <a:r>
              <a:rPr lang="es-ES_tradnl" b="1" noProof="1"/>
              <a:t>Mayor acumulo de horas </a:t>
            </a:r>
            <a:r>
              <a:rPr lang="es-ES_tradnl" noProof="1"/>
              <a:t>- Coordinación con servicios médicos para seguimiento temprano de casos &gt; 24h</a:t>
            </a:r>
          </a:p>
        </p:txBody>
      </p:sp>
    </p:spTree>
    <p:extLst>
      <p:ext uri="{BB962C8B-B14F-4D97-AF65-F5344CB8AC3E}">
        <p14:creationId xmlns:p14="http://schemas.microsoft.com/office/powerpoint/2010/main" val="33916557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584F02-A2B9-2345-0DE0-93652818A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4D8CD-615F-2FDF-60D6-6BB24283F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lIns="0" anchor="b" anchorCtr="0"/>
          <a:lstStyle/>
          <a:p>
            <a:r>
              <a:rPr lang="es-ES_tradnl" noProof="1">
                <a:solidFill>
                  <a:schemeClr val="bg1"/>
                </a:solidFill>
              </a:rPr>
              <a:t>KPIs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DB6762-01B2-5A22-68D7-13B14882B78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</p:spPr>
        <p:txBody>
          <a:bodyPr/>
          <a:lstStyle/>
          <a:p>
            <a:endParaRPr lang="es-ES_tradnl" noProof="1"/>
          </a:p>
        </p:txBody>
      </p:sp>
    </p:spTree>
    <p:extLst>
      <p:ext uri="{BB962C8B-B14F-4D97-AF65-F5344CB8AC3E}">
        <p14:creationId xmlns:p14="http://schemas.microsoft.com/office/powerpoint/2010/main" val="33494220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5DDA-F1D2-3BEF-589C-D29744925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F530613-3352-A81F-4A58-9B7719729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216" y="506667"/>
            <a:ext cx="4463696" cy="692546"/>
          </a:xfrm>
        </p:spPr>
        <p:txBody>
          <a:bodyPr/>
          <a:lstStyle/>
          <a:p>
            <a:r>
              <a:rPr lang="es-ES_tradnl" noProof="1"/>
              <a:t>KPIs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B6B31FD-A185-0DBA-7184-24DDBB94A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420" y="1722370"/>
            <a:ext cx="4078512" cy="46769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_tradnl" b="1" noProof="1"/>
              <a:t>% Empleados ausentes</a:t>
            </a:r>
          </a:p>
          <a:p>
            <a:endParaRPr lang="es-ES_tradnl" noProof="1"/>
          </a:p>
          <a:p>
            <a:endParaRPr lang="es-ES_tradnl" noProof="1"/>
          </a:p>
          <a:p>
            <a:endParaRPr lang="es-ES_tradnl" noProof="1"/>
          </a:p>
          <a:p>
            <a:pPr marL="0" indent="0">
              <a:buNone/>
            </a:pPr>
            <a:endParaRPr lang="es-ES_tradnl" noProof="1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0345A68-2C4F-EAB1-DABD-0CCB8FB52C68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s-ES_tradnl" sz="1200" u="none" strike="noStrike" kern="1200" cap="none" spc="0" normalizeH="0" baseline="0" noProof="1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s-ES_tradnl" sz="1200" u="none" strike="noStrike" kern="1200" cap="none" spc="0" normalizeH="0" baseline="0" noProof="1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B2B9B1-0ADD-6112-D4E6-403C5D15DF8D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s-ES_tradnl" noProof="1" smtClean="0"/>
              <a:pPr/>
              <a:t>13</a:t>
            </a:fld>
            <a:endParaRPr lang="es-ES_tradnl" noProof="1"/>
          </a:p>
        </p:txBody>
      </p:sp>
      <p:sp>
        <p:nvSpPr>
          <p:cNvPr id="4" name="Hexagon 3">
            <a:extLst>
              <a:ext uri="{FF2B5EF4-FFF2-40B4-BE49-F238E27FC236}">
                <a16:creationId xmlns:a16="http://schemas.microsoft.com/office/drawing/2014/main" id="{01F53177-39F7-A239-33CD-3B0260322C63}"/>
              </a:ext>
            </a:extLst>
          </p:cNvPr>
          <p:cNvSpPr/>
          <p:nvPr/>
        </p:nvSpPr>
        <p:spPr>
          <a:xfrm>
            <a:off x="2200808" y="2312233"/>
            <a:ext cx="1280410" cy="1083039"/>
          </a:xfrm>
          <a:prstGeom prst="hex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noProof="1"/>
              <a:t>91.67%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D4EDED24-0D6F-E763-C7E6-094DBD036F12}"/>
              </a:ext>
            </a:extLst>
          </p:cNvPr>
          <p:cNvSpPr txBox="1">
            <a:spLocks/>
          </p:cNvSpPr>
          <p:nvPr/>
        </p:nvSpPr>
        <p:spPr>
          <a:xfrm>
            <a:off x="5972297" y="1661284"/>
            <a:ext cx="4263953" cy="5898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_tradnl" b="1" noProof="1"/>
              <a:t>Mes pico carga ausencia</a:t>
            </a:r>
          </a:p>
          <a:p>
            <a:pPr algn="ctr"/>
            <a:endParaRPr lang="es-ES_tradnl" b="1" noProof="1"/>
          </a:p>
          <a:p>
            <a:endParaRPr lang="es-ES_tradnl" noProof="1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F28533-E21A-7FD1-BD00-211ED959FF57}"/>
              </a:ext>
            </a:extLst>
          </p:cNvPr>
          <p:cNvSpPr/>
          <p:nvPr/>
        </p:nvSpPr>
        <p:spPr>
          <a:xfrm>
            <a:off x="7328317" y="2345961"/>
            <a:ext cx="1282283" cy="10830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noProof="1"/>
              <a:t>Marzo </a:t>
            </a:r>
          </a:p>
          <a:p>
            <a:pPr algn="ctr"/>
            <a:r>
              <a:rPr lang="es-ES_tradnl" noProof="1"/>
              <a:t>755 horas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3742BE1F-0F1E-7F40-18C2-BA07939C6904}"/>
              </a:ext>
            </a:extLst>
          </p:cNvPr>
          <p:cNvSpPr txBox="1">
            <a:spLocks/>
          </p:cNvSpPr>
          <p:nvPr/>
        </p:nvSpPr>
        <p:spPr>
          <a:xfrm>
            <a:off x="801757" y="4050717"/>
            <a:ext cx="4078512" cy="7311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_tradnl" b="1" noProof="1"/>
              <a:t>Motivo Modal</a:t>
            </a:r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853AF8A3-DBD5-D710-5706-36F80DB2CF6B}"/>
              </a:ext>
            </a:extLst>
          </p:cNvPr>
          <p:cNvSpPr txBox="1">
            <a:spLocks/>
          </p:cNvSpPr>
          <p:nvPr/>
        </p:nvSpPr>
        <p:spPr>
          <a:xfrm>
            <a:off x="6030384" y="4082123"/>
            <a:ext cx="4772055" cy="7311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_tradnl" b="1" noProof="1"/>
              <a:t>Indice Eficiencia relativa carga laboral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625F6E-D523-8C5A-9383-8290B01EB7CC}"/>
              </a:ext>
            </a:extLst>
          </p:cNvPr>
          <p:cNvSpPr/>
          <p:nvPr/>
        </p:nvSpPr>
        <p:spPr>
          <a:xfrm>
            <a:off x="1302958" y="4966617"/>
            <a:ext cx="4078511" cy="10830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noProof="1"/>
              <a:t>Medical Consultation </a:t>
            </a:r>
          </a:p>
          <a:p>
            <a:pPr algn="ctr"/>
            <a:r>
              <a:rPr lang="es-ES_tradnl" noProof="1"/>
              <a:t>142 eventos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135604CC-F702-6577-CEC7-9CC52B942FAD}"/>
              </a:ext>
            </a:extLst>
          </p:cNvPr>
          <p:cNvSpPr/>
          <p:nvPr/>
        </p:nvSpPr>
        <p:spPr>
          <a:xfrm>
            <a:off x="7464068" y="4953955"/>
            <a:ext cx="1280410" cy="1083039"/>
          </a:xfrm>
          <a:prstGeom prst="hex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noProof="1"/>
              <a:t>0.35</a:t>
            </a:r>
          </a:p>
        </p:txBody>
      </p:sp>
    </p:spTree>
    <p:extLst>
      <p:ext uri="{BB962C8B-B14F-4D97-AF65-F5344CB8AC3E}">
        <p14:creationId xmlns:p14="http://schemas.microsoft.com/office/powerpoint/2010/main" val="3106472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</TotalTime>
  <Words>244</Words>
  <Application>Microsoft Macintosh PowerPoint</Application>
  <PresentationFormat>Panorámica</PresentationFormat>
  <Paragraphs>70</Paragraphs>
  <Slides>13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Consolas</vt:lpstr>
      <vt:lpstr>Posterama Text SemiBold</vt:lpstr>
      <vt:lpstr>Office Theme</vt:lpstr>
      <vt:lpstr>Rapid Express – Análisis  Perfil de Empleado y Absentismo</vt:lpstr>
      <vt:lpstr>Agenda </vt:lpstr>
      <vt:lpstr>Perfil sociodemográfico </vt:lpstr>
      <vt:lpstr>Perfil sociodemográfico</vt:lpstr>
      <vt:lpstr>Estrategias de Compromiso y Desarrollo </vt:lpstr>
      <vt:lpstr>Estrategias de Compromiso y Desarrollo</vt:lpstr>
      <vt:lpstr>Analisis Ausentismo</vt:lpstr>
      <vt:lpstr>Analisis de la Magnitud del Ausentismo</vt:lpstr>
      <vt:lpstr>Analisis de la Variación Temporal del Ausentismo</vt:lpstr>
      <vt:lpstr>Estrategias para reducir el ausentismo </vt:lpstr>
      <vt:lpstr>Estrategias para reducir el Ausentismo</vt:lpstr>
      <vt:lpstr>KPIs</vt:lpstr>
      <vt:lpstr>KPIs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Rapid Express – Analisis  Perfil de Empleado y Absentismo</dc:title>
  <dc:creator>Ana Claudia Dionisio</dc:creator>
  <cp:lastModifiedBy>Emilio T</cp:lastModifiedBy>
  <cp:revision>6</cp:revision>
  <dcterms:created xsi:type="dcterms:W3CDTF">2026-04-21T09:34:24Z</dcterms:created>
  <dcterms:modified xsi:type="dcterms:W3CDTF">2026-04-27T06:42:56Z</dcterms:modified>
</cp:coreProperties>
</file>