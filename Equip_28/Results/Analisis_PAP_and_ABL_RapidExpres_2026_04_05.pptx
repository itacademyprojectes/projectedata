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81" r:id="rId3"/>
    <p:sldId id="258" r:id="rId4"/>
    <p:sldId id="260" r:id="rId5"/>
    <p:sldId id="259" r:id="rId6"/>
    <p:sldId id="287" r:id="rId7"/>
    <p:sldId id="284" r:id="rId8"/>
    <p:sldId id="285" r:id="rId9"/>
    <p:sldId id="295" r:id="rId10"/>
    <p:sldId id="288" r:id="rId11"/>
    <p:sldId id="289" r:id="rId12"/>
    <p:sldId id="257" r:id="rId13"/>
    <p:sldId id="290" r:id="rId14"/>
    <p:sldId id="291" r:id="rId15"/>
    <p:sldId id="292" r:id="rId16"/>
    <p:sldId id="261" r:id="rId17"/>
    <p:sldId id="262" r:id="rId18"/>
    <p:sldId id="293" r:id="rId19"/>
    <p:sldId id="279" r:id="rId20"/>
  </p:sldIdLst>
  <p:sldSz cx="18288000" cy="10287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Poppins Black" panose="00000A00000000000000" pitchFamily="2" charset="0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08" userDrawn="1">
          <p15:clr>
            <a:srgbClr val="000000"/>
          </p15:clr>
        </p15:guide>
        <p15:guide id="2" pos="57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9"/>
    <p:restoredTop sz="94676"/>
  </p:normalViewPr>
  <p:slideViewPr>
    <p:cSldViewPr snapToGrid="0">
      <p:cViewPr varScale="1">
        <p:scale>
          <a:sx n="48" d="100"/>
          <a:sy n="48" d="100"/>
        </p:scale>
        <p:origin x="1061" y="77"/>
      </p:cViewPr>
      <p:guideLst>
        <p:guide orient="horz" pos="3308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1911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be1710380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dbe1710380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9B9F2680-2F74-E4CF-F44B-EDAB2F0E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DA6A1946-10C9-8123-02BD-4872867D1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9BD10A21-A8EE-1AE3-5A0D-2E0386995B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0662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0549D970-BD0F-9F4E-9B55-4500E6F6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0DA3B6D8-F33C-1571-6444-46E3ED66D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F842C902-7082-89DE-6FC9-981ABC845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521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FCF5328D-5EF3-B3C2-ED5D-E6B9C72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>
            <a:extLst>
              <a:ext uri="{FF2B5EF4-FFF2-40B4-BE49-F238E27FC236}">
                <a16:creationId xmlns:a16="http://schemas.microsoft.com/office/drawing/2014/main" id="{2D46FA33-ABC3-5982-513A-88AF808BF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C456DE22-CE1E-6447-C306-D3F9178E7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4843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FCF5328D-5EF3-B3C2-ED5D-E6B9C72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>
            <a:extLst>
              <a:ext uri="{FF2B5EF4-FFF2-40B4-BE49-F238E27FC236}">
                <a16:creationId xmlns:a16="http://schemas.microsoft.com/office/drawing/2014/main" id="{2D46FA33-ABC3-5982-513A-88AF808BF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C456DE22-CE1E-6447-C306-D3F9178E7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8510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68033C6D-CA4B-39C8-3566-B3082BE3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>
            <a:extLst>
              <a:ext uri="{FF2B5EF4-FFF2-40B4-BE49-F238E27FC236}">
                <a16:creationId xmlns:a16="http://schemas.microsoft.com/office/drawing/2014/main" id="{99F3EF2D-1DA0-6769-2A84-7EB054C8F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13F44B19-8F08-E089-5982-64FED72C4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2925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be1710380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dbe1710380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be1710380_1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dbe1710380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e1710380_1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dbe1710380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dcbdc3c4f_1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ddcbdc3c4f_1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be1710380_1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dbe1710380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be1710380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dbe1710380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be1710380_1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dbe1710380_1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1124998" y="8618274"/>
            <a:ext cx="6418801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s-ES_tradnl" sz="18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11 de Mayo de 2026</a:t>
            </a:r>
            <a:endParaRPr lang="es-ES_tradnl" sz="1800"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sz="1800" b="1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, Nuria Paredes &amp; Andrea Caro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1125000" y="3042996"/>
            <a:ext cx="8269200" cy="4099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1000"/>
              </a:lnSpc>
            </a:pPr>
            <a:r>
              <a:rPr lang="es-ES_tradnl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Optimización Estratégica: Desempeño y Ausentismo Laboral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41448" y="5799800"/>
            <a:ext cx="8269199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 Análisis de Impacto en el Desempeño</a:t>
            </a:r>
            <a:b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 Perfiles de Riesgo</a:t>
            </a:r>
          </a:p>
          <a:p>
            <a:pPr>
              <a:lnSpc>
                <a:spcPct val="139958"/>
              </a:lnSpc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</a:rPr>
              <a:t>- Estrategias y Ajustes Organizacionales</a:t>
            </a:r>
          </a:p>
        </p:txBody>
      </p:sp>
      <p:sp>
        <p:nvSpPr>
          <p:cNvPr id="92" name="Google Shape;92;p13"/>
          <p:cNvSpPr txBox="1"/>
          <p:nvPr/>
        </p:nvSpPr>
        <p:spPr>
          <a:xfrm>
            <a:off x="1124999" y="8618274"/>
            <a:ext cx="4302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&amp; Nuria Paredes</a:t>
            </a:r>
            <a:endParaRPr lang="es-ES_tradnl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41448" y="3331724"/>
            <a:ext cx="8269200" cy="2049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Perfil y Desempeño Profesional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110578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6" name="Google Shape;116;p15"/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2983285" y="1152887"/>
            <a:ext cx="12321300" cy="76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KPIs</a:t>
            </a:r>
            <a:endParaRPr lang="es-ES" sz="41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80236" y="2955571"/>
            <a:ext cx="242038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94.6</a:t>
            </a:r>
            <a:endParaRPr lang="es-ES_tradnl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3863364" y="2831746"/>
            <a:ext cx="2889663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12.5</a:t>
            </a:r>
            <a:endParaRPr lang="es-ES_tradnl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993052" y="2831746"/>
            <a:ext cx="2850800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256.7%</a:t>
            </a:r>
            <a:endParaRPr lang="es-ES_tradnl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11019122" y="2831746"/>
            <a:ext cx="2960055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29,1</a:t>
            </a:r>
            <a:endParaRPr lang="es-ES_tradnl"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14556979" y="2955571"/>
            <a:ext cx="242038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386</a:t>
            </a:r>
            <a:endParaRPr lang="es-ES_tradnl"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663345" y="4033814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Desempeño Promedio</a:t>
            </a:r>
            <a:endParaRPr lang="es-ES_tradnl"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3964489" y="4071435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Años servicio</a:t>
            </a: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Promedio</a:t>
            </a:r>
            <a:endParaRPr lang="es-ES_tradnl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6969024" y="4125806"/>
            <a:ext cx="2736450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Carga de Trabajo Diaria Promedio</a:t>
            </a:r>
            <a:endParaRPr lang="es-ES_tradnl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1153960" y="4159948"/>
            <a:ext cx="2889663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Distancia Casa Trabajo Promedio</a:t>
            </a:r>
            <a:endParaRPr lang="es-ES_tradnl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4440088" y="4159948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Empleados Totales</a:t>
            </a:r>
            <a:endParaRPr lang="es-ES_tradnl" dirty="0"/>
          </a:p>
        </p:txBody>
      </p:sp>
      <p:sp>
        <p:nvSpPr>
          <p:cNvPr id="129" name="Google Shape;129;p15"/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0" name="Google Shape;130;p15"/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1" name="Google Shape;131;p15"/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grpSp>
        <p:nvGrpSpPr>
          <p:cNvPr id="132" name="Google Shape;132;p15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33" name="Google Shape;133;p15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904E1C4-BA55-74CE-C240-E59815127484}"/>
              </a:ext>
            </a:extLst>
          </p:cNvPr>
          <p:cNvCxnSpPr>
            <a:cxnSpLocks/>
          </p:cNvCxnSpPr>
          <p:nvPr/>
        </p:nvCxnSpPr>
        <p:spPr>
          <a:xfrm>
            <a:off x="9839320" y="3127605"/>
            <a:ext cx="0" cy="6463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20;p15">
            <a:extLst>
              <a:ext uri="{FF2B5EF4-FFF2-40B4-BE49-F238E27FC236}">
                <a16:creationId xmlns:a16="http://schemas.microsoft.com/office/drawing/2014/main" id="{84F3F4B0-0611-9E7D-6C26-310E18D2F994}"/>
              </a:ext>
            </a:extLst>
          </p:cNvPr>
          <p:cNvSpPr txBox="1"/>
          <p:nvPr/>
        </p:nvSpPr>
        <p:spPr>
          <a:xfrm>
            <a:off x="9623199" y="3127605"/>
            <a:ext cx="1474517" cy="46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dirty="0">
                <a:solidFill>
                  <a:srgbClr val="00B050"/>
                </a:solidFill>
                <a:latin typeface="Poppins"/>
                <a:cs typeface="Poppins"/>
                <a:sym typeface="Poppins"/>
              </a:rPr>
              <a:t>15.3%</a:t>
            </a:r>
            <a:endParaRPr lang="es-ES_tradnl" sz="600" dirty="0">
              <a:solidFill>
                <a:srgbClr val="00B050"/>
              </a:solidFill>
            </a:endParaRPr>
          </a:p>
        </p:txBody>
      </p:sp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6CA926DD-7C71-23B0-3C7C-4FC51EF46AAF}"/>
              </a:ext>
            </a:extLst>
          </p:cNvPr>
          <p:cNvSpPr txBox="1"/>
          <p:nvPr/>
        </p:nvSpPr>
        <p:spPr>
          <a:xfrm>
            <a:off x="16429044" y="3103531"/>
            <a:ext cx="986317" cy="46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dirty="0">
                <a:solidFill>
                  <a:srgbClr val="00B050"/>
                </a:solidFill>
                <a:latin typeface="Poppins"/>
                <a:cs typeface="Poppins"/>
                <a:sym typeface="Poppins"/>
              </a:rPr>
              <a:t>250</a:t>
            </a:r>
            <a:endParaRPr lang="es-ES_tradnl" sz="600" dirty="0">
              <a:solidFill>
                <a:srgbClr val="00B050"/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62C2540-D75C-7571-7D7D-E0A5275EA232}"/>
              </a:ext>
            </a:extLst>
          </p:cNvPr>
          <p:cNvCxnSpPr>
            <a:cxnSpLocks/>
          </p:cNvCxnSpPr>
          <p:nvPr/>
        </p:nvCxnSpPr>
        <p:spPr>
          <a:xfrm flipV="1">
            <a:off x="16525524" y="2955571"/>
            <a:ext cx="0" cy="70028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2092914" y="1609520"/>
            <a:ext cx="10758562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1055"/>
              </a:lnSpc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y Perfiles de riesgo</a:t>
            </a:r>
            <a:endParaRPr lang="es-ES_tradnl" dirty="0"/>
          </a:p>
        </p:txBody>
      </p:sp>
      <p:grpSp>
        <p:nvGrpSpPr>
          <p:cNvPr id="153" name="Google Shape;153;p17"/>
          <p:cNvGrpSpPr/>
          <p:nvPr/>
        </p:nvGrpSpPr>
        <p:grpSpPr>
          <a:xfrm>
            <a:off x="-142120" y="54701"/>
            <a:ext cx="2163413" cy="1886345"/>
            <a:chOff x="12784175" y="3675030"/>
            <a:chExt cx="2163413" cy="1886345"/>
          </a:xfrm>
        </p:grpSpPr>
        <p:sp>
          <p:nvSpPr>
            <p:cNvPr id="154" name="Google Shape;154;p1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156" name="Google Shape;156;p17"/>
          <p:cNvSpPr/>
          <p:nvPr/>
        </p:nvSpPr>
        <p:spPr>
          <a:xfrm>
            <a:off x="746875" y="2598837"/>
            <a:ext cx="12104601" cy="678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B6A08-7CBD-42ED-A290-0D3CBBEBE747}"/>
              </a:ext>
            </a:extLst>
          </p:cNvPr>
          <p:cNvSpPr/>
          <p:nvPr/>
        </p:nvSpPr>
        <p:spPr>
          <a:xfrm>
            <a:off x="1206008" y="377791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AÑOS DE SERVICIO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7A92D-B3AE-49AF-9B97-C5AF0DBFBCE9}"/>
              </a:ext>
            </a:extLst>
          </p:cNvPr>
          <p:cNvSpPr/>
          <p:nvPr/>
        </p:nvSpPr>
        <p:spPr>
          <a:xfrm>
            <a:off x="1165698" y="5282758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LABORAL MEDIA DIARIA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A90B0-3711-4C1A-B59B-049DD31A5C94}"/>
              </a:ext>
            </a:extLst>
          </p:cNvPr>
          <p:cNvSpPr/>
          <p:nvPr/>
        </p:nvSpPr>
        <p:spPr>
          <a:xfrm>
            <a:off x="1165698" y="6780644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DISTANCIA CASA TRABAJO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FAE6EC-7E4C-4622-9755-AF6150B1BB98}"/>
              </a:ext>
            </a:extLst>
          </p:cNvPr>
          <p:cNvSpPr/>
          <p:nvPr/>
        </p:nvSpPr>
        <p:spPr>
          <a:xfrm>
            <a:off x="5544476" y="527273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cxnSp>
        <p:nvCxnSpPr>
          <p:cNvPr id="4" name="Connector de fletxa recta 3">
            <a:extLst>
              <a:ext uri="{FF2B5EF4-FFF2-40B4-BE49-F238E27FC236}">
                <a16:creationId xmlns:a16="http://schemas.microsoft.com/office/drawing/2014/main" id="{6E2E7557-7AC6-41A1-9647-8CB5A5F8D857}"/>
              </a:ext>
            </a:extLst>
          </p:cNvPr>
          <p:cNvCxnSpPr>
            <a:cxnSpLocks/>
          </p:cNvCxnSpPr>
          <p:nvPr/>
        </p:nvCxnSpPr>
        <p:spPr>
          <a:xfrm>
            <a:off x="4057297" y="4447742"/>
            <a:ext cx="1218088" cy="96237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de fletxa recta 17">
            <a:extLst>
              <a:ext uri="{FF2B5EF4-FFF2-40B4-BE49-F238E27FC236}">
                <a16:creationId xmlns:a16="http://schemas.microsoft.com/office/drawing/2014/main" id="{679C43D3-063B-471C-98B4-4F1B9C10124D}"/>
              </a:ext>
            </a:extLst>
          </p:cNvPr>
          <p:cNvCxnSpPr>
            <a:cxnSpLocks/>
          </p:cNvCxnSpPr>
          <p:nvPr/>
        </p:nvCxnSpPr>
        <p:spPr>
          <a:xfrm flipV="1">
            <a:off x="4031640" y="6404030"/>
            <a:ext cx="1226330" cy="94664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de fletxa recta 19">
            <a:extLst>
              <a:ext uri="{FF2B5EF4-FFF2-40B4-BE49-F238E27FC236}">
                <a16:creationId xmlns:a16="http://schemas.microsoft.com/office/drawing/2014/main" id="{503C184A-52E8-4BDD-88C5-AB3981C81FC3}"/>
              </a:ext>
            </a:extLst>
          </p:cNvPr>
          <p:cNvCxnSpPr>
            <a:cxnSpLocks/>
          </p:cNvCxnSpPr>
          <p:nvPr/>
        </p:nvCxnSpPr>
        <p:spPr>
          <a:xfrm>
            <a:off x="3993289" y="5935989"/>
            <a:ext cx="1344892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F22800-C809-CD56-7D7A-5160DC5287BB}"/>
              </a:ext>
            </a:extLst>
          </p:cNvPr>
          <p:cNvSpPr/>
          <p:nvPr/>
        </p:nvSpPr>
        <p:spPr>
          <a:xfrm>
            <a:off x="10060202" y="377791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BAJO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638C51A-E06C-182E-FAB6-E30671F8DFDC}"/>
              </a:ext>
            </a:extLst>
          </p:cNvPr>
          <p:cNvSpPr/>
          <p:nvPr/>
        </p:nvSpPr>
        <p:spPr>
          <a:xfrm>
            <a:off x="10053142" y="5282758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MEDIO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6D68A47-58FB-E99C-1AA1-74A6EBBC9A72}"/>
              </a:ext>
            </a:extLst>
          </p:cNvPr>
          <p:cNvSpPr/>
          <p:nvPr/>
        </p:nvSpPr>
        <p:spPr>
          <a:xfrm>
            <a:off x="10053142" y="6780644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ALTO</a:t>
            </a:r>
          </a:p>
        </p:txBody>
      </p:sp>
      <p:cxnSp>
        <p:nvCxnSpPr>
          <p:cNvPr id="8" name="Connector de fletxa recta 3">
            <a:extLst>
              <a:ext uri="{FF2B5EF4-FFF2-40B4-BE49-F238E27FC236}">
                <a16:creationId xmlns:a16="http://schemas.microsoft.com/office/drawing/2014/main" id="{19E23486-15F3-13A5-A805-8924C9F5C846}"/>
              </a:ext>
            </a:extLst>
          </p:cNvPr>
          <p:cNvCxnSpPr>
            <a:cxnSpLocks/>
          </p:cNvCxnSpPr>
          <p:nvPr/>
        </p:nvCxnSpPr>
        <p:spPr>
          <a:xfrm>
            <a:off x="8363449" y="6299458"/>
            <a:ext cx="1218088" cy="96237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de fletxa recta 17">
            <a:extLst>
              <a:ext uri="{FF2B5EF4-FFF2-40B4-BE49-F238E27FC236}">
                <a16:creationId xmlns:a16="http://schemas.microsoft.com/office/drawing/2014/main" id="{FBFEE702-CB4E-27B6-3FD5-01F488761405}"/>
              </a:ext>
            </a:extLst>
          </p:cNvPr>
          <p:cNvCxnSpPr>
            <a:cxnSpLocks/>
          </p:cNvCxnSpPr>
          <p:nvPr/>
        </p:nvCxnSpPr>
        <p:spPr>
          <a:xfrm flipV="1">
            <a:off x="8357348" y="4432382"/>
            <a:ext cx="1226330" cy="94664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de fletxa recta 19">
            <a:extLst>
              <a:ext uri="{FF2B5EF4-FFF2-40B4-BE49-F238E27FC236}">
                <a16:creationId xmlns:a16="http://schemas.microsoft.com/office/drawing/2014/main" id="{2990E9D9-7239-470F-C09C-B2DF94F24E87}"/>
              </a:ext>
            </a:extLst>
          </p:cNvPr>
          <p:cNvCxnSpPr>
            <a:cxnSpLocks/>
          </p:cNvCxnSpPr>
          <p:nvPr/>
        </p:nvCxnSpPr>
        <p:spPr>
          <a:xfrm>
            <a:off x="8363449" y="5839240"/>
            <a:ext cx="1344892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mpacto en el Desempeño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BDAF4A0-5E7D-104D-9145-7A1AD0EB3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86" y="1920844"/>
            <a:ext cx="12024330" cy="7866184"/>
          </a:xfrm>
          <a:prstGeom prst="rect">
            <a:avLst/>
          </a:prstGeom>
        </p:spPr>
      </p:pic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>
            <a:off x="1180407" y="2793076"/>
            <a:ext cx="2820139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D50B6CE5-CB7F-BC5A-219A-87FA66CC7AE2}"/>
              </a:ext>
            </a:extLst>
          </p:cNvPr>
          <p:cNvSpPr/>
          <p:nvPr/>
        </p:nvSpPr>
        <p:spPr>
          <a:xfrm>
            <a:off x="881149" y="5488176"/>
            <a:ext cx="3119397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C96F5C31-DA5E-B352-8B5B-EE1E2DA62EFD}"/>
              </a:ext>
            </a:extLst>
          </p:cNvPr>
          <p:cNvSpPr/>
          <p:nvPr/>
        </p:nvSpPr>
        <p:spPr>
          <a:xfrm>
            <a:off x="1778924" y="7045040"/>
            <a:ext cx="2221622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4B642E1B-EAAD-846C-7213-818F9B08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50;p17">
            <a:extLst>
              <a:ext uri="{FF2B5EF4-FFF2-40B4-BE49-F238E27FC236}">
                <a16:creationId xmlns:a16="http://schemas.microsoft.com/office/drawing/2014/main" id="{F86CEE5F-E76A-4B02-BD77-12DF8281C89B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693086C1-3A88-EB59-4013-101D3A37FAA6}"/>
              </a:ext>
            </a:extLst>
          </p:cNvPr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en el Desempeño</a:t>
            </a:r>
            <a:endParaRPr lang="es-ES_tradnl" dirty="0"/>
          </a:p>
        </p:txBody>
      </p:sp>
      <p:grpSp>
        <p:nvGrpSpPr>
          <p:cNvPr id="143" name="Google Shape;143;p16">
            <a:extLst>
              <a:ext uri="{FF2B5EF4-FFF2-40B4-BE49-F238E27FC236}">
                <a16:creationId xmlns:a16="http://schemas.microsoft.com/office/drawing/2014/main" id="{BB7F3992-FFE1-2424-CA16-0C8A71549DC2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>
              <a:extLst>
                <a:ext uri="{FF2B5EF4-FFF2-40B4-BE49-F238E27FC236}">
                  <a16:creationId xmlns:a16="http://schemas.microsoft.com/office/drawing/2014/main" id="{C03B731F-3CB9-C9D1-0B50-FA6635DF58A3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>
              <a:extLst>
                <a:ext uri="{FF2B5EF4-FFF2-40B4-BE49-F238E27FC236}">
                  <a16:creationId xmlns:a16="http://schemas.microsoft.com/office/drawing/2014/main" id="{08C7B611-92BA-5C21-A37C-B93DA08A165B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D1F1D1B5-06AD-37C8-261A-BA3200F32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06" y="1542472"/>
            <a:ext cx="15353775" cy="838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63E80783-2808-D9A9-2296-58D7B84EC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861740C8-2715-C62E-41D0-4545EEC1AAB8}"/>
              </a:ext>
            </a:extLst>
          </p:cNvPr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en el Desempeño</a:t>
            </a:r>
            <a:endParaRPr lang="es-ES_tradnl" dirty="0"/>
          </a:p>
        </p:txBody>
      </p:sp>
      <p:grpSp>
        <p:nvGrpSpPr>
          <p:cNvPr id="143" name="Google Shape;143;p16">
            <a:extLst>
              <a:ext uri="{FF2B5EF4-FFF2-40B4-BE49-F238E27FC236}">
                <a16:creationId xmlns:a16="http://schemas.microsoft.com/office/drawing/2014/main" id="{C48D0062-7916-1CEC-0AEA-2300BC4525D5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>
              <a:extLst>
                <a:ext uri="{FF2B5EF4-FFF2-40B4-BE49-F238E27FC236}">
                  <a16:creationId xmlns:a16="http://schemas.microsoft.com/office/drawing/2014/main" id="{251AD685-409E-218B-B9BF-C7EEEF2F42EB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>
              <a:extLst>
                <a:ext uri="{FF2B5EF4-FFF2-40B4-BE49-F238E27FC236}">
                  <a16:creationId xmlns:a16="http://schemas.microsoft.com/office/drawing/2014/main" id="{3304A7D0-ED7D-15AB-75E4-7BE82AA31F29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Google Shape;142;p16">
            <a:extLst>
              <a:ext uri="{FF2B5EF4-FFF2-40B4-BE49-F238E27FC236}">
                <a16:creationId xmlns:a16="http://schemas.microsoft.com/office/drawing/2014/main" id="{33860D4C-35DB-8674-B456-D91CBD9BE121}"/>
              </a:ext>
            </a:extLst>
          </p:cNvPr>
          <p:cNvSpPr txBox="1"/>
          <p:nvPr/>
        </p:nvSpPr>
        <p:spPr>
          <a:xfrm>
            <a:off x="6977513" y="3187638"/>
            <a:ext cx="3250633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0% Impacto</a:t>
            </a:r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4" name="Google Shape;142;p16">
            <a:extLst>
              <a:ext uri="{FF2B5EF4-FFF2-40B4-BE49-F238E27FC236}">
                <a16:creationId xmlns:a16="http://schemas.microsoft.com/office/drawing/2014/main" id="{A068B446-C788-A91F-BC12-679FDD6AB5DA}"/>
              </a:ext>
            </a:extLst>
          </p:cNvPr>
          <p:cNvSpPr txBox="1">
            <a:spLocks noChangeAspect="1"/>
          </p:cNvSpPr>
          <p:nvPr/>
        </p:nvSpPr>
        <p:spPr>
          <a:xfrm>
            <a:off x="3465347" y="5045538"/>
            <a:ext cx="2430957" cy="1787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9600" dirty="0">
                <a:solidFill>
                  <a:srgbClr val="FF0000"/>
                </a:solidFill>
              </a:rPr>
              <a:t>🏠</a:t>
            </a:r>
          </a:p>
        </p:txBody>
      </p:sp>
      <p:sp>
        <p:nvSpPr>
          <p:cNvPr id="5" name="Google Shape;142;p16">
            <a:extLst>
              <a:ext uri="{FF2B5EF4-FFF2-40B4-BE49-F238E27FC236}">
                <a16:creationId xmlns:a16="http://schemas.microsoft.com/office/drawing/2014/main" id="{6F05B33D-C9EC-24C4-6E68-40CEAC788EDE}"/>
              </a:ext>
            </a:extLst>
          </p:cNvPr>
          <p:cNvSpPr txBox="1">
            <a:spLocks noChangeAspect="1"/>
          </p:cNvSpPr>
          <p:nvPr/>
        </p:nvSpPr>
        <p:spPr>
          <a:xfrm>
            <a:off x="11626643" y="4984184"/>
            <a:ext cx="1950523" cy="1787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9600" dirty="0">
                <a:solidFill>
                  <a:srgbClr val="FF0000"/>
                </a:solidFill>
              </a:rPr>
              <a:t>⏳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691DCF0-EA6C-ACB7-6926-9C60ED2B293B}"/>
              </a:ext>
            </a:extLst>
          </p:cNvPr>
          <p:cNvCxnSpPr>
            <a:cxnSpLocks/>
          </p:cNvCxnSpPr>
          <p:nvPr/>
        </p:nvCxnSpPr>
        <p:spPr>
          <a:xfrm flipH="1">
            <a:off x="5574780" y="3825551"/>
            <a:ext cx="1296785" cy="1404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FBD80B7-C760-C653-3BEC-38595DD47B70}"/>
              </a:ext>
            </a:extLst>
          </p:cNvPr>
          <p:cNvCxnSpPr>
            <a:cxnSpLocks/>
          </p:cNvCxnSpPr>
          <p:nvPr/>
        </p:nvCxnSpPr>
        <p:spPr>
          <a:xfrm>
            <a:off x="10310940" y="3823321"/>
            <a:ext cx="1411958" cy="1404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Google Shape;115;p15">
            <a:extLst>
              <a:ext uri="{FF2B5EF4-FFF2-40B4-BE49-F238E27FC236}">
                <a16:creationId xmlns:a16="http://schemas.microsoft.com/office/drawing/2014/main" id="{8FB33FCD-A80E-470E-810C-7AAE52B4218B}"/>
              </a:ext>
            </a:extLst>
          </p:cNvPr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" name="Google Shape;116;p15">
            <a:extLst>
              <a:ext uri="{FF2B5EF4-FFF2-40B4-BE49-F238E27FC236}">
                <a16:creationId xmlns:a16="http://schemas.microsoft.com/office/drawing/2014/main" id="{8DAB3E1D-B952-4765-8585-83E2CDEF6DBE}"/>
              </a:ext>
            </a:extLst>
          </p:cNvPr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" name="Google Shape;129;p15">
            <a:extLst>
              <a:ext uri="{FF2B5EF4-FFF2-40B4-BE49-F238E27FC236}">
                <a16:creationId xmlns:a16="http://schemas.microsoft.com/office/drawing/2014/main" id="{F5FBBCFA-3965-4E20-9EF0-B84FF43FDB01}"/>
              </a:ext>
            </a:extLst>
          </p:cNvPr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5" name="Google Shape;130;p15">
            <a:extLst>
              <a:ext uri="{FF2B5EF4-FFF2-40B4-BE49-F238E27FC236}">
                <a16:creationId xmlns:a16="http://schemas.microsoft.com/office/drawing/2014/main" id="{B74CD591-F99B-499C-9966-331AB7425F8D}"/>
              </a:ext>
            </a:extLst>
          </p:cNvPr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" name="Google Shape;131;p15">
            <a:extLst>
              <a:ext uri="{FF2B5EF4-FFF2-40B4-BE49-F238E27FC236}">
                <a16:creationId xmlns:a16="http://schemas.microsoft.com/office/drawing/2014/main" id="{A3D8AAD5-872B-4286-9C59-9F7CC6BFEBD2}"/>
              </a:ext>
            </a:extLst>
          </p:cNvPr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33242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60">
          <a:extLst>
            <a:ext uri="{FF2B5EF4-FFF2-40B4-BE49-F238E27FC236}">
              <a16:creationId xmlns:a16="http://schemas.microsoft.com/office/drawing/2014/main" id="{DA297602-4BBB-8124-85EA-38BC67F0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FA7FADFD-60A0-32BE-B0F0-F90CE928063D}"/>
              </a:ext>
            </a:extLst>
          </p:cNvPr>
          <p:cNvSpPr/>
          <p:nvPr/>
        </p:nvSpPr>
        <p:spPr>
          <a:xfrm>
            <a:off x="-411641" y="7198177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C440BC94-E658-41A3-E378-7422709BA398}"/>
              </a:ext>
            </a:extLst>
          </p:cNvPr>
          <p:cNvSpPr/>
          <p:nvPr/>
        </p:nvSpPr>
        <p:spPr>
          <a:xfrm>
            <a:off x="5482809" y="8188196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CFCEAEBD-EF5E-82A0-0B56-8E2B61FEEFA3}"/>
              </a:ext>
            </a:extLst>
          </p:cNvPr>
          <p:cNvSpPr/>
          <p:nvPr/>
        </p:nvSpPr>
        <p:spPr>
          <a:xfrm>
            <a:off x="9504429" y="8159082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1C7F14F-C1D2-243D-7A0B-9520357B6CFB}"/>
              </a:ext>
            </a:extLst>
          </p:cNvPr>
          <p:cNvSpPr txBox="1"/>
          <p:nvPr/>
        </p:nvSpPr>
        <p:spPr>
          <a:xfrm>
            <a:off x="5794045" y="553200"/>
            <a:ext cx="60222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Identificación de perfiles</a:t>
            </a:r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05D9C-A020-4BB4-E559-6C31990412CF}"/>
              </a:ext>
            </a:extLst>
          </p:cNvPr>
          <p:cNvSpPr/>
          <p:nvPr/>
        </p:nvSpPr>
        <p:spPr>
          <a:xfrm>
            <a:off x="7177595" y="1772428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ÓPTIMO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71E87-3B90-32C4-7C27-58EDCC2D761B}"/>
              </a:ext>
            </a:extLst>
          </p:cNvPr>
          <p:cNvSpPr/>
          <p:nvPr/>
        </p:nvSpPr>
        <p:spPr>
          <a:xfrm>
            <a:off x="1213913" y="2362717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CRÍTICO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2D5BD7-5072-A712-E89D-315E1246CCD2}"/>
              </a:ext>
            </a:extLst>
          </p:cNvPr>
          <p:cNvSpPr/>
          <p:nvPr/>
        </p:nvSpPr>
        <p:spPr>
          <a:xfrm>
            <a:off x="13262477" y="2335213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SATURADO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A6F57-08F9-AB33-9203-BBB34C284455}"/>
              </a:ext>
            </a:extLst>
          </p:cNvPr>
          <p:cNvSpPr/>
          <p:nvPr/>
        </p:nvSpPr>
        <p:spPr>
          <a:xfrm>
            <a:off x="3083700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grpSp>
        <p:nvGrpSpPr>
          <p:cNvPr id="164" name="Google Shape;164;p18">
            <a:extLst>
              <a:ext uri="{FF2B5EF4-FFF2-40B4-BE49-F238E27FC236}">
                <a16:creationId xmlns:a16="http://schemas.microsoft.com/office/drawing/2014/main" id="{5C8F871A-0C94-7ACA-9EC2-2CF655A37500}"/>
              </a:ext>
            </a:extLst>
          </p:cNvPr>
          <p:cNvGrpSpPr/>
          <p:nvPr/>
        </p:nvGrpSpPr>
        <p:grpSpPr>
          <a:xfrm>
            <a:off x="-118494" y="0"/>
            <a:ext cx="2163413" cy="1886345"/>
            <a:chOff x="12784175" y="3675030"/>
            <a:chExt cx="2163413" cy="1886345"/>
          </a:xfrm>
        </p:grpSpPr>
        <p:sp>
          <p:nvSpPr>
            <p:cNvPr id="165" name="Google Shape;165;p18">
              <a:extLst>
                <a:ext uri="{FF2B5EF4-FFF2-40B4-BE49-F238E27FC236}">
                  <a16:creationId xmlns:a16="http://schemas.microsoft.com/office/drawing/2014/main" id="{0F8A5375-035A-B275-BEA1-4DAECA3886F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66" name="Google Shape;166;p18">
              <a:extLst>
                <a:ext uri="{FF2B5EF4-FFF2-40B4-BE49-F238E27FC236}">
                  <a16:creationId xmlns:a16="http://schemas.microsoft.com/office/drawing/2014/main" id="{5E8E3819-634B-8278-8583-C3C352EA55E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Rectangle 14">
            <a:extLst>
              <a:ext uri="{FF2B5EF4-FFF2-40B4-BE49-F238E27FC236}">
                <a16:creationId xmlns:a16="http://schemas.microsoft.com/office/drawing/2014/main" id="{2C4573BD-4062-5928-8D40-C2F880FE60B9}"/>
              </a:ext>
            </a:extLst>
          </p:cNvPr>
          <p:cNvSpPr/>
          <p:nvPr/>
        </p:nvSpPr>
        <p:spPr>
          <a:xfrm>
            <a:off x="845798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73DF1B4-7E07-1FFB-F523-7DC8DC5EECDF}"/>
              </a:ext>
            </a:extLst>
          </p:cNvPr>
          <p:cNvSpPr/>
          <p:nvPr/>
        </p:nvSpPr>
        <p:spPr>
          <a:xfrm>
            <a:off x="9021997" y="361608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5E7CDE07-09E1-9659-2686-57651D05F2A7}"/>
              </a:ext>
            </a:extLst>
          </p:cNvPr>
          <p:cNvSpPr/>
          <p:nvPr/>
        </p:nvSpPr>
        <p:spPr>
          <a:xfrm>
            <a:off x="6692170" y="3626941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7B9DE141-DEAD-5D5C-77C3-4E9EF984166B}"/>
              </a:ext>
            </a:extLst>
          </p:cNvPr>
          <p:cNvSpPr/>
          <p:nvPr/>
        </p:nvSpPr>
        <p:spPr>
          <a:xfrm>
            <a:off x="15076684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AA1FC9E-85E7-5CC1-7D4C-008E402DA12E}"/>
              </a:ext>
            </a:extLst>
          </p:cNvPr>
          <p:cNvSpPr/>
          <p:nvPr/>
        </p:nvSpPr>
        <p:spPr>
          <a:xfrm>
            <a:off x="12872043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A371D18-CFF7-7C81-AB14-A754411D14F9}"/>
              </a:ext>
            </a:extLst>
          </p:cNvPr>
          <p:cNvSpPr/>
          <p:nvPr/>
        </p:nvSpPr>
        <p:spPr>
          <a:xfrm>
            <a:off x="3161026" y="5891203"/>
            <a:ext cx="1569433" cy="75112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81%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FFF26C2C-4A64-4E35-607C-B6984CE1B315}"/>
              </a:ext>
            </a:extLst>
          </p:cNvPr>
          <p:cNvSpPr/>
          <p:nvPr/>
        </p:nvSpPr>
        <p:spPr>
          <a:xfrm>
            <a:off x="845798" y="588834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289 – 298 paquetes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C786784-9FA6-D511-DA8C-F5E16FE4EADD}"/>
              </a:ext>
            </a:extLst>
          </p:cNvPr>
          <p:cNvSpPr/>
          <p:nvPr/>
        </p:nvSpPr>
        <p:spPr>
          <a:xfrm>
            <a:off x="9021996" y="5143501"/>
            <a:ext cx="1569433" cy="7604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98.7%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A30C771-E6A3-FE09-F41C-D9F5FEC85A32}"/>
              </a:ext>
            </a:extLst>
          </p:cNvPr>
          <p:cNvSpPr/>
          <p:nvPr/>
        </p:nvSpPr>
        <p:spPr>
          <a:xfrm>
            <a:off x="6692169" y="5143500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237 – 239 paquetes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CA2D389-3019-B741-E06C-B5218ED92F60}"/>
              </a:ext>
            </a:extLst>
          </p:cNvPr>
          <p:cNvSpPr/>
          <p:nvPr/>
        </p:nvSpPr>
        <p:spPr>
          <a:xfrm>
            <a:off x="15187271" y="5880162"/>
            <a:ext cx="1587813" cy="7511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95.5%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07227D69-5E0C-A63D-B5C0-BD57482FD335}"/>
              </a:ext>
            </a:extLst>
          </p:cNvPr>
          <p:cNvSpPr/>
          <p:nvPr/>
        </p:nvSpPr>
        <p:spPr>
          <a:xfrm>
            <a:off x="12872043" y="589048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&gt; 304</a:t>
            </a:r>
            <a:br>
              <a:rPr lang="es-ES_tradnl" sz="2400" b="1" dirty="0">
                <a:solidFill>
                  <a:schemeClr val="bg2"/>
                </a:solidFill>
              </a:rPr>
            </a:br>
            <a:r>
              <a:rPr lang="es-ES_tradnl" sz="2400" b="1" dirty="0">
                <a:solidFill>
                  <a:schemeClr val="bg2"/>
                </a:solidFill>
              </a:rPr>
              <a:t>paquetes</a:t>
            </a:r>
          </a:p>
        </p:txBody>
      </p:sp>
      <p:sp>
        <p:nvSpPr>
          <p:cNvPr id="19" name="Flecha abajo 18">
            <a:extLst>
              <a:ext uri="{FF2B5EF4-FFF2-40B4-BE49-F238E27FC236}">
                <a16:creationId xmlns:a16="http://schemas.microsoft.com/office/drawing/2014/main" id="{06892AA4-0E84-0998-2A87-8514C668B258}"/>
              </a:ext>
            </a:extLst>
          </p:cNvPr>
          <p:cNvSpPr/>
          <p:nvPr/>
        </p:nvSpPr>
        <p:spPr>
          <a:xfrm>
            <a:off x="7639189" y="2947681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27DF9403-FC07-1FE3-C630-B4CCB48243CD}"/>
              </a:ext>
            </a:extLst>
          </p:cNvPr>
          <p:cNvSpPr/>
          <p:nvPr/>
        </p:nvSpPr>
        <p:spPr>
          <a:xfrm>
            <a:off x="9504430" y="2961410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Flecha abajo 20">
            <a:extLst>
              <a:ext uri="{FF2B5EF4-FFF2-40B4-BE49-F238E27FC236}">
                <a16:creationId xmlns:a16="http://schemas.microsoft.com/office/drawing/2014/main" id="{4AE8A597-AD4C-6807-9C29-6DF665B918CA}"/>
              </a:ext>
            </a:extLst>
          </p:cNvPr>
          <p:cNvSpPr/>
          <p:nvPr/>
        </p:nvSpPr>
        <p:spPr>
          <a:xfrm>
            <a:off x="7639188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 abajo 21">
            <a:extLst>
              <a:ext uri="{FF2B5EF4-FFF2-40B4-BE49-F238E27FC236}">
                <a16:creationId xmlns:a16="http://schemas.microsoft.com/office/drawing/2014/main" id="{07ECE06B-223A-0567-4341-27AA5F848363}"/>
              </a:ext>
            </a:extLst>
          </p:cNvPr>
          <p:cNvSpPr/>
          <p:nvPr/>
        </p:nvSpPr>
        <p:spPr>
          <a:xfrm>
            <a:off x="9504429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 abajo 22">
            <a:extLst>
              <a:ext uri="{FF2B5EF4-FFF2-40B4-BE49-F238E27FC236}">
                <a16:creationId xmlns:a16="http://schemas.microsoft.com/office/drawing/2014/main" id="{356C1CDD-C354-2A09-BFC9-FADEB6A7E64A}"/>
              </a:ext>
            </a:extLst>
          </p:cNvPr>
          <p:cNvSpPr/>
          <p:nvPr/>
        </p:nvSpPr>
        <p:spPr>
          <a:xfrm>
            <a:off x="13672226" y="3598578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Flecha abajo 23">
            <a:extLst>
              <a:ext uri="{FF2B5EF4-FFF2-40B4-BE49-F238E27FC236}">
                <a16:creationId xmlns:a16="http://schemas.microsoft.com/office/drawing/2014/main" id="{7C533EBD-554B-77AE-8C4D-66526DB7A975}"/>
              </a:ext>
            </a:extLst>
          </p:cNvPr>
          <p:cNvSpPr/>
          <p:nvPr/>
        </p:nvSpPr>
        <p:spPr>
          <a:xfrm>
            <a:off x="15537467" y="3612307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lecha abajo 24">
            <a:extLst>
              <a:ext uri="{FF2B5EF4-FFF2-40B4-BE49-F238E27FC236}">
                <a16:creationId xmlns:a16="http://schemas.microsoft.com/office/drawing/2014/main" id="{36297C3E-7832-B3A4-DE68-A8D5264D0CDB}"/>
              </a:ext>
            </a:extLst>
          </p:cNvPr>
          <p:cNvSpPr/>
          <p:nvPr/>
        </p:nvSpPr>
        <p:spPr>
          <a:xfrm>
            <a:off x="13672225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 abajo 25">
            <a:extLst>
              <a:ext uri="{FF2B5EF4-FFF2-40B4-BE49-F238E27FC236}">
                <a16:creationId xmlns:a16="http://schemas.microsoft.com/office/drawing/2014/main" id="{464B6C5F-A562-BF84-839D-9AC0DBF1899D}"/>
              </a:ext>
            </a:extLst>
          </p:cNvPr>
          <p:cNvSpPr/>
          <p:nvPr/>
        </p:nvSpPr>
        <p:spPr>
          <a:xfrm>
            <a:off x="15537466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Flecha abajo 26">
            <a:extLst>
              <a:ext uri="{FF2B5EF4-FFF2-40B4-BE49-F238E27FC236}">
                <a16:creationId xmlns:a16="http://schemas.microsoft.com/office/drawing/2014/main" id="{53168283-7E04-F1E2-E520-A02E58E33E99}"/>
              </a:ext>
            </a:extLst>
          </p:cNvPr>
          <p:cNvSpPr/>
          <p:nvPr/>
        </p:nvSpPr>
        <p:spPr>
          <a:xfrm>
            <a:off x="1725016" y="3563204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 abajo 27">
            <a:extLst>
              <a:ext uri="{FF2B5EF4-FFF2-40B4-BE49-F238E27FC236}">
                <a16:creationId xmlns:a16="http://schemas.microsoft.com/office/drawing/2014/main" id="{DBF47D44-AEE3-B620-5B96-0CD65447D6A3}"/>
              </a:ext>
            </a:extLst>
          </p:cNvPr>
          <p:cNvSpPr/>
          <p:nvPr/>
        </p:nvSpPr>
        <p:spPr>
          <a:xfrm>
            <a:off x="3590257" y="3576933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29" name="Flecha abajo 28">
            <a:extLst>
              <a:ext uri="{FF2B5EF4-FFF2-40B4-BE49-F238E27FC236}">
                <a16:creationId xmlns:a16="http://schemas.microsoft.com/office/drawing/2014/main" id="{3EF09888-3FB9-8476-A9C9-58D4C2AA24B7}"/>
              </a:ext>
            </a:extLst>
          </p:cNvPr>
          <p:cNvSpPr/>
          <p:nvPr/>
        </p:nvSpPr>
        <p:spPr>
          <a:xfrm>
            <a:off x="1725015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Flecha abajo 29">
            <a:extLst>
              <a:ext uri="{FF2B5EF4-FFF2-40B4-BE49-F238E27FC236}">
                <a16:creationId xmlns:a16="http://schemas.microsoft.com/office/drawing/2014/main" id="{030F277A-7CD4-62F5-A2EE-C651FF9F555A}"/>
              </a:ext>
            </a:extLst>
          </p:cNvPr>
          <p:cNvSpPr/>
          <p:nvPr/>
        </p:nvSpPr>
        <p:spPr>
          <a:xfrm>
            <a:off x="3590256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7851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60">
          <a:extLst>
            <a:ext uri="{FF2B5EF4-FFF2-40B4-BE49-F238E27FC236}">
              <a16:creationId xmlns:a16="http://schemas.microsoft.com/office/drawing/2014/main" id="{DA297602-4BBB-8124-85EA-38BC67F0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FA7FADFD-60A0-32BE-B0F0-F90CE928063D}"/>
              </a:ext>
            </a:extLst>
          </p:cNvPr>
          <p:cNvSpPr/>
          <p:nvPr/>
        </p:nvSpPr>
        <p:spPr>
          <a:xfrm>
            <a:off x="-411641" y="7198177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C440BC94-E658-41A3-E378-7422709BA398}"/>
              </a:ext>
            </a:extLst>
          </p:cNvPr>
          <p:cNvSpPr/>
          <p:nvPr/>
        </p:nvSpPr>
        <p:spPr>
          <a:xfrm>
            <a:off x="5482809" y="8188196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CFCEAEBD-EF5E-82A0-0B56-8E2B61FEEFA3}"/>
              </a:ext>
            </a:extLst>
          </p:cNvPr>
          <p:cNvSpPr/>
          <p:nvPr/>
        </p:nvSpPr>
        <p:spPr>
          <a:xfrm>
            <a:off x="9504429" y="8159082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1C7F14F-C1D2-243D-7A0B-9520357B6CFB}"/>
              </a:ext>
            </a:extLst>
          </p:cNvPr>
          <p:cNvSpPr txBox="1"/>
          <p:nvPr/>
        </p:nvSpPr>
        <p:spPr>
          <a:xfrm>
            <a:off x="5794045" y="553200"/>
            <a:ext cx="60222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Identificación de perfiles</a:t>
            </a:r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05D9C-A020-4BB4-E559-6C31990412CF}"/>
              </a:ext>
            </a:extLst>
          </p:cNvPr>
          <p:cNvSpPr/>
          <p:nvPr/>
        </p:nvSpPr>
        <p:spPr>
          <a:xfrm>
            <a:off x="7177595" y="1772428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ÓPTIMO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71E87-3B90-32C4-7C27-58EDCC2D761B}"/>
              </a:ext>
            </a:extLst>
          </p:cNvPr>
          <p:cNvSpPr/>
          <p:nvPr/>
        </p:nvSpPr>
        <p:spPr>
          <a:xfrm>
            <a:off x="1213913" y="2362717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CRÍTICO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2D5BD7-5072-A712-E89D-315E1246CCD2}"/>
              </a:ext>
            </a:extLst>
          </p:cNvPr>
          <p:cNvSpPr/>
          <p:nvPr/>
        </p:nvSpPr>
        <p:spPr>
          <a:xfrm>
            <a:off x="13262477" y="2335213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SATURADO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A6F57-08F9-AB33-9203-BBB34C284455}"/>
              </a:ext>
            </a:extLst>
          </p:cNvPr>
          <p:cNvSpPr/>
          <p:nvPr/>
        </p:nvSpPr>
        <p:spPr>
          <a:xfrm>
            <a:off x="3083700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grpSp>
        <p:nvGrpSpPr>
          <p:cNvPr id="164" name="Google Shape;164;p18">
            <a:extLst>
              <a:ext uri="{FF2B5EF4-FFF2-40B4-BE49-F238E27FC236}">
                <a16:creationId xmlns:a16="http://schemas.microsoft.com/office/drawing/2014/main" id="{5C8F871A-0C94-7ACA-9EC2-2CF655A37500}"/>
              </a:ext>
            </a:extLst>
          </p:cNvPr>
          <p:cNvGrpSpPr/>
          <p:nvPr/>
        </p:nvGrpSpPr>
        <p:grpSpPr>
          <a:xfrm>
            <a:off x="-118494" y="0"/>
            <a:ext cx="2163413" cy="1886345"/>
            <a:chOff x="12784175" y="3675030"/>
            <a:chExt cx="2163413" cy="1886345"/>
          </a:xfrm>
        </p:grpSpPr>
        <p:sp>
          <p:nvSpPr>
            <p:cNvPr id="165" name="Google Shape;165;p18">
              <a:extLst>
                <a:ext uri="{FF2B5EF4-FFF2-40B4-BE49-F238E27FC236}">
                  <a16:creationId xmlns:a16="http://schemas.microsoft.com/office/drawing/2014/main" id="{0F8A5375-035A-B275-BEA1-4DAECA3886F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66" name="Google Shape;166;p18">
              <a:extLst>
                <a:ext uri="{FF2B5EF4-FFF2-40B4-BE49-F238E27FC236}">
                  <a16:creationId xmlns:a16="http://schemas.microsoft.com/office/drawing/2014/main" id="{5E8E3819-634B-8278-8583-C3C352EA55E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Rectangle 14">
            <a:extLst>
              <a:ext uri="{FF2B5EF4-FFF2-40B4-BE49-F238E27FC236}">
                <a16:creationId xmlns:a16="http://schemas.microsoft.com/office/drawing/2014/main" id="{2C4573BD-4062-5928-8D40-C2F880FE60B9}"/>
              </a:ext>
            </a:extLst>
          </p:cNvPr>
          <p:cNvSpPr/>
          <p:nvPr/>
        </p:nvSpPr>
        <p:spPr>
          <a:xfrm>
            <a:off x="845798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73DF1B4-7E07-1FFB-F523-7DC8DC5EECDF}"/>
              </a:ext>
            </a:extLst>
          </p:cNvPr>
          <p:cNvSpPr/>
          <p:nvPr/>
        </p:nvSpPr>
        <p:spPr>
          <a:xfrm>
            <a:off x="9021997" y="361608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5E7CDE07-09E1-9659-2686-57651D05F2A7}"/>
              </a:ext>
            </a:extLst>
          </p:cNvPr>
          <p:cNvSpPr/>
          <p:nvPr/>
        </p:nvSpPr>
        <p:spPr>
          <a:xfrm>
            <a:off x="6692170" y="3626941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7B9DE141-DEAD-5D5C-77C3-4E9EF984166B}"/>
              </a:ext>
            </a:extLst>
          </p:cNvPr>
          <p:cNvSpPr/>
          <p:nvPr/>
        </p:nvSpPr>
        <p:spPr>
          <a:xfrm>
            <a:off x="15076684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AA1FC9E-85E7-5CC1-7D4C-008E402DA12E}"/>
              </a:ext>
            </a:extLst>
          </p:cNvPr>
          <p:cNvSpPr/>
          <p:nvPr/>
        </p:nvSpPr>
        <p:spPr>
          <a:xfrm>
            <a:off x="12872043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A371D18-CFF7-7C81-AB14-A754411D14F9}"/>
              </a:ext>
            </a:extLst>
          </p:cNvPr>
          <p:cNvSpPr/>
          <p:nvPr/>
        </p:nvSpPr>
        <p:spPr>
          <a:xfrm>
            <a:off x="3161026" y="5891203"/>
            <a:ext cx="1569433" cy="75112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81%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FFF26C2C-4A64-4E35-607C-B6984CE1B315}"/>
              </a:ext>
            </a:extLst>
          </p:cNvPr>
          <p:cNvSpPr/>
          <p:nvPr/>
        </p:nvSpPr>
        <p:spPr>
          <a:xfrm>
            <a:off x="845798" y="588834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289 – 298 paquetes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C786784-9FA6-D511-DA8C-F5E16FE4EADD}"/>
              </a:ext>
            </a:extLst>
          </p:cNvPr>
          <p:cNvSpPr/>
          <p:nvPr/>
        </p:nvSpPr>
        <p:spPr>
          <a:xfrm>
            <a:off x="9021996" y="5143501"/>
            <a:ext cx="1569433" cy="7604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98.7%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A30C771-E6A3-FE09-F41C-D9F5FEC85A32}"/>
              </a:ext>
            </a:extLst>
          </p:cNvPr>
          <p:cNvSpPr/>
          <p:nvPr/>
        </p:nvSpPr>
        <p:spPr>
          <a:xfrm>
            <a:off x="6692169" y="5143500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237 – 239 paquetes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CA2D389-3019-B741-E06C-B5218ED92F60}"/>
              </a:ext>
            </a:extLst>
          </p:cNvPr>
          <p:cNvSpPr/>
          <p:nvPr/>
        </p:nvSpPr>
        <p:spPr>
          <a:xfrm>
            <a:off x="15187271" y="5880162"/>
            <a:ext cx="1587813" cy="7511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95.5%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07227D69-5E0C-A63D-B5C0-BD57482FD335}"/>
              </a:ext>
            </a:extLst>
          </p:cNvPr>
          <p:cNvSpPr/>
          <p:nvPr/>
        </p:nvSpPr>
        <p:spPr>
          <a:xfrm>
            <a:off x="12872043" y="589048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&gt; 304</a:t>
            </a:r>
            <a:br>
              <a:rPr lang="es-ES_tradnl" sz="2400" b="1" dirty="0">
                <a:solidFill>
                  <a:schemeClr val="bg2"/>
                </a:solidFill>
              </a:rPr>
            </a:br>
            <a:r>
              <a:rPr lang="es-ES_tradnl" sz="2400" b="1" dirty="0">
                <a:solidFill>
                  <a:schemeClr val="bg2"/>
                </a:solidFill>
              </a:rPr>
              <a:t>paquetes</a:t>
            </a:r>
          </a:p>
        </p:txBody>
      </p:sp>
      <p:sp>
        <p:nvSpPr>
          <p:cNvPr id="19" name="Flecha abajo 18">
            <a:extLst>
              <a:ext uri="{FF2B5EF4-FFF2-40B4-BE49-F238E27FC236}">
                <a16:creationId xmlns:a16="http://schemas.microsoft.com/office/drawing/2014/main" id="{06892AA4-0E84-0998-2A87-8514C668B258}"/>
              </a:ext>
            </a:extLst>
          </p:cNvPr>
          <p:cNvSpPr/>
          <p:nvPr/>
        </p:nvSpPr>
        <p:spPr>
          <a:xfrm>
            <a:off x="7639189" y="2947681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27DF9403-FC07-1FE3-C630-B4CCB48243CD}"/>
              </a:ext>
            </a:extLst>
          </p:cNvPr>
          <p:cNvSpPr/>
          <p:nvPr/>
        </p:nvSpPr>
        <p:spPr>
          <a:xfrm>
            <a:off x="9504430" y="2961410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Flecha abajo 20">
            <a:extLst>
              <a:ext uri="{FF2B5EF4-FFF2-40B4-BE49-F238E27FC236}">
                <a16:creationId xmlns:a16="http://schemas.microsoft.com/office/drawing/2014/main" id="{4AE8A597-AD4C-6807-9C29-6DF665B918CA}"/>
              </a:ext>
            </a:extLst>
          </p:cNvPr>
          <p:cNvSpPr/>
          <p:nvPr/>
        </p:nvSpPr>
        <p:spPr>
          <a:xfrm>
            <a:off x="7639188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 abajo 21">
            <a:extLst>
              <a:ext uri="{FF2B5EF4-FFF2-40B4-BE49-F238E27FC236}">
                <a16:creationId xmlns:a16="http://schemas.microsoft.com/office/drawing/2014/main" id="{07ECE06B-223A-0567-4341-27AA5F848363}"/>
              </a:ext>
            </a:extLst>
          </p:cNvPr>
          <p:cNvSpPr/>
          <p:nvPr/>
        </p:nvSpPr>
        <p:spPr>
          <a:xfrm>
            <a:off x="9504429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 abajo 22">
            <a:extLst>
              <a:ext uri="{FF2B5EF4-FFF2-40B4-BE49-F238E27FC236}">
                <a16:creationId xmlns:a16="http://schemas.microsoft.com/office/drawing/2014/main" id="{356C1CDD-C354-2A09-BFC9-FADEB6A7E64A}"/>
              </a:ext>
            </a:extLst>
          </p:cNvPr>
          <p:cNvSpPr/>
          <p:nvPr/>
        </p:nvSpPr>
        <p:spPr>
          <a:xfrm>
            <a:off x="13672226" y="3598578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Flecha abajo 23">
            <a:extLst>
              <a:ext uri="{FF2B5EF4-FFF2-40B4-BE49-F238E27FC236}">
                <a16:creationId xmlns:a16="http://schemas.microsoft.com/office/drawing/2014/main" id="{7C533EBD-554B-77AE-8C4D-66526DB7A975}"/>
              </a:ext>
            </a:extLst>
          </p:cNvPr>
          <p:cNvSpPr/>
          <p:nvPr/>
        </p:nvSpPr>
        <p:spPr>
          <a:xfrm>
            <a:off x="15537467" y="3612307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lecha abajo 24">
            <a:extLst>
              <a:ext uri="{FF2B5EF4-FFF2-40B4-BE49-F238E27FC236}">
                <a16:creationId xmlns:a16="http://schemas.microsoft.com/office/drawing/2014/main" id="{36297C3E-7832-B3A4-DE68-A8D5264D0CDB}"/>
              </a:ext>
            </a:extLst>
          </p:cNvPr>
          <p:cNvSpPr/>
          <p:nvPr/>
        </p:nvSpPr>
        <p:spPr>
          <a:xfrm>
            <a:off x="13672225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 abajo 25">
            <a:extLst>
              <a:ext uri="{FF2B5EF4-FFF2-40B4-BE49-F238E27FC236}">
                <a16:creationId xmlns:a16="http://schemas.microsoft.com/office/drawing/2014/main" id="{464B6C5F-A562-BF84-839D-9AC0DBF1899D}"/>
              </a:ext>
            </a:extLst>
          </p:cNvPr>
          <p:cNvSpPr/>
          <p:nvPr/>
        </p:nvSpPr>
        <p:spPr>
          <a:xfrm>
            <a:off x="15537466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Flecha abajo 26">
            <a:extLst>
              <a:ext uri="{FF2B5EF4-FFF2-40B4-BE49-F238E27FC236}">
                <a16:creationId xmlns:a16="http://schemas.microsoft.com/office/drawing/2014/main" id="{53168283-7E04-F1E2-E520-A02E58E33E99}"/>
              </a:ext>
            </a:extLst>
          </p:cNvPr>
          <p:cNvSpPr/>
          <p:nvPr/>
        </p:nvSpPr>
        <p:spPr>
          <a:xfrm>
            <a:off x="1725016" y="3563204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 abajo 27">
            <a:extLst>
              <a:ext uri="{FF2B5EF4-FFF2-40B4-BE49-F238E27FC236}">
                <a16:creationId xmlns:a16="http://schemas.microsoft.com/office/drawing/2014/main" id="{DBF47D44-AEE3-B620-5B96-0CD65447D6A3}"/>
              </a:ext>
            </a:extLst>
          </p:cNvPr>
          <p:cNvSpPr/>
          <p:nvPr/>
        </p:nvSpPr>
        <p:spPr>
          <a:xfrm>
            <a:off x="3590257" y="3576933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29" name="Flecha abajo 28">
            <a:extLst>
              <a:ext uri="{FF2B5EF4-FFF2-40B4-BE49-F238E27FC236}">
                <a16:creationId xmlns:a16="http://schemas.microsoft.com/office/drawing/2014/main" id="{3EF09888-3FB9-8476-A9C9-58D4C2AA24B7}"/>
              </a:ext>
            </a:extLst>
          </p:cNvPr>
          <p:cNvSpPr/>
          <p:nvPr/>
        </p:nvSpPr>
        <p:spPr>
          <a:xfrm>
            <a:off x="1725015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Flecha abajo 29">
            <a:extLst>
              <a:ext uri="{FF2B5EF4-FFF2-40B4-BE49-F238E27FC236}">
                <a16:creationId xmlns:a16="http://schemas.microsoft.com/office/drawing/2014/main" id="{030F277A-7CD4-62F5-A2EE-C651FF9F555A}"/>
              </a:ext>
            </a:extLst>
          </p:cNvPr>
          <p:cNvSpPr/>
          <p:nvPr/>
        </p:nvSpPr>
        <p:spPr>
          <a:xfrm>
            <a:off x="3590256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Fletxa: corbada cap amunt 35">
            <a:extLst>
              <a:ext uri="{FF2B5EF4-FFF2-40B4-BE49-F238E27FC236}">
                <a16:creationId xmlns:a16="http://schemas.microsoft.com/office/drawing/2014/main" id="{DB43EA59-B123-40D4-8071-6AFA381F64F5}"/>
              </a:ext>
            </a:extLst>
          </p:cNvPr>
          <p:cNvSpPr/>
          <p:nvPr/>
        </p:nvSpPr>
        <p:spPr>
          <a:xfrm rot="21121263">
            <a:off x="2436267" y="6479680"/>
            <a:ext cx="5311961" cy="136494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7" name="Fletxa: corbada cap amunt 36">
            <a:extLst>
              <a:ext uri="{FF2B5EF4-FFF2-40B4-BE49-F238E27FC236}">
                <a16:creationId xmlns:a16="http://schemas.microsoft.com/office/drawing/2014/main" id="{B62AEE80-2CB0-4905-9F53-C2B97175BC79}"/>
              </a:ext>
            </a:extLst>
          </p:cNvPr>
          <p:cNvSpPr/>
          <p:nvPr/>
        </p:nvSpPr>
        <p:spPr>
          <a:xfrm rot="11217565" flipV="1">
            <a:off x="7694672" y="6500352"/>
            <a:ext cx="5410960" cy="132094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485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80">
          <a:extLst>
            <a:ext uri="{FF2B5EF4-FFF2-40B4-BE49-F238E27FC236}">
              <a16:creationId xmlns:a16="http://schemas.microsoft.com/office/drawing/2014/main" id="{9CF05CD1-42CF-1415-2507-014F0D5D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3">
            <a:extLst>
              <a:ext uri="{FF2B5EF4-FFF2-40B4-BE49-F238E27FC236}">
                <a16:creationId xmlns:a16="http://schemas.microsoft.com/office/drawing/2014/main" id="{FBD2D488-777B-F881-321D-7414A6F7B18A}"/>
              </a:ext>
            </a:extLst>
          </p:cNvPr>
          <p:cNvGrpSpPr/>
          <p:nvPr/>
        </p:nvGrpSpPr>
        <p:grpSpPr>
          <a:xfrm>
            <a:off x="8647101" y="1554020"/>
            <a:ext cx="1382928" cy="1389712"/>
            <a:chOff x="0" y="-9525"/>
            <a:chExt cx="963809" cy="968537"/>
          </a:xfrm>
        </p:grpSpPr>
        <p:sp>
          <p:nvSpPr>
            <p:cNvPr id="282" name="Google Shape;282;p23">
              <a:extLst>
                <a:ext uri="{FF2B5EF4-FFF2-40B4-BE49-F238E27FC236}">
                  <a16:creationId xmlns:a16="http://schemas.microsoft.com/office/drawing/2014/main" id="{0904FE46-466E-A0FE-64A7-933E7269DDAC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3" name="Google Shape;283;p23">
              <a:extLst>
                <a:ext uri="{FF2B5EF4-FFF2-40B4-BE49-F238E27FC236}">
                  <a16:creationId xmlns:a16="http://schemas.microsoft.com/office/drawing/2014/main" id="{35B35C79-17F9-73C2-E425-160AB7E1FED4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 lang="es-ES_tradnl" dirty="0"/>
            </a:p>
          </p:txBody>
        </p:sp>
      </p:grpSp>
      <p:grpSp>
        <p:nvGrpSpPr>
          <p:cNvPr id="284" name="Google Shape;284;p23">
            <a:extLst>
              <a:ext uri="{FF2B5EF4-FFF2-40B4-BE49-F238E27FC236}">
                <a16:creationId xmlns:a16="http://schemas.microsoft.com/office/drawing/2014/main" id="{D4DCD8B5-19F0-0D56-7A66-19EBF123EFC1}"/>
              </a:ext>
            </a:extLst>
          </p:cNvPr>
          <p:cNvGrpSpPr/>
          <p:nvPr/>
        </p:nvGrpSpPr>
        <p:grpSpPr>
          <a:xfrm>
            <a:off x="8647101" y="3546536"/>
            <a:ext cx="1382928" cy="1389712"/>
            <a:chOff x="0" y="-9525"/>
            <a:chExt cx="963809" cy="968537"/>
          </a:xfrm>
        </p:grpSpPr>
        <p:sp>
          <p:nvSpPr>
            <p:cNvPr id="285" name="Google Shape;285;p23">
              <a:extLst>
                <a:ext uri="{FF2B5EF4-FFF2-40B4-BE49-F238E27FC236}">
                  <a16:creationId xmlns:a16="http://schemas.microsoft.com/office/drawing/2014/main" id="{D9191FA8-EB35-68D8-CBB9-8124915F3660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6" name="Google Shape;286;p23">
              <a:extLst>
                <a:ext uri="{FF2B5EF4-FFF2-40B4-BE49-F238E27FC236}">
                  <a16:creationId xmlns:a16="http://schemas.microsoft.com/office/drawing/2014/main" id="{5D2F282B-5CFE-6353-0E3A-8E7AC934BA03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 lang="es-ES_tradnl" dirty="0"/>
            </a:p>
          </p:txBody>
        </p:sp>
      </p:grpSp>
      <p:grpSp>
        <p:nvGrpSpPr>
          <p:cNvPr id="287" name="Google Shape;287;p23">
            <a:extLst>
              <a:ext uri="{FF2B5EF4-FFF2-40B4-BE49-F238E27FC236}">
                <a16:creationId xmlns:a16="http://schemas.microsoft.com/office/drawing/2014/main" id="{736B4F0E-699C-B9C6-CB17-B4A44D8566BE}"/>
              </a:ext>
            </a:extLst>
          </p:cNvPr>
          <p:cNvGrpSpPr/>
          <p:nvPr/>
        </p:nvGrpSpPr>
        <p:grpSpPr>
          <a:xfrm>
            <a:off x="8647101" y="5578255"/>
            <a:ext cx="1382928" cy="1389712"/>
            <a:chOff x="0" y="-9525"/>
            <a:chExt cx="963809" cy="968537"/>
          </a:xfrm>
        </p:grpSpPr>
        <p:sp>
          <p:nvSpPr>
            <p:cNvPr id="288" name="Google Shape;288;p23">
              <a:extLst>
                <a:ext uri="{FF2B5EF4-FFF2-40B4-BE49-F238E27FC236}">
                  <a16:creationId xmlns:a16="http://schemas.microsoft.com/office/drawing/2014/main" id="{534FAD3D-081E-452B-11A8-EF8FC4505649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9" name="Google Shape;289;p23">
              <a:extLst>
                <a:ext uri="{FF2B5EF4-FFF2-40B4-BE49-F238E27FC236}">
                  <a16:creationId xmlns:a16="http://schemas.microsoft.com/office/drawing/2014/main" id="{F1D1B048-040C-1AF5-81F9-0F64D112826F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 lang="es-ES_tradnl" dirty="0"/>
            </a:p>
          </p:txBody>
        </p:sp>
      </p:grpSp>
      <p:sp>
        <p:nvSpPr>
          <p:cNvPr id="293" name="Google Shape;293;p23">
            <a:extLst>
              <a:ext uri="{FF2B5EF4-FFF2-40B4-BE49-F238E27FC236}">
                <a16:creationId xmlns:a16="http://schemas.microsoft.com/office/drawing/2014/main" id="{FFFE66FB-28AD-1476-E82E-46A9B8533C7C}"/>
              </a:ext>
            </a:extLst>
          </p:cNvPr>
          <p:cNvSpPr/>
          <p:nvPr/>
        </p:nvSpPr>
        <p:spPr>
          <a:xfrm>
            <a:off x="-1518115" y="5138796"/>
            <a:ext cx="7760440" cy="6137802"/>
          </a:xfrm>
          <a:custGeom>
            <a:avLst/>
            <a:gdLst/>
            <a:ahLst/>
            <a:cxnLst/>
            <a:rect l="l" t="t" r="r" b="b"/>
            <a:pathLst>
              <a:path w="7760440" h="6137802" extrusionOk="0">
                <a:moveTo>
                  <a:pt x="0" y="0"/>
                </a:moveTo>
                <a:lnTo>
                  <a:pt x="7760439" y="0"/>
                </a:lnTo>
                <a:lnTo>
                  <a:pt x="7760439" y="6137802"/>
                </a:lnTo>
                <a:lnTo>
                  <a:pt x="0" y="6137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4335AF22-10B3-0245-6A1E-A7044BFDA00C}"/>
              </a:ext>
            </a:extLst>
          </p:cNvPr>
          <p:cNvSpPr txBox="1"/>
          <p:nvPr/>
        </p:nvSpPr>
        <p:spPr>
          <a:xfrm>
            <a:off x="1357220" y="2067019"/>
            <a:ext cx="5989500" cy="134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ESTRATEGIAS Y AJUSTES ORGANIZACIONALES</a:t>
            </a:r>
            <a:endParaRPr lang="es-ES_tradnl" dirty="0"/>
          </a:p>
        </p:txBody>
      </p:sp>
      <p:sp>
        <p:nvSpPr>
          <p:cNvPr id="298" name="Google Shape;298;p23">
            <a:extLst>
              <a:ext uri="{FF2B5EF4-FFF2-40B4-BE49-F238E27FC236}">
                <a16:creationId xmlns:a16="http://schemas.microsoft.com/office/drawing/2014/main" id="{186A78B8-C8E3-38CC-833A-72225D4995D6}"/>
              </a:ext>
            </a:extLst>
          </p:cNvPr>
          <p:cNvSpPr txBox="1"/>
          <p:nvPr/>
        </p:nvSpPr>
        <p:spPr>
          <a:xfrm>
            <a:off x="10393716" y="2031037"/>
            <a:ext cx="5989502" cy="87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APLANAMIENTO DE LA CURVA DE TRABAJO</a:t>
            </a:r>
            <a:endParaRPr lang="es-ES_tradnl" dirty="0"/>
          </a:p>
        </p:txBody>
      </p:sp>
      <p:sp>
        <p:nvSpPr>
          <p:cNvPr id="301" name="Google Shape;301;p23">
            <a:extLst>
              <a:ext uri="{FF2B5EF4-FFF2-40B4-BE49-F238E27FC236}">
                <a16:creationId xmlns:a16="http://schemas.microsoft.com/office/drawing/2014/main" id="{0EB0886F-3824-8864-5A8D-63D9B2DF248C}"/>
              </a:ext>
            </a:extLst>
          </p:cNvPr>
          <p:cNvSpPr txBox="1"/>
          <p:nvPr/>
        </p:nvSpPr>
        <p:spPr>
          <a:xfrm>
            <a:off x="10393716" y="4021652"/>
            <a:ext cx="5989502" cy="43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PLANIFICACIÓN ESTACIONAL</a:t>
            </a:r>
            <a:endParaRPr lang="es-ES_tradnl" dirty="0"/>
          </a:p>
        </p:txBody>
      </p:sp>
      <p:sp>
        <p:nvSpPr>
          <p:cNvPr id="304" name="Google Shape;304;p23">
            <a:extLst>
              <a:ext uri="{FF2B5EF4-FFF2-40B4-BE49-F238E27FC236}">
                <a16:creationId xmlns:a16="http://schemas.microsoft.com/office/drawing/2014/main" id="{D81F7156-2EA7-892B-78D9-A6A96CEF51FB}"/>
              </a:ext>
            </a:extLst>
          </p:cNvPr>
          <p:cNvSpPr txBox="1"/>
          <p:nvPr/>
        </p:nvSpPr>
        <p:spPr>
          <a:xfrm>
            <a:off x="10393716" y="6053371"/>
            <a:ext cx="5989502" cy="43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DESMITIFICACIÓN DE LA ANTIGÜEDAD</a:t>
            </a:r>
            <a:endParaRPr lang="es-ES_tradnl" dirty="0"/>
          </a:p>
        </p:txBody>
      </p:sp>
      <p:grpSp>
        <p:nvGrpSpPr>
          <p:cNvPr id="308" name="Google Shape;308;p23">
            <a:extLst>
              <a:ext uri="{FF2B5EF4-FFF2-40B4-BE49-F238E27FC236}">
                <a16:creationId xmlns:a16="http://schemas.microsoft.com/office/drawing/2014/main" id="{B3C6E7B3-9D31-55CD-CA26-CF5430B1F92E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309" name="Google Shape;309;p23">
              <a:extLst>
                <a:ext uri="{FF2B5EF4-FFF2-40B4-BE49-F238E27FC236}">
                  <a16:creationId xmlns:a16="http://schemas.microsoft.com/office/drawing/2014/main" id="{22DC04A7-9158-BB4E-F48C-FFFCB3796275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310" name="Google Shape;310;p23">
              <a:extLst>
                <a:ext uri="{FF2B5EF4-FFF2-40B4-BE49-F238E27FC236}">
                  <a16:creationId xmlns:a16="http://schemas.microsoft.com/office/drawing/2014/main" id="{61FD26A3-7C65-7F64-5E8A-A0DC8DCC11F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0" name="Google Shape;162;p18">
            <a:extLst>
              <a:ext uri="{FF2B5EF4-FFF2-40B4-BE49-F238E27FC236}">
                <a16:creationId xmlns:a16="http://schemas.microsoft.com/office/drawing/2014/main" id="{A239F5B4-C207-4A51-AE2F-F621521A6B0F}"/>
              </a:ext>
            </a:extLst>
          </p:cNvPr>
          <p:cNvSpPr/>
          <p:nvPr/>
        </p:nvSpPr>
        <p:spPr>
          <a:xfrm>
            <a:off x="14226839" y="7928731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49375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be1710380_1_0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g3dbe1710380_1_0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g3dbe1710380_1_0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g3dbe1710380_1_0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g3dbe1710380_1_0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g3dbe1710380_1_0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g3dbe1710380_1_0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dbe1710380_1_0"/>
          <p:cNvSpPr txBox="1"/>
          <p:nvPr/>
        </p:nvSpPr>
        <p:spPr>
          <a:xfrm>
            <a:off x="1041449" y="5799800"/>
            <a:ext cx="70611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- Factores sociales y laborales que influyen en niveles de ausentismo</a:t>
            </a:r>
            <a:endParaRPr lang="es-ES" sz="2400" dirty="0">
              <a:solidFill>
                <a:srgbClr val="004AAD"/>
              </a:solidFill>
              <a:latin typeface="Poppins"/>
              <a:cs typeface="Poppins"/>
            </a:endParaRPr>
          </a:p>
        </p:txBody>
      </p:sp>
      <p:sp>
        <p:nvSpPr>
          <p:cNvPr id="92" name="Google Shape;92;g3dbe1710380_1_0"/>
          <p:cNvSpPr txBox="1"/>
          <p:nvPr/>
        </p:nvSpPr>
        <p:spPr>
          <a:xfrm>
            <a:off x="1124999" y="8618274"/>
            <a:ext cx="43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8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 Andrea C.</a:t>
            </a:r>
            <a:endParaRPr/>
          </a:p>
        </p:txBody>
      </p:sp>
      <p:sp>
        <p:nvSpPr>
          <p:cNvPr id="93" name="Google Shape;93;g3dbe1710380_1_0"/>
          <p:cNvSpPr txBox="1"/>
          <p:nvPr/>
        </p:nvSpPr>
        <p:spPr>
          <a:xfrm>
            <a:off x="1125000" y="3325625"/>
            <a:ext cx="8269200" cy="19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Ausentismo y Bienestar Laboral</a:t>
            </a:r>
            <a:endParaRPr/>
          </a:p>
        </p:txBody>
      </p:sp>
      <p:grpSp>
        <p:nvGrpSpPr>
          <p:cNvPr id="94" name="Google Shape;94;g3dbe1710380_1_0"/>
          <p:cNvGrpSpPr/>
          <p:nvPr/>
        </p:nvGrpSpPr>
        <p:grpSpPr>
          <a:xfrm>
            <a:off x="0" y="-8"/>
            <a:ext cx="2163413" cy="1886345"/>
            <a:chOff x="12784175" y="3675030"/>
            <a:chExt cx="2163413" cy="1886345"/>
          </a:xfrm>
        </p:grpSpPr>
        <p:sp>
          <p:nvSpPr>
            <p:cNvPr id="95" name="Google Shape;95;g3dbe1710380_1_0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g3dbe1710380_1_0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be1710380_1_46"/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g3dbe1710380_1_46"/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g3dbe1710380_1_46"/>
          <p:cNvSpPr txBox="1"/>
          <p:nvPr/>
        </p:nvSpPr>
        <p:spPr>
          <a:xfrm>
            <a:off x="2983285" y="1152887"/>
            <a:ext cx="123213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RRHH - KPIs</a:t>
            </a:r>
            <a:endParaRPr sz="1900" dirty="0"/>
          </a:p>
        </p:txBody>
      </p:sp>
      <p:sp>
        <p:nvSpPr>
          <p:cNvPr id="104" name="Google Shape;104;g3dbe1710380_1_46"/>
          <p:cNvSpPr txBox="1"/>
          <p:nvPr/>
        </p:nvSpPr>
        <p:spPr>
          <a:xfrm>
            <a:off x="2802201" y="3545935"/>
            <a:ext cx="242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96%</a:t>
            </a:r>
            <a:endParaRPr dirty="0"/>
          </a:p>
        </p:txBody>
      </p:sp>
      <p:sp>
        <p:nvSpPr>
          <p:cNvPr id="105" name="Google Shape;105;g3dbe1710380_1_46"/>
          <p:cNvSpPr txBox="1"/>
          <p:nvPr/>
        </p:nvSpPr>
        <p:spPr>
          <a:xfrm>
            <a:off x="5909855" y="3630535"/>
            <a:ext cx="28896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Julio</a:t>
            </a:r>
            <a:endParaRPr sz="300"/>
          </a:p>
        </p:txBody>
      </p:sp>
      <p:sp>
        <p:nvSpPr>
          <p:cNvPr id="106" name="Google Shape;106;g3dbe1710380_1_46"/>
          <p:cNvSpPr txBox="1"/>
          <p:nvPr/>
        </p:nvSpPr>
        <p:spPr>
          <a:xfrm>
            <a:off x="9347524" y="3413635"/>
            <a:ext cx="26301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Consulta Medica</a:t>
            </a:r>
            <a:endParaRPr sz="3400"/>
          </a:p>
        </p:txBody>
      </p:sp>
      <p:sp>
        <p:nvSpPr>
          <p:cNvPr id="107" name="Google Shape;107;g3dbe1710380_1_46"/>
          <p:cNvSpPr txBox="1"/>
          <p:nvPr/>
        </p:nvSpPr>
        <p:spPr>
          <a:xfrm>
            <a:off x="12525700" y="3553585"/>
            <a:ext cx="29601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0.35</a:t>
            </a:r>
            <a:endParaRPr sz="1300"/>
          </a:p>
        </p:txBody>
      </p:sp>
      <p:sp>
        <p:nvSpPr>
          <p:cNvPr id="108" name="Google Shape;108;g3dbe1710380_1_46"/>
          <p:cNvSpPr txBox="1"/>
          <p:nvPr/>
        </p:nvSpPr>
        <p:spPr>
          <a:xfrm>
            <a:off x="2664082" y="4662497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Empleados</a:t>
            </a:r>
            <a:r>
              <a:rPr lang="en-US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4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ausencia</a:t>
            </a:r>
            <a:endParaRPr dirty="0"/>
          </a:p>
        </p:txBody>
      </p:sp>
      <p:sp>
        <p:nvSpPr>
          <p:cNvPr id="109" name="Google Shape;109;g3dbe1710380_1_46"/>
          <p:cNvSpPr txBox="1"/>
          <p:nvPr/>
        </p:nvSpPr>
        <p:spPr>
          <a:xfrm>
            <a:off x="5992882" y="4746447"/>
            <a:ext cx="265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Mes pico</a:t>
            </a:r>
            <a:endParaRPr/>
          </a:p>
        </p:txBody>
      </p:sp>
      <p:sp>
        <p:nvSpPr>
          <p:cNvPr id="110" name="Google Shape;110;g3dbe1710380_1_46"/>
          <p:cNvSpPr txBox="1"/>
          <p:nvPr/>
        </p:nvSpPr>
        <p:spPr>
          <a:xfrm>
            <a:off x="9321683" y="4845497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Motivo modal ausentismo</a:t>
            </a:r>
            <a:endParaRPr/>
          </a:p>
        </p:txBody>
      </p:sp>
      <p:sp>
        <p:nvSpPr>
          <p:cNvPr id="111" name="Google Shape;111;g3dbe1710380_1_46"/>
          <p:cNvSpPr txBox="1"/>
          <p:nvPr/>
        </p:nvSpPr>
        <p:spPr>
          <a:xfrm>
            <a:off x="12650483" y="4662497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Index Carga Laboral</a:t>
            </a:r>
            <a:endParaRPr/>
          </a:p>
        </p:txBody>
      </p:sp>
      <p:sp>
        <p:nvSpPr>
          <p:cNvPr id="112" name="Google Shape;112;g3dbe1710380_1_46"/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3" name="Google Shape;113;g3dbe1710380_1_46"/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3dbe1710380_1_46"/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5" name="Google Shape;115;g3dbe1710380_1_4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116" name="Google Shape;116;g3dbe1710380_1_4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g3dbe1710380_1_4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cxnSp>
        <p:nvCxnSpPr>
          <p:cNvPr id="118" name="Google Shape;118;g3dbe1710380_1_46"/>
          <p:cNvCxnSpPr/>
          <p:nvPr/>
        </p:nvCxnSpPr>
        <p:spPr>
          <a:xfrm rot="10800000">
            <a:off x="5091151" y="3693085"/>
            <a:ext cx="7500" cy="629100"/>
          </a:xfrm>
          <a:prstGeom prst="straightConnector1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" name="Google Shape;94;g3dbe1710380_1_0">
            <a:extLst>
              <a:ext uri="{FF2B5EF4-FFF2-40B4-BE49-F238E27FC236}">
                <a16:creationId xmlns:a16="http://schemas.microsoft.com/office/drawing/2014/main" id="{AB9B897D-D39E-45FC-8A85-319849CB72BC}"/>
              </a:ext>
            </a:extLst>
          </p:cNvPr>
          <p:cNvGrpSpPr/>
          <p:nvPr/>
        </p:nvGrpSpPr>
        <p:grpSpPr>
          <a:xfrm>
            <a:off x="0" y="-8"/>
            <a:ext cx="2163413" cy="1886345"/>
            <a:chOff x="12784175" y="3675030"/>
            <a:chExt cx="2163413" cy="1886345"/>
          </a:xfrm>
        </p:grpSpPr>
        <p:sp>
          <p:nvSpPr>
            <p:cNvPr id="21" name="Google Shape;95;g3dbe1710380_1_0">
              <a:extLst>
                <a:ext uri="{FF2B5EF4-FFF2-40B4-BE49-F238E27FC236}">
                  <a16:creationId xmlns:a16="http://schemas.microsoft.com/office/drawing/2014/main" id="{D90A857D-F0ED-4884-9E46-BC5AA596FD5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96;g3dbe1710380_1_0">
              <a:extLst>
                <a:ext uri="{FF2B5EF4-FFF2-40B4-BE49-F238E27FC236}">
                  <a16:creationId xmlns:a16="http://schemas.microsoft.com/office/drawing/2014/main" id="{D06B0BB4-F06F-454B-99B0-27D12AF61BDC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g3dbe1710380_1_211"/>
          <p:cNvCxnSpPr/>
          <p:nvPr/>
        </p:nvCxnSpPr>
        <p:spPr>
          <a:xfrm>
            <a:off x="7198632" y="-330798"/>
            <a:ext cx="0" cy="10946700"/>
          </a:xfrm>
          <a:prstGeom prst="straightConnector1">
            <a:avLst/>
          </a:prstGeom>
          <a:noFill/>
          <a:ln w="114300" cap="rnd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4" name="Google Shape;124;g3dbe1710380_1_211"/>
          <p:cNvGrpSpPr/>
          <p:nvPr/>
        </p:nvGrpSpPr>
        <p:grpSpPr>
          <a:xfrm>
            <a:off x="6904192" y="1006055"/>
            <a:ext cx="588874" cy="595774"/>
            <a:chOff x="0" y="-9525"/>
            <a:chExt cx="812800" cy="822325"/>
          </a:xfrm>
        </p:grpSpPr>
        <p:sp>
          <p:nvSpPr>
            <p:cNvPr id="125" name="Google Shape;125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g3dbe1710380_1_211"/>
          <p:cNvGrpSpPr/>
          <p:nvPr/>
        </p:nvGrpSpPr>
        <p:grpSpPr>
          <a:xfrm>
            <a:off x="6904192" y="3210168"/>
            <a:ext cx="588874" cy="595774"/>
            <a:chOff x="0" y="-9525"/>
            <a:chExt cx="812800" cy="822325"/>
          </a:xfrm>
        </p:grpSpPr>
        <p:sp>
          <p:nvSpPr>
            <p:cNvPr id="128" name="Google Shape;128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9" name="Google Shape;129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g3dbe1710380_1_211"/>
          <p:cNvGrpSpPr/>
          <p:nvPr/>
        </p:nvGrpSpPr>
        <p:grpSpPr>
          <a:xfrm>
            <a:off x="6904192" y="5457240"/>
            <a:ext cx="588874" cy="595774"/>
            <a:chOff x="0" y="-9525"/>
            <a:chExt cx="812800" cy="822325"/>
          </a:xfrm>
        </p:grpSpPr>
        <p:sp>
          <p:nvSpPr>
            <p:cNvPr id="131" name="Google Shape;131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2" name="Google Shape;132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g3dbe1710380_1_211"/>
          <p:cNvGrpSpPr/>
          <p:nvPr/>
        </p:nvGrpSpPr>
        <p:grpSpPr>
          <a:xfrm>
            <a:off x="6904192" y="7703472"/>
            <a:ext cx="588874" cy="595774"/>
            <a:chOff x="0" y="-9525"/>
            <a:chExt cx="812800" cy="822325"/>
          </a:xfrm>
        </p:grpSpPr>
        <p:sp>
          <p:nvSpPr>
            <p:cNvPr id="134" name="Google Shape;134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5" name="Google Shape;135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g3dbe1710380_1_211"/>
          <p:cNvSpPr/>
          <p:nvPr/>
        </p:nvSpPr>
        <p:spPr>
          <a:xfrm>
            <a:off x="13196004" y="3159413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g3dbe1710380_1_211"/>
          <p:cNvSpPr/>
          <p:nvPr/>
        </p:nvSpPr>
        <p:spPr>
          <a:xfrm>
            <a:off x="13196004" y="-703241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g3dbe1710380_1_211"/>
          <p:cNvSpPr txBox="1"/>
          <p:nvPr/>
        </p:nvSpPr>
        <p:spPr>
          <a:xfrm>
            <a:off x="1028700" y="2777601"/>
            <a:ext cx="45306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NUESTROS DATOS</a:t>
            </a:r>
            <a:endParaRPr/>
          </a:p>
        </p:txBody>
      </p:sp>
      <p:sp>
        <p:nvSpPr>
          <p:cNvPr id="139" name="Google Shape;139;g3dbe1710380_1_211"/>
          <p:cNvSpPr txBox="1"/>
          <p:nvPr/>
        </p:nvSpPr>
        <p:spPr>
          <a:xfrm>
            <a:off x="7941024" y="5524300"/>
            <a:ext cx="463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 faltas disciplinaria</a:t>
            </a:r>
            <a:endParaRPr sz="3000"/>
          </a:p>
        </p:txBody>
      </p:sp>
      <p:sp>
        <p:nvSpPr>
          <p:cNvPr id="140" name="Google Shape;140;g3dbe1710380_1_211"/>
          <p:cNvSpPr txBox="1"/>
          <p:nvPr/>
        </p:nvSpPr>
        <p:spPr>
          <a:xfrm>
            <a:off x="8188931" y="6071781"/>
            <a:ext cx="380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31</a:t>
            </a:r>
            <a:endParaRPr sz="3600"/>
          </a:p>
        </p:txBody>
      </p:sp>
      <p:sp>
        <p:nvSpPr>
          <p:cNvPr id="141" name="Google Shape;141;g3dbe1710380_1_211"/>
          <p:cNvSpPr txBox="1"/>
          <p:nvPr/>
        </p:nvSpPr>
        <p:spPr>
          <a:xfrm>
            <a:off x="8045399" y="1121450"/>
            <a:ext cx="453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Solicitudes ausencia</a:t>
            </a:r>
            <a:endParaRPr sz="2600"/>
          </a:p>
        </p:txBody>
      </p:sp>
      <p:sp>
        <p:nvSpPr>
          <p:cNvPr id="142" name="Google Shape;142;g3dbe1710380_1_211"/>
          <p:cNvSpPr txBox="1"/>
          <p:nvPr/>
        </p:nvSpPr>
        <p:spPr>
          <a:xfrm>
            <a:off x="8294419" y="1583162"/>
            <a:ext cx="380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1000 </a:t>
            </a:r>
            <a:endParaRPr sz="3600"/>
          </a:p>
        </p:txBody>
      </p:sp>
      <p:sp>
        <p:nvSpPr>
          <p:cNvPr id="143" name="Google Shape;143;g3dbe1710380_1_211"/>
          <p:cNvSpPr txBox="1"/>
          <p:nvPr/>
        </p:nvSpPr>
        <p:spPr>
          <a:xfrm>
            <a:off x="7941031" y="3277218"/>
            <a:ext cx="380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Empleados</a:t>
            </a:r>
            <a:endParaRPr sz="2600"/>
          </a:p>
        </p:txBody>
      </p:sp>
      <p:sp>
        <p:nvSpPr>
          <p:cNvPr id="144" name="Google Shape;144;g3dbe1710380_1_211"/>
          <p:cNvSpPr txBox="1"/>
          <p:nvPr/>
        </p:nvSpPr>
        <p:spPr>
          <a:xfrm>
            <a:off x="8188931" y="3826745"/>
            <a:ext cx="380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386</a:t>
            </a:r>
            <a:endParaRPr sz="3600"/>
          </a:p>
        </p:txBody>
      </p:sp>
      <p:sp>
        <p:nvSpPr>
          <p:cNvPr id="145" name="Google Shape;145;g3dbe1710380_1_211"/>
          <p:cNvSpPr txBox="1"/>
          <p:nvPr/>
        </p:nvSpPr>
        <p:spPr>
          <a:xfrm>
            <a:off x="8045398" y="7870425"/>
            <a:ext cx="5150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 faltas y ausencia</a:t>
            </a:r>
            <a:endParaRPr sz="2900"/>
          </a:p>
        </p:txBody>
      </p:sp>
      <p:sp>
        <p:nvSpPr>
          <p:cNvPr id="146" name="Google Shape;146;g3dbe1710380_1_211"/>
          <p:cNvSpPr txBox="1"/>
          <p:nvPr/>
        </p:nvSpPr>
        <p:spPr>
          <a:xfrm>
            <a:off x="8188919" y="8316815"/>
            <a:ext cx="380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3600"/>
          </a:p>
        </p:txBody>
      </p:sp>
      <p:grpSp>
        <p:nvGrpSpPr>
          <p:cNvPr id="147" name="Google Shape;147;g3dbe1710380_1_211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8" name="Google Shape;148;g3dbe1710380_1_211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g3dbe1710380_1_211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g3dbe1710380_1_139"/>
          <p:cNvGrpSpPr/>
          <p:nvPr/>
        </p:nvGrpSpPr>
        <p:grpSpPr>
          <a:xfrm>
            <a:off x="11390450" y="3270437"/>
            <a:ext cx="1572362" cy="1590788"/>
            <a:chOff x="0" y="-9525"/>
            <a:chExt cx="812800" cy="822325"/>
          </a:xfrm>
        </p:grpSpPr>
        <p:sp>
          <p:nvSpPr>
            <p:cNvPr id="155" name="Google Shape;155;g3dbe1710380_1_1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3900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56" name="Google Shape;156;g3dbe1710380_1_139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500" tIns="42500" rIns="42500" bIns="425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71"/>
            </a:p>
          </p:txBody>
        </p:sp>
      </p:grpSp>
      <p:sp>
        <p:nvSpPr>
          <p:cNvPr id="157" name="Google Shape;157;g3dbe1710380_1_139"/>
          <p:cNvSpPr/>
          <p:nvPr/>
        </p:nvSpPr>
        <p:spPr>
          <a:xfrm>
            <a:off x="13667995" y="-1478197"/>
            <a:ext cx="4807819" cy="4624247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4" y="0"/>
                </a:lnTo>
                <a:lnTo>
                  <a:pt x="7914104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8" name="Google Shape;158;g3dbe1710380_1_139"/>
          <p:cNvSpPr/>
          <p:nvPr/>
        </p:nvSpPr>
        <p:spPr>
          <a:xfrm>
            <a:off x="14184803" y="2140180"/>
            <a:ext cx="2067835" cy="1940005"/>
          </a:xfrm>
          <a:custGeom>
            <a:avLst/>
            <a:gdLst/>
            <a:ahLst/>
            <a:cxnLst/>
            <a:rect l="l" t="t" r="r" b="b"/>
            <a:pathLst>
              <a:path w="3403844" h="3193424" extrusionOk="0">
                <a:moveTo>
                  <a:pt x="0" y="0"/>
                </a:moveTo>
                <a:lnTo>
                  <a:pt x="3403844" y="0"/>
                </a:lnTo>
                <a:lnTo>
                  <a:pt x="3403844" y="3193424"/>
                </a:lnTo>
                <a:lnTo>
                  <a:pt x="0" y="3193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9" name="Google Shape;159;g3dbe1710380_1_139"/>
          <p:cNvGrpSpPr/>
          <p:nvPr/>
        </p:nvGrpSpPr>
        <p:grpSpPr>
          <a:xfrm>
            <a:off x="1723063" y="5294054"/>
            <a:ext cx="2774700" cy="369450"/>
            <a:chOff x="538100" y="-780150"/>
            <a:chExt cx="3699600" cy="492600"/>
          </a:xfrm>
        </p:grpSpPr>
        <p:sp>
          <p:nvSpPr>
            <p:cNvPr id="160" name="Google Shape;160;g3dbe1710380_1_139"/>
            <p:cNvSpPr txBox="1"/>
            <p:nvPr/>
          </p:nvSpPr>
          <p:spPr>
            <a:xfrm>
              <a:off x="626300" y="-677554"/>
              <a:ext cx="36114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g3dbe1710380_1_139"/>
            <p:cNvSpPr txBox="1"/>
            <p:nvPr/>
          </p:nvSpPr>
          <p:spPr>
            <a:xfrm>
              <a:off x="538100" y="-780150"/>
              <a:ext cx="361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Bebedor Social</a:t>
              </a:r>
              <a:endParaRPr/>
            </a:p>
          </p:txBody>
        </p:sp>
      </p:grpSp>
      <p:sp>
        <p:nvSpPr>
          <p:cNvPr id="162" name="Google Shape;162;g3dbe1710380_1_139"/>
          <p:cNvSpPr txBox="1"/>
          <p:nvPr/>
        </p:nvSpPr>
        <p:spPr>
          <a:xfrm>
            <a:off x="6461654" y="5294116"/>
            <a:ext cx="270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Fumador Social</a:t>
            </a:r>
            <a:endParaRPr/>
          </a:p>
        </p:txBody>
      </p:sp>
      <p:sp>
        <p:nvSpPr>
          <p:cNvPr id="163" name="Google Shape;163;g3dbe1710380_1_139"/>
          <p:cNvSpPr txBox="1"/>
          <p:nvPr/>
        </p:nvSpPr>
        <p:spPr>
          <a:xfrm>
            <a:off x="9836694" y="5163100"/>
            <a:ext cx="48048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Faltas </a:t>
            </a:r>
            <a:endParaRPr sz="2400" b="1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Disciplinaria</a:t>
            </a:r>
            <a:endParaRPr/>
          </a:p>
        </p:txBody>
      </p:sp>
      <p:sp>
        <p:nvSpPr>
          <p:cNvPr id="164" name="Google Shape;164;g3dbe1710380_1_139"/>
          <p:cNvSpPr txBox="1"/>
          <p:nvPr/>
        </p:nvSpPr>
        <p:spPr>
          <a:xfrm>
            <a:off x="2163419" y="1433547"/>
            <a:ext cx="86175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 i="0" u="none" strike="noStrike" cap="none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TRES </a:t>
            </a: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FACTORES AUSENTISMO</a:t>
            </a:r>
            <a:endParaRPr/>
          </a:p>
        </p:txBody>
      </p:sp>
      <p:sp>
        <p:nvSpPr>
          <p:cNvPr id="165" name="Google Shape;165;g3dbe1710380_1_139"/>
          <p:cNvSpPr txBox="1"/>
          <p:nvPr/>
        </p:nvSpPr>
        <p:spPr>
          <a:xfrm>
            <a:off x="2163419" y="2072121"/>
            <a:ext cx="871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¿Qué factores inciden sobre los niveles de ausentismo?</a:t>
            </a:r>
            <a:endParaRPr lang="es-ES" dirty="0"/>
          </a:p>
        </p:txBody>
      </p:sp>
      <p:grpSp>
        <p:nvGrpSpPr>
          <p:cNvPr id="166" name="Google Shape;166;g3dbe1710380_1_139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67" name="Google Shape;167;g3dbe1710380_1_139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dbe1710380_1_139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169" name="Google Shape;169;g3dbe1710380_1_139"/>
          <p:cNvGrpSpPr/>
          <p:nvPr/>
        </p:nvGrpSpPr>
        <p:grpSpPr>
          <a:xfrm>
            <a:off x="2291183" y="3270440"/>
            <a:ext cx="1572339" cy="1590763"/>
            <a:chOff x="1172969" y="3769468"/>
            <a:chExt cx="1879440" cy="1901462"/>
          </a:xfrm>
        </p:grpSpPr>
        <p:grpSp>
          <p:nvGrpSpPr>
            <p:cNvPr id="170" name="Google Shape;170;g3dbe1710380_1_139"/>
            <p:cNvGrpSpPr/>
            <p:nvPr/>
          </p:nvGrpSpPr>
          <p:grpSpPr>
            <a:xfrm>
              <a:off x="1172969" y="3769468"/>
              <a:ext cx="1879437" cy="1901462"/>
              <a:chOff x="0" y="-9525"/>
              <a:chExt cx="812800" cy="822325"/>
            </a:xfrm>
          </p:grpSpPr>
          <p:sp>
            <p:nvSpPr>
              <p:cNvPr id="171" name="Google Shape;171;g3dbe1710380_1_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  <a:ln w="23900" cap="sq" cmpd="sng">
                <a:solidFill>
                  <a:srgbClr val="004AA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sp>
          <p:sp>
            <p:nvSpPr>
              <p:cNvPr id="172" name="Google Shape;172;g3dbe1710380_1_139"/>
              <p:cNvSpPr txBox="1"/>
              <p:nvPr/>
            </p:nvSpPr>
            <p:spPr>
              <a:xfrm>
                <a:off x="0" y="-9525"/>
                <a:ext cx="812700" cy="8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2500" tIns="42500" rIns="42500" bIns="42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71"/>
              </a:p>
            </p:txBody>
          </p:sp>
        </p:grpSp>
        <p:pic>
          <p:nvPicPr>
            <p:cNvPr id="173" name="Google Shape;173;g3dbe1710380_1_139" title="drink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97919" y="3842950"/>
              <a:ext cx="1754490" cy="17544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g3dbe1710380_1_139"/>
          <p:cNvGrpSpPr/>
          <p:nvPr/>
        </p:nvGrpSpPr>
        <p:grpSpPr>
          <a:xfrm>
            <a:off x="7028035" y="3324610"/>
            <a:ext cx="1572337" cy="1590763"/>
            <a:chOff x="6125509" y="3596431"/>
            <a:chExt cx="1879437" cy="1901462"/>
          </a:xfrm>
        </p:grpSpPr>
        <p:grpSp>
          <p:nvGrpSpPr>
            <p:cNvPr id="175" name="Google Shape;175;g3dbe1710380_1_139"/>
            <p:cNvGrpSpPr/>
            <p:nvPr/>
          </p:nvGrpSpPr>
          <p:grpSpPr>
            <a:xfrm>
              <a:off x="6125509" y="3596431"/>
              <a:ext cx="1879437" cy="1901462"/>
              <a:chOff x="0" y="-9525"/>
              <a:chExt cx="812800" cy="822325"/>
            </a:xfrm>
          </p:grpSpPr>
          <p:sp>
            <p:nvSpPr>
              <p:cNvPr id="176" name="Google Shape;176;g3dbe1710380_1_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  <a:ln w="23900" cap="sq" cmpd="sng">
                <a:solidFill>
                  <a:srgbClr val="004AA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sp>
          <p:sp>
            <p:nvSpPr>
              <p:cNvPr id="177" name="Google Shape;177;g3dbe1710380_1_139"/>
              <p:cNvSpPr txBox="1"/>
              <p:nvPr/>
            </p:nvSpPr>
            <p:spPr>
              <a:xfrm>
                <a:off x="0" y="-9525"/>
                <a:ext cx="812700" cy="8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2500" tIns="42500" rIns="42500" bIns="42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71"/>
              </a:p>
            </p:txBody>
          </p:sp>
        </p:grpSp>
        <p:pic>
          <p:nvPicPr>
            <p:cNvPr id="178" name="Google Shape;178;g3dbe1710380_1_139" title="smoker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37425" y="3701325"/>
              <a:ext cx="1691675" cy="1691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" name="Google Shape;179;g3dbe1710380_1_139"/>
          <p:cNvGrpSpPr/>
          <p:nvPr/>
        </p:nvGrpSpPr>
        <p:grpSpPr>
          <a:xfrm>
            <a:off x="6963025" y="7585137"/>
            <a:ext cx="1572362" cy="1590788"/>
            <a:chOff x="0" y="-9525"/>
            <a:chExt cx="812800" cy="822325"/>
          </a:xfrm>
        </p:grpSpPr>
        <p:sp>
          <p:nvSpPr>
            <p:cNvPr id="180" name="Google Shape;180;g3dbe1710380_1_1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3900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81" name="Google Shape;181;g3dbe1710380_1_139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500" tIns="42500" rIns="42500" bIns="425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71"/>
            </a:p>
          </p:txBody>
        </p:sp>
      </p:grpSp>
      <p:pic>
        <p:nvPicPr>
          <p:cNvPr id="182" name="Google Shape;182;g3dbe1710380_1_139" title="vehicle-accid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51288" y="3240487"/>
            <a:ext cx="1650675" cy="16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dbe1710380_1_139" title="cros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60750" y="7692075"/>
            <a:ext cx="1376900" cy="13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dbe1710380_1_139"/>
          <p:cNvSpPr txBox="1"/>
          <p:nvPr/>
        </p:nvSpPr>
        <p:spPr>
          <a:xfrm>
            <a:off x="6314200" y="91759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Ausentismo</a:t>
            </a:r>
            <a:endParaRPr/>
          </a:p>
        </p:txBody>
      </p:sp>
      <p:cxnSp>
        <p:nvCxnSpPr>
          <p:cNvPr id="185" name="Google Shape;185;g3dbe1710380_1_139"/>
          <p:cNvCxnSpPr/>
          <p:nvPr/>
        </p:nvCxnSpPr>
        <p:spPr>
          <a:xfrm flipH="1">
            <a:off x="10049450" y="6244150"/>
            <a:ext cx="1880700" cy="1702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6" name="Google Shape;186;g3dbe1710380_1_139"/>
          <p:cNvCxnSpPr/>
          <p:nvPr/>
        </p:nvCxnSpPr>
        <p:spPr>
          <a:xfrm>
            <a:off x="7818150" y="5967575"/>
            <a:ext cx="13500" cy="1206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7" name="Google Shape;187;g3dbe1710380_1_139"/>
          <p:cNvCxnSpPr/>
          <p:nvPr/>
        </p:nvCxnSpPr>
        <p:spPr>
          <a:xfrm>
            <a:off x="3863525" y="6166200"/>
            <a:ext cx="1801800" cy="1675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dcbdc3c4f_1_356"/>
          <p:cNvSpPr/>
          <p:nvPr/>
        </p:nvSpPr>
        <p:spPr>
          <a:xfrm flipH="1">
            <a:off x="13327023" y="-1831276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3" name="Google Shape;193;g3ddcbdc3c4f_1_356"/>
          <p:cNvSpPr/>
          <p:nvPr/>
        </p:nvSpPr>
        <p:spPr>
          <a:xfrm flipH="1">
            <a:off x="14990317" y="-79416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1"/>
                </a:lnTo>
                <a:lnTo>
                  <a:pt x="7088187" y="6469581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4" name="Google Shape;194;g3ddcbdc3c4f_1_356"/>
          <p:cNvSpPr/>
          <p:nvPr/>
        </p:nvSpPr>
        <p:spPr>
          <a:xfrm flipH="1">
            <a:off x="16682965" y="26431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5" name="Google Shape;195;g3ddcbdc3c4f_1_356"/>
          <p:cNvSpPr/>
          <p:nvPr/>
        </p:nvSpPr>
        <p:spPr>
          <a:xfrm flipH="1">
            <a:off x="18365827" y="1291641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g3ddcbdc3c4f_1_356"/>
          <p:cNvSpPr txBox="1"/>
          <p:nvPr/>
        </p:nvSpPr>
        <p:spPr>
          <a:xfrm>
            <a:off x="1560900" y="99888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PESO FACTORES</a:t>
            </a:r>
            <a:endParaRPr/>
          </a:p>
        </p:txBody>
      </p:sp>
      <p:grpSp>
        <p:nvGrpSpPr>
          <p:cNvPr id="197" name="Google Shape;197;g3ddcbdc3c4f_1_35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198" name="Google Shape;198;g3ddcbdc3c4f_1_35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g3ddcbdc3c4f_1_35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00" name="Google Shape;200;g3ddcbdc3c4f_1_356"/>
          <p:cNvSpPr/>
          <p:nvPr/>
        </p:nvSpPr>
        <p:spPr>
          <a:xfrm>
            <a:off x="276425" y="2796750"/>
            <a:ext cx="16231800" cy="601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g3ddcbdc3c4f_1_356" title="boxplot_mann_whitne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925" y="2898475"/>
            <a:ext cx="16031549" cy="57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ddcbdc3c4f_1_356" title="vehicle-accid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8620" y="3777130"/>
            <a:ext cx="1025400" cy="10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ddcbdc3c4f_1_356" title="smok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83550" y="3777125"/>
            <a:ext cx="1025400" cy="10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ddcbdc3c4f_1_356" title="drink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58475" y="3777125"/>
            <a:ext cx="1025400" cy="10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dcbdc3c4f_1_356"/>
          <p:cNvSpPr/>
          <p:nvPr/>
        </p:nvSpPr>
        <p:spPr>
          <a:xfrm>
            <a:off x="2665975" y="2623300"/>
            <a:ext cx="1317900" cy="44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SIGNIFICATIVO</a:t>
            </a:r>
            <a:endParaRPr b="1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P.0001</a:t>
            </a:r>
            <a:endParaRPr b="1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ddcbdc3c4f_1_356"/>
          <p:cNvSpPr/>
          <p:nvPr/>
        </p:nvSpPr>
        <p:spPr>
          <a:xfrm>
            <a:off x="11045361" y="264324"/>
            <a:ext cx="2470941" cy="3102779"/>
          </a:xfrm>
          <a:custGeom>
            <a:avLst/>
            <a:gdLst/>
            <a:ahLst/>
            <a:cxnLst/>
            <a:rect l="l" t="t" r="r" b="b"/>
            <a:pathLst>
              <a:path w="3647145" h="4579748" extrusionOk="0">
                <a:moveTo>
                  <a:pt x="0" y="0"/>
                </a:moveTo>
                <a:lnTo>
                  <a:pt x="3647145" y="0"/>
                </a:lnTo>
                <a:lnTo>
                  <a:pt x="3647145" y="4579748"/>
                </a:lnTo>
                <a:lnTo>
                  <a:pt x="0" y="457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be1710380_1_117"/>
          <p:cNvSpPr/>
          <p:nvPr/>
        </p:nvSpPr>
        <p:spPr>
          <a:xfrm>
            <a:off x="14900450" y="1077150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2" name="Google Shape;212;g3dbe1710380_1_117"/>
          <p:cNvGrpSpPr/>
          <p:nvPr/>
        </p:nvGrpSpPr>
        <p:grpSpPr>
          <a:xfrm>
            <a:off x="280400" y="3598650"/>
            <a:ext cx="3353400" cy="2950875"/>
            <a:chOff x="802325" y="4733825"/>
            <a:chExt cx="3353400" cy="2950875"/>
          </a:xfrm>
        </p:grpSpPr>
        <p:sp>
          <p:nvSpPr>
            <p:cNvPr id="213" name="Google Shape;213;g3dbe1710380_1_117"/>
            <p:cNvSpPr/>
            <p:nvPr/>
          </p:nvSpPr>
          <p:spPr>
            <a:xfrm>
              <a:off x="802325" y="5897000"/>
              <a:ext cx="3353400" cy="1787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g3dbe1710380_1_117"/>
            <p:cNvSpPr txBox="1"/>
            <p:nvPr/>
          </p:nvSpPr>
          <p:spPr>
            <a:xfrm>
              <a:off x="877925" y="4733825"/>
              <a:ext cx="3277800" cy="28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NIVELES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BAJO — hasta 1 dia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MODERADO — 1 a 3 dias 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GRAVE — mas 3 dias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15" name="Google Shape;215;g3dbe1710380_1_117"/>
          <p:cNvSpPr txBox="1"/>
          <p:nvPr/>
        </p:nvSpPr>
        <p:spPr>
          <a:xfrm>
            <a:off x="1847950" y="1077150"/>
            <a:ext cx="79014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FACTORES POR NIVELES</a:t>
            </a:r>
            <a:endParaRPr/>
          </a:p>
        </p:txBody>
      </p:sp>
      <p:grpSp>
        <p:nvGrpSpPr>
          <p:cNvPr id="216" name="Google Shape;216;g3dbe1710380_1_117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217" name="Google Shape;217;g3dbe1710380_1_11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dbe1710380_1_11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19" name="Google Shape;219;g3dbe1710380_1_117"/>
          <p:cNvSpPr/>
          <p:nvPr/>
        </p:nvSpPr>
        <p:spPr>
          <a:xfrm>
            <a:off x="3958800" y="2404175"/>
            <a:ext cx="11495400" cy="678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dbe1710380_1_117" title="mapa_calor.png"/>
          <p:cNvPicPr preferRelativeResize="0"/>
          <p:nvPr/>
        </p:nvPicPr>
        <p:blipFill rotWithShape="1">
          <a:blip r:embed="rId5">
            <a:alphaModFix/>
          </a:blip>
          <a:srcRect l="2950" b="5159"/>
          <a:stretch/>
        </p:blipFill>
        <p:spPr>
          <a:xfrm>
            <a:off x="4193300" y="2569138"/>
            <a:ext cx="11026401" cy="645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be1710380_1_127"/>
          <p:cNvSpPr/>
          <p:nvPr/>
        </p:nvSpPr>
        <p:spPr>
          <a:xfrm>
            <a:off x="-1415600" y="508519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g3dbe1710380_1_127"/>
          <p:cNvSpPr/>
          <p:nvPr/>
        </p:nvSpPr>
        <p:spPr>
          <a:xfrm>
            <a:off x="-599094" y="2785345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7" name="Google Shape;227;g3dbe1710380_1_127"/>
          <p:cNvSpPr/>
          <p:nvPr/>
        </p:nvSpPr>
        <p:spPr>
          <a:xfrm>
            <a:off x="-1592448" y="3443657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28" name="Google Shape;228;g3dbe1710380_1_127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229" name="Google Shape;229;g3dbe1710380_1_12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dbe1710380_1_12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31" name="Google Shape;231;g3dbe1710380_1_127"/>
          <p:cNvSpPr txBox="1"/>
          <p:nvPr/>
        </p:nvSpPr>
        <p:spPr>
          <a:xfrm>
            <a:off x="6792325" y="198788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MODELO PREDICTIVO</a:t>
            </a:r>
            <a:endParaRPr/>
          </a:p>
        </p:txBody>
      </p:sp>
      <p:sp>
        <p:nvSpPr>
          <p:cNvPr id="232" name="Google Shape;232;g3dbe1710380_1_127"/>
          <p:cNvSpPr/>
          <p:nvPr/>
        </p:nvSpPr>
        <p:spPr>
          <a:xfrm>
            <a:off x="3525275" y="1594350"/>
            <a:ext cx="11277000" cy="62580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76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g3dbe1710380_1_127" title="importancia_variabl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4448" y="1699886"/>
            <a:ext cx="10998339" cy="604693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dbe1710380_1_127"/>
          <p:cNvSpPr/>
          <p:nvPr/>
        </p:nvSpPr>
        <p:spPr>
          <a:xfrm>
            <a:off x="13018809" y="8010824"/>
            <a:ext cx="1783200" cy="1119300"/>
          </a:xfrm>
          <a:prstGeom prst="flowChartAlternateProcess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6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FIABILIDAD MODELO</a:t>
            </a:r>
            <a:endParaRPr sz="1876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6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73%</a:t>
            </a:r>
            <a:endParaRPr sz="1876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be1710380_1_127"/>
          <p:cNvSpPr/>
          <p:nvPr/>
        </p:nvSpPr>
        <p:spPr>
          <a:xfrm>
            <a:off x="14120264" y="2390470"/>
            <a:ext cx="1158900" cy="11193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8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44.18%</a:t>
            </a:r>
            <a:endParaRPr sz="2278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dbe1710380_1_127"/>
          <p:cNvSpPr/>
          <p:nvPr/>
        </p:nvSpPr>
        <p:spPr>
          <a:xfrm>
            <a:off x="12319466" y="4093856"/>
            <a:ext cx="1158900" cy="11193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8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34.43%</a:t>
            </a:r>
            <a:endParaRPr sz="2278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dbe1710380_1_127"/>
          <p:cNvSpPr/>
          <p:nvPr/>
        </p:nvSpPr>
        <p:spPr>
          <a:xfrm>
            <a:off x="9889303" y="5737314"/>
            <a:ext cx="1158900" cy="11193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8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21.39%</a:t>
            </a:r>
            <a:endParaRPr sz="2278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dbe1710380_1_127" title="drin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12275" y="2548775"/>
            <a:ext cx="802675" cy="80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dbe1710380_1_127" title="smok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80063" y="5895638"/>
            <a:ext cx="802675" cy="80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dbe1710380_1_127" title="vehicle-accid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77345" y="4178680"/>
            <a:ext cx="949626" cy="94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g3dbe1710380_1_242"/>
          <p:cNvGrpSpPr/>
          <p:nvPr/>
        </p:nvGrpSpPr>
        <p:grpSpPr>
          <a:xfrm>
            <a:off x="7133551" y="1567070"/>
            <a:ext cx="1383100" cy="1389754"/>
            <a:chOff x="0" y="-9525"/>
            <a:chExt cx="963900" cy="968537"/>
          </a:xfrm>
        </p:grpSpPr>
        <p:sp>
          <p:nvSpPr>
            <p:cNvPr id="246" name="Google Shape;246;g3dbe1710380_1_242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47" name="Google Shape;247;g3dbe1710380_1_242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/>
            </a:p>
          </p:txBody>
        </p:sp>
      </p:grpSp>
      <p:grpSp>
        <p:nvGrpSpPr>
          <p:cNvPr id="248" name="Google Shape;248;g3dbe1710380_1_242"/>
          <p:cNvGrpSpPr/>
          <p:nvPr/>
        </p:nvGrpSpPr>
        <p:grpSpPr>
          <a:xfrm>
            <a:off x="7133551" y="4199398"/>
            <a:ext cx="1383100" cy="1389754"/>
            <a:chOff x="0" y="-9525"/>
            <a:chExt cx="963900" cy="968537"/>
          </a:xfrm>
        </p:grpSpPr>
        <p:sp>
          <p:nvSpPr>
            <p:cNvPr id="249" name="Google Shape;249;g3dbe1710380_1_242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50" name="Google Shape;250;g3dbe1710380_1_242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/>
            </a:p>
          </p:txBody>
        </p:sp>
      </p:grpSp>
      <p:grpSp>
        <p:nvGrpSpPr>
          <p:cNvPr id="251" name="Google Shape;251;g3dbe1710380_1_242"/>
          <p:cNvGrpSpPr/>
          <p:nvPr/>
        </p:nvGrpSpPr>
        <p:grpSpPr>
          <a:xfrm>
            <a:off x="7133551" y="7026580"/>
            <a:ext cx="1383100" cy="1389754"/>
            <a:chOff x="0" y="-9525"/>
            <a:chExt cx="963900" cy="968537"/>
          </a:xfrm>
        </p:grpSpPr>
        <p:sp>
          <p:nvSpPr>
            <p:cNvPr id="252" name="Google Shape;252;g3dbe1710380_1_242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53" name="Google Shape;253;g3dbe1710380_1_242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/>
            </a:p>
          </p:txBody>
        </p:sp>
      </p:grpSp>
      <p:sp>
        <p:nvSpPr>
          <p:cNvPr id="254" name="Google Shape;254;g3dbe1710380_1_242"/>
          <p:cNvSpPr/>
          <p:nvPr/>
        </p:nvSpPr>
        <p:spPr>
          <a:xfrm>
            <a:off x="-1518115" y="5138796"/>
            <a:ext cx="7760440" cy="6137802"/>
          </a:xfrm>
          <a:custGeom>
            <a:avLst/>
            <a:gdLst/>
            <a:ahLst/>
            <a:cxnLst/>
            <a:rect l="l" t="t" r="r" b="b"/>
            <a:pathLst>
              <a:path w="7760440" h="6137802" extrusionOk="0">
                <a:moveTo>
                  <a:pt x="0" y="0"/>
                </a:moveTo>
                <a:lnTo>
                  <a:pt x="7760439" y="0"/>
                </a:lnTo>
                <a:lnTo>
                  <a:pt x="7760439" y="6137802"/>
                </a:lnTo>
                <a:lnTo>
                  <a:pt x="0" y="6137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5" name="Google Shape;255;g3dbe1710380_1_242"/>
          <p:cNvSpPr txBox="1"/>
          <p:nvPr/>
        </p:nvSpPr>
        <p:spPr>
          <a:xfrm>
            <a:off x="455100" y="2373002"/>
            <a:ext cx="5989500" cy="1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ESTRATEGIAS Y AJUSTES ORGANIZACIONALES</a:t>
            </a:r>
            <a:endParaRPr/>
          </a:p>
        </p:txBody>
      </p:sp>
      <p:grpSp>
        <p:nvGrpSpPr>
          <p:cNvPr id="256" name="Google Shape;256;g3dbe1710380_1_242"/>
          <p:cNvGrpSpPr/>
          <p:nvPr/>
        </p:nvGrpSpPr>
        <p:grpSpPr>
          <a:xfrm>
            <a:off x="8880178" y="1562475"/>
            <a:ext cx="8063464" cy="1864197"/>
            <a:chOff x="0" y="-19050"/>
            <a:chExt cx="7986000" cy="2485596"/>
          </a:xfrm>
        </p:grpSpPr>
        <p:sp>
          <p:nvSpPr>
            <p:cNvPr id="257" name="Google Shape;257;g3dbe1710380_1_242"/>
            <p:cNvSpPr txBox="1"/>
            <p:nvPr/>
          </p:nvSpPr>
          <p:spPr>
            <a:xfrm>
              <a:off x="0" y="592446"/>
              <a:ext cx="7986000" cy="18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Programa de sensibilización sobre consumo responsable.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Detención preventiva tipo de casos graves.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Promover hábitos saludables.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g3dbe1710380_1_242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ACCIONES PREVENTIVAS</a:t>
              </a:r>
              <a:endParaRPr dirty="0"/>
            </a:p>
          </p:txBody>
        </p:sp>
      </p:grpSp>
      <p:grpSp>
        <p:nvGrpSpPr>
          <p:cNvPr id="259" name="Google Shape;259;g3dbe1710380_1_242"/>
          <p:cNvGrpSpPr/>
          <p:nvPr/>
        </p:nvGrpSpPr>
        <p:grpSpPr>
          <a:xfrm>
            <a:off x="8880166" y="4091235"/>
            <a:ext cx="8677134" cy="2250740"/>
            <a:chOff x="0" y="-19050"/>
            <a:chExt cx="11569512" cy="3000987"/>
          </a:xfrm>
        </p:grpSpPr>
        <p:sp>
          <p:nvSpPr>
            <p:cNvPr id="260" name="Google Shape;260;g3dbe1710380_1_242"/>
            <p:cNvSpPr txBox="1"/>
            <p:nvPr/>
          </p:nvSpPr>
          <p:spPr>
            <a:xfrm>
              <a:off x="12" y="592437"/>
              <a:ext cx="11569500" cy="23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Promover espacios de diálogo sobre el impacto del consumo de alcohol.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Ofrecer apoyo psicológico.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Implementar incentivos para fomentar 0 faltas disciplinarias.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g3dbe1710380_1_242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CULTURA CORPORATIVA</a:t>
              </a:r>
              <a:endParaRPr/>
            </a:p>
          </p:txBody>
        </p:sp>
      </p:grpSp>
      <p:grpSp>
        <p:nvGrpSpPr>
          <p:cNvPr id="262" name="Google Shape;262;g3dbe1710380_1_242"/>
          <p:cNvGrpSpPr/>
          <p:nvPr/>
        </p:nvGrpSpPr>
        <p:grpSpPr>
          <a:xfrm>
            <a:off x="8880175" y="6966050"/>
            <a:ext cx="8546560" cy="2130150"/>
            <a:chOff x="-2" y="-19050"/>
            <a:chExt cx="9500400" cy="2840200"/>
          </a:xfrm>
        </p:grpSpPr>
        <p:sp>
          <p:nvSpPr>
            <p:cNvPr id="263" name="Google Shape;263;g3dbe1710380_1_242"/>
            <p:cNvSpPr txBox="1"/>
            <p:nvPr/>
          </p:nvSpPr>
          <p:spPr>
            <a:xfrm>
              <a:off x="-2" y="592450"/>
              <a:ext cx="9500400" cy="22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Revisión periódica de los patrones de ausentismo por perfil de empleado.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Fomentar comunicación para prevenir faltas disciplinarias. 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100">
                <a:solidFill>
                  <a:schemeClr val="dk1"/>
                </a:solidFill>
              </a:endParaRPr>
            </a:p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g3dbe1710380_1_242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MONITOREO CONTINUO</a:t>
              </a:r>
              <a:endParaRPr/>
            </a:p>
          </p:txBody>
        </p:sp>
      </p:grpSp>
      <p:grpSp>
        <p:nvGrpSpPr>
          <p:cNvPr id="265" name="Google Shape;265;g3dbe1710380_1_242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266" name="Google Shape;266;g3dbe1710380_1_242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g3dbe1710380_1_242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/>
          <p:nvPr/>
        </p:nvSpPr>
        <p:spPr>
          <a:xfrm>
            <a:off x="-2644213" y="-926268"/>
            <a:ext cx="10273778" cy="9881506"/>
          </a:xfrm>
          <a:custGeom>
            <a:avLst/>
            <a:gdLst/>
            <a:ahLst/>
            <a:cxnLst/>
            <a:rect l="l" t="t" r="r" b="b"/>
            <a:pathLst>
              <a:path w="10273778" h="9881506" extrusionOk="0">
                <a:moveTo>
                  <a:pt x="0" y="0"/>
                </a:moveTo>
                <a:lnTo>
                  <a:pt x="10273778" y="0"/>
                </a:lnTo>
                <a:lnTo>
                  <a:pt x="10273778" y="9881506"/>
                </a:lnTo>
                <a:lnTo>
                  <a:pt x="0" y="9881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3" name="Google Shape;623;p36"/>
          <p:cNvSpPr/>
          <p:nvPr/>
        </p:nvSpPr>
        <p:spPr>
          <a:xfrm>
            <a:off x="6098126" y="5494777"/>
            <a:ext cx="1496567" cy="1690168"/>
          </a:xfrm>
          <a:custGeom>
            <a:avLst/>
            <a:gdLst/>
            <a:ahLst/>
            <a:cxnLst/>
            <a:rect l="l" t="t" r="r" b="b"/>
            <a:pathLst>
              <a:path w="1496567" h="1690168" extrusionOk="0">
                <a:moveTo>
                  <a:pt x="0" y="0"/>
                </a:moveTo>
                <a:lnTo>
                  <a:pt x="1496567" y="0"/>
                </a:lnTo>
                <a:lnTo>
                  <a:pt x="1496567" y="1690168"/>
                </a:lnTo>
                <a:lnTo>
                  <a:pt x="0" y="1690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4" name="Google Shape;624;p36"/>
          <p:cNvSpPr/>
          <p:nvPr/>
        </p:nvSpPr>
        <p:spPr>
          <a:xfrm>
            <a:off x="3322594" y="6441030"/>
            <a:ext cx="3523815" cy="3421304"/>
          </a:xfrm>
          <a:custGeom>
            <a:avLst/>
            <a:gdLst/>
            <a:ahLst/>
            <a:cxnLst/>
            <a:rect l="l" t="t" r="r" b="b"/>
            <a:pathLst>
              <a:path w="3523815" h="3421304" extrusionOk="0">
                <a:moveTo>
                  <a:pt x="0" y="0"/>
                </a:moveTo>
                <a:lnTo>
                  <a:pt x="3523816" y="0"/>
                </a:lnTo>
                <a:lnTo>
                  <a:pt x="3523816" y="3421305"/>
                </a:lnTo>
                <a:lnTo>
                  <a:pt x="0" y="34213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5" name="Google Shape;625;p36"/>
          <p:cNvSpPr txBox="1"/>
          <p:nvPr/>
        </p:nvSpPr>
        <p:spPr>
          <a:xfrm>
            <a:off x="10420621" y="2375915"/>
            <a:ext cx="5400074" cy="94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¡GRACIAS!</a:t>
            </a:r>
            <a:endParaRPr lang="es-ES_tradnl" dirty="0"/>
          </a:p>
        </p:txBody>
      </p:sp>
      <p:sp>
        <p:nvSpPr>
          <p:cNvPr id="626" name="Google Shape;626;p36"/>
          <p:cNvSpPr txBox="1"/>
          <p:nvPr/>
        </p:nvSpPr>
        <p:spPr>
          <a:xfrm>
            <a:off x="10420621" y="3458464"/>
            <a:ext cx="540007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s-ES_tradnl" sz="3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Algu</a:t>
            </a: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 pregunta?</a:t>
            </a:r>
            <a:endParaRPr lang="es-ES_tradnl"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Escríbenos.</a:t>
            </a:r>
            <a:endParaRPr lang="es-ES_tradnl" dirty="0"/>
          </a:p>
        </p:txBody>
      </p:sp>
      <p:sp>
        <p:nvSpPr>
          <p:cNvPr id="627" name="Google Shape;627;p36"/>
          <p:cNvSpPr txBox="1"/>
          <p:nvPr/>
        </p:nvSpPr>
        <p:spPr>
          <a:xfrm>
            <a:off x="10420621" y="4999100"/>
            <a:ext cx="4018140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  <a:endParaRPr lang="es-ES_tradnl" dirty="0"/>
          </a:p>
        </p:txBody>
      </p:sp>
      <p:sp>
        <p:nvSpPr>
          <p:cNvPr id="628" name="Google Shape;628;p36"/>
          <p:cNvSpPr txBox="1"/>
          <p:nvPr/>
        </p:nvSpPr>
        <p:spPr>
          <a:xfrm>
            <a:off x="10425776" y="5591423"/>
            <a:ext cx="401814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HOLA@</a:t>
            </a:r>
            <a:r>
              <a:rPr lang="es-ES_tradnl" sz="1599" b="1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RAPIDEXPPRESS</a:t>
            </a: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.ES</a:t>
            </a:r>
            <a:endParaRPr lang="es-ES_tradnl" dirty="0"/>
          </a:p>
        </p:txBody>
      </p:sp>
      <p:sp>
        <p:nvSpPr>
          <p:cNvPr id="629" name="Google Shape;629;p36"/>
          <p:cNvSpPr txBox="1"/>
          <p:nvPr/>
        </p:nvSpPr>
        <p:spPr>
          <a:xfrm>
            <a:off x="10425776" y="6180784"/>
            <a:ext cx="4018140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Web</a:t>
            </a:r>
            <a:endParaRPr lang="es-ES_tradnl" dirty="0"/>
          </a:p>
        </p:txBody>
      </p:sp>
      <p:sp>
        <p:nvSpPr>
          <p:cNvPr id="630" name="Google Shape;630;p36"/>
          <p:cNvSpPr txBox="1"/>
          <p:nvPr/>
        </p:nvSpPr>
        <p:spPr>
          <a:xfrm>
            <a:off x="10430931" y="6773107"/>
            <a:ext cx="401814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WWW.RAPIE</a:t>
            </a:r>
            <a:r>
              <a:rPr lang="es-ES_tradnl" sz="1599" b="1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XPRESS</a:t>
            </a: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.ES</a:t>
            </a:r>
            <a:endParaRPr lang="es-ES_tradnl" dirty="0"/>
          </a:p>
        </p:txBody>
      </p:sp>
      <p:sp>
        <p:nvSpPr>
          <p:cNvPr id="631" name="Google Shape;631;p36"/>
          <p:cNvSpPr txBox="1"/>
          <p:nvPr/>
        </p:nvSpPr>
        <p:spPr>
          <a:xfrm>
            <a:off x="10420621" y="7333893"/>
            <a:ext cx="4023295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  <a:endParaRPr lang="es-ES_tradnl" dirty="0"/>
          </a:p>
        </p:txBody>
      </p:sp>
      <p:sp>
        <p:nvSpPr>
          <p:cNvPr id="632" name="Google Shape;632;p36"/>
          <p:cNvSpPr txBox="1"/>
          <p:nvPr/>
        </p:nvSpPr>
        <p:spPr>
          <a:xfrm>
            <a:off x="10425776" y="7926216"/>
            <a:ext cx="4023295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935-234-567</a:t>
            </a:r>
            <a:endParaRPr lang="es-ES_tradnl" dirty="0"/>
          </a:p>
        </p:txBody>
      </p:sp>
      <p:grpSp>
        <p:nvGrpSpPr>
          <p:cNvPr id="633" name="Google Shape;633;p3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634" name="Google Shape;634;p3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467</Words>
  <Application>Microsoft Office PowerPoint</Application>
  <PresentationFormat>Personalitzat</PresentationFormat>
  <Paragraphs>162</Paragraphs>
  <Slides>19</Slides>
  <Notes>19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19</vt:i4>
      </vt:variant>
    </vt:vector>
  </HeadingPairs>
  <TitlesOfParts>
    <vt:vector size="24" baseType="lpstr">
      <vt:lpstr>Calibri</vt:lpstr>
      <vt:lpstr>Arial</vt:lpstr>
      <vt:lpstr>Poppins</vt:lpstr>
      <vt:lpstr>Poppins Black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NURIA</dc:creator>
  <cp:lastModifiedBy>Nuria Paredes</cp:lastModifiedBy>
  <cp:revision>8</cp:revision>
  <dcterms:modified xsi:type="dcterms:W3CDTF">2026-05-07T13:36:48Z</dcterms:modified>
</cp:coreProperties>
</file>