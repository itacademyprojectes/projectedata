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97" r:id="rId3"/>
    <p:sldId id="288" r:id="rId4"/>
    <p:sldId id="294" r:id="rId5"/>
    <p:sldId id="295" r:id="rId6"/>
    <p:sldId id="296" r:id="rId7"/>
    <p:sldId id="287" r:id="rId8"/>
    <p:sldId id="263" r:id="rId9"/>
    <p:sldId id="265" r:id="rId10"/>
    <p:sldId id="293" r:id="rId11"/>
    <p:sldId id="275" r:id="rId12"/>
    <p:sldId id="27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7642808D-74B7-4E4C-BA10-810E52EA849E}">
          <p14:sldIdLst>
            <p14:sldId id="256"/>
            <p14:sldId id="297"/>
            <p14:sldId id="288"/>
            <p14:sldId id="294"/>
            <p14:sldId id="295"/>
            <p14:sldId id="296"/>
            <p14:sldId id="287"/>
            <p14:sldId id="263"/>
            <p14:sldId id="265"/>
          </p14:sldIdLst>
        </p14:section>
        <p14:section name="Sección sin título" id="{9F251DBD-B9CE-468D-BCE1-14A98C934B53}">
          <p14:sldIdLst>
            <p14:sldId id="293"/>
            <p14:sldId id="275"/>
            <p14:sldId id="27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414" autoAdjust="0"/>
  </p:normalViewPr>
  <p:slideViewPr>
    <p:cSldViewPr snapToGrid="0" snapToObjects="1">
      <p:cViewPr varScale="1">
        <p:scale>
          <a:sx n="92" d="100"/>
          <a:sy n="92" d="100"/>
        </p:scale>
        <p:origin x="2154" y="90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F758AA-3774-4FDF-89E1-1FCDCF42BDA0}" type="datetimeFigureOut">
              <a:rPr lang="es-ES" smtClean="0"/>
              <a:t>02/07/2026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13C43C-4BC7-4BE8-990F-AB729AAC449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9041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3C43C-4BC7-4BE8-990F-AB729AAC449F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4157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  <a:defRPr sz="1600"/>
            </a:pP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3C43C-4BC7-4BE8-990F-AB729AAC449F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865181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3C43C-4BC7-4BE8-990F-AB729AAC449F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940648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3C43C-4BC7-4BE8-990F-AB729AAC449F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3463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3C43C-4BC7-4BE8-990F-AB729AAC449F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21103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3C43C-4BC7-4BE8-990F-AB729AAC449F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08143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u="sng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3C43C-4BC7-4BE8-990F-AB729AAC449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77578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3C43C-4BC7-4BE8-990F-AB729AAC449F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51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3C43C-4BC7-4BE8-990F-AB729AAC449F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08873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3C43C-4BC7-4BE8-990F-AB729AAC449F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300880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  <a:defRPr sz="1600"/>
            </a:pP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13C43C-4BC7-4BE8-990F-AB729AAC449F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45745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30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8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0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5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5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5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9" y="1535113"/>
            <a:ext cx="4041775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9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4" y="273049"/>
            <a:ext cx="3008313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6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4" y="1435104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78" indent="0">
              <a:buNone/>
              <a:defRPr sz="1200"/>
            </a:lvl2pPr>
            <a:lvl3pPr marL="914354" indent="0">
              <a:buNone/>
              <a:defRPr sz="1000"/>
            </a:lvl3pPr>
            <a:lvl4pPr marL="1371532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2" indent="0">
              <a:buNone/>
              <a:defRPr sz="900"/>
            </a:lvl7pPr>
            <a:lvl8pPr marL="3200240" indent="0">
              <a:buNone/>
              <a:defRPr sz="900"/>
            </a:lvl8pPr>
            <a:lvl9pPr marL="3657418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178" indent="0">
              <a:buNone/>
              <a:defRPr sz="1200"/>
            </a:lvl2pPr>
            <a:lvl3pPr marL="914354" indent="0">
              <a:buNone/>
              <a:defRPr sz="1000"/>
            </a:lvl3pPr>
            <a:lvl4pPr marL="1371532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2" indent="0">
              <a:buNone/>
              <a:defRPr sz="900"/>
            </a:lvl7pPr>
            <a:lvl8pPr marL="3200240" indent="0">
              <a:buNone/>
              <a:defRPr sz="900"/>
            </a:lvl8pPr>
            <a:lvl9pPr marL="3657418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3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3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5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5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ctr" defTabSz="457178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82" indent="-342882" algn="l" defTabSz="457178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13" indent="-285737" algn="l" defTabSz="457178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457178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457178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457178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457178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457178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457178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457178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4571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96785" y="598551"/>
            <a:ext cx="3486151" cy="1600200"/>
          </a:xfrm>
        </p:spPr>
        <p:txBody>
          <a:bodyPr>
            <a:normAutofit/>
          </a:bodyPr>
          <a:lstStyle/>
          <a:p>
            <a:pPr>
              <a:defRPr sz="1600" b="1">
                <a:solidFill>
                  <a:srgbClr val="375A8C"/>
                </a:solidFill>
              </a:defRPr>
            </a:pPr>
            <a:endParaRPr lang="es-ES" dirty="0"/>
          </a:p>
          <a:p>
            <a:pPr marL="0" indent="0" algn="ctr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Dpt. </a:t>
            </a:r>
            <a:r>
              <a:rPr lang="en-US" sz="18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Analistas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 Datos de RRHH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Reunión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06/07/2026</a:t>
            </a:r>
            <a:endParaRPr lang="es-ES" sz="1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defRPr sz="1600" b="1">
                <a:solidFill>
                  <a:srgbClr val="375A8C"/>
                </a:solidFill>
              </a:defRPr>
            </a:pPr>
            <a:endParaRPr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89D2ED00-5BBA-BE91-C326-C0C6D75DF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9442"/>
            <a:ext cx="8229600" cy="1600200"/>
          </a:xfrm>
        </p:spPr>
        <p:txBody>
          <a:bodyPr>
            <a:noAutofit/>
          </a:bodyPr>
          <a:lstStyle/>
          <a:p>
            <a:r>
              <a:rPr lang="en-US" sz="2800" b="1" dirty="0" err="1">
                <a:solidFill>
                  <a:srgbClr val="192D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Análisis</a:t>
            </a:r>
            <a:r>
              <a:rPr lang="en-US" sz="2800" b="1" dirty="0">
                <a:solidFill>
                  <a:srgbClr val="192D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del </a:t>
            </a:r>
            <a:r>
              <a:rPr lang="en-US" sz="2800" b="1" dirty="0" err="1">
                <a:solidFill>
                  <a:srgbClr val="192D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absentismo</a:t>
            </a:r>
            <a:r>
              <a:rPr lang="en-US" sz="2800" b="1" dirty="0">
                <a:solidFill>
                  <a:srgbClr val="192D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y </a:t>
            </a:r>
            <a:r>
              <a:rPr lang="en-US" sz="2800" b="1" dirty="0" err="1">
                <a:solidFill>
                  <a:srgbClr val="192D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desempeño</a:t>
            </a:r>
            <a:r>
              <a:rPr lang="en-US" sz="2800" b="1" dirty="0">
                <a:solidFill>
                  <a:srgbClr val="192D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br>
              <a:rPr lang="en-US" sz="2800" b="1" dirty="0">
                <a:solidFill>
                  <a:srgbClr val="192D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2800" b="1" dirty="0" err="1">
                <a:solidFill>
                  <a:srgbClr val="192D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laboral</a:t>
            </a:r>
            <a:r>
              <a:rPr lang="en-US" sz="2800" b="1" dirty="0">
                <a:solidFill>
                  <a:srgbClr val="192D50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2025</a:t>
            </a:r>
            <a:endParaRPr lang="es-ES" sz="280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EE063F8-84B4-DC23-FE55-2ED7395F0E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975" b="21065"/>
          <a:stretch/>
        </p:blipFill>
        <p:spPr>
          <a:xfrm>
            <a:off x="633846" y="716377"/>
            <a:ext cx="3751114" cy="1023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1651" y="715345"/>
            <a:ext cx="34299" cy="377288"/>
          </a:xfrm>
          <a:prstGeom prst="rect">
            <a:avLst/>
          </a:prstGeom>
          <a:solidFill>
            <a:srgbClr val="E61973"/>
          </a:solidFill>
          <a:ln>
            <a:solidFill>
              <a:srgbClr val="E61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1"/>
          </a:p>
        </p:txBody>
      </p:sp>
      <p:sp>
        <p:nvSpPr>
          <p:cNvPr id="3" name="TextBox 2"/>
          <p:cNvSpPr txBox="1"/>
          <p:nvPr/>
        </p:nvSpPr>
        <p:spPr>
          <a:xfrm>
            <a:off x="558846" y="633028"/>
            <a:ext cx="2846870" cy="4156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2101" b="1" dirty="0">
                <a:solidFill>
                  <a:srgbClr val="003366"/>
                </a:solidFill>
                <a:latin typeface="Aptos Display"/>
              </a:rPr>
              <a:t>CUESTIONES DE </a:t>
            </a:r>
            <a:r>
              <a:rPr lang="es-ES" sz="2101" b="1" dirty="0" err="1">
                <a:solidFill>
                  <a:srgbClr val="003366"/>
                </a:solidFill>
                <a:latin typeface="Aptos Display"/>
              </a:rPr>
              <a:t>DE</a:t>
            </a:r>
            <a:r>
              <a:rPr lang="es-ES" sz="2101" b="1" dirty="0">
                <a:solidFill>
                  <a:srgbClr val="003366"/>
                </a:solidFill>
                <a:latin typeface="Aptos Display"/>
              </a:rPr>
              <a:t>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83603" y="1662781"/>
            <a:ext cx="5084887" cy="1790012"/>
          </a:xfrm>
          <a:prstGeom prst="roundRect">
            <a:avLst/>
          </a:prstGeom>
          <a:solidFill>
            <a:srgbClr val="FFFFFF"/>
          </a:solidFill>
          <a:ln>
            <a:solidFill>
              <a:srgbClr val="E61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dirty="0"/>
              <a:t>variables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9382" y="3813464"/>
            <a:ext cx="5049108" cy="1381755"/>
          </a:xfrm>
          <a:prstGeom prst="roundRect">
            <a:avLst/>
          </a:prstGeom>
          <a:solidFill>
            <a:srgbClr val="FFFFFF"/>
          </a:solidFill>
          <a:ln>
            <a:solidFill>
              <a:srgbClr val="00A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12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CF3B01D-34E6-8DAA-D4C9-6D9F445DFD3C}"/>
              </a:ext>
            </a:extLst>
          </p:cNvPr>
          <p:cNvSpPr txBox="1"/>
          <p:nvPr/>
        </p:nvSpPr>
        <p:spPr>
          <a:xfrm>
            <a:off x="2766332" y="1698467"/>
            <a:ext cx="48086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📊 1 - MAGNITUD DEL ABSENTISMO</a:t>
            </a:r>
          </a:p>
          <a:p>
            <a:endParaRPr lang="es-ES" dirty="0"/>
          </a:p>
          <a:p>
            <a:r>
              <a:rPr lang="es-ES" dirty="0"/>
              <a:t>📈 2- VARIACIÓN ANUAL</a:t>
            </a:r>
          </a:p>
          <a:p>
            <a:endParaRPr lang="es-ES" dirty="0"/>
          </a:p>
          <a:p>
            <a:r>
              <a:rPr lang="es-ES" dirty="0"/>
              <a:t>🏢 3- PROPUESTAS PARA REFORZAR LA PLANIFICACIÓN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97D1914-7CA6-342E-AA69-4536F6D159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851" r="64431" b="22773"/>
          <a:stretch/>
        </p:blipFill>
        <p:spPr>
          <a:xfrm>
            <a:off x="7429297" y="276722"/>
            <a:ext cx="1013479" cy="845788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DB73DAE3-6ECA-05E5-B198-CDE859970FE1}"/>
              </a:ext>
            </a:extLst>
          </p:cNvPr>
          <p:cNvSpPr txBox="1"/>
          <p:nvPr/>
        </p:nvSpPr>
        <p:spPr>
          <a:xfrm>
            <a:off x="2766332" y="3908475"/>
            <a:ext cx="47774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📊 4- PERFIL SOCIODEMOGRÁFICO EMPLEADOS</a:t>
            </a:r>
          </a:p>
          <a:p>
            <a:r>
              <a:rPr lang="es-ES" dirty="0"/>
              <a:t> </a:t>
            </a:r>
          </a:p>
          <a:p>
            <a:r>
              <a:rPr lang="es-ES" dirty="0"/>
              <a:t>📈 5- POLÍTICAS DE TALENTO ADAPTADAS PARA MEJORAR EL COMPROMISO Y DESARROLLO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405741C-3290-F7E7-0C50-8BA66484BE85}"/>
              </a:ext>
            </a:extLst>
          </p:cNvPr>
          <p:cNvSpPr/>
          <p:nvPr/>
        </p:nvSpPr>
        <p:spPr>
          <a:xfrm>
            <a:off x="637406" y="1662781"/>
            <a:ext cx="1536644" cy="1766219"/>
          </a:xfrm>
          <a:prstGeom prst="roundRect">
            <a:avLst/>
          </a:prstGeom>
          <a:solidFill>
            <a:srgbClr val="F8F0F4"/>
          </a:solidFill>
          <a:ln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rPr lang="en-US" sz="1600" b="1" dirty="0">
                <a:solidFill>
                  <a:schemeClr val="tx1"/>
                </a:solidFill>
              </a:rPr>
              <a:t>ANÁLISIS ABSENTISMO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F8E5626F-C336-E88A-5586-55D4CD8AA2CB}"/>
              </a:ext>
            </a:extLst>
          </p:cNvPr>
          <p:cNvSpPr/>
          <p:nvPr/>
        </p:nvSpPr>
        <p:spPr>
          <a:xfrm>
            <a:off x="637406" y="3822911"/>
            <a:ext cx="1536644" cy="1372308"/>
          </a:xfrm>
          <a:prstGeom prst="roundRect">
            <a:avLst/>
          </a:prstGeom>
          <a:solidFill>
            <a:srgbClr val="F8F0F4"/>
          </a:solidFill>
          <a:ln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/>
            </a:pPr>
            <a:r>
              <a:rPr lang="en-US" sz="1600" b="1" dirty="0">
                <a:solidFill>
                  <a:schemeClr val="tx1"/>
                </a:solidFill>
              </a:rPr>
              <a:t>ANÁLISIS PERFIL Y DESEMPEÑO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56030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0D3D782F-16B1-97F9-FE3D-F88CB4DC5ACF}"/>
              </a:ext>
            </a:extLst>
          </p:cNvPr>
          <p:cNvSpPr txBox="1"/>
          <p:nvPr/>
        </p:nvSpPr>
        <p:spPr>
          <a:xfrm>
            <a:off x="571504" y="584284"/>
            <a:ext cx="7871273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700" b="1" dirty="0">
                <a:solidFill>
                  <a:srgbClr val="003366"/>
                </a:solidFill>
              </a:rPr>
              <a:t>XXXXXXXXXXXXXX</a:t>
            </a:r>
          </a:p>
          <a:p>
            <a:r>
              <a:rPr lang="en-US" sz="2700" dirty="0">
                <a:solidFill>
                  <a:srgbClr val="003366"/>
                </a:solidFill>
              </a:rPr>
              <a:t>XX</a:t>
            </a:r>
            <a:endParaRPr lang="es-ES" sz="2200" dirty="0">
              <a:solidFill>
                <a:srgbClr val="003366"/>
              </a:solidFill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3E869D1-DD3E-0465-CF42-5ECF240CDF24}"/>
              </a:ext>
            </a:extLst>
          </p:cNvPr>
          <p:cNvSpPr/>
          <p:nvPr/>
        </p:nvSpPr>
        <p:spPr>
          <a:xfrm>
            <a:off x="381003" y="631909"/>
            <a:ext cx="57151" cy="476251"/>
          </a:xfrm>
          <a:prstGeom prst="rect">
            <a:avLst/>
          </a:prstGeom>
          <a:solidFill>
            <a:srgbClr val="E6197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351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E53F045-DE8A-3A74-7FF1-B296408F8E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851" r="64431" b="22773"/>
          <a:stretch/>
        </p:blipFill>
        <p:spPr>
          <a:xfrm>
            <a:off x="7429297" y="276722"/>
            <a:ext cx="1013479" cy="84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0D3D782F-16B1-97F9-FE3D-F88CB4DC5ACF}"/>
              </a:ext>
            </a:extLst>
          </p:cNvPr>
          <p:cNvSpPr txBox="1"/>
          <p:nvPr/>
        </p:nvSpPr>
        <p:spPr>
          <a:xfrm>
            <a:off x="571504" y="584284"/>
            <a:ext cx="7871273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700" b="1" dirty="0">
                <a:solidFill>
                  <a:srgbClr val="003366"/>
                </a:solidFill>
              </a:rPr>
              <a:t>XXXXXXXXXXXXXX</a:t>
            </a:r>
          </a:p>
          <a:p>
            <a:r>
              <a:rPr lang="en-US" sz="2700" dirty="0">
                <a:solidFill>
                  <a:srgbClr val="003366"/>
                </a:solidFill>
              </a:rPr>
              <a:t>XX</a:t>
            </a:r>
            <a:endParaRPr lang="es-ES" sz="2200" dirty="0">
              <a:solidFill>
                <a:srgbClr val="003366"/>
              </a:solidFill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3E869D1-DD3E-0465-CF42-5ECF240CDF24}"/>
              </a:ext>
            </a:extLst>
          </p:cNvPr>
          <p:cNvSpPr/>
          <p:nvPr/>
        </p:nvSpPr>
        <p:spPr>
          <a:xfrm>
            <a:off x="381003" y="631909"/>
            <a:ext cx="57151" cy="476251"/>
          </a:xfrm>
          <a:prstGeom prst="rect">
            <a:avLst/>
          </a:prstGeom>
          <a:solidFill>
            <a:srgbClr val="E6197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351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4A937136-7073-9BDA-D4D4-F6ACC8E826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851" r="64431" b="22773"/>
          <a:stretch/>
        </p:blipFill>
        <p:spPr>
          <a:xfrm>
            <a:off x="7429297" y="276722"/>
            <a:ext cx="1013479" cy="84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6951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0D3D782F-16B1-97F9-FE3D-F88CB4DC5ACF}"/>
              </a:ext>
            </a:extLst>
          </p:cNvPr>
          <p:cNvSpPr txBox="1"/>
          <p:nvPr/>
        </p:nvSpPr>
        <p:spPr>
          <a:xfrm>
            <a:off x="571504" y="584289"/>
            <a:ext cx="7871273" cy="5078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700" b="1" dirty="0">
                <a:solidFill>
                  <a:srgbClr val="003366"/>
                </a:solidFill>
              </a:rPr>
              <a:t>EVOLUCIÓN ANUAL ABSENTISMO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3E869D1-DD3E-0465-CF42-5ECF240CDF24}"/>
              </a:ext>
            </a:extLst>
          </p:cNvPr>
          <p:cNvSpPr/>
          <p:nvPr/>
        </p:nvSpPr>
        <p:spPr>
          <a:xfrm>
            <a:off x="381003" y="631909"/>
            <a:ext cx="57151" cy="476251"/>
          </a:xfrm>
          <a:prstGeom prst="rect">
            <a:avLst/>
          </a:prstGeom>
          <a:solidFill>
            <a:srgbClr val="E6197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351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D7DE2DE-5587-EAC2-19AE-B3412D36C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189" y="1953491"/>
            <a:ext cx="8253631" cy="3703868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3F4FE1D-BC36-1772-BCA2-1112CAE8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2851" r="64431" b="22773"/>
          <a:stretch/>
        </p:blipFill>
        <p:spPr>
          <a:xfrm>
            <a:off x="7429297" y="276722"/>
            <a:ext cx="1013479" cy="84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1887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0D3D782F-16B1-97F9-FE3D-F88CB4DC5ACF}"/>
              </a:ext>
            </a:extLst>
          </p:cNvPr>
          <p:cNvSpPr txBox="1"/>
          <p:nvPr/>
        </p:nvSpPr>
        <p:spPr>
          <a:xfrm>
            <a:off x="571505" y="584284"/>
            <a:ext cx="7148580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700" b="1" dirty="0">
                <a:solidFill>
                  <a:srgbClr val="003366"/>
                </a:solidFill>
              </a:rPr>
              <a:t>RELACIÓN ENTRE AUMENTO DE HORAS Y TOTAL DE AUSENCIAS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3E869D1-DD3E-0465-CF42-5ECF240CDF24}"/>
              </a:ext>
            </a:extLst>
          </p:cNvPr>
          <p:cNvSpPr/>
          <p:nvPr/>
        </p:nvSpPr>
        <p:spPr>
          <a:xfrm>
            <a:off x="381003" y="631909"/>
            <a:ext cx="57151" cy="476251"/>
          </a:xfrm>
          <a:prstGeom prst="rect">
            <a:avLst/>
          </a:prstGeom>
          <a:solidFill>
            <a:srgbClr val="E6197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351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4A937136-7073-9BDA-D4D4-F6ACC8E826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851" r="64431" b="22773"/>
          <a:stretch/>
        </p:blipFill>
        <p:spPr>
          <a:xfrm>
            <a:off x="7637115" y="276722"/>
            <a:ext cx="1013479" cy="845788"/>
          </a:xfrm>
          <a:prstGeom prst="rect">
            <a:avLst/>
          </a:prstGeom>
        </p:spPr>
      </p:pic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06A6AFF8-3897-8467-0EF1-A3839D0CB47B}"/>
              </a:ext>
            </a:extLst>
          </p:cNvPr>
          <p:cNvSpPr/>
          <p:nvPr/>
        </p:nvSpPr>
        <p:spPr>
          <a:xfrm>
            <a:off x="1610591" y="5842186"/>
            <a:ext cx="6637543" cy="43402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Marzo y julio destacan en horas y </a:t>
            </a:r>
            <a:r>
              <a:rPr lang="es-ES" sz="15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nº</a:t>
            </a:r>
            <a:r>
              <a:rPr lang="es-E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absencias; el resto del año no sigue patrón fijo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B8E3CA35-8285-8E67-C34D-ADDDFF3AC0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135" y="1679906"/>
            <a:ext cx="7205730" cy="398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313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0F7B5B30-CA14-DA61-ABFC-744025F2DBEB}"/>
              </a:ext>
            </a:extLst>
          </p:cNvPr>
          <p:cNvSpPr/>
          <p:nvPr/>
        </p:nvSpPr>
        <p:spPr>
          <a:xfrm>
            <a:off x="3543032" y="2048585"/>
            <a:ext cx="2057936" cy="2590591"/>
          </a:xfrm>
          <a:prstGeom prst="roundRect">
            <a:avLst/>
          </a:prstGeom>
          <a:solidFill>
            <a:srgbClr val="FFFFFF"/>
          </a:solidFill>
          <a:ln>
            <a:solidFill>
              <a:srgbClr val="00A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XXXXXXXXX</a:t>
            </a:r>
          </a:p>
          <a:p>
            <a:pPr algn="ctr"/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XXXXXX</a:t>
            </a:r>
          </a:p>
          <a:p>
            <a:pPr algn="ctr"/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XXXXXXXXX</a:t>
            </a:r>
          </a:p>
          <a:p>
            <a:pPr algn="ctr"/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XXXXXX</a:t>
            </a:r>
          </a:p>
          <a:p>
            <a:pPr algn="ctr"/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XXXXXXXXX</a:t>
            </a:r>
          </a:p>
          <a:p>
            <a:pPr algn="ctr"/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XXXXXX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A06B430-4E0E-CF86-5BCD-BE5384F1A7EF}"/>
              </a:ext>
            </a:extLst>
          </p:cNvPr>
          <p:cNvSpPr txBox="1"/>
          <p:nvPr/>
        </p:nvSpPr>
        <p:spPr>
          <a:xfrm>
            <a:off x="571499" y="6056671"/>
            <a:ext cx="78039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XXXXXXXX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D5D8E82-5E16-E544-1306-D99695F8C4AE}"/>
              </a:ext>
            </a:extLst>
          </p:cNvPr>
          <p:cNvSpPr txBox="1"/>
          <p:nvPr/>
        </p:nvSpPr>
        <p:spPr>
          <a:xfrm>
            <a:off x="571504" y="584289"/>
            <a:ext cx="7871273" cy="5078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700" b="1" dirty="0">
                <a:solidFill>
                  <a:srgbClr val="003366"/>
                </a:solidFill>
              </a:rPr>
              <a:t>XXXXXXXXXXXXXX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74ABC20-C700-2758-34B1-31220D6EF98A}"/>
              </a:ext>
            </a:extLst>
          </p:cNvPr>
          <p:cNvSpPr/>
          <p:nvPr/>
        </p:nvSpPr>
        <p:spPr>
          <a:xfrm>
            <a:off x="381003" y="631909"/>
            <a:ext cx="57151" cy="476251"/>
          </a:xfrm>
          <a:prstGeom prst="rect">
            <a:avLst/>
          </a:prstGeom>
          <a:solidFill>
            <a:srgbClr val="E6197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351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02A03C5-3124-D3B8-D95A-FCF2A04D88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851" r="64431" b="22773"/>
          <a:stretch/>
        </p:blipFill>
        <p:spPr>
          <a:xfrm>
            <a:off x="7429297" y="276722"/>
            <a:ext cx="1013479" cy="84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265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860" y="1680968"/>
            <a:ext cx="8229600" cy="4404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2000" dirty="0"/>
              <a:t>	📱 XXXXXXX</a:t>
            </a:r>
          </a:p>
          <a:p>
            <a:pPr marL="0" indent="0">
              <a:buNone/>
            </a:pPr>
            <a:endParaRPr lang="es-ES" sz="2000" dirty="0"/>
          </a:p>
          <a:p>
            <a:pPr marL="0" indent="0">
              <a:buNone/>
            </a:pPr>
            <a:r>
              <a:rPr lang="es-ES" sz="2000" dirty="0"/>
              <a:t>	🌍 XXXXXXXX</a:t>
            </a:r>
          </a:p>
          <a:p>
            <a:pPr marL="0" indent="0">
              <a:buNone/>
            </a:pPr>
            <a:endParaRPr lang="es-ES" sz="2000" dirty="0"/>
          </a:p>
          <a:p>
            <a:pPr marL="0" indent="0">
              <a:buNone/>
            </a:pPr>
            <a:r>
              <a:rPr lang="es-ES" sz="2000" dirty="0"/>
              <a:t>	🔎 XX</a:t>
            </a:r>
            <a:endParaRPr lang="en-US" sz="2000" dirty="0"/>
          </a:p>
          <a:p>
            <a:pPr marL="0" indent="0">
              <a:buNone/>
            </a:pPr>
            <a:endParaRPr lang="es-ES" sz="2000" dirty="0"/>
          </a:p>
          <a:p>
            <a:pPr marL="457178" lvl="1" indent="0">
              <a:buNone/>
              <a:defRPr sz="1300"/>
            </a:pPr>
            <a:r>
              <a:rPr lang="es-ES" sz="2000" dirty="0"/>
              <a:t>🗣 </a:t>
            </a:r>
            <a:r>
              <a:rPr lang="en-US" sz="2000" dirty="0"/>
              <a:t>XXXX</a:t>
            </a:r>
          </a:p>
          <a:p>
            <a:pPr marL="457178" lvl="1" indent="0">
              <a:buNone/>
              <a:defRPr sz="1300"/>
            </a:pPr>
            <a:endParaRPr lang="en-US" sz="2000" dirty="0"/>
          </a:p>
          <a:p>
            <a:pPr marL="0" indent="0">
              <a:buNone/>
            </a:pPr>
            <a:r>
              <a:rPr lang="es-ES" sz="2000" dirty="0"/>
              <a:t>	👴 XXXXXX</a:t>
            </a:r>
            <a:endParaRPr lang="en-US" sz="1051" dirty="0"/>
          </a:p>
          <a:p>
            <a:endParaRPr lang="es-ES" sz="2000" dirty="0"/>
          </a:p>
          <a:p>
            <a:pPr lvl="1">
              <a:defRPr sz="1300"/>
            </a:pPr>
            <a:endParaRPr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9236AF6-97AC-A429-56CA-C29E8FEA9481}"/>
              </a:ext>
            </a:extLst>
          </p:cNvPr>
          <p:cNvSpPr txBox="1"/>
          <p:nvPr/>
        </p:nvSpPr>
        <p:spPr>
          <a:xfrm>
            <a:off x="571504" y="584289"/>
            <a:ext cx="7871273" cy="5078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700" b="1" dirty="0">
                <a:solidFill>
                  <a:srgbClr val="003366"/>
                </a:solidFill>
              </a:rPr>
              <a:t>XXXXXXXXXXXXX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69269DE-14D5-5C28-AC3A-2DBD6CB58153}"/>
              </a:ext>
            </a:extLst>
          </p:cNvPr>
          <p:cNvSpPr/>
          <p:nvPr/>
        </p:nvSpPr>
        <p:spPr>
          <a:xfrm>
            <a:off x="381003" y="631909"/>
            <a:ext cx="57151" cy="476251"/>
          </a:xfrm>
          <a:prstGeom prst="rect">
            <a:avLst/>
          </a:prstGeom>
          <a:solidFill>
            <a:srgbClr val="E6197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351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99FFF43-FDD7-E0CE-FE41-139106C207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851" r="64431" b="22773"/>
          <a:stretch/>
        </p:blipFill>
        <p:spPr>
          <a:xfrm>
            <a:off x="7429297" y="276722"/>
            <a:ext cx="1013479" cy="8457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4053950B-54CA-0DFB-C692-3C76C6962CFA}"/>
              </a:ext>
            </a:extLst>
          </p:cNvPr>
          <p:cNvSpPr/>
          <p:nvPr/>
        </p:nvSpPr>
        <p:spPr>
          <a:xfrm>
            <a:off x="571502" y="495958"/>
            <a:ext cx="7988109" cy="722341"/>
          </a:xfrm>
          <a:prstGeom prst="roundRect">
            <a:avLst/>
          </a:prstGeom>
          <a:solidFill>
            <a:srgbClr val="FFFFFF"/>
          </a:solidFill>
          <a:ln>
            <a:solidFill>
              <a:srgbClr val="E61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dirty="0"/>
              <a:t>variables 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CCE6C7C-BB7D-56C9-E559-B7B32FF01169}"/>
              </a:ext>
            </a:extLst>
          </p:cNvPr>
          <p:cNvSpPr txBox="1"/>
          <p:nvPr/>
        </p:nvSpPr>
        <p:spPr>
          <a:xfrm>
            <a:off x="633847" y="543521"/>
            <a:ext cx="79881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XXXXXXXXXXXXXX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E1BB9B2-4E00-1519-C65B-0A6F5B18B9D8}"/>
              </a:ext>
            </a:extLst>
          </p:cNvPr>
          <p:cNvSpPr txBox="1"/>
          <p:nvPr/>
        </p:nvSpPr>
        <p:spPr>
          <a:xfrm>
            <a:off x="438153" y="6258239"/>
            <a:ext cx="81214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+mj-lt"/>
              </a:rPr>
              <a:t>XXXXXXXXXXXXXXX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F90C1FE-8E5B-B914-411C-C8FCF24D7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851" r="64431" b="22773"/>
          <a:stretch/>
        </p:blipFill>
        <p:spPr>
          <a:xfrm>
            <a:off x="7429297" y="276722"/>
            <a:ext cx="1013479" cy="8457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0097" y="629527"/>
            <a:ext cx="34299" cy="377288"/>
          </a:xfrm>
          <a:prstGeom prst="rect">
            <a:avLst/>
          </a:prstGeom>
          <a:solidFill>
            <a:srgbClr val="E61973"/>
          </a:solidFill>
          <a:ln>
            <a:solidFill>
              <a:srgbClr val="E61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1"/>
          </a:p>
        </p:txBody>
      </p:sp>
      <p:sp>
        <p:nvSpPr>
          <p:cNvPr id="3" name="TextBox 2"/>
          <p:cNvSpPr txBox="1"/>
          <p:nvPr/>
        </p:nvSpPr>
        <p:spPr>
          <a:xfrm>
            <a:off x="377288" y="626022"/>
            <a:ext cx="3260060" cy="4156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1" b="1" dirty="0">
                <a:solidFill>
                  <a:srgbClr val="003366"/>
                </a:solidFill>
                <a:latin typeface="Aptos Display"/>
              </a:rPr>
              <a:t>CONCLUSION</a:t>
            </a:r>
            <a:r>
              <a:rPr lang="es-ES" sz="2101" b="1" dirty="0">
                <a:solidFill>
                  <a:srgbClr val="003366"/>
                </a:solidFill>
                <a:latin typeface="Aptos Display"/>
              </a:rPr>
              <a:t>S / SUMMARY</a:t>
            </a:r>
            <a:endParaRPr sz="2101" b="1" dirty="0">
              <a:solidFill>
                <a:srgbClr val="003366"/>
              </a:solidFill>
              <a:latin typeface="Aptos Display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03EC5A9-B028-88E2-9476-106F9FA2C541}"/>
              </a:ext>
            </a:extLst>
          </p:cNvPr>
          <p:cNvSpPr txBox="1"/>
          <p:nvPr/>
        </p:nvSpPr>
        <p:spPr>
          <a:xfrm>
            <a:off x="480187" y="1246797"/>
            <a:ext cx="6796292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rPr lang="en-US" sz="1700" b="1" dirty="0" err="1">
                <a:solidFill>
                  <a:srgbClr val="003366"/>
                </a:solidFill>
                <a:latin typeface="Aptos Display"/>
              </a:rPr>
              <a:t>XXXXXXXXXXXXX</a:t>
            </a:r>
            <a:r>
              <a:rPr lang="en-US" sz="1700" dirty="0" err="1"/>
              <a:t>decisions</a:t>
            </a:r>
            <a:r>
              <a:rPr lang="en-US" sz="1700" dirty="0"/>
              <a:t>?</a:t>
            </a:r>
          </a:p>
        </p:txBody>
      </p:sp>
      <p:sp>
        <p:nvSpPr>
          <p:cNvPr id="9" name="AnswerBox">
            <a:extLst>
              <a:ext uri="{FF2B5EF4-FFF2-40B4-BE49-F238E27FC236}">
                <a16:creationId xmlns:a16="http://schemas.microsoft.com/office/drawing/2014/main" id="{632FF05A-EEDE-D97F-F54D-277088AE4F85}"/>
              </a:ext>
            </a:extLst>
          </p:cNvPr>
          <p:cNvSpPr>
            <a:spLocks noGrp="1"/>
          </p:cNvSpPr>
          <p:nvPr/>
        </p:nvSpPr>
        <p:spPr>
          <a:xfrm>
            <a:off x="4063182" y="1554573"/>
            <a:ext cx="4126607" cy="307777"/>
          </a:xfrm>
          <a:prstGeom prst="roundRect">
            <a:avLst>
              <a:gd name="adj" fmla="val 6000"/>
            </a:avLst>
          </a:prstGeom>
          <a:solidFill>
            <a:srgbClr val="E8F0F7"/>
          </a:solidFill>
          <a:ln w="12700">
            <a:solidFill>
              <a:srgbClr val="1B4F72"/>
            </a:solidFill>
          </a:ln>
        </p:spPr>
        <p:txBody>
          <a:bodyPr wrap="square" lIns="120000" tIns="80000" rIns="120000" bIns="80000" anchor="ctr"/>
          <a:lstStyle/>
          <a:p>
            <a:r>
              <a:rPr lang="en-US" sz="1300" b="1" dirty="0">
                <a:solidFill>
                  <a:srgbClr val="1B4F72"/>
                </a:solidFill>
              </a:rPr>
              <a:t>→ XXXX XXXXXXXX</a:t>
            </a:r>
            <a:endParaRPr lang="en-US" sz="1200" dirty="0">
              <a:solidFill>
                <a:srgbClr val="333333"/>
              </a:solidFill>
            </a:endParaRP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8587C5BE-126C-89F5-5B1C-99C6ECB80A34}"/>
              </a:ext>
            </a:extLst>
          </p:cNvPr>
          <p:cNvSpPr/>
          <p:nvPr/>
        </p:nvSpPr>
        <p:spPr>
          <a:xfrm>
            <a:off x="1639684" y="2525561"/>
            <a:ext cx="2651760" cy="1334575"/>
          </a:xfrm>
          <a:prstGeom prst="roundRect">
            <a:avLst/>
          </a:prstGeom>
          <a:solidFill>
            <a:srgbClr val="F8F0F4"/>
          </a:solidFill>
          <a:ln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/>
            </a:pPr>
            <a:r>
              <a:rPr sz="1300" dirty="0"/>
              <a:t> </a:t>
            </a:r>
            <a:r>
              <a:rPr lang="es-ES" sz="2000" dirty="0"/>
              <a:t>📉 </a:t>
            </a:r>
            <a:r>
              <a:rPr lang="en-US" sz="1400" b="1" dirty="0">
                <a:solidFill>
                  <a:schemeClr val="tx1"/>
                </a:solidFill>
              </a:rPr>
              <a:t>• XXXXXX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1B03544-4284-1B74-11A2-D53A5340171D}"/>
              </a:ext>
            </a:extLst>
          </p:cNvPr>
          <p:cNvSpPr/>
          <p:nvPr/>
        </p:nvSpPr>
        <p:spPr>
          <a:xfrm>
            <a:off x="1639684" y="4080674"/>
            <a:ext cx="2651760" cy="1334575"/>
          </a:xfrm>
          <a:prstGeom prst="roundRect">
            <a:avLst/>
          </a:prstGeom>
          <a:solidFill>
            <a:srgbClr val="F8F0F4"/>
          </a:solidFill>
          <a:ln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/>
            </a:pPr>
            <a:r>
              <a:rPr sz="1300" dirty="0"/>
              <a:t> </a:t>
            </a:r>
            <a:r>
              <a:rPr lang="es-ES" sz="2000" dirty="0"/>
              <a:t>📊 </a:t>
            </a:r>
            <a:r>
              <a:rPr lang="en-US" sz="1400" b="1" dirty="0">
                <a:solidFill>
                  <a:schemeClr val="tx1"/>
                </a:solidFill>
              </a:rPr>
              <a:t>• XXXXXXX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827094CD-090C-FA77-44B2-C0A97B2139B5}"/>
              </a:ext>
            </a:extLst>
          </p:cNvPr>
          <p:cNvSpPr/>
          <p:nvPr/>
        </p:nvSpPr>
        <p:spPr>
          <a:xfrm>
            <a:off x="4748647" y="2525555"/>
            <a:ext cx="2651760" cy="1334576"/>
          </a:xfrm>
          <a:prstGeom prst="roundRect">
            <a:avLst/>
          </a:prstGeom>
          <a:solidFill>
            <a:srgbClr val="F8F0F4"/>
          </a:solidFill>
          <a:ln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/>
            </a:pPr>
            <a:r>
              <a:rPr lang="es-ES" sz="1400" dirty="0"/>
              <a:t>📊 </a:t>
            </a:r>
            <a:r>
              <a:rPr lang="en-US" sz="1400" b="1" dirty="0">
                <a:solidFill>
                  <a:schemeClr val="tx1"/>
                </a:solidFill>
              </a:rPr>
              <a:t>• XXXXXXXXX.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4">
            <a:extLst>
              <a:ext uri="{FF2B5EF4-FFF2-40B4-BE49-F238E27FC236}">
                <a16:creationId xmlns:a16="http://schemas.microsoft.com/office/drawing/2014/main" id="{83C1A843-393F-B9C1-DBF9-43EA56AF7449}"/>
              </a:ext>
            </a:extLst>
          </p:cNvPr>
          <p:cNvSpPr/>
          <p:nvPr/>
        </p:nvSpPr>
        <p:spPr>
          <a:xfrm>
            <a:off x="4748647" y="4080674"/>
            <a:ext cx="2651760" cy="1334575"/>
          </a:xfrm>
          <a:prstGeom prst="roundRect">
            <a:avLst/>
          </a:prstGeom>
          <a:solidFill>
            <a:srgbClr val="F8F0F4"/>
          </a:solidFill>
          <a:ln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/>
            </a:pPr>
            <a:r>
              <a:rPr sz="1300" dirty="0"/>
              <a:t> </a:t>
            </a:r>
            <a:r>
              <a:rPr lang="es-ES" sz="2000" dirty="0"/>
              <a:t>🌍 </a:t>
            </a:r>
            <a:r>
              <a:rPr lang="en-US" sz="1400" b="1" dirty="0">
                <a:solidFill>
                  <a:schemeClr val="tx1"/>
                </a:solidFill>
              </a:rPr>
              <a:t>• XXXXX</a:t>
            </a:r>
            <a:endParaRPr lang="en-US" sz="1400" dirty="0">
              <a:solidFill>
                <a:schemeClr val="tx1"/>
              </a:solidFill>
            </a:endParaRPr>
          </a:p>
          <a:p>
            <a:pPr>
              <a:defRPr sz="1300"/>
            </a:pPr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7010713-5F9B-98FB-BB86-2C4B8E8DAB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851" r="64431" b="22773"/>
          <a:stretch/>
        </p:blipFill>
        <p:spPr>
          <a:xfrm>
            <a:off x="7429297" y="276722"/>
            <a:ext cx="1013479" cy="84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3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1651" y="715345"/>
            <a:ext cx="34299" cy="377288"/>
          </a:xfrm>
          <a:prstGeom prst="rect">
            <a:avLst/>
          </a:prstGeom>
          <a:solidFill>
            <a:srgbClr val="E61973"/>
          </a:solidFill>
          <a:ln>
            <a:solidFill>
              <a:srgbClr val="E61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1"/>
          </a:p>
        </p:txBody>
      </p:sp>
      <p:sp>
        <p:nvSpPr>
          <p:cNvPr id="3" name="TextBox 2"/>
          <p:cNvSpPr txBox="1"/>
          <p:nvPr/>
        </p:nvSpPr>
        <p:spPr>
          <a:xfrm>
            <a:off x="558846" y="633028"/>
            <a:ext cx="3762568" cy="69262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2101" b="1" dirty="0">
                <a:solidFill>
                  <a:srgbClr val="003366"/>
                </a:solidFill>
                <a:latin typeface="Aptos Display"/>
              </a:rPr>
              <a:t>XXXXXXXXXXXXXXXXXXXXXXXX</a:t>
            </a:r>
          </a:p>
          <a:p>
            <a:r>
              <a:rPr lang="en-US" dirty="0"/>
              <a:t>XXXXX</a:t>
            </a:r>
            <a:endParaRPr b="1" dirty="0">
              <a:solidFill>
                <a:srgbClr val="003366"/>
              </a:solidFill>
              <a:latin typeface="Aptos Display"/>
            </a:endParaRPr>
          </a:p>
        </p:txBody>
      </p:sp>
      <p:sp>
        <p:nvSpPr>
          <p:cNvPr id="10" name="Rounded Rectangle 4">
            <a:extLst>
              <a:ext uri="{FF2B5EF4-FFF2-40B4-BE49-F238E27FC236}">
                <a16:creationId xmlns:a16="http://schemas.microsoft.com/office/drawing/2014/main" id="{A1F2B760-44E3-423A-84C3-731A38FC9DD0}"/>
              </a:ext>
            </a:extLst>
          </p:cNvPr>
          <p:cNvSpPr/>
          <p:nvPr/>
        </p:nvSpPr>
        <p:spPr>
          <a:xfrm>
            <a:off x="1991323" y="4963719"/>
            <a:ext cx="4900800" cy="1288123"/>
          </a:xfrm>
          <a:prstGeom prst="roundRect">
            <a:avLst/>
          </a:prstGeom>
          <a:solidFill>
            <a:srgbClr val="FFFFFF"/>
          </a:solidFill>
          <a:ln>
            <a:solidFill>
              <a:srgbClr val="E61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dirty="0"/>
              <a:t>variables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91323" y="1662781"/>
            <a:ext cx="4900800" cy="1288123"/>
          </a:xfrm>
          <a:prstGeom prst="roundRect">
            <a:avLst/>
          </a:prstGeom>
          <a:solidFill>
            <a:srgbClr val="FFFFFF"/>
          </a:solidFill>
          <a:ln>
            <a:solidFill>
              <a:srgbClr val="E61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600" dirty="0"/>
              <a:t>variables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95926" y="3285757"/>
            <a:ext cx="4896201" cy="1381783"/>
          </a:xfrm>
          <a:prstGeom prst="roundRect">
            <a:avLst/>
          </a:prstGeom>
          <a:solidFill>
            <a:srgbClr val="FFFFFF"/>
          </a:solidFill>
          <a:ln>
            <a:solidFill>
              <a:srgbClr val="00A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12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CF3B01D-34E6-8DAA-D4C9-6D9F445DFD3C}"/>
              </a:ext>
            </a:extLst>
          </p:cNvPr>
          <p:cNvSpPr txBox="1"/>
          <p:nvPr/>
        </p:nvSpPr>
        <p:spPr>
          <a:xfrm>
            <a:off x="2174051" y="1698467"/>
            <a:ext cx="450730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📊 </a:t>
            </a:r>
            <a:r>
              <a:rPr lang="es-ES" b="1" dirty="0"/>
              <a:t>XXXX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 XXXX</a:t>
            </a:r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r>
              <a:rPr lang="es-ES" dirty="0"/>
              <a:t> </a:t>
            </a:r>
          </a:p>
          <a:p>
            <a:endParaRPr lang="es-ES" b="1" dirty="0"/>
          </a:p>
          <a:p>
            <a:endParaRPr lang="es-ES" b="1" dirty="0"/>
          </a:p>
          <a:p>
            <a:r>
              <a:rPr lang="es-ES" dirty="0"/>
              <a:t>📈 </a:t>
            </a:r>
            <a:r>
              <a:rPr lang="es-ES" b="1" dirty="0"/>
              <a:t>XXXX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 XXXX</a:t>
            </a:r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endParaRPr lang="es-ES" b="1" dirty="0"/>
          </a:p>
          <a:p>
            <a:r>
              <a:rPr lang="es-ES" dirty="0"/>
              <a:t>🏢 </a:t>
            </a:r>
            <a:r>
              <a:rPr lang="es-ES" b="1" dirty="0"/>
              <a:t>XXXX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 XXXX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97D1914-7CA6-342E-AA69-4536F6D159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851" r="64431" b="22773"/>
          <a:stretch/>
        </p:blipFill>
        <p:spPr>
          <a:xfrm>
            <a:off x="7429297" y="276722"/>
            <a:ext cx="1013479" cy="8457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3">
            <a:extLst>
              <a:ext uri="{FF2B5EF4-FFF2-40B4-BE49-F238E27FC236}">
                <a16:creationId xmlns:a16="http://schemas.microsoft.com/office/drawing/2014/main" id="{D3853D3E-53F7-2582-2806-231B46728340}"/>
              </a:ext>
            </a:extLst>
          </p:cNvPr>
          <p:cNvSpPr txBox="1"/>
          <p:nvPr/>
        </p:nvSpPr>
        <p:spPr>
          <a:xfrm>
            <a:off x="571505" y="2019413"/>
            <a:ext cx="7619999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 err="1">
                <a:solidFill>
                  <a:srgbClr val="00A1DE"/>
                </a:solidFill>
              </a:rPr>
              <a:t>xxxxxx</a:t>
            </a:r>
            <a:r>
              <a:rPr lang="es-ES" sz="2000" b="1" dirty="0"/>
              <a:t>:</a:t>
            </a:r>
          </a:p>
          <a:p>
            <a:endParaRPr lang="es-ES" sz="2000" b="1" dirty="0">
              <a:solidFill>
                <a:srgbClr val="00A1DE"/>
              </a:solidFill>
            </a:endParaRPr>
          </a:p>
          <a:p>
            <a:r>
              <a:rPr lang="es-ES" dirty="0"/>
              <a:t>• </a:t>
            </a:r>
            <a:r>
              <a:rPr lang="es-ES" dirty="0" err="1"/>
              <a:t>xx</a:t>
            </a:r>
            <a:endParaRPr lang="es-ES" dirty="0"/>
          </a:p>
          <a:p>
            <a:r>
              <a:rPr lang="es-ES" dirty="0"/>
              <a:t>• </a:t>
            </a:r>
            <a:r>
              <a:rPr lang="en-US" dirty="0"/>
              <a:t>xx</a:t>
            </a:r>
          </a:p>
          <a:p>
            <a:r>
              <a:rPr lang="es-ES" dirty="0"/>
              <a:t>• </a:t>
            </a:r>
            <a:r>
              <a:rPr lang="en-US" dirty="0"/>
              <a:t>xx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F2A4D491-F6E5-F2FC-EA22-CB31C0DEB2AE}"/>
              </a:ext>
            </a:extLst>
          </p:cNvPr>
          <p:cNvSpPr/>
          <p:nvPr/>
        </p:nvSpPr>
        <p:spPr>
          <a:xfrm>
            <a:off x="571503" y="4269841"/>
            <a:ext cx="7619999" cy="1401921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700">
                <a:solidFill>
                  <a:srgbClr val="FFFFFF"/>
                </a:solidFill>
              </a:defRPr>
            </a:pPr>
            <a:r>
              <a:rPr lang="es-ES" sz="20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xxxx</a:t>
            </a:r>
            <a:endParaRPr lang="en-US" sz="20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6A7D27A-70A7-B7E4-A946-40B8075170E8}"/>
              </a:ext>
            </a:extLst>
          </p:cNvPr>
          <p:cNvSpPr txBox="1"/>
          <p:nvPr/>
        </p:nvSpPr>
        <p:spPr>
          <a:xfrm>
            <a:off x="571504" y="584284"/>
            <a:ext cx="7871273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700" b="1" dirty="0">
                <a:solidFill>
                  <a:srgbClr val="003366"/>
                </a:solidFill>
              </a:rPr>
              <a:t>XXXXXXXXXXXXXX</a:t>
            </a:r>
          </a:p>
          <a:p>
            <a:r>
              <a:rPr lang="en-US" sz="2700" dirty="0">
                <a:solidFill>
                  <a:srgbClr val="003366"/>
                </a:solidFill>
              </a:rPr>
              <a:t>XX</a:t>
            </a:r>
            <a:endParaRPr lang="es-ES" sz="2200" dirty="0">
              <a:solidFill>
                <a:srgbClr val="003366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06B1E80-3813-3875-CDA4-5AFB674FBA9F}"/>
              </a:ext>
            </a:extLst>
          </p:cNvPr>
          <p:cNvSpPr/>
          <p:nvPr/>
        </p:nvSpPr>
        <p:spPr>
          <a:xfrm>
            <a:off x="381003" y="631909"/>
            <a:ext cx="57151" cy="476251"/>
          </a:xfrm>
          <a:prstGeom prst="rect">
            <a:avLst/>
          </a:prstGeom>
          <a:solidFill>
            <a:srgbClr val="E6197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 sz="1351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636E7D2-708F-B7D5-E822-73E679E3C4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2851" r="64431" b="22773"/>
          <a:stretch/>
        </p:blipFill>
        <p:spPr>
          <a:xfrm>
            <a:off x="7429297" y="276722"/>
            <a:ext cx="1013479" cy="84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332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3391</TotalTime>
  <Words>188</Words>
  <Application>Microsoft Office PowerPoint</Application>
  <PresentationFormat>Presentación en pantalla (4:3)</PresentationFormat>
  <Paragraphs>87</Paragraphs>
  <Slides>12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Análisis del absentismo y desempeño  laboral 2025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Vanessa Bujaldon</dc:creator>
  <cp:keywords/>
  <dc:description>generated using python-pptx</dc:description>
  <cp:lastModifiedBy>Vanessa Bujaldon</cp:lastModifiedBy>
  <cp:revision>70</cp:revision>
  <dcterms:created xsi:type="dcterms:W3CDTF">2013-01-27T09:14:16Z</dcterms:created>
  <dcterms:modified xsi:type="dcterms:W3CDTF">2026-07-02T22:26:55Z</dcterms:modified>
  <cp:category/>
</cp:coreProperties>
</file>