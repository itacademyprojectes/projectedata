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</p:sldMasterIdLst>
  <p:notesMasterIdLst>
    <p:notesMasterId r:id="rId3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3" d="100"/>
          <a:sy n="93" d="100"/>
        </p:scale>
        <p:origin x="369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tableStyles" Target="tableStyle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theme" Target="theme/theme1.xml"/><Relationship Id="rId8" Type="http://schemas.openxmlformats.org/officeDocument/2006/relationships/slideMaster" Target="slideMasters/slideMaster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desplazar la diapositiva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Pulse para editar el formato de las notas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&lt;cabecera&gt;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52" name="PlaceHolder 5"/>
          <p:cNvSpPr>
            <a:spLocks noGrp="1"/>
          </p:cNvSpPr>
          <p:nvPr>
            <p:ph type="ftr" idx="2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2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F8F045B-500E-4C9B-BB45-FEBB93282DE8}" type="slidenum"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[Sources]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 3: oferta formativa por competencia en 2024.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diapositivas 5 y 6: prioridades futuras por competencia.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 9: ranking de formación frente a importancia.</a:t>
            </a:r>
          </a:p>
        </p:txBody>
      </p:sp>
      <p:sp>
        <p:nvSpPr>
          <p:cNvPr id="41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[Sources]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 3: oferta formativa por competencia en 2024.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diapositivas 5 y 6: prioridades futuras por competencia.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- BusinessReport- template.pptx, diapositiva 9: ranking de formación frente a importancia.</a:t>
            </a:r>
          </a:p>
        </p:txBody>
      </p:sp>
      <p:sp>
        <p:nvSpPr>
          <p:cNvPr id="422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Sesiones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cortas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,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integrada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en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el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puesto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, canales flexibles,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preiodos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de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baja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carga, etc.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verificar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la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falta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de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competencias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real de la Plantilla.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Puede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encajar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con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formación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interna o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cursos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adaptados</a:t>
            </a:r>
            <a:r>
              <a:rPr lang="en-US" sz="1200" b="0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incompany</a:t>
            </a:r>
            <a:endParaRPr lang="es-ES" sz="1200" b="0" strike="noStrike" spc="-1" dirty="0">
              <a:solidFill>
                <a:srgbClr val="000000"/>
              </a:solidFill>
              <a:latin typeface="Arial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pPr indent="0" algn="r">
              <a:buNone/>
            </a:pPr>
            <a:fld id="{7F8F045B-500E-4C9B-BB45-FEBB93282DE8}" type="slidenum">
              <a:rPr lang="es-ES" sz="1400" b="0" strike="noStrike" spc="-1" smtClean="0">
                <a:solidFill>
                  <a:srgbClr val="000000"/>
                </a:solidFill>
                <a:latin typeface="Times New Roman"/>
              </a:rPr>
              <a:t>17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368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436245A-7DB7-40C4-93AE-D150ECADED87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778688A-1097-4829-85A9-A5393B6ACFC3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redetermina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71ACC622-12F7-4CDD-970B-34D851572BEE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F9C8B13-03FC-498A-AABA-846EEFE03F1F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B4C0E9BC-2C5E-48AA-AEE0-C18FDCEAB6B9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F08BA1C-D27C-4DD3-A56A-058BF8469949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redeterminado 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8DA62C27-A78D-47C7-A0DD-7B4BA9871641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7CBBB7BD-A382-4D1A-91EF-9350309ED46C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8240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3568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839E5DE-2BD4-4715-98D9-C3F2E002D610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3568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&lt;pie de página&gt;</a:t>
            </a: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s-ES" sz="1800" b="0" strike="noStrike" spc="-1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fld id="{66E09FC0-4E43-4AAB-9C1E-CF8259A76F3E}" type="slidenum">
              <a:rPr lang="es-ES" sz="1800" b="0" strike="noStrike" spc="-1">
                <a:solidFill>
                  <a:schemeClr val="dk1"/>
                </a:solidFill>
                <a:latin typeface="Calibri"/>
                <a:ea typeface="Calibri"/>
              </a:rPr>
              <a:t>‹Nº›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8240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&lt;pie de página&gt;</a:t>
            </a: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3568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68C957-F7CD-4ED0-929E-15FD84E74C74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35680" cy="37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&lt;pie de página&gt;</a:t>
            </a:r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s-E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9963D9-360D-4640-A564-04801AB4D111}" type="slidenum">
              <a:rPr lang="es-E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  <a:ea typeface="Aptos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s-E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2297E2-6AB6-4FAF-9595-4CAE25BC7EB2}" type="slidenum">
              <a:rPr lang="es-E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2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8312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3640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0A902C-A6E5-4E02-B0CE-C7F1CB84C060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3640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8312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38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3640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4FEF4A9-176A-463A-A753-0771389422F5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‹Nº›</a:t>
            </a:fld>
            <a:endParaRPr lang="es-E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36400" cy="37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757575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373B5E-FD95-4F6D-90CF-1C07B4CC620E}" type="slidenum">
              <a:rPr lang="en-US" sz="1200" b="0" strike="noStrike" spc="-1">
                <a:solidFill>
                  <a:srgbClr val="757575"/>
                </a:solidFill>
                <a:latin typeface="Arial"/>
                <a:ea typeface="Aria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&lt;fecha/hora&gt;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0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0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1;p1"/>
          <p:cNvPicPr/>
          <p:nvPr/>
        </p:nvPicPr>
        <p:blipFill>
          <a:blip r:embed="rId2"/>
          <a:srcRect l="10580"/>
          <a:stretch/>
        </p:blipFill>
        <p:spPr>
          <a:xfrm>
            <a:off x="6290998" y="0"/>
            <a:ext cx="5893921" cy="6507720"/>
          </a:xfrm>
          <a:prstGeom prst="rect">
            <a:avLst/>
          </a:prstGeom>
          <a:ln w="0">
            <a:noFill/>
          </a:ln>
        </p:spPr>
      </p:pic>
      <p:sp>
        <p:nvSpPr>
          <p:cNvPr id="55" name="Google Shape;52;p 2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Google Shape;53;p 2"/>
          <p:cNvSpPr/>
          <p:nvPr/>
        </p:nvSpPr>
        <p:spPr>
          <a:xfrm>
            <a:off x="832645" y="2011680"/>
            <a:ext cx="5893920" cy="103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3600" b="0" strike="noStrike" spc="-1" dirty="0">
                <a:solidFill>
                  <a:srgbClr val="1F2937"/>
                </a:solidFill>
                <a:latin typeface="Arial"/>
                <a:ea typeface="Arial"/>
              </a:rPr>
              <a:t>Análisis de tendencias</a:t>
            </a:r>
            <a:endParaRPr lang="es-ES" sz="36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3600" b="0" strike="noStrike" spc="-1" dirty="0">
                <a:solidFill>
                  <a:srgbClr val="1F2937"/>
                </a:solidFill>
                <a:latin typeface="Arial"/>
                <a:ea typeface="Arial"/>
              </a:rPr>
              <a:t>formativas del sector</a:t>
            </a:r>
            <a:endParaRPr lang="es-ES" sz="3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Google Shape;54;p 2"/>
          <p:cNvSpPr/>
          <p:nvPr/>
        </p:nvSpPr>
        <p:spPr>
          <a:xfrm>
            <a:off x="868645" y="3765478"/>
            <a:ext cx="1968120" cy="826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b="0" strike="noStrike" spc="-1" dirty="0">
                <a:solidFill>
                  <a:srgbClr val="6B7280"/>
                </a:solidFill>
                <a:latin typeface="Arial"/>
                <a:ea typeface="Arial"/>
              </a:rPr>
              <a:t>27 de Julio 2026</a:t>
            </a:r>
            <a:endParaRPr lang="es-E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Google Shape;55;p 2"/>
          <p:cNvPicPr/>
          <p:nvPr/>
        </p:nvPicPr>
        <p:blipFill>
          <a:blip r:embed="rId3"/>
          <a:srcRect t="26247" b="23016"/>
          <a:stretch/>
        </p:blipFill>
        <p:spPr>
          <a:xfrm>
            <a:off x="216000" y="360360"/>
            <a:ext cx="1937880" cy="527760"/>
          </a:xfrm>
          <a:prstGeom prst="rect">
            <a:avLst/>
          </a:prstGeom>
          <a:ln w="0">
            <a:noFill/>
          </a:ln>
        </p:spPr>
      </p:pic>
      <p:sp>
        <p:nvSpPr>
          <p:cNvPr id="59" name="Google Shape;56;p 2"/>
          <p:cNvSpPr/>
          <p:nvPr/>
        </p:nvSpPr>
        <p:spPr>
          <a:xfrm>
            <a:off x="856764" y="3420000"/>
            <a:ext cx="4079961" cy="5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b="0" strike="noStrike" spc="-1" dirty="0" err="1">
                <a:solidFill>
                  <a:srgbClr val="6B7280"/>
                </a:solidFill>
                <a:latin typeface="Arial"/>
                <a:ea typeface="Arial"/>
              </a:rPr>
              <a:t>Dpt</a:t>
            </a:r>
            <a:r>
              <a:rPr lang="es-ES" b="0" strike="noStrike" spc="-1" dirty="0">
                <a:solidFill>
                  <a:srgbClr val="6B7280"/>
                </a:solidFill>
                <a:latin typeface="Arial"/>
                <a:ea typeface="Arial"/>
              </a:rPr>
              <a:t>. Analistas de Datos de RRHH</a:t>
            </a:r>
            <a:endParaRPr lang="es-ES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49B5950A-4FD3-2CDC-7B33-495BD4E96AD3}"/>
              </a:ext>
            </a:extLst>
          </p:cNvPr>
          <p:cNvSpPr/>
          <p:nvPr/>
        </p:nvSpPr>
        <p:spPr>
          <a:xfrm>
            <a:off x="1047964" y="4139006"/>
            <a:ext cx="4770390" cy="66970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705FDBF-0A25-3E8E-7EFD-9772694CC790}"/>
              </a:ext>
            </a:extLst>
          </p:cNvPr>
          <p:cNvSpPr/>
          <p:nvPr/>
        </p:nvSpPr>
        <p:spPr>
          <a:xfrm>
            <a:off x="8666732" y="4142715"/>
            <a:ext cx="2372998" cy="66970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EC1DFA-BC34-A795-E463-F3D9742C8CC2}"/>
              </a:ext>
            </a:extLst>
          </p:cNvPr>
          <p:cNvSpPr/>
          <p:nvPr/>
        </p:nvSpPr>
        <p:spPr>
          <a:xfrm>
            <a:off x="6241410" y="4142715"/>
            <a:ext cx="1976104" cy="66970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Google Shape;81;p3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Google Shape;82;p3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Google Shape;83;p3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Google Shape;84;p3"/>
          <p:cNvPicPr/>
          <p:nvPr/>
        </p:nvPicPr>
        <p:blipFill>
          <a:blip r:embed="rId3"/>
          <a:srcRect t="26220" b="23016"/>
          <a:stretch/>
        </p:blipFill>
        <p:spPr>
          <a:xfrm>
            <a:off x="10038600" y="288360"/>
            <a:ext cx="1937160" cy="527040"/>
          </a:xfrm>
          <a:prstGeom prst="rect">
            <a:avLst/>
          </a:prstGeom>
          <a:ln w="0">
            <a:noFill/>
          </a:ln>
        </p:spPr>
      </p:pic>
      <p:pic>
        <p:nvPicPr>
          <p:cNvPr id="64" name="Imagen 63"/>
          <p:cNvPicPr/>
          <p:nvPr/>
        </p:nvPicPr>
        <p:blipFill>
          <a:blip r:embed="rId4"/>
          <a:srcRect b="12636"/>
          <a:stretch/>
        </p:blipFill>
        <p:spPr>
          <a:xfrm>
            <a:off x="6632110" y="2790724"/>
            <a:ext cx="1411430" cy="1269291"/>
          </a:xfrm>
          <a:prstGeom prst="rect">
            <a:avLst/>
          </a:prstGeom>
          <a:ln w="0">
            <a:noFill/>
          </a:ln>
        </p:spPr>
      </p:pic>
      <p:pic>
        <p:nvPicPr>
          <p:cNvPr id="66" name="Imagen 65"/>
          <p:cNvPicPr/>
          <p:nvPr/>
        </p:nvPicPr>
        <p:blipFill>
          <a:blip r:embed="rId5"/>
          <a:srcRect t="9928" b="14172"/>
          <a:stretch/>
        </p:blipFill>
        <p:spPr>
          <a:xfrm>
            <a:off x="1520052" y="2947311"/>
            <a:ext cx="869760" cy="682560"/>
          </a:xfrm>
          <a:prstGeom prst="rect">
            <a:avLst/>
          </a:prstGeom>
          <a:ln w="0">
            <a:noFill/>
          </a:ln>
        </p:spPr>
      </p:pic>
      <p:pic>
        <p:nvPicPr>
          <p:cNvPr id="67" name="Imagen 66"/>
          <p:cNvPicPr/>
          <p:nvPr/>
        </p:nvPicPr>
        <p:blipFill>
          <a:blip r:embed="rId6"/>
          <a:srcRect t="8437" b="15310"/>
          <a:stretch/>
        </p:blipFill>
        <p:spPr>
          <a:xfrm>
            <a:off x="2984333" y="2790724"/>
            <a:ext cx="1044000" cy="823252"/>
          </a:xfrm>
          <a:prstGeom prst="rect">
            <a:avLst/>
          </a:prstGeom>
          <a:ln w="0">
            <a:noFill/>
          </a:ln>
        </p:spPr>
      </p:pic>
      <p:pic>
        <p:nvPicPr>
          <p:cNvPr id="68" name="Imagen 67"/>
          <p:cNvPicPr/>
          <p:nvPr/>
        </p:nvPicPr>
        <p:blipFill>
          <a:blip r:embed="rId7"/>
          <a:stretch/>
        </p:blipFill>
        <p:spPr>
          <a:xfrm>
            <a:off x="4476554" y="2790724"/>
            <a:ext cx="883440" cy="913680"/>
          </a:xfrm>
          <a:prstGeom prst="rect">
            <a:avLst/>
          </a:prstGeom>
          <a:ln w="0">
            <a:noFill/>
          </a:ln>
        </p:spPr>
      </p:pic>
      <p:pic>
        <p:nvPicPr>
          <p:cNvPr id="69" name="Imagen 68"/>
          <p:cNvPicPr/>
          <p:nvPr/>
        </p:nvPicPr>
        <p:blipFill>
          <a:blip r:embed="rId8"/>
          <a:srcRect l="-1285" t="6101" r="1285" b="15948"/>
          <a:stretch/>
        </p:blipFill>
        <p:spPr>
          <a:xfrm>
            <a:off x="9141096" y="2822402"/>
            <a:ext cx="1530852" cy="1237613"/>
          </a:xfrm>
          <a:prstGeom prst="rect">
            <a:avLst/>
          </a:prstGeom>
          <a:ln w="0">
            <a:noFill/>
          </a:ln>
        </p:spPr>
      </p:pic>
      <p:sp>
        <p:nvSpPr>
          <p:cNvPr id="70" name="Rectángulo 69"/>
          <p:cNvSpPr/>
          <p:nvPr/>
        </p:nvSpPr>
        <p:spPr>
          <a:xfrm>
            <a:off x="6415384" y="4281544"/>
            <a:ext cx="1628156" cy="39204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strike="noStrike" spc="-1" dirty="0">
                <a:solidFill>
                  <a:srgbClr val="000000"/>
                </a:solidFill>
                <a:latin typeface="Calibri"/>
              </a:rPr>
              <a:t>Políticas </a:t>
            </a:r>
            <a:r>
              <a:rPr lang="es-ES" sz="1600" b="1" spc="-1" dirty="0">
                <a:solidFill>
                  <a:srgbClr val="000000"/>
                </a:solidFill>
                <a:latin typeface="Calibri"/>
              </a:rPr>
              <a:t>internas</a:t>
            </a:r>
          </a:p>
        </p:txBody>
      </p:sp>
      <p:sp>
        <p:nvSpPr>
          <p:cNvPr id="71" name="Rectángulo 70"/>
          <p:cNvSpPr/>
          <p:nvPr/>
        </p:nvSpPr>
        <p:spPr>
          <a:xfrm>
            <a:off x="2313996" y="4291557"/>
            <a:ext cx="2086813" cy="3438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600" b="1" strike="noStrike" spc="-1" dirty="0">
                <a:solidFill>
                  <a:srgbClr val="000000"/>
                </a:solidFill>
                <a:latin typeface="Calibri"/>
              </a:rPr>
              <a:t>Tendencias formativas</a:t>
            </a:r>
            <a:endParaRPr lang="es-ES" sz="16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Forma libre: forma 71"/>
          <p:cNvSpPr/>
          <p:nvPr/>
        </p:nvSpPr>
        <p:spPr>
          <a:xfrm>
            <a:off x="8372515" y="3391237"/>
            <a:ext cx="172440" cy="538920"/>
          </a:xfrm>
          <a:custGeom>
            <a:avLst/>
            <a:gdLst>
              <a:gd name="textAreaLeft" fmla="*/ 0 w 172440"/>
              <a:gd name="textAreaRight" fmla="*/ 174960 w 172440"/>
              <a:gd name="textAreaTop" fmla="*/ 0 h 538920"/>
              <a:gd name="textAreaBottom" fmla="*/ 541440 h 53892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0489" y="0"/>
                </a:lnTo>
                <a:lnTo>
                  <a:pt x="21600" y="10800"/>
                </a:lnTo>
                <a:lnTo>
                  <a:pt x="10489" y="21600"/>
                </a:lnTo>
                <a:lnTo>
                  <a:pt x="0" y="21600"/>
                </a:lnTo>
                <a:lnTo>
                  <a:pt x="11111" y="1080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ángulo 73"/>
          <p:cNvSpPr/>
          <p:nvPr/>
        </p:nvSpPr>
        <p:spPr>
          <a:xfrm>
            <a:off x="1258331" y="3615471"/>
            <a:ext cx="1695179" cy="4128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400" b="1" strike="noStrike" spc="-1" dirty="0">
                <a:solidFill>
                  <a:srgbClr val="000000"/>
                </a:solidFill>
                <a:latin typeface="Calibri"/>
              </a:rPr>
              <a:t>Competencias clave</a:t>
            </a:r>
            <a:endParaRPr lang="es-ES" sz="14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ángulo 74"/>
          <p:cNvSpPr/>
          <p:nvPr/>
        </p:nvSpPr>
        <p:spPr>
          <a:xfrm>
            <a:off x="3160276" y="3637961"/>
            <a:ext cx="695520" cy="26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200" b="1" strike="noStrike" spc="-1" dirty="0">
                <a:solidFill>
                  <a:srgbClr val="000000"/>
                </a:solidFill>
                <a:latin typeface="Calibri"/>
              </a:rPr>
              <a:t>Medios</a:t>
            </a:r>
            <a:endParaRPr lang="es-E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ángulo 75"/>
          <p:cNvSpPr/>
          <p:nvPr/>
        </p:nvSpPr>
        <p:spPr>
          <a:xfrm>
            <a:off x="4577852" y="3613975"/>
            <a:ext cx="751320" cy="44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200" b="1" strike="noStrike" spc="-1" dirty="0">
                <a:solidFill>
                  <a:srgbClr val="000000"/>
                </a:solidFill>
                <a:latin typeface="Calibri"/>
              </a:rPr>
              <a:t>Barreras</a:t>
            </a:r>
            <a:endParaRPr lang="es-E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Forma libre: forma 76"/>
          <p:cNvSpPr/>
          <p:nvPr/>
        </p:nvSpPr>
        <p:spPr>
          <a:xfrm>
            <a:off x="6002576" y="3391237"/>
            <a:ext cx="172080" cy="538920"/>
          </a:xfrm>
          <a:custGeom>
            <a:avLst/>
            <a:gdLst>
              <a:gd name="textAreaLeft" fmla="*/ 0 w 172080"/>
              <a:gd name="textAreaRight" fmla="*/ 174600 w 172080"/>
              <a:gd name="textAreaTop" fmla="*/ 0 h 538920"/>
              <a:gd name="textAreaBottom" fmla="*/ 541440 h 53892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10421" y="0"/>
                </a:lnTo>
                <a:lnTo>
                  <a:pt x="21600" y="10800"/>
                </a:lnTo>
                <a:lnTo>
                  <a:pt x="10421" y="21600"/>
                </a:lnTo>
                <a:lnTo>
                  <a:pt x="0" y="21600"/>
                </a:lnTo>
                <a:lnTo>
                  <a:pt x="11179" y="1080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ángulo 77"/>
          <p:cNvSpPr/>
          <p:nvPr/>
        </p:nvSpPr>
        <p:spPr>
          <a:xfrm>
            <a:off x="8722762" y="4148873"/>
            <a:ext cx="2255173" cy="6697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s-ES" sz="1600" b="1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Aumento del desarrollo </a:t>
            </a:r>
          </a:p>
          <a:p>
            <a:pPr algn="ctr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s-ES" sz="1600" b="1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profesional</a:t>
            </a:r>
          </a:p>
        </p:txBody>
      </p:sp>
      <p:sp>
        <p:nvSpPr>
          <p:cNvPr id="79" name="Google Shape;96;p 4"/>
          <p:cNvSpPr/>
          <p:nvPr/>
        </p:nvSpPr>
        <p:spPr>
          <a:xfrm>
            <a:off x="1028649" y="719825"/>
            <a:ext cx="7733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142346"/>
                </a:solidFill>
                <a:latin typeface="Calibri"/>
                <a:ea typeface="Calibri"/>
              </a:rPr>
              <a:t>Pregunta de investigación</a:t>
            </a:r>
            <a:endParaRPr lang="es-E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1;p 3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Google Shape;82;p 3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83;p 3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Google Shape;84;p 3"/>
          <p:cNvPicPr/>
          <p:nvPr/>
        </p:nvPicPr>
        <p:blipFill>
          <a:blip r:embed="rId3"/>
          <a:srcRect t="26220" b="23016"/>
          <a:stretch/>
        </p:blipFill>
        <p:spPr>
          <a:xfrm>
            <a:off x="10038600" y="288360"/>
            <a:ext cx="1937160" cy="527040"/>
          </a:xfrm>
          <a:prstGeom prst="rect">
            <a:avLst/>
          </a:prstGeom>
          <a:ln w="0">
            <a:noFill/>
          </a:ln>
        </p:spPr>
      </p:pic>
      <p:sp>
        <p:nvSpPr>
          <p:cNvPr id="84" name="Google Shape;96;p 5"/>
          <p:cNvSpPr/>
          <p:nvPr/>
        </p:nvSpPr>
        <p:spPr>
          <a:xfrm>
            <a:off x="904320" y="322560"/>
            <a:ext cx="7733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Dataset utilizado y universo de estudio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ángulo 84"/>
          <p:cNvSpPr/>
          <p:nvPr/>
        </p:nvSpPr>
        <p:spPr>
          <a:xfrm>
            <a:off x="7692120" y="6296760"/>
            <a:ext cx="4497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https://www.mites.gob.es/es/estadisticas/mercado_trabajo/EAL/welcome.htm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ángulo 85"/>
          <p:cNvSpPr/>
          <p:nvPr/>
        </p:nvSpPr>
        <p:spPr>
          <a:xfrm>
            <a:off x="868320" y="771480"/>
            <a:ext cx="4316760" cy="505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1" strike="noStrike" spc="-1">
                <a:solidFill>
                  <a:srgbClr val="505869"/>
                </a:solidFill>
                <a:latin typeface="Calibri"/>
                <a:ea typeface="Calibri"/>
              </a:rPr>
              <a:t>Encuesta Anual Laboral (MITES) 2022-2024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" name="Imagen 86"/>
          <p:cNvPicPr/>
          <p:nvPr/>
        </p:nvPicPr>
        <p:blipFill>
          <a:blip r:embed="rId4"/>
          <a:stretch/>
        </p:blipFill>
        <p:spPr>
          <a:xfrm flipH="1">
            <a:off x="3302640" y="2130120"/>
            <a:ext cx="724320" cy="723960"/>
          </a:xfrm>
          <a:prstGeom prst="rect">
            <a:avLst/>
          </a:prstGeom>
          <a:ln w="0">
            <a:noFill/>
          </a:ln>
        </p:spPr>
      </p:pic>
      <p:pic>
        <p:nvPicPr>
          <p:cNvPr id="88" name="Imagen 87"/>
          <p:cNvPicPr/>
          <p:nvPr/>
        </p:nvPicPr>
        <p:blipFill>
          <a:blip r:embed="rId5"/>
          <a:stretch/>
        </p:blipFill>
        <p:spPr>
          <a:xfrm>
            <a:off x="3295440" y="3756600"/>
            <a:ext cx="734400" cy="734760"/>
          </a:xfrm>
          <a:prstGeom prst="rect">
            <a:avLst/>
          </a:prstGeom>
          <a:ln w="0">
            <a:noFill/>
          </a:ln>
        </p:spPr>
      </p:pic>
      <p:pic>
        <p:nvPicPr>
          <p:cNvPr id="89" name="Imagen 88"/>
          <p:cNvPicPr/>
          <p:nvPr/>
        </p:nvPicPr>
        <p:blipFill>
          <a:blip r:embed="rId6"/>
          <a:stretch/>
        </p:blipFill>
        <p:spPr>
          <a:xfrm>
            <a:off x="3300480" y="4601880"/>
            <a:ext cx="724320" cy="723960"/>
          </a:xfrm>
          <a:prstGeom prst="rect">
            <a:avLst/>
          </a:prstGeom>
          <a:ln w="0">
            <a:noFill/>
          </a:ln>
        </p:spPr>
      </p:pic>
      <p:pic>
        <p:nvPicPr>
          <p:cNvPr id="90" name="Imagen 89"/>
          <p:cNvPicPr/>
          <p:nvPr/>
        </p:nvPicPr>
        <p:blipFill>
          <a:blip r:embed="rId7"/>
          <a:stretch/>
        </p:blipFill>
        <p:spPr>
          <a:xfrm>
            <a:off x="3339720" y="2995920"/>
            <a:ext cx="646200" cy="645840"/>
          </a:xfrm>
          <a:prstGeom prst="rect">
            <a:avLst/>
          </a:prstGeom>
          <a:ln w="0">
            <a:noFill/>
          </a:ln>
        </p:spPr>
      </p:pic>
      <p:sp>
        <p:nvSpPr>
          <p:cNvPr id="91" name="Flecha: a la derecha 90"/>
          <p:cNvSpPr/>
          <p:nvPr/>
        </p:nvSpPr>
        <p:spPr>
          <a:xfrm>
            <a:off x="4314960" y="2403000"/>
            <a:ext cx="362880" cy="177840"/>
          </a:xfrm>
          <a:prstGeom prst="rightArrow">
            <a:avLst>
              <a:gd name="adj1" fmla="val 50000"/>
              <a:gd name="adj2" fmla="val 50700"/>
            </a:avLst>
          </a:pr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4640" rIns="90000" bIns="446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ángulo 91"/>
          <p:cNvSpPr/>
          <p:nvPr/>
        </p:nvSpPr>
        <p:spPr>
          <a:xfrm>
            <a:off x="4752000" y="231300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10.000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Flecha: a la derecha 92"/>
          <p:cNvSpPr/>
          <p:nvPr/>
        </p:nvSpPr>
        <p:spPr>
          <a:xfrm>
            <a:off x="4314960" y="3229920"/>
            <a:ext cx="362880" cy="177840"/>
          </a:xfrm>
          <a:prstGeom prst="rightArrow">
            <a:avLst>
              <a:gd name="adj1" fmla="val 50000"/>
              <a:gd name="adj2" fmla="val 50700"/>
            </a:avLst>
          </a:pr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4640" rIns="90000" bIns="446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ectángulo 93"/>
          <p:cNvSpPr/>
          <p:nvPr/>
        </p:nvSpPr>
        <p:spPr>
          <a:xfrm>
            <a:off x="4752000" y="313992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1.800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Flecha: a la derecha 94"/>
          <p:cNvSpPr/>
          <p:nvPr/>
        </p:nvSpPr>
        <p:spPr>
          <a:xfrm>
            <a:off x="4314960" y="4034880"/>
            <a:ext cx="362880" cy="177840"/>
          </a:xfrm>
          <a:prstGeom prst="rightArrow">
            <a:avLst>
              <a:gd name="adj1" fmla="val 50000"/>
              <a:gd name="adj2" fmla="val 50700"/>
            </a:avLst>
          </a:pr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4640" rIns="90000" bIns="446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ectángulo 95"/>
          <p:cNvSpPr/>
          <p:nvPr/>
        </p:nvSpPr>
        <p:spPr>
          <a:xfrm>
            <a:off x="4752000" y="394488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6.000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Flecha: a la derecha 96"/>
          <p:cNvSpPr/>
          <p:nvPr/>
        </p:nvSpPr>
        <p:spPr>
          <a:xfrm>
            <a:off x="4314960" y="4874760"/>
            <a:ext cx="362880" cy="177840"/>
          </a:xfrm>
          <a:prstGeom prst="rightArrow">
            <a:avLst>
              <a:gd name="adj1" fmla="val 50000"/>
              <a:gd name="adj2" fmla="val 50700"/>
            </a:avLst>
          </a:pr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4640" rIns="90000" bIns="446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ectángulo 97"/>
          <p:cNvSpPr/>
          <p:nvPr/>
        </p:nvSpPr>
        <p:spPr>
          <a:xfrm>
            <a:off x="4752000" y="478476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646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ángulo 98"/>
          <p:cNvSpPr/>
          <p:nvPr/>
        </p:nvSpPr>
        <p:spPr>
          <a:xfrm>
            <a:off x="6912000" y="313992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1.800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ángulo 99"/>
          <p:cNvSpPr/>
          <p:nvPr/>
        </p:nvSpPr>
        <p:spPr>
          <a:xfrm>
            <a:off x="6948000" y="3944880"/>
            <a:ext cx="89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4.300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Imagen 100"/>
          <p:cNvPicPr/>
          <p:nvPr/>
        </p:nvPicPr>
        <p:blipFill>
          <a:blip r:embed="rId8"/>
          <a:stretch/>
        </p:blipFill>
        <p:spPr>
          <a:xfrm>
            <a:off x="7884000" y="3240000"/>
            <a:ext cx="802440" cy="802440"/>
          </a:xfrm>
          <a:prstGeom prst="rect">
            <a:avLst/>
          </a:prstGeom>
          <a:ln w="0">
            <a:noFill/>
          </a:ln>
        </p:spPr>
      </p:pic>
      <p:sp>
        <p:nvSpPr>
          <p:cNvPr id="102" name="Forma libre: forma 101"/>
          <p:cNvSpPr/>
          <p:nvPr/>
        </p:nvSpPr>
        <p:spPr>
          <a:xfrm>
            <a:off x="6156000" y="3229920"/>
            <a:ext cx="645840" cy="177840"/>
          </a:xfrm>
          <a:custGeom>
            <a:avLst/>
            <a:gdLst>
              <a:gd name="textAreaLeft" fmla="*/ 119880 w 645840"/>
              <a:gd name="textAreaRight" fmla="*/ 545400 w 645840"/>
              <a:gd name="textAreaTop" fmla="*/ 53280 h 177840"/>
              <a:gd name="textAreaBottom" fmla="*/ 126720 h 177840"/>
            </a:gdLst>
            <a:ahLst/>
            <a:cxnLst/>
            <a:rect l="textAreaLeft" t="textAreaTop" r="textAreaRight" b="textAreaBottom"/>
            <a:pathLst>
              <a:path w="21600" h="21800">
                <a:moveTo>
                  <a:pt x="13200" y="0"/>
                </a:moveTo>
                <a:lnTo>
                  <a:pt x="21600" y="10800"/>
                </a:lnTo>
                <a:lnTo>
                  <a:pt x="13200" y="21800"/>
                </a:lnTo>
                <a:lnTo>
                  <a:pt x="13200" y="15200"/>
                </a:lnTo>
                <a:lnTo>
                  <a:pt x="4000" y="15200"/>
                </a:lnTo>
                <a:lnTo>
                  <a:pt x="4000" y="6400"/>
                </a:lnTo>
                <a:lnTo>
                  <a:pt x="13200" y="6400"/>
                </a:lnTo>
                <a:lnTo>
                  <a:pt x="13200" y="0"/>
                </a:lnTo>
                <a:moveTo>
                  <a:pt x="0" y="6400"/>
                </a:moveTo>
                <a:lnTo>
                  <a:pt x="0" y="15200"/>
                </a:lnTo>
                <a:lnTo>
                  <a:pt x="1000" y="15200"/>
                </a:lnTo>
                <a:lnTo>
                  <a:pt x="1000" y="6400"/>
                </a:lnTo>
                <a:lnTo>
                  <a:pt x="0" y="6400"/>
                </a:lnTo>
                <a:moveTo>
                  <a:pt x="2000" y="6400"/>
                </a:moveTo>
                <a:lnTo>
                  <a:pt x="2000" y="15200"/>
                </a:lnTo>
                <a:lnTo>
                  <a:pt x="3000" y="15200"/>
                </a:lnTo>
                <a:lnTo>
                  <a:pt x="3000" y="6400"/>
                </a:lnTo>
                <a:lnTo>
                  <a:pt x="2000" y="640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440" rIns="90000" bIns="28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Forma libre: forma 102"/>
          <p:cNvSpPr/>
          <p:nvPr/>
        </p:nvSpPr>
        <p:spPr>
          <a:xfrm>
            <a:off x="6156000" y="4034880"/>
            <a:ext cx="645840" cy="177840"/>
          </a:xfrm>
          <a:custGeom>
            <a:avLst/>
            <a:gdLst>
              <a:gd name="textAreaLeft" fmla="*/ 119880 w 645840"/>
              <a:gd name="textAreaRight" fmla="*/ 545400 w 645840"/>
              <a:gd name="textAreaTop" fmla="*/ 53280 h 177840"/>
              <a:gd name="textAreaBottom" fmla="*/ 126720 h 177840"/>
            </a:gdLst>
            <a:ahLst/>
            <a:cxnLst/>
            <a:rect l="textAreaLeft" t="textAreaTop" r="textAreaRight" b="textAreaBottom"/>
            <a:pathLst>
              <a:path w="21600" h="21800">
                <a:moveTo>
                  <a:pt x="13200" y="0"/>
                </a:moveTo>
                <a:lnTo>
                  <a:pt x="21600" y="10800"/>
                </a:lnTo>
                <a:lnTo>
                  <a:pt x="13200" y="21800"/>
                </a:lnTo>
                <a:lnTo>
                  <a:pt x="13200" y="15200"/>
                </a:lnTo>
                <a:lnTo>
                  <a:pt x="4000" y="15200"/>
                </a:lnTo>
                <a:lnTo>
                  <a:pt x="4000" y="6400"/>
                </a:lnTo>
                <a:lnTo>
                  <a:pt x="13200" y="6400"/>
                </a:lnTo>
                <a:lnTo>
                  <a:pt x="13200" y="0"/>
                </a:lnTo>
                <a:moveTo>
                  <a:pt x="0" y="6400"/>
                </a:moveTo>
                <a:lnTo>
                  <a:pt x="0" y="15200"/>
                </a:lnTo>
                <a:lnTo>
                  <a:pt x="1000" y="15200"/>
                </a:lnTo>
                <a:lnTo>
                  <a:pt x="1000" y="6400"/>
                </a:lnTo>
                <a:lnTo>
                  <a:pt x="0" y="6400"/>
                </a:lnTo>
                <a:moveTo>
                  <a:pt x="2000" y="6400"/>
                </a:moveTo>
                <a:lnTo>
                  <a:pt x="2000" y="15200"/>
                </a:lnTo>
                <a:lnTo>
                  <a:pt x="3000" y="15200"/>
                </a:lnTo>
                <a:lnTo>
                  <a:pt x="3000" y="6400"/>
                </a:lnTo>
                <a:lnTo>
                  <a:pt x="2000" y="640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440" rIns="90000" bIns="28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ángulo 103"/>
          <p:cNvSpPr/>
          <p:nvPr/>
        </p:nvSpPr>
        <p:spPr>
          <a:xfrm>
            <a:off x="3845880" y="1609560"/>
            <a:ext cx="4434120" cy="62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200" b="0" strike="noStrike" spc="-1">
                <a:solidFill>
                  <a:srgbClr val="000000"/>
                </a:solidFill>
                <a:latin typeface="Calibri"/>
              </a:rPr>
              <a:t>*</a:t>
            </a:r>
            <a:r>
              <a:rPr lang="es-ES" sz="1800" b="0" strike="noStrike" spc="-1">
                <a:solidFill>
                  <a:srgbClr val="000000"/>
                </a:solidFill>
                <a:latin typeface="Calibri"/>
              </a:rPr>
              <a:t> N.º medio anual de empresas en la muestra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ectángulo 104"/>
          <p:cNvSpPr/>
          <p:nvPr/>
        </p:nvSpPr>
        <p:spPr>
          <a:xfrm>
            <a:off x="8712000" y="3600000"/>
            <a:ext cx="2085840" cy="26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**Empresas formadoras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ángulo 105"/>
          <p:cNvSpPr/>
          <p:nvPr/>
        </p:nvSpPr>
        <p:spPr>
          <a:xfrm>
            <a:off x="1816200" y="2431080"/>
            <a:ext cx="1341360" cy="26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Total empresas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ángulo 106"/>
          <p:cNvSpPr/>
          <p:nvPr/>
        </p:nvSpPr>
        <p:spPr>
          <a:xfrm>
            <a:off x="1584000" y="3151440"/>
            <a:ext cx="1573560" cy="44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Empresas 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+499 trabajadores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ectángulo 107"/>
          <p:cNvSpPr/>
          <p:nvPr/>
        </p:nvSpPr>
        <p:spPr>
          <a:xfrm>
            <a:off x="1816200" y="3979440"/>
            <a:ext cx="1341360" cy="44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Empresas de servicios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ángulo 108"/>
          <p:cNvSpPr/>
          <p:nvPr/>
        </p:nvSpPr>
        <p:spPr>
          <a:xfrm>
            <a:off x="1636200" y="4628520"/>
            <a:ext cx="1521360" cy="802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Empresas transporte y almacenamiento</a:t>
            </a: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Conector recto 109"/>
          <p:cNvSpPr/>
          <p:nvPr/>
        </p:nvSpPr>
        <p:spPr>
          <a:xfrm>
            <a:off x="1800000" y="1944000"/>
            <a:ext cx="88200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ectángulo 110"/>
          <p:cNvSpPr/>
          <p:nvPr/>
        </p:nvSpPr>
        <p:spPr>
          <a:xfrm>
            <a:off x="7704000" y="5580000"/>
            <a:ext cx="341784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600" b="0" strike="noStrike" spc="-1">
                <a:solidFill>
                  <a:srgbClr val="000000"/>
                </a:solidFill>
                <a:latin typeface="Calibri"/>
              </a:rPr>
              <a:t>*Media anual del período 2022-2024 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ángulo 111"/>
          <p:cNvSpPr/>
          <p:nvPr/>
        </p:nvSpPr>
        <p:spPr>
          <a:xfrm>
            <a:off x="7704000" y="5868000"/>
            <a:ext cx="4425840" cy="28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400" b="0" strike="noStrike" spc="-1">
                <a:solidFill>
                  <a:srgbClr val="000000"/>
                </a:solidFill>
                <a:latin typeface="Calibri"/>
              </a:rPr>
              <a:t>**</a:t>
            </a:r>
            <a:r>
              <a:rPr lang="es-ES" sz="1200" b="0" strike="noStrike" spc="-1">
                <a:solidFill>
                  <a:srgbClr val="000000"/>
                </a:solidFill>
                <a:latin typeface="Calibri"/>
              </a:rPr>
              <a:t>Medias aproximadas obtenidas mediante estimación porcentual 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81;p 2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82;p 2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83;p 2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Google Shape;84;p 2"/>
          <p:cNvPicPr/>
          <p:nvPr/>
        </p:nvPicPr>
        <p:blipFill>
          <a:blip r:embed="rId3"/>
          <a:srcRect t="26220" b="23016"/>
          <a:stretch/>
        </p:blipFill>
        <p:spPr>
          <a:xfrm>
            <a:off x="10038600" y="288360"/>
            <a:ext cx="1937160" cy="527040"/>
          </a:xfrm>
          <a:prstGeom prst="rect">
            <a:avLst/>
          </a:prstGeom>
          <a:ln w="0">
            <a:noFill/>
          </a:ln>
        </p:spPr>
      </p:pic>
      <p:sp>
        <p:nvSpPr>
          <p:cNvPr id="117" name="TextBox 7"/>
          <p:cNvSpPr/>
          <p:nvPr/>
        </p:nvSpPr>
        <p:spPr>
          <a:xfrm>
            <a:off x="1821240" y="1470960"/>
            <a:ext cx="8537040" cy="173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5400" b="1" strike="noStrike" spc="-1" dirty="0">
                <a:solidFill>
                  <a:srgbClr val="142346"/>
                </a:solidFill>
                <a:latin typeface="Calibri"/>
                <a:ea typeface="Calibri"/>
              </a:rPr>
              <a:t>Competencias </a:t>
            </a:r>
            <a:endParaRPr lang="es-ES" sz="5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4400" b="1" strike="noStrike" spc="-1" dirty="0">
                <a:solidFill>
                  <a:srgbClr val="203057"/>
                </a:solidFill>
                <a:latin typeface="Calibri"/>
                <a:ea typeface="Calibri"/>
              </a:rPr>
              <a:t>formación, importancia y cobertura</a:t>
            </a:r>
            <a:r>
              <a:rPr lang="es-ES" sz="4400" b="1" strike="noStrike" spc="-1" dirty="0">
                <a:solidFill>
                  <a:srgbClr val="142346"/>
                </a:solidFill>
                <a:latin typeface="Calibri"/>
                <a:ea typeface="Calibri"/>
              </a:rPr>
              <a:t> </a:t>
            </a:r>
            <a:endParaRPr lang="es-ES" sz="44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Imagen 117"/>
          <p:cNvPicPr/>
          <p:nvPr/>
        </p:nvPicPr>
        <p:blipFill>
          <a:blip r:embed="rId4"/>
          <a:stretch/>
        </p:blipFill>
        <p:spPr>
          <a:xfrm>
            <a:off x="5627880" y="3816000"/>
            <a:ext cx="932400" cy="932400"/>
          </a:xfrm>
          <a:prstGeom prst="rect">
            <a:avLst/>
          </a:prstGeom>
          <a:ln w="0">
            <a:noFill/>
          </a:ln>
        </p:spPr>
      </p:pic>
      <p:sp>
        <p:nvSpPr>
          <p:cNvPr id="119" name="Rectángulo 118"/>
          <p:cNvSpPr/>
          <p:nvPr/>
        </p:nvSpPr>
        <p:spPr>
          <a:xfrm>
            <a:off x="4840920" y="3492000"/>
            <a:ext cx="2509200" cy="35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800" b="0" strike="noStrike" spc="-1" dirty="0">
                <a:solidFill>
                  <a:srgbClr val="696969"/>
                </a:solidFill>
                <a:latin typeface="Arial"/>
                <a:ea typeface="Arial"/>
              </a:rPr>
              <a:t>En el sector Servicios</a:t>
            </a:r>
            <a:endParaRPr lang="es-E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77;p 1"/>
          <p:cNvSpPr/>
          <p:nvPr/>
        </p:nvSpPr>
        <p:spPr>
          <a:xfrm>
            <a:off x="902880" y="308880"/>
            <a:ext cx="8705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Competencias con mayor oferta formativa (2024)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Google Shape;81;p 1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Google Shape;82;p 1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83;p 1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Google Shape;84;p 1"/>
          <p:cNvPicPr/>
          <p:nvPr/>
        </p:nvPicPr>
        <p:blipFill>
          <a:blip r:embed="rId3"/>
          <a:srcRect t="26220" b="23016"/>
          <a:stretch/>
        </p:blipFill>
        <p:spPr>
          <a:xfrm>
            <a:off x="10038600" y="288360"/>
            <a:ext cx="1937160" cy="527040"/>
          </a:xfrm>
          <a:prstGeom prst="rect">
            <a:avLst/>
          </a:prstGeom>
          <a:ln w="0">
            <a:noFill/>
          </a:ln>
        </p:spPr>
      </p:pic>
      <p:pic>
        <p:nvPicPr>
          <p:cNvPr id="125" name="Imagen 124"/>
          <p:cNvPicPr/>
          <p:nvPr/>
        </p:nvPicPr>
        <p:blipFill>
          <a:blip r:embed="rId4"/>
          <a:stretch/>
        </p:blipFill>
        <p:spPr>
          <a:xfrm>
            <a:off x="1354680" y="1512000"/>
            <a:ext cx="7605360" cy="4499280"/>
          </a:xfrm>
          <a:prstGeom prst="rect">
            <a:avLst/>
          </a:prstGeom>
          <a:ln w="0">
            <a:noFill/>
          </a:ln>
        </p:spPr>
      </p:pic>
      <p:sp>
        <p:nvSpPr>
          <p:cNvPr id="126" name="Rectángulo 125"/>
          <p:cNvSpPr/>
          <p:nvPr/>
        </p:nvSpPr>
        <p:spPr>
          <a:xfrm>
            <a:off x="9396000" y="6329160"/>
            <a:ext cx="2877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91;p4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Google Shape;92;p 1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Google Shape;93;p 1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Google Shape;94;p 1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" name="Google Shape;95;p 1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160" cy="527040"/>
          </a:xfrm>
          <a:prstGeom prst="rect">
            <a:avLst/>
          </a:prstGeom>
          <a:ln w="0">
            <a:noFill/>
          </a:ln>
        </p:spPr>
      </p:pic>
      <p:sp>
        <p:nvSpPr>
          <p:cNvPr id="132" name="Google Shape;96;p 1"/>
          <p:cNvSpPr/>
          <p:nvPr/>
        </p:nvSpPr>
        <p:spPr>
          <a:xfrm>
            <a:off x="904320" y="322560"/>
            <a:ext cx="7733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Tendencias en la cobertura formativa (2022-2024)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Imagen 132"/>
          <p:cNvPicPr/>
          <p:nvPr/>
        </p:nvPicPr>
        <p:blipFill>
          <a:blip r:embed="rId4"/>
          <a:stretch/>
        </p:blipFill>
        <p:spPr>
          <a:xfrm>
            <a:off x="1584000" y="1111680"/>
            <a:ext cx="8526960" cy="5005080"/>
          </a:xfrm>
          <a:prstGeom prst="rect">
            <a:avLst/>
          </a:prstGeom>
          <a:ln w="0">
            <a:noFill/>
          </a:ln>
        </p:spPr>
      </p:pic>
      <p:pic>
        <p:nvPicPr>
          <p:cNvPr id="134" name="Imagen 133"/>
          <p:cNvPicPr/>
          <p:nvPr/>
        </p:nvPicPr>
        <p:blipFill>
          <a:blip r:embed="rId5"/>
          <a:stretch/>
        </p:blipFill>
        <p:spPr>
          <a:xfrm>
            <a:off x="9864000" y="5817240"/>
            <a:ext cx="1881720" cy="407520"/>
          </a:xfrm>
          <a:prstGeom prst="rect">
            <a:avLst/>
          </a:prstGeom>
          <a:ln w="0">
            <a:noFill/>
          </a:ln>
        </p:spPr>
      </p:pic>
      <p:sp>
        <p:nvSpPr>
          <p:cNvPr id="135" name="Rectángulo 134"/>
          <p:cNvSpPr/>
          <p:nvPr/>
        </p:nvSpPr>
        <p:spPr>
          <a:xfrm>
            <a:off x="3600000" y="1111680"/>
            <a:ext cx="4316760" cy="505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1" strike="noStrike" spc="-1">
                <a:solidFill>
                  <a:srgbClr val="142346"/>
                </a:solidFill>
                <a:latin typeface="Calibri"/>
                <a:ea typeface="Calibri"/>
              </a:rPr>
              <a:t>¿En qué competencias forman más las empresas?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ángulo 135"/>
          <p:cNvSpPr/>
          <p:nvPr/>
        </p:nvSpPr>
        <p:spPr>
          <a:xfrm>
            <a:off x="8748000" y="6293520"/>
            <a:ext cx="3525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2022/2023/2024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91;p 1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Google Shape;92;p 2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Google Shape;93;p 2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Google Shape;94;p 2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Google Shape;95;p 2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160" cy="527040"/>
          </a:xfrm>
          <a:prstGeom prst="rect">
            <a:avLst/>
          </a:prstGeom>
          <a:ln w="0">
            <a:noFill/>
          </a:ln>
        </p:spPr>
      </p:pic>
      <p:sp>
        <p:nvSpPr>
          <p:cNvPr id="142" name="Google Shape;96;p 2"/>
          <p:cNvSpPr/>
          <p:nvPr/>
        </p:nvSpPr>
        <p:spPr>
          <a:xfrm>
            <a:off x="904320" y="322560"/>
            <a:ext cx="7913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Tendencias en la cobertura formativa (2022-2024)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3" name="Imagen 142"/>
          <p:cNvPicPr/>
          <p:nvPr/>
        </p:nvPicPr>
        <p:blipFill>
          <a:blip r:embed="rId4"/>
          <a:stretch/>
        </p:blipFill>
        <p:spPr>
          <a:xfrm>
            <a:off x="1620000" y="1111680"/>
            <a:ext cx="8848440" cy="5018760"/>
          </a:xfrm>
          <a:prstGeom prst="rect">
            <a:avLst/>
          </a:prstGeom>
          <a:ln w="0">
            <a:noFill/>
          </a:ln>
        </p:spPr>
      </p:pic>
      <p:pic>
        <p:nvPicPr>
          <p:cNvPr id="144" name="Imagen 143"/>
          <p:cNvPicPr/>
          <p:nvPr/>
        </p:nvPicPr>
        <p:blipFill>
          <a:blip r:embed="rId5"/>
          <a:stretch/>
        </p:blipFill>
        <p:spPr>
          <a:xfrm>
            <a:off x="9864000" y="5817240"/>
            <a:ext cx="1881720" cy="407520"/>
          </a:xfrm>
          <a:prstGeom prst="rect">
            <a:avLst/>
          </a:prstGeom>
          <a:ln w="0">
            <a:noFill/>
          </a:ln>
        </p:spPr>
      </p:pic>
      <p:sp>
        <p:nvSpPr>
          <p:cNvPr id="145" name="Rectángulo 144"/>
          <p:cNvSpPr/>
          <p:nvPr/>
        </p:nvSpPr>
        <p:spPr>
          <a:xfrm>
            <a:off x="3600000" y="1111680"/>
            <a:ext cx="4316760" cy="505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1" strike="noStrike" spc="-1">
                <a:solidFill>
                  <a:srgbClr val="142346"/>
                </a:solidFill>
                <a:latin typeface="Calibri"/>
                <a:ea typeface="Calibri"/>
              </a:rPr>
              <a:t>¿Qué competencias serán prioritarias para la formación futura?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ángulo 145"/>
          <p:cNvSpPr/>
          <p:nvPr/>
        </p:nvSpPr>
        <p:spPr>
          <a:xfrm>
            <a:off x="8748000" y="6293880"/>
            <a:ext cx="3525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2022/2023/2024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91;p 2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92;p 3"/>
          <p:cNvSpPr/>
          <p:nvPr/>
        </p:nvSpPr>
        <p:spPr>
          <a:xfrm>
            <a:off x="0" y="6519600"/>
            <a:ext cx="12178800" cy="34380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93;p 3"/>
          <p:cNvSpPr/>
          <p:nvPr/>
        </p:nvSpPr>
        <p:spPr>
          <a:xfrm>
            <a:off x="168120" y="6538320"/>
            <a:ext cx="298728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94;p 3"/>
          <p:cNvSpPr/>
          <p:nvPr/>
        </p:nvSpPr>
        <p:spPr>
          <a:xfrm>
            <a:off x="2742840" y="6538320"/>
            <a:ext cx="1386000" cy="3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Google Shape;95;p 3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160" cy="527040"/>
          </a:xfrm>
          <a:prstGeom prst="rect">
            <a:avLst/>
          </a:prstGeom>
          <a:ln w="0">
            <a:noFill/>
          </a:ln>
        </p:spPr>
      </p:pic>
      <p:sp>
        <p:nvSpPr>
          <p:cNvPr id="152" name="Google Shape;96;p 3"/>
          <p:cNvSpPr/>
          <p:nvPr/>
        </p:nvSpPr>
        <p:spPr>
          <a:xfrm>
            <a:off x="904320" y="322560"/>
            <a:ext cx="75531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Tendencias en la cobertura formativa (2022-2024)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Imagen 152"/>
          <p:cNvPicPr/>
          <p:nvPr/>
        </p:nvPicPr>
        <p:blipFill>
          <a:blip r:embed="rId4"/>
          <a:stretch/>
        </p:blipFill>
        <p:spPr>
          <a:xfrm>
            <a:off x="1620000" y="1111680"/>
            <a:ext cx="8848440" cy="5018760"/>
          </a:xfrm>
          <a:prstGeom prst="rect">
            <a:avLst/>
          </a:prstGeom>
          <a:ln w="0">
            <a:noFill/>
          </a:ln>
        </p:spPr>
      </p:pic>
      <p:pic>
        <p:nvPicPr>
          <p:cNvPr id="154" name="Imagen 153"/>
          <p:cNvPicPr/>
          <p:nvPr/>
        </p:nvPicPr>
        <p:blipFill>
          <a:blip r:embed="rId5"/>
          <a:stretch/>
        </p:blipFill>
        <p:spPr>
          <a:xfrm>
            <a:off x="9864000" y="5817240"/>
            <a:ext cx="1881720" cy="407520"/>
          </a:xfrm>
          <a:prstGeom prst="rect">
            <a:avLst/>
          </a:prstGeom>
          <a:ln w="0">
            <a:noFill/>
          </a:ln>
        </p:spPr>
      </p:pic>
      <p:sp>
        <p:nvSpPr>
          <p:cNvPr id="155" name="Rectángulo 154"/>
          <p:cNvSpPr/>
          <p:nvPr/>
        </p:nvSpPr>
        <p:spPr>
          <a:xfrm>
            <a:off x="2124000" y="3024000"/>
            <a:ext cx="8456760" cy="644760"/>
          </a:xfrm>
          <a:prstGeom prst="rect">
            <a:avLst/>
          </a:prstGeom>
          <a:noFill/>
          <a:ln w="36000">
            <a:solidFill>
              <a:srgbClr val="CD5C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63000" rIns="108000" bIns="6300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Rectángulo 155"/>
          <p:cNvSpPr/>
          <p:nvPr/>
        </p:nvSpPr>
        <p:spPr>
          <a:xfrm>
            <a:off x="3600000" y="1111680"/>
            <a:ext cx="4316760" cy="505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1800" b="1" strike="noStrike" spc="-1">
                <a:solidFill>
                  <a:srgbClr val="142346"/>
                </a:solidFill>
                <a:latin typeface="Calibri"/>
                <a:ea typeface="Calibri"/>
              </a:rPr>
              <a:t>¿Qué competencias serán prioritarias para la formación futura? 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ectángulo 156"/>
          <p:cNvSpPr/>
          <p:nvPr/>
        </p:nvSpPr>
        <p:spPr>
          <a:xfrm>
            <a:off x="8748000" y="6293880"/>
            <a:ext cx="3525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2022/2023/2024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35;p 1"/>
          <p:cNvSpPr/>
          <p:nvPr/>
        </p:nvSpPr>
        <p:spPr>
          <a:xfrm>
            <a:off x="0" y="6519600"/>
            <a:ext cx="12178440" cy="343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9" name="Google Shape;35;p 4"/>
          <p:cNvSpPr/>
          <p:nvPr/>
        </p:nvSpPr>
        <p:spPr>
          <a:xfrm>
            <a:off x="0" y="6519600"/>
            <a:ext cx="12178440" cy="343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0" name="Google Shape;38;p 1"/>
          <p:cNvSpPr/>
          <p:nvPr/>
        </p:nvSpPr>
        <p:spPr>
          <a:xfrm>
            <a:off x="168120" y="6538320"/>
            <a:ext cx="2986920" cy="30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Google Shape;39;p 1"/>
          <p:cNvSpPr/>
          <p:nvPr/>
        </p:nvSpPr>
        <p:spPr>
          <a:xfrm>
            <a:off x="2742840" y="6538320"/>
            <a:ext cx="1385640" cy="30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Google Shape;92;g3f4b6d773eb_0_ 1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6800" cy="526680"/>
          </a:xfrm>
          <a:prstGeom prst="rect">
            <a:avLst/>
          </a:prstGeom>
          <a:ln w="0">
            <a:noFill/>
          </a:ln>
        </p:spPr>
      </p:pic>
      <p:sp>
        <p:nvSpPr>
          <p:cNvPr id="163" name="Text 3"/>
          <p:cNvSpPr/>
          <p:nvPr/>
        </p:nvSpPr>
        <p:spPr>
          <a:xfrm>
            <a:off x="1690560" y="2810880"/>
            <a:ext cx="5558400" cy="54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Reequilibrar la inversión técnica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1727640" y="3345120"/>
            <a:ext cx="4621320" cy="44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8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Mantener cobertura, actualizar contenidos y evaluar la necesidad real de cada propuesta formativa.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5"/>
          <p:cNvSpPr/>
          <p:nvPr/>
        </p:nvSpPr>
        <p:spPr>
          <a:xfrm>
            <a:off x="1080000" y="2963520"/>
            <a:ext cx="453240" cy="453240"/>
          </a:xfrm>
          <a:prstGeom prst="ellipse">
            <a:avLst/>
          </a:prstGeom>
          <a:solidFill>
            <a:srgbClr val="142346"/>
          </a:solidFill>
          <a:ln w="12700">
            <a:solidFill>
              <a:srgbClr val="14234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1090800" y="296460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1690560" y="1491480"/>
            <a:ext cx="5451480" cy="42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Priorizar la resolución de problemas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1090800" y="178236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1105200" y="1711080"/>
            <a:ext cx="453240" cy="453240"/>
          </a:xfrm>
          <a:prstGeom prst="ellipse">
            <a:avLst/>
          </a:prstGeom>
          <a:solidFill>
            <a:srgbClr val="E8622C"/>
          </a:solidFill>
          <a:ln w="12700">
            <a:solidFill>
              <a:srgbClr val="E8622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1115280" y="168876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1090800" y="440244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13"/>
          <p:cNvSpPr/>
          <p:nvPr/>
        </p:nvSpPr>
        <p:spPr>
          <a:xfrm>
            <a:off x="1115280" y="4341960"/>
            <a:ext cx="453240" cy="453240"/>
          </a:xfrm>
          <a:prstGeom prst="ellipse">
            <a:avLst/>
          </a:prstGeom>
          <a:solidFill>
            <a:srgbClr val="D9A400"/>
          </a:solidFill>
          <a:ln w="12700">
            <a:solidFill>
              <a:srgbClr val="D9A4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3" name="Text 16"/>
          <p:cNvSpPr/>
          <p:nvPr/>
        </p:nvSpPr>
        <p:spPr>
          <a:xfrm>
            <a:off x="1115280" y="4341960"/>
            <a:ext cx="45324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1690560" y="4234680"/>
            <a:ext cx="6148080" cy="54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Consolidar el Trabajo en equipo y Atención al cliente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1690560" y="4735080"/>
            <a:ext cx="5175720" cy="44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8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Adaptar profundidad y metodología a los perfiles más implicados.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19"/>
          <p:cNvSpPr/>
          <p:nvPr/>
        </p:nvSpPr>
        <p:spPr>
          <a:xfrm>
            <a:off x="1727640" y="1867320"/>
            <a:ext cx="5138640" cy="5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8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Crear una formación aplicada a incidencias, calidad, toma de decisiones y mejora continua.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952920" y="335160"/>
            <a:ext cx="64630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Implicaciones en las políticas de formación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35;p 9"/>
          <p:cNvSpPr/>
          <p:nvPr/>
        </p:nvSpPr>
        <p:spPr>
          <a:xfrm>
            <a:off x="0" y="6519600"/>
            <a:ext cx="12178440" cy="343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9" name="Google Shape;35;p 12"/>
          <p:cNvSpPr/>
          <p:nvPr/>
        </p:nvSpPr>
        <p:spPr>
          <a:xfrm>
            <a:off x="0" y="6519600"/>
            <a:ext cx="12178440" cy="3434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80" name="Google Shape;38;p 6"/>
          <p:cNvSpPr/>
          <p:nvPr/>
        </p:nvSpPr>
        <p:spPr>
          <a:xfrm>
            <a:off x="168120" y="6538320"/>
            <a:ext cx="2986920" cy="30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39;p 5"/>
          <p:cNvSpPr/>
          <p:nvPr/>
        </p:nvSpPr>
        <p:spPr>
          <a:xfrm>
            <a:off x="2742840" y="6538320"/>
            <a:ext cx="1385640" cy="30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Google Shape;92;g3f4b6d773eb_0_ 5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6800" cy="526680"/>
          </a:xfrm>
          <a:prstGeom prst="rect">
            <a:avLst/>
          </a:prstGeom>
          <a:ln w="0">
            <a:noFill/>
          </a:ln>
        </p:spPr>
      </p:pic>
      <p:sp>
        <p:nvSpPr>
          <p:cNvPr id="183" name="TextBox 4"/>
          <p:cNvSpPr/>
          <p:nvPr/>
        </p:nvSpPr>
        <p:spPr>
          <a:xfrm>
            <a:off x="2750040" y="1470960"/>
            <a:ext cx="6691680" cy="173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5400" b="1" strike="noStrike" spc="-1">
                <a:solidFill>
                  <a:srgbClr val="006400"/>
                </a:solidFill>
                <a:latin typeface="Calibri"/>
                <a:ea typeface="Calibri"/>
              </a:rPr>
              <a:t>Medios</a:t>
            </a:r>
            <a:r>
              <a:rPr lang="es-ES" sz="5400" b="1" strike="noStrike" spc="-1">
                <a:solidFill>
                  <a:srgbClr val="142346"/>
                </a:solidFill>
                <a:latin typeface="Calibri"/>
                <a:ea typeface="Calibri"/>
              </a:rPr>
              <a:t> </a:t>
            </a:r>
            <a:endParaRPr lang="es-ES" sz="54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ES" sz="4400" b="1" strike="noStrike" spc="-1">
                <a:solidFill>
                  <a:srgbClr val="203057"/>
                </a:solidFill>
                <a:latin typeface="Calibri"/>
                <a:ea typeface="Calibri"/>
              </a:rPr>
              <a:t>principales, evolución y uso</a:t>
            </a:r>
            <a:r>
              <a:rPr lang="es-ES" sz="4400" b="1" strike="noStrike" spc="-1">
                <a:solidFill>
                  <a:srgbClr val="142346"/>
                </a:solidFill>
                <a:latin typeface="Calibri"/>
                <a:ea typeface="Calibri"/>
              </a:rPr>
              <a:t> </a:t>
            </a: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ectángulo 183"/>
          <p:cNvSpPr/>
          <p:nvPr/>
        </p:nvSpPr>
        <p:spPr>
          <a:xfrm>
            <a:off x="3089160" y="3421800"/>
            <a:ext cx="6012000" cy="35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800" b="0" strike="noStrike" spc="-1" dirty="0">
                <a:solidFill>
                  <a:srgbClr val="696969"/>
                </a:solidFill>
                <a:latin typeface="Arial"/>
                <a:ea typeface="Arial"/>
              </a:rPr>
              <a:t>En la actividad laboral: Transporte y almacenamiento</a:t>
            </a:r>
            <a:endParaRPr lang="es-E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" name="Imagen 184"/>
          <p:cNvPicPr/>
          <p:nvPr/>
        </p:nvPicPr>
        <p:blipFill>
          <a:blip r:embed="rId4"/>
          <a:stretch/>
        </p:blipFill>
        <p:spPr>
          <a:xfrm>
            <a:off x="5483880" y="3852000"/>
            <a:ext cx="1222200" cy="1222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35;p 13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35;p 14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Google Shape;38;p 7"/>
          <p:cNvSpPr/>
          <p:nvPr/>
        </p:nvSpPr>
        <p:spPr>
          <a:xfrm>
            <a:off x="168120" y="6538320"/>
            <a:ext cx="298836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39;p 7"/>
          <p:cNvSpPr/>
          <p:nvPr/>
        </p:nvSpPr>
        <p:spPr>
          <a:xfrm>
            <a:off x="2742840" y="6538320"/>
            <a:ext cx="138708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Google Shape;92;g3f4b6d773eb_0_ 7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8240" cy="528120"/>
          </a:xfrm>
          <a:prstGeom prst="rect">
            <a:avLst/>
          </a:prstGeom>
          <a:ln w="0">
            <a:noFill/>
          </a:ln>
        </p:spPr>
      </p:pic>
      <p:sp>
        <p:nvSpPr>
          <p:cNvPr id="191" name="TextBox 8"/>
          <p:cNvSpPr/>
          <p:nvPr/>
        </p:nvSpPr>
        <p:spPr>
          <a:xfrm>
            <a:off x="938520" y="317520"/>
            <a:ext cx="59968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Principales medios de formación (2024)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" name="Imagen 191"/>
          <p:cNvPicPr/>
          <p:nvPr/>
        </p:nvPicPr>
        <p:blipFill>
          <a:blip r:embed="rId3"/>
          <a:stretch/>
        </p:blipFill>
        <p:spPr>
          <a:xfrm>
            <a:off x="462960" y="1368000"/>
            <a:ext cx="10983600" cy="4414320"/>
          </a:xfrm>
          <a:prstGeom prst="rect">
            <a:avLst/>
          </a:prstGeom>
          <a:ln w="0">
            <a:noFill/>
          </a:ln>
        </p:spPr>
      </p:pic>
      <p:sp>
        <p:nvSpPr>
          <p:cNvPr id="193" name="Rectángulo 192"/>
          <p:cNvSpPr/>
          <p:nvPr/>
        </p:nvSpPr>
        <p:spPr>
          <a:xfrm>
            <a:off x="9396000" y="6329160"/>
            <a:ext cx="2877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35;p 15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Imagen 18"/>
          <p:cNvPicPr/>
          <p:nvPr/>
        </p:nvPicPr>
        <p:blipFill>
          <a:blip r:embed="rId2"/>
          <a:srcRect l="1993" t="10551"/>
          <a:stretch/>
        </p:blipFill>
        <p:spPr>
          <a:xfrm>
            <a:off x="685800" y="1600200"/>
            <a:ext cx="9370440" cy="4551840"/>
          </a:xfrm>
          <a:prstGeom prst="rect">
            <a:avLst/>
          </a:prstGeom>
          <a:ln w="0">
            <a:noFill/>
          </a:ln>
        </p:spPr>
      </p:pic>
      <p:sp>
        <p:nvSpPr>
          <p:cNvPr id="196" name="Google Shape;35;p 16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38;p 8"/>
          <p:cNvSpPr/>
          <p:nvPr/>
        </p:nvSpPr>
        <p:spPr>
          <a:xfrm>
            <a:off x="168120" y="6538320"/>
            <a:ext cx="298836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39;p 8"/>
          <p:cNvSpPr/>
          <p:nvPr/>
        </p:nvSpPr>
        <p:spPr>
          <a:xfrm>
            <a:off x="2742840" y="6538320"/>
            <a:ext cx="138708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" name="Google Shape;92;g3f4b6d773eb_0_ 8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8240" cy="528120"/>
          </a:xfrm>
          <a:prstGeom prst="rect">
            <a:avLst/>
          </a:prstGeom>
          <a:ln w="0">
            <a:noFill/>
          </a:ln>
        </p:spPr>
      </p:pic>
      <p:sp>
        <p:nvSpPr>
          <p:cNvPr id="200" name="TextBox 9"/>
          <p:cNvSpPr/>
          <p:nvPr/>
        </p:nvSpPr>
        <p:spPr>
          <a:xfrm>
            <a:off x="974520" y="317520"/>
            <a:ext cx="74340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Cambios en los medios de formación (2023-2024)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ectángulo 200"/>
          <p:cNvSpPr/>
          <p:nvPr/>
        </p:nvSpPr>
        <p:spPr>
          <a:xfrm>
            <a:off x="9072000" y="6294960"/>
            <a:ext cx="34192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2023/2024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35;p 17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35;p 18"/>
          <p:cNvSpPr/>
          <p:nvPr/>
        </p:nvSpPr>
        <p:spPr>
          <a:xfrm>
            <a:off x="0" y="6519600"/>
            <a:ext cx="12179880" cy="34488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38;p 9"/>
          <p:cNvSpPr/>
          <p:nvPr/>
        </p:nvSpPr>
        <p:spPr>
          <a:xfrm>
            <a:off x="168120" y="6538320"/>
            <a:ext cx="298836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39;p 9"/>
          <p:cNvSpPr/>
          <p:nvPr/>
        </p:nvSpPr>
        <p:spPr>
          <a:xfrm>
            <a:off x="2742840" y="6538320"/>
            <a:ext cx="1387080" cy="30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6" name="Google Shape;92;g3f4b6d773eb_0_ 9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8240" cy="528120"/>
          </a:xfrm>
          <a:prstGeom prst="rect">
            <a:avLst/>
          </a:prstGeom>
          <a:ln w="0">
            <a:noFill/>
          </a:ln>
        </p:spPr>
      </p:pic>
      <p:sp>
        <p:nvSpPr>
          <p:cNvPr id="207" name="TextBox 10"/>
          <p:cNvSpPr/>
          <p:nvPr/>
        </p:nvSpPr>
        <p:spPr>
          <a:xfrm>
            <a:off x="980640" y="335160"/>
            <a:ext cx="75618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Distintos medios para distintos tipos de formación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Interrelacion medios 2"/>
          <p:cNvPicPr/>
          <p:nvPr/>
        </p:nvPicPr>
        <p:blipFill>
          <a:blip r:embed="rId3"/>
          <a:stretch/>
        </p:blipFill>
        <p:spPr>
          <a:xfrm>
            <a:off x="685800" y="1400040"/>
            <a:ext cx="10818000" cy="4786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35;p 2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Google Shape;35;p 3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Google Shape;38;p 2"/>
          <p:cNvSpPr/>
          <p:nvPr/>
        </p:nvSpPr>
        <p:spPr>
          <a:xfrm>
            <a:off x="168120" y="6538320"/>
            <a:ext cx="298800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Google Shape;39;p 2"/>
          <p:cNvSpPr/>
          <p:nvPr/>
        </p:nvSpPr>
        <p:spPr>
          <a:xfrm>
            <a:off x="2742840" y="6538320"/>
            <a:ext cx="138672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Google Shape;92;g3f4b6d773eb_0_ 2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7880" cy="527760"/>
          </a:xfrm>
          <a:prstGeom prst="rect">
            <a:avLst/>
          </a:prstGeom>
          <a:ln w="0">
            <a:noFill/>
          </a:ln>
        </p:spPr>
      </p:pic>
      <p:sp>
        <p:nvSpPr>
          <p:cNvPr id="214" name="TextBox 2"/>
          <p:cNvSpPr/>
          <p:nvPr/>
        </p:nvSpPr>
        <p:spPr>
          <a:xfrm>
            <a:off x="2701440" y="1470960"/>
            <a:ext cx="6789240" cy="22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5400" b="1" strike="noStrike" spc="-1">
                <a:solidFill>
                  <a:srgbClr val="B22222"/>
                </a:solidFill>
                <a:latin typeface="Calibri"/>
              </a:rPr>
              <a:t>Barreras </a:t>
            </a:r>
            <a:endParaRPr lang="es-ES" sz="54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4400" b="1" strike="noStrike" spc="-1">
                <a:solidFill>
                  <a:srgbClr val="142346"/>
                </a:solidFill>
                <a:latin typeface="Calibri"/>
              </a:rPr>
              <a:t>que limitan la efectividad</a:t>
            </a: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4400" b="1" strike="noStrike" spc="-1">
                <a:solidFill>
                  <a:srgbClr val="142346"/>
                </a:solidFill>
                <a:latin typeface="Calibri"/>
              </a:rPr>
              <a:t>de las políticas de formación</a:t>
            </a:r>
            <a:endParaRPr lang="es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ángulo 214"/>
          <p:cNvSpPr/>
          <p:nvPr/>
        </p:nvSpPr>
        <p:spPr>
          <a:xfrm>
            <a:off x="4220640" y="3817800"/>
            <a:ext cx="3749400" cy="35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800" b="0" strike="noStrike" spc="-1">
                <a:solidFill>
                  <a:srgbClr val="696969"/>
                </a:solidFill>
                <a:latin typeface="Arial"/>
                <a:ea typeface="Arial"/>
              </a:rPr>
              <a:t>En empresas de +499 empleados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6" name="Imagen 215"/>
          <p:cNvPicPr/>
          <p:nvPr/>
        </p:nvPicPr>
        <p:blipFill>
          <a:blip r:embed="rId3"/>
          <a:stretch/>
        </p:blipFill>
        <p:spPr>
          <a:xfrm>
            <a:off x="5596920" y="4356000"/>
            <a:ext cx="996840" cy="99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Imagen 15"/>
          <p:cNvPicPr/>
          <p:nvPr/>
        </p:nvPicPr>
        <p:blipFill>
          <a:blip r:embed="rId2"/>
          <a:srcRect t="8722"/>
          <a:stretch/>
        </p:blipFill>
        <p:spPr>
          <a:xfrm>
            <a:off x="801360" y="1504440"/>
            <a:ext cx="7666920" cy="4515480"/>
          </a:xfrm>
          <a:prstGeom prst="rect">
            <a:avLst/>
          </a:prstGeom>
          <a:ln w="0">
            <a:noFill/>
          </a:ln>
        </p:spPr>
      </p:pic>
      <p:sp>
        <p:nvSpPr>
          <p:cNvPr id="226" name="Google Shape;35;p 6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Google Shape;35;p 7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Google Shape;38;p 3"/>
          <p:cNvSpPr/>
          <p:nvPr/>
        </p:nvSpPr>
        <p:spPr>
          <a:xfrm>
            <a:off x="168120" y="6538320"/>
            <a:ext cx="298800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Google Shape;39;p 4"/>
          <p:cNvSpPr/>
          <p:nvPr/>
        </p:nvSpPr>
        <p:spPr>
          <a:xfrm>
            <a:off x="2742840" y="6538320"/>
            <a:ext cx="138672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0" name="Google Shape;92;g3f4b6d773eb_0_ 4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880" cy="527760"/>
          </a:xfrm>
          <a:prstGeom prst="rect">
            <a:avLst/>
          </a:prstGeom>
          <a:ln w="0">
            <a:noFill/>
          </a:ln>
        </p:spPr>
      </p:pic>
      <p:pic>
        <p:nvPicPr>
          <p:cNvPr id="231" name="Imagen 1"/>
          <p:cNvPicPr/>
          <p:nvPr/>
        </p:nvPicPr>
        <p:blipFill>
          <a:blip r:embed="rId4"/>
          <a:stretch/>
        </p:blipFill>
        <p:spPr>
          <a:xfrm>
            <a:off x="6652080" y="2724480"/>
            <a:ext cx="403560" cy="403560"/>
          </a:xfrm>
          <a:prstGeom prst="rect">
            <a:avLst/>
          </a:prstGeom>
          <a:ln w="0">
            <a:noFill/>
          </a:ln>
        </p:spPr>
      </p:pic>
      <p:pic>
        <p:nvPicPr>
          <p:cNvPr id="232" name="Imagen 2"/>
          <p:cNvPicPr/>
          <p:nvPr/>
        </p:nvPicPr>
        <p:blipFill>
          <a:blip r:embed="rId5"/>
          <a:stretch/>
        </p:blipFill>
        <p:spPr>
          <a:xfrm>
            <a:off x="8569800" y="1484640"/>
            <a:ext cx="568800" cy="568800"/>
          </a:xfrm>
          <a:prstGeom prst="rect">
            <a:avLst/>
          </a:prstGeom>
          <a:ln w="0">
            <a:noFill/>
          </a:ln>
        </p:spPr>
      </p:pic>
      <p:pic>
        <p:nvPicPr>
          <p:cNvPr id="233" name="Imagen 5"/>
          <p:cNvPicPr/>
          <p:nvPr/>
        </p:nvPicPr>
        <p:blipFill>
          <a:blip r:embed="rId6"/>
          <a:srcRect b="9951"/>
          <a:stretch/>
        </p:blipFill>
        <p:spPr>
          <a:xfrm>
            <a:off x="7965360" y="1407600"/>
            <a:ext cx="632160" cy="568800"/>
          </a:xfrm>
          <a:prstGeom prst="rect">
            <a:avLst/>
          </a:prstGeom>
          <a:ln w="0">
            <a:noFill/>
          </a:ln>
        </p:spPr>
      </p:pic>
      <p:pic>
        <p:nvPicPr>
          <p:cNvPr id="234" name="Imagen 6"/>
          <p:cNvPicPr/>
          <p:nvPr/>
        </p:nvPicPr>
        <p:blipFill>
          <a:blip r:embed="rId7"/>
          <a:srcRect l="10040" b="25277"/>
          <a:stretch/>
        </p:blipFill>
        <p:spPr>
          <a:xfrm>
            <a:off x="4873320" y="4370400"/>
            <a:ext cx="568440" cy="471600"/>
          </a:xfrm>
          <a:prstGeom prst="rect">
            <a:avLst/>
          </a:prstGeom>
          <a:ln w="0">
            <a:noFill/>
          </a:ln>
        </p:spPr>
      </p:pic>
      <p:pic>
        <p:nvPicPr>
          <p:cNvPr id="235" name="Imagen 7"/>
          <p:cNvPicPr/>
          <p:nvPr/>
        </p:nvPicPr>
        <p:blipFill>
          <a:blip r:embed="rId8"/>
          <a:srcRect l="22442" r="22147" b="25277"/>
          <a:stretch/>
        </p:blipFill>
        <p:spPr>
          <a:xfrm>
            <a:off x="5198400" y="3924360"/>
            <a:ext cx="348840" cy="471600"/>
          </a:xfrm>
          <a:prstGeom prst="rect">
            <a:avLst/>
          </a:prstGeom>
          <a:ln w="0">
            <a:noFill/>
          </a:ln>
        </p:spPr>
      </p:pic>
      <p:pic>
        <p:nvPicPr>
          <p:cNvPr id="236" name="Imagen 8"/>
          <p:cNvPicPr/>
          <p:nvPr/>
        </p:nvPicPr>
        <p:blipFill>
          <a:blip r:embed="rId9"/>
          <a:srcRect t="11059" r="31921" b="27713"/>
          <a:stretch/>
        </p:blipFill>
        <p:spPr>
          <a:xfrm>
            <a:off x="5668920" y="3172320"/>
            <a:ext cx="477720" cy="429120"/>
          </a:xfrm>
          <a:prstGeom prst="rect">
            <a:avLst/>
          </a:prstGeom>
          <a:ln w="0">
            <a:noFill/>
          </a:ln>
        </p:spPr>
      </p:pic>
      <p:pic>
        <p:nvPicPr>
          <p:cNvPr id="237" name="Imagen 9"/>
          <p:cNvPicPr/>
          <p:nvPr/>
        </p:nvPicPr>
        <p:blipFill>
          <a:blip r:embed="rId10"/>
          <a:srcRect l="11472" t="8962" r="24524" b="34032"/>
          <a:stretch/>
        </p:blipFill>
        <p:spPr>
          <a:xfrm>
            <a:off x="6652080" y="2317320"/>
            <a:ext cx="403560" cy="358920"/>
          </a:xfrm>
          <a:prstGeom prst="rect">
            <a:avLst/>
          </a:prstGeom>
          <a:ln w="0">
            <a:noFill/>
          </a:ln>
        </p:spPr>
      </p:pic>
      <p:pic>
        <p:nvPicPr>
          <p:cNvPr id="238" name="Imagen 10"/>
          <p:cNvPicPr/>
          <p:nvPr/>
        </p:nvPicPr>
        <p:blipFill>
          <a:blip r:embed="rId11"/>
          <a:srcRect l="14026" t="7353" b="21984"/>
          <a:stretch/>
        </p:blipFill>
        <p:spPr>
          <a:xfrm>
            <a:off x="7827120" y="1979280"/>
            <a:ext cx="542880" cy="445680"/>
          </a:xfrm>
          <a:prstGeom prst="rect">
            <a:avLst/>
          </a:prstGeom>
          <a:ln w="0">
            <a:noFill/>
          </a:ln>
        </p:spPr>
      </p:pic>
      <p:pic>
        <p:nvPicPr>
          <p:cNvPr id="239" name="Imagen 11"/>
          <p:cNvPicPr/>
          <p:nvPr/>
        </p:nvPicPr>
        <p:blipFill>
          <a:blip r:embed="rId12"/>
          <a:srcRect b="35981"/>
          <a:stretch/>
        </p:blipFill>
        <p:spPr>
          <a:xfrm>
            <a:off x="5269680" y="3517920"/>
            <a:ext cx="632160" cy="403560"/>
          </a:xfrm>
          <a:prstGeom prst="rect">
            <a:avLst/>
          </a:prstGeom>
          <a:ln w="0">
            <a:noFill/>
          </a:ln>
        </p:spPr>
      </p:pic>
      <p:pic>
        <p:nvPicPr>
          <p:cNvPr id="240" name="Imagen 12"/>
          <p:cNvPicPr/>
          <p:nvPr/>
        </p:nvPicPr>
        <p:blipFill>
          <a:blip r:embed="rId13"/>
          <a:srcRect l="12402" t="7973" b="25233"/>
          <a:stretch/>
        </p:blipFill>
        <p:spPr>
          <a:xfrm>
            <a:off x="4061160" y="5126040"/>
            <a:ext cx="522720" cy="397800"/>
          </a:xfrm>
          <a:prstGeom prst="rect">
            <a:avLst/>
          </a:prstGeom>
          <a:ln w="0">
            <a:noFill/>
          </a:ln>
        </p:spPr>
      </p:pic>
      <p:pic>
        <p:nvPicPr>
          <p:cNvPr id="241" name="Imagen 25"/>
          <p:cNvPicPr/>
          <p:nvPr/>
        </p:nvPicPr>
        <p:blipFill>
          <a:blip r:embed="rId14"/>
          <a:srcRect r="18293" b="34047"/>
          <a:stretch/>
        </p:blipFill>
        <p:spPr>
          <a:xfrm>
            <a:off x="4132440" y="4701960"/>
            <a:ext cx="522720" cy="421200"/>
          </a:xfrm>
          <a:prstGeom prst="rect">
            <a:avLst/>
          </a:prstGeom>
          <a:ln w="0">
            <a:noFill/>
          </a:ln>
        </p:spPr>
      </p:pic>
      <p:sp>
        <p:nvSpPr>
          <p:cNvPr id="242" name="TextBox 1"/>
          <p:cNvSpPr/>
          <p:nvPr/>
        </p:nvSpPr>
        <p:spPr>
          <a:xfrm>
            <a:off x="896760" y="317520"/>
            <a:ext cx="629532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Principales barreras a la formación (2024)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ángulo 242"/>
          <p:cNvSpPr/>
          <p:nvPr/>
        </p:nvSpPr>
        <p:spPr>
          <a:xfrm>
            <a:off x="9396000" y="6329520"/>
            <a:ext cx="2877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35;p 5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5" name="Imagen 13"/>
          <p:cNvPicPr/>
          <p:nvPr/>
        </p:nvPicPr>
        <p:blipFill>
          <a:blip r:embed="rId2"/>
          <a:srcRect l="1993" t="10551"/>
          <a:stretch/>
        </p:blipFill>
        <p:spPr>
          <a:xfrm>
            <a:off x="784440" y="1477440"/>
            <a:ext cx="8429040" cy="4094280"/>
          </a:xfrm>
          <a:prstGeom prst="rect">
            <a:avLst/>
          </a:prstGeom>
          <a:ln w="0">
            <a:noFill/>
          </a:ln>
        </p:spPr>
      </p:pic>
      <p:sp>
        <p:nvSpPr>
          <p:cNvPr id="246" name="Google Shape;35;p 8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Google Shape;38;p 5"/>
          <p:cNvSpPr/>
          <p:nvPr/>
        </p:nvSpPr>
        <p:spPr>
          <a:xfrm>
            <a:off x="168120" y="6538320"/>
            <a:ext cx="298800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Google Shape;39;p 3"/>
          <p:cNvSpPr/>
          <p:nvPr/>
        </p:nvSpPr>
        <p:spPr>
          <a:xfrm>
            <a:off x="2742840" y="6538320"/>
            <a:ext cx="138672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9339209" y="2161080"/>
            <a:ext cx="2286271" cy="13741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36000">
            <a:solidFill>
              <a:srgbClr val="C9CD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56520" rIns="101520" bIns="5652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0" name="Google Shape;92;g3f4b6d773eb_0_ 3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880" cy="527760"/>
          </a:xfrm>
          <a:prstGeom prst="rect">
            <a:avLst/>
          </a:prstGeom>
          <a:ln w="0">
            <a:noFill/>
          </a:ln>
        </p:spPr>
      </p:pic>
      <p:sp>
        <p:nvSpPr>
          <p:cNvPr id="251" name="TextBox 5"/>
          <p:cNvSpPr/>
          <p:nvPr/>
        </p:nvSpPr>
        <p:spPr>
          <a:xfrm>
            <a:off x="905760" y="317520"/>
            <a:ext cx="77187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Cambios en las barreras a la formación (2022-2024)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CuadroTexto 4"/>
          <p:cNvSpPr/>
          <p:nvPr/>
        </p:nvSpPr>
        <p:spPr>
          <a:xfrm>
            <a:off x="9648000" y="2217240"/>
            <a:ext cx="2191680" cy="12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200" b="0" strike="noStrike" spc="-1">
                <a:solidFill>
                  <a:schemeClr val="dk1"/>
                </a:solidFill>
                <a:latin typeface="Aptos"/>
              </a:rPr>
              <a:t>  </a:t>
            </a:r>
            <a:r>
              <a:rPr lang="es-ES" sz="1800" b="0" strike="noStrike" spc="-1">
                <a:solidFill>
                  <a:schemeClr val="dk1"/>
                </a:solidFill>
                <a:latin typeface="Calibri"/>
              </a:rPr>
              <a:t>El ranking de barreras a la formación se mantiene estable.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Imagen 14"/>
          <p:cNvPicPr/>
          <p:nvPr/>
        </p:nvPicPr>
        <p:blipFill>
          <a:blip r:embed="rId4"/>
          <a:srcRect l="33802" t="31338" r="34875" b="36629"/>
          <a:stretch/>
        </p:blipFill>
        <p:spPr>
          <a:xfrm>
            <a:off x="9413191" y="2156040"/>
            <a:ext cx="391680" cy="400680"/>
          </a:xfrm>
          <a:prstGeom prst="rect">
            <a:avLst/>
          </a:prstGeom>
          <a:ln w="0">
            <a:noFill/>
          </a:ln>
        </p:spPr>
      </p:pic>
      <p:sp>
        <p:nvSpPr>
          <p:cNvPr id="254" name="Shape 4"/>
          <p:cNvSpPr/>
          <p:nvPr/>
        </p:nvSpPr>
        <p:spPr>
          <a:xfrm>
            <a:off x="9339209" y="3962880"/>
            <a:ext cx="2286271" cy="12906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36000">
            <a:solidFill>
              <a:srgbClr val="C9CD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56520" rIns="101520" bIns="5652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5" name="CuadroTexto 5"/>
          <p:cNvSpPr/>
          <p:nvPr/>
        </p:nvSpPr>
        <p:spPr>
          <a:xfrm>
            <a:off x="9538920" y="4025520"/>
            <a:ext cx="2122560" cy="100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400" b="0" strike="noStrike" spc="-1" dirty="0">
                <a:solidFill>
                  <a:schemeClr val="dk1"/>
                </a:solidFill>
                <a:latin typeface="Aptos"/>
              </a:rPr>
              <a:t>   </a:t>
            </a:r>
            <a:r>
              <a:rPr lang="es-ES" sz="1800" b="0" strike="noStrike" spc="-1" dirty="0">
                <a:solidFill>
                  <a:schemeClr val="dk1"/>
                </a:solidFill>
                <a:latin typeface="Calibri"/>
              </a:rPr>
              <a:t>Solo la oferta formativa muestra tendencia creciente.</a:t>
            </a:r>
            <a:endParaRPr lang="es-E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6" name="Imagen 16"/>
          <p:cNvPicPr/>
          <p:nvPr/>
        </p:nvPicPr>
        <p:blipFill>
          <a:blip r:embed="rId4"/>
          <a:srcRect l="33802" t="31338" r="34875" b="36629"/>
          <a:stretch/>
        </p:blipFill>
        <p:spPr>
          <a:xfrm>
            <a:off x="9413191" y="4027235"/>
            <a:ext cx="391680" cy="400680"/>
          </a:xfrm>
          <a:prstGeom prst="rect">
            <a:avLst/>
          </a:prstGeom>
          <a:ln w="0">
            <a:noFill/>
          </a:ln>
        </p:spPr>
      </p:pic>
      <p:sp>
        <p:nvSpPr>
          <p:cNvPr id="257" name="CuadroTexto 6"/>
          <p:cNvSpPr/>
          <p:nvPr/>
        </p:nvSpPr>
        <p:spPr>
          <a:xfrm>
            <a:off x="353880" y="1784160"/>
            <a:ext cx="428040" cy="32241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="vert270" lIns="45000" tIns="90000" rIns="45000" bIns="90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500" b="0" strike="noStrike" spc="-1">
                <a:solidFill>
                  <a:schemeClr val="dk1"/>
                </a:solidFill>
                <a:latin typeface="Calibri"/>
              </a:rPr>
              <a:t>% empresas que citan el motivo</a:t>
            </a:r>
            <a:endParaRPr lang="es-E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ángulo 257"/>
          <p:cNvSpPr/>
          <p:nvPr/>
        </p:nvSpPr>
        <p:spPr>
          <a:xfrm>
            <a:off x="8748000" y="6294240"/>
            <a:ext cx="3525480" cy="2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050" b="0" strike="noStrike" spc="-1">
                <a:solidFill>
                  <a:srgbClr val="000000"/>
                </a:solidFill>
                <a:latin typeface="Calibri"/>
              </a:rPr>
              <a:t>*Fuente datos: MITES Encueta anual laboral 2022/2023/2024</a:t>
            </a:r>
            <a:endParaRPr lang="es-E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1"/>
          <p:cNvSpPr/>
          <p:nvPr/>
        </p:nvSpPr>
        <p:spPr>
          <a:xfrm>
            <a:off x="1216800" y="2877120"/>
            <a:ext cx="3882960" cy="111816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9CD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"/>
          <p:cNvSpPr/>
          <p:nvPr/>
        </p:nvSpPr>
        <p:spPr>
          <a:xfrm>
            <a:off x="1207440" y="1461960"/>
            <a:ext cx="3882960" cy="111816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9CD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Google Shape;35;p 10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Google Shape;35;p 11"/>
          <p:cNvSpPr/>
          <p:nvPr/>
        </p:nvSpPr>
        <p:spPr>
          <a:xfrm>
            <a:off x="0" y="6519600"/>
            <a:ext cx="12179520" cy="34452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Google Shape;38;p 4"/>
          <p:cNvSpPr/>
          <p:nvPr/>
        </p:nvSpPr>
        <p:spPr>
          <a:xfrm>
            <a:off x="168120" y="6538320"/>
            <a:ext cx="298800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39;p 6"/>
          <p:cNvSpPr/>
          <p:nvPr/>
        </p:nvSpPr>
        <p:spPr>
          <a:xfrm>
            <a:off x="2742840" y="6538320"/>
            <a:ext cx="1386720" cy="3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Google Shape;92;g3f4b6d773eb_0_ 6"/>
          <p:cNvPicPr/>
          <p:nvPr/>
        </p:nvPicPr>
        <p:blipFill>
          <a:blip r:embed="rId3"/>
          <a:srcRect t="26220" b="23016"/>
          <a:stretch/>
        </p:blipFill>
        <p:spPr>
          <a:xfrm>
            <a:off x="10038960" y="288360"/>
            <a:ext cx="1937880" cy="527760"/>
          </a:xfrm>
          <a:prstGeom prst="rect">
            <a:avLst/>
          </a:prstGeom>
          <a:ln w="0">
            <a:noFill/>
          </a:ln>
        </p:spPr>
      </p:pic>
      <p:sp>
        <p:nvSpPr>
          <p:cNvPr id="266" name="TextBox 6"/>
          <p:cNvSpPr/>
          <p:nvPr/>
        </p:nvSpPr>
        <p:spPr>
          <a:xfrm>
            <a:off x="954360" y="299160"/>
            <a:ext cx="64630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2800" b="1" strike="noStrike" spc="-1">
                <a:solidFill>
                  <a:srgbClr val="142346"/>
                </a:solidFill>
                <a:latin typeface="Calibri"/>
              </a:rPr>
              <a:t>Implicaciones en las políticas de formación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1365840" y="3083040"/>
            <a:ext cx="1324080" cy="4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trike="noStrike" spc="-1">
                <a:solidFill>
                  <a:srgbClr val="142346"/>
                </a:solidFill>
                <a:latin typeface="Cambria"/>
                <a:ea typeface="Cambria"/>
              </a:rPr>
              <a:t>53%</a:t>
            </a:r>
            <a:endParaRPr lang="es-E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1380240" y="3447360"/>
            <a:ext cx="3642840" cy="50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1B2A38"/>
                </a:solidFill>
                <a:latin typeface="Calibri"/>
                <a:ea typeface="Calibri"/>
              </a:rPr>
              <a:t>"Ya formamos bastante" (percepción)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22"/>
          <p:cNvSpPr/>
          <p:nvPr/>
        </p:nvSpPr>
        <p:spPr>
          <a:xfrm>
            <a:off x="5909040" y="3088024"/>
            <a:ext cx="5559480" cy="54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 err="1">
                <a:solidFill>
                  <a:srgbClr val="1B2A38"/>
                </a:solidFill>
                <a:latin typeface="Cambria"/>
                <a:ea typeface="Cambria"/>
              </a:rPr>
              <a:t>Evaluación</a:t>
            </a:r>
            <a:r>
              <a:rPr lang="en-US" sz="2000" b="1" strike="noStrike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trike="noStrike" spc="-1" dirty="0" err="1">
                <a:solidFill>
                  <a:srgbClr val="1B2A38"/>
                </a:solidFill>
                <a:latin typeface="Cambria"/>
                <a:ea typeface="Cambria"/>
              </a:rPr>
              <a:t>individualizada</a:t>
            </a:r>
            <a:r>
              <a:rPr lang="en-US" sz="2000" b="1" strike="noStrike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trike="noStrike" spc="-1" dirty="0" err="1">
                <a:solidFill>
                  <a:srgbClr val="1B2A38"/>
                </a:solidFill>
                <a:latin typeface="Cambria"/>
                <a:ea typeface="Cambria"/>
              </a:rPr>
              <a:t>empleados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7"/>
          <p:cNvSpPr/>
          <p:nvPr/>
        </p:nvSpPr>
        <p:spPr>
          <a:xfrm>
            <a:off x="5298480" y="3137760"/>
            <a:ext cx="454320" cy="454320"/>
          </a:xfrm>
          <a:prstGeom prst="ellipse">
            <a:avLst/>
          </a:prstGeom>
          <a:solidFill>
            <a:srgbClr val="142346"/>
          </a:solidFill>
          <a:ln w="12700">
            <a:solidFill>
              <a:srgbClr val="14234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4"/>
          <p:cNvSpPr/>
          <p:nvPr/>
        </p:nvSpPr>
        <p:spPr>
          <a:xfrm>
            <a:off x="5309280" y="313884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25"/>
          <p:cNvSpPr/>
          <p:nvPr/>
        </p:nvSpPr>
        <p:spPr>
          <a:xfrm>
            <a:off x="1380240" y="1726560"/>
            <a:ext cx="3444480" cy="4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3600" b="1" strike="noStrike" spc="-1">
                <a:solidFill>
                  <a:srgbClr val="E8622C"/>
                </a:solidFill>
                <a:latin typeface="Cambria"/>
                <a:ea typeface="Cambria"/>
              </a:rPr>
              <a:t>55%</a:t>
            </a:r>
            <a:endParaRPr lang="es-E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26"/>
          <p:cNvSpPr/>
          <p:nvPr/>
        </p:nvSpPr>
        <p:spPr>
          <a:xfrm>
            <a:off x="1357920" y="1988640"/>
            <a:ext cx="371232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strike="noStrike" spc="-1">
                <a:solidFill>
                  <a:srgbClr val="1B2A38"/>
                </a:solidFill>
                <a:latin typeface="Calibri"/>
                <a:ea typeface="Calibri"/>
              </a:rPr>
              <a:t>Falta de tiempo / carga de trabajo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27"/>
          <p:cNvSpPr/>
          <p:nvPr/>
        </p:nvSpPr>
        <p:spPr>
          <a:xfrm>
            <a:off x="5946120" y="1814400"/>
            <a:ext cx="5452560" cy="43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Preferir</a:t>
            </a:r>
            <a:r>
              <a:rPr lang="en-US" sz="2000" b="1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formación</a:t>
            </a:r>
            <a:r>
              <a:rPr lang="en-US" sz="2000" b="1" spc="-1" dirty="0">
                <a:solidFill>
                  <a:srgbClr val="1B2A38"/>
                </a:solidFill>
                <a:latin typeface="Cambria"/>
                <a:ea typeface="Cambria"/>
              </a:rPr>
              <a:t> flexible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28"/>
          <p:cNvSpPr/>
          <p:nvPr/>
        </p:nvSpPr>
        <p:spPr>
          <a:xfrm>
            <a:off x="5309280" y="188460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0"/>
          <p:cNvSpPr/>
          <p:nvPr/>
        </p:nvSpPr>
        <p:spPr>
          <a:xfrm>
            <a:off x="5323680" y="1813320"/>
            <a:ext cx="454320" cy="454320"/>
          </a:xfrm>
          <a:prstGeom prst="ellipse">
            <a:avLst/>
          </a:prstGeom>
          <a:solidFill>
            <a:srgbClr val="E8622C"/>
          </a:solidFill>
          <a:ln w="12700">
            <a:solidFill>
              <a:srgbClr val="E8622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29"/>
          <p:cNvSpPr/>
          <p:nvPr/>
        </p:nvSpPr>
        <p:spPr>
          <a:xfrm>
            <a:off x="5333760" y="179100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1182240" y="4248797"/>
            <a:ext cx="3888000" cy="111816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C9CD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30"/>
          <p:cNvSpPr/>
          <p:nvPr/>
        </p:nvSpPr>
        <p:spPr>
          <a:xfrm>
            <a:off x="1406314" y="4382118"/>
            <a:ext cx="1735560" cy="4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trike="noStrike" spc="-1" dirty="0">
                <a:solidFill>
                  <a:srgbClr val="D9A400"/>
                </a:solidFill>
                <a:latin typeface="Cambria"/>
                <a:ea typeface="Cambria"/>
              </a:rPr>
              <a:t>+3,2pp</a:t>
            </a:r>
            <a:endParaRPr lang="es-ES" sz="3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31"/>
          <p:cNvSpPr/>
          <p:nvPr/>
        </p:nvSpPr>
        <p:spPr>
          <a:xfrm>
            <a:off x="1393200" y="4707000"/>
            <a:ext cx="3663720" cy="57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1B2A38"/>
                </a:solidFill>
                <a:latin typeface="Calibri"/>
                <a:ea typeface="Calibri"/>
              </a:rPr>
              <a:t>Falta de oferta formativa adecuada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32"/>
          <p:cNvSpPr/>
          <p:nvPr/>
        </p:nvSpPr>
        <p:spPr>
          <a:xfrm>
            <a:off x="5309280" y="4530283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12"/>
          <p:cNvSpPr/>
          <p:nvPr/>
        </p:nvSpPr>
        <p:spPr>
          <a:xfrm>
            <a:off x="5333760" y="4469803"/>
            <a:ext cx="454320" cy="454320"/>
          </a:xfrm>
          <a:prstGeom prst="ellipse">
            <a:avLst/>
          </a:prstGeom>
          <a:solidFill>
            <a:srgbClr val="D9A400"/>
          </a:solidFill>
          <a:ln w="12700">
            <a:solidFill>
              <a:srgbClr val="D9A4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3"/>
          <p:cNvSpPr/>
          <p:nvPr/>
        </p:nvSpPr>
        <p:spPr>
          <a:xfrm>
            <a:off x="5333760" y="4469803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34"/>
          <p:cNvSpPr/>
          <p:nvPr/>
        </p:nvSpPr>
        <p:spPr>
          <a:xfrm>
            <a:off x="5909040" y="4460249"/>
            <a:ext cx="4959000" cy="54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Valorar</a:t>
            </a:r>
            <a:r>
              <a:rPr lang="en-US" sz="2000" b="1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formaciones</a:t>
            </a:r>
            <a:r>
              <a:rPr lang="en-US" sz="2000" b="1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incompany</a:t>
            </a:r>
            <a:r>
              <a:rPr lang="en-US" sz="2000" b="1" spc="-1" dirty="0">
                <a:solidFill>
                  <a:srgbClr val="1B2A38"/>
                </a:solidFill>
                <a:latin typeface="Cambria"/>
                <a:ea typeface="Cambria"/>
              </a:rPr>
              <a:t> </a:t>
            </a:r>
            <a:r>
              <a:rPr lang="en-US" sz="2000" b="1" spc="-1" dirty="0" err="1">
                <a:solidFill>
                  <a:srgbClr val="1B2A38"/>
                </a:solidFill>
                <a:latin typeface="Cambria"/>
                <a:ea typeface="Cambria"/>
              </a:rPr>
              <a:t>personalizadas</a:t>
            </a:r>
            <a:endParaRPr lang="es-E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36"/>
          <p:cNvSpPr/>
          <p:nvPr/>
        </p:nvSpPr>
        <p:spPr>
          <a:xfrm>
            <a:off x="5946120" y="2005560"/>
            <a:ext cx="5139720" cy="56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s-E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85;p1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Google Shape;86;p 2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Google Shape;87;p 2"/>
          <p:cNvSpPr/>
          <p:nvPr/>
        </p:nvSpPr>
        <p:spPr>
          <a:xfrm>
            <a:off x="168120" y="6538320"/>
            <a:ext cx="29887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Google Shape;88;p 2"/>
          <p:cNvSpPr/>
          <p:nvPr/>
        </p:nvSpPr>
        <p:spPr>
          <a:xfrm>
            <a:off x="2742840" y="6538320"/>
            <a:ext cx="138744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3" name="Google Shape;89;p 2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8600" cy="528480"/>
          </a:xfrm>
          <a:prstGeom prst="rect">
            <a:avLst/>
          </a:prstGeom>
          <a:ln w="0">
            <a:noFill/>
          </a:ln>
        </p:spPr>
      </p:pic>
      <p:sp>
        <p:nvSpPr>
          <p:cNvPr id="294" name="Google Shape;90;p 2"/>
          <p:cNvSpPr/>
          <p:nvPr/>
        </p:nvSpPr>
        <p:spPr>
          <a:xfrm>
            <a:off x="2384280" y="1269000"/>
            <a:ext cx="7421400" cy="353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1701"/>
              </a:spcBef>
              <a:spcAft>
                <a:spcPts val="1701"/>
              </a:spcAft>
              <a:tabLst>
                <a:tab pos="0" algn="l"/>
              </a:tabLst>
            </a:pPr>
            <a:r>
              <a:rPr lang="en-US" sz="5200" b="1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Perfiles</a:t>
            </a:r>
            <a:endParaRPr lang="es-ES" sz="52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5000"/>
              </a:lnSpc>
              <a:spcBef>
                <a:spcPts val="1701"/>
              </a:spcBef>
              <a:spcAft>
                <a:spcPts val="1701"/>
              </a:spcAft>
              <a:tabLst>
                <a:tab pos="0" algn="l"/>
              </a:tabLst>
            </a:pPr>
            <a:r>
              <a:rPr lang="en-US" sz="5200" b="1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propuestas</a:t>
            </a:r>
            <a:r>
              <a:rPr lang="en-US" sz="5200" b="1" strike="noStrike" spc="-1" dirty="0">
                <a:solidFill>
                  <a:srgbClr val="3A3F4B"/>
                </a:solidFill>
                <a:latin typeface="Calibri"/>
                <a:ea typeface="Calibri"/>
              </a:rPr>
              <a:t> </a:t>
            </a:r>
            <a:r>
              <a:rPr lang="en-US" sz="5200" b="1" spc="-1" dirty="0">
                <a:solidFill>
                  <a:srgbClr val="3A3F4B"/>
                </a:solidFill>
                <a:latin typeface="Calibri"/>
                <a:ea typeface="Calibri"/>
              </a:rPr>
              <a:t>d</a:t>
            </a:r>
            <a:r>
              <a:rPr lang="en-US" sz="5200" b="1" strike="noStrike" spc="-1" dirty="0">
                <a:solidFill>
                  <a:srgbClr val="3A3F4B"/>
                </a:solidFill>
                <a:latin typeface="Calibri"/>
                <a:ea typeface="Calibri"/>
              </a:rPr>
              <a:t>e </a:t>
            </a:r>
            <a:r>
              <a:rPr lang="en-US" sz="5200" b="1" strike="noStrike" spc="-1" dirty="0" err="1">
                <a:solidFill>
                  <a:srgbClr val="3A3F4B"/>
                </a:solidFill>
                <a:latin typeface="Calibri"/>
                <a:ea typeface="Calibri"/>
              </a:rPr>
              <a:t>formación</a:t>
            </a:r>
            <a:endParaRPr lang="es-ES" sz="52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spcAft>
                <a:spcPts val="1417"/>
              </a:spcAft>
              <a:tabLst>
                <a:tab pos="0" algn="l"/>
              </a:tabLst>
            </a:pPr>
            <a:endParaRPr lang="es-ES" sz="52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" name="Google Shape;91;p 3"/>
          <p:cNvPicPr/>
          <p:nvPr/>
        </p:nvPicPr>
        <p:blipFill>
          <a:blip r:embed="rId3"/>
          <a:stretch/>
        </p:blipFill>
        <p:spPr>
          <a:xfrm>
            <a:off x="4536000" y="3865680"/>
            <a:ext cx="1326960" cy="1352520"/>
          </a:xfrm>
          <a:prstGeom prst="rect">
            <a:avLst/>
          </a:prstGeom>
          <a:ln w="0">
            <a:noFill/>
          </a:ln>
        </p:spPr>
      </p:pic>
      <p:pic>
        <p:nvPicPr>
          <p:cNvPr id="296" name="Google Shape;92;p 4"/>
          <p:cNvPicPr/>
          <p:nvPr/>
        </p:nvPicPr>
        <p:blipFill>
          <a:blip r:embed="rId4"/>
          <a:stretch/>
        </p:blipFill>
        <p:spPr>
          <a:xfrm>
            <a:off x="6273360" y="3907800"/>
            <a:ext cx="1358280" cy="1310400"/>
          </a:xfrm>
          <a:prstGeom prst="rect">
            <a:avLst/>
          </a:prstGeom>
          <a:ln w="0">
            <a:noFill/>
          </a:ln>
        </p:spPr>
      </p:pic>
      <p:sp>
        <p:nvSpPr>
          <p:cNvPr id="297" name="Rectángulo 296"/>
          <p:cNvSpPr/>
          <p:nvPr/>
        </p:nvSpPr>
        <p:spPr>
          <a:xfrm>
            <a:off x="5898960" y="2117613"/>
            <a:ext cx="382320" cy="59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ES" sz="4000" b="1" spc="-1" dirty="0">
                <a:solidFill>
                  <a:srgbClr val="3A3F4B"/>
                </a:solidFill>
                <a:latin typeface="Calibri"/>
                <a:ea typeface="Calibri"/>
              </a:rPr>
              <a:t>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97;p2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Google Shape;98;p 2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Google Shape;99;p 2"/>
          <p:cNvSpPr/>
          <p:nvPr/>
        </p:nvSpPr>
        <p:spPr>
          <a:xfrm>
            <a:off x="168120" y="6538320"/>
            <a:ext cx="29887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Google Shape;100;p 2"/>
          <p:cNvSpPr/>
          <p:nvPr/>
        </p:nvSpPr>
        <p:spPr>
          <a:xfrm>
            <a:off x="2742840" y="6538320"/>
            <a:ext cx="138744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Google Shape;101;p 2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8600" cy="528480"/>
          </a:xfrm>
          <a:prstGeom prst="rect">
            <a:avLst/>
          </a:prstGeom>
          <a:ln w="0">
            <a:noFill/>
          </a:ln>
        </p:spPr>
      </p:pic>
      <p:sp>
        <p:nvSpPr>
          <p:cNvPr id="303" name="Google Shape;102;p 2"/>
          <p:cNvSpPr/>
          <p:nvPr/>
        </p:nvSpPr>
        <p:spPr>
          <a:xfrm>
            <a:off x="859320" y="317520"/>
            <a:ext cx="63702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Perfiles profesionales analizados 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Google Shape;103;p 2"/>
          <p:cNvSpPr/>
          <p:nvPr/>
        </p:nvSpPr>
        <p:spPr>
          <a:xfrm>
            <a:off x="2589840" y="1325880"/>
            <a:ext cx="576720" cy="5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oogle Shape;104;p 2"/>
          <p:cNvSpPr/>
          <p:nvPr/>
        </p:nvSpPr>
        <p:spPr>
          <a:xfrm>
            <a:off x="1746000" y="2814840"/>
            <a:ext cx="7040880" cy="5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Atención al cliente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Google Shape;105;p 2"/>
          <p:cNvSpPr/>
          <p:nvPr/>
        </p:nvSpPr>
        <p:spPr>
          <a:xfrm>
            <a:off x="1746000" y="3373560"/>
            <a:ext cx="5854320" cy="67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8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Atiende consultas e incidencias y mantiene la calidad del servicio y la relación con el cliente.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106;p 2"/>
          <p:cNvSpPr/>
          <p:nvPr/>
        </p:nvSpPr>
        <p:spPr>
          <a:xfrm>
            <a:off x="1753920" y="1340280"/>
            <a:ext cx="6905520" cy="529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Administrativo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107;p 2"/>
          <p:cNvSpPr/>
          <p:nvPr/>
        </p:nvSpPr>
        <p:spPr>
          <a:xfrm>
            <a:off x="1726920" y="4392360"/>
            <a:ext cx="628092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2000" b="1" strike="noStrike" spc="-1">
                <a:solidFill>
                  <a:srgbClr val="1B2A38"/>
                </a:solidFill>
                <a:latin typeface="Cambria"/>
                <a:ea typeface="Cambria"/>
              </a:rPr>
              <a:t>Operaciones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Google Shape;108;p 2"/>
          <p:cNvSpPr/>
          <p:nvPr/>
        </p:nvSpPr>
        <p:spPr>
          <a:xfrm>
            <a:off x="1726920" y="4914000"/>
            <a:ext cx="6556320" cy="67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8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Ejecuta y supervisa las tareas operativas, asegurando el cumplimiento de los procedimientos, la seguridad y la continuidad del servicio</a:t>
            </a:r>
            <a:r>
              <a:rPr lang="en-US" sz="1100" b="0" strike="noStrike" spc="-1">
                <a:solidFill>
                  <a:schemeClr val="dk1"/>
                </a:solidFill>
                <a:latin typeface="Arial"/>
                <a:ea typeface="Arial"/>
              </a:rPr>
              <a:t>.</a:t>
            </a:r>
            <a:endParaRPr lang="es-E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Google Shape;109;p 2"/>
          <p:cNvSpPr/>
          <p:nvPr/>
        </p:nvSpPr>
        <p:spPr>
          <a:xfrm>
            <a:off x="1733040" y="1908360"/>
            <a:ext cx="6509520" cy="5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8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3A3F4B"/>
                </a:solidFill>
                <a:latin typeface="Calibri"/>
                <a:ea typeface="Calibri"/>
              </a:rPr>
              <a:t>Gestiona documentación, datos y procesos internos, organización y seguridad de la información.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Google Shape;110;p 2"/>
          <p:cNvSpPr/>
          <p:nvPr/>
        </p:nvSpPr>
        <p:spPr>
          <a:xfrm>
            <a:off x="506520" y="1522440"/>
            <a:ext cx="1016640" cy="981000"/>
          </a:xfrm>
          <a:prstGeom prst="roundRect">
            <a:avLst>
              <a:gd name="adj" fmla="val 15000"/>
            </a:avLst>
          </a:prstGeom>
          <a:solidFill>
            <a:srgbClr val="E9F2FC"/>
          </a:solidFill>
          <a:ln w="12700">
            <a:solidFill>
              <a:srgbClr val="E9F2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" name="Google Shape;111;p 2"/>
          <p:cNvPicPr/>
          <p:nvPr/>
        </p:nvPicPr>
        <p:blipFill>
          <a:blip r:embed="rId3"/>
          <a:stretch/>
        </p:blipFill>
        <p:spPr>
          <a:xfrm>
            <a:off x="652680" y="1663560"/>
            <a:ext cx="724680" cy="699120"/>
          </a:xfrm>
          <a:prstGeom prst="rect">
            <a:avLst/>
          </a:prstGeom>
          <a:ln w="0">
            <a:noFill/>
          </a:ln>
        </p:spPr>
      </p:pic>
      <p:sp>
        <p:nvSpPr>
          <p:cNvPr id="313" name="Google Shape;112;p 2"/>
          <p:cNvSpPr/>
          <p:nvPr/>
        </p:nvSpPr>
        <p:spPr>
          <a:xfrm>
            <a:off x="540000" y="3062880"/>
            <a:ext cx="1016640" cy="981000"/>
          </a:xfrm>
          <a:prstGeom prst="roundRect">
            <a:avLst>
              <a:gd name="adj" fmla="val 15000"/>
            </a:avLst>
          </a:prstGeom>
          <a:solidFill>
            <a:srgbClr val="FCE9ED"/>
          </a:solidFill>
          <a:ln w="12700">
            <a:solidFill>
              <a:srgbClr val="E9F2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Google Shape;113;p 2"/>
          <p:cNvSpPr/>
          <p:nvPr/>
        </p:nvSpPr>
        <p:spPr>
          <a:xfrm>
            <a:off x="540000" y="4603320"/>
            <a:ext cx="1016640" cy="981000"/>
          </a:xfrm>
          <a:prstGeom prst="roundRect">
            <a:avLst>
              <a:gd name="adj" fmla="val 15000"/>
            </a:avLst>
          </a:prstGeom>
          <a:solidFill>
            <a:srgbClr val="EDF5E9"/>
          </a:solidFill>
          <a:ln w="12700">
            <a:solidFill>
              <a:srgbClr val="E9F2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5" name="Google Shape;114;p 2"/>
          <p:cNvPicPr/>
          <p:nvPr/>
        </p:nvPicPr>
        <p:blipFill>
          <a:blip r:embed="rId3"/>
          <a:stretch/>
        </p:blipFill>
        <p:spPr>
          <a:xfrm>
            <a:off x="685800" y="4744080"/>
            <a:ext cx="724680" cy="699120"/>
          </a:xfrm>
          <a:prstGeom prst="rect">
            <a:avLst/>
          </a:prstGeom>
          <a:ln w="0">
            <a:noFill/>
          </a:ln>
        </p:spPr>
      </p:pic>
      <p:pic>
        <p:nvPicPr>
          <p:cNvPr id="316" name="Google Shape;115;p 2"/>
          <p:cNvPicPr/>
          <p:nvPr/>
        </p:nvPicPr>
        <p:blipFill>
          <a:blip r:embed="rId4"/>
          <a:stretch/>
        </p:blipFill>
        <p:spPr>
          <a:xfrm>
            <a:off x="664920" y="3188880"/>
            <a:ext cx="766440" cy="6991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120;p3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Google Shape;121;p 2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Google Shape;122;p 2"/>
          <p:cNvSpPr/>
          <p:nvPr/>
        </p:nvSpPr>
        <p:spPr>
          <a:xfrm>
            <a:off x="168120" y="6538320"/>
            <a:ext cx="29887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Google Shape;123;p 2"/>
          <p:cNvSpPr/>
          <p:nvPr/>
        </p:nvSpPr>
        <p:spPr>
          <a:xfrm>
            <a:off x="2742840" y="6538320"/>
            <a:ext cx="138744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1" name="Google Shape;124;p 2"/>
          <p:cNvPicPr/>
          <p:nvPr/>
        </p:nvPicPr>
        <p:blipFill>
          <a:blip r:embed="rId2"/>
          <a:srcRect t="26220" b="23016"/>
          <a:stretch/>
        </p:blipFill>
        <p:spPr>
          <a:xfrm>
            <a:off x="10038960" y="288360"/>
            <a:ext cx="1938600" cy="528480"/>
          </a:xfrm>
          <a:prstGeom prst="rect">
            <a:avLst/>
          </a:prstGeom>
          <a:ln w="0">
            <a:noFill/>
          </a:ln>
        </p:spPr>
      </p:pic>
      <p:sp>
        <p:nvSpPr>
          <p:cNvPr id="322" name="Google Shape;125;p 2"/>
          <p:cNvSpPr/>
          <p:nvPr/>
        </p:nvSpPr>
        <p:spPr>
          <a:xfrm>
            <a:off x="859320" y="317520"/>
            <a:ext cx="7811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Propuestas de formativas por perfil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Google Shape;126;p 2"/>
          <p:cNvPicPr/>
          <p:nvPr/>
        </p:nvPicPr>
        <p:blipFill>
          <a:blip r:embed="rId3"/>
          <a:stretch/>
        </p:blipFill>
        <p:spPr>
          <a:xfrm>
            <a:off x="713160" y="1224360"/>
            <a:ext cx="3251520" cy="363600"/>
          </a:xfrm>
          <a:prstGeom prst="rect">
            <a:avLst/>
          </a:prstGeom>
          <a:ln w="0">
            <a:noFill/>
          </a:ln>
        </p:spPr>
      </p:pic>
      <p:sp>
        <p:nvSpPr>
          <p:cNvPr id="324" name="Google Shape;127;p 2"/>
          <p:cNvSpPr/>
          <p:nvPr/>
        </p:nvSpPr>
        <p:spPr>
          <a:xfrm>
            <a:off x="7923600" y="1239120"/>
            <a:ext cx="3524400" cy="348840"/>
          </a:xfrm>
          <a:prstGeom prst="roundRect">
            <a:avLst>
              <a:gd name="adj" fmla="val 20000"/>
            </a:avLst>
          </a:prstGeom>
          <a:solidFill>
            <a:srgbClr val="38761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Google Shape;128;p 2"/>
          <p:cNvSpPr/>
          <p:nvPr/>
        </p:nvSpPr>
        <p:spPr>
          <a:xfrm>
            <a:off x="713160" y="178308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Google Shape;129;p 2"/>
          <p:cNvSpPr/>
          <p:nvPr/>
        </p:nvSpPr>
        <p:spPr>
          <a:xfrm>
            <a:off x="960120" y="197496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E9F2FC"/>
          </a:solidFill>
          <a:ln w="12700">
            <a:solidFill>
              <a:srgbClr val="E9F2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Google Shape;130;p 2"/>
          <p:cNvSpPr/>
          <p:nvPr/>
        </p:nvSpPr>
        <p:spPr>
          <a:xfrm>
            <a:off x="1865520" y="2103120"/>
            <a:ext cx="187236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Administrativo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Google Shape;131;p 2"/>
          <p:cNvSpPr/>
          <p:nvPr/>
        </p:nvSpPr>
        <p:spPr>
          <a:xfrm>
            <a:off x="4160520" y="1965960"/>
            <a:ext cx="3426840" cy="72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12233E"/>
                </a:solidFill>
                <a:latin typeface="Arial"/>
                <a:ea typeface="Arial"/>
              </a:rPr>
              <a:t>Ciberseguridad y optimización de procesos mediante herramientas de IA</a:t>
            </a:r>
            <a:endParaRPr lang="es-E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Google Shape;132;p 2"/>
          <p:cNvSpPr/>
          <p:nvPr/>
        </p:nvSpPr>
        <p:spPr>
          <a:xfrm>
            <a:off x="8065080" y="1920240"/>
            <a:ext cx="3015360" cy="68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12233E"/>
                </a:solidFill>
                <a:latin typeface="Arial"/>
                <a:ea typeface="Arial"/>
              </a:rPr>
              <a:t>Proteger la información y reducir tareas manuales.</a:t>
            </a:r>
            <a:endParaRPr lang="es-E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Google Shape;133;p 2"/>
          <p:cNvSpPr/>
          <p:nvPr/>
        </p:nvSpPr>
        <p:spPr>
          <a:xfrm>
            <a:off x="713160" y="313632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Google Shape;134;p 2"/>
          <p:cNvSpPr/>
          <p:nvPr/>
        </p:nvSpPr>
        <p:spPr>
          <a:xfrm>
            <a:off x="960120" y="332856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FCE9ED"/>
          </a:solidFill>
          <a:ln w="12700">
            <a:solidFill>
              <a:srgbClr val="FCE9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Google Shape;135;p 2"/>
          <p:cNvSpPr/>
          <p:nvPr/>
        </p:nvSpPr>
        <p:spPr>
          <a:xfrm>
            <a:off x="1865520" y="3456360"/>
            <a:ext cx="209952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Atención al cliente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Google Shape;136;p 2"/>
          <p:cNvSpPr/>
          <p:nvPr/>
        </p:nvSpPr>
        <p:spPr>
          <a:xfrm>
            <a:off x="4160520" y="3319200"/>
            <a:ext cx="3426840" cy="72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12233E"/>
                </a:solidFill>
                <a:latin typeface="Arial"/>
                <a:ea typeface="Arial"/>
              </a:rPr>
              <a:t>Gestión de incidencias</a:t>
            </a:r>
            <a:endParaRPr lang="es-E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Google Shape;137;p 2"/>
          <p:cNvSpPr/>
          <p:nvPr/>
        </p:nvSpPr>
        <p:spPr>
          <a:xfrm>
            <a:off x="8065080" y="3310200"/>
            <a:ext cx="3015360" cy="68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12233E"/>
                </a:solidFill>
                <a:latin typeface="Arial"/>
                <a:ea typeface="Arial"/>
              </a:rPr>
              <a:t>Responder mejor y de forma más homogénea al cliente.</a:t>
            </a:r>
            <a:endParaRPr lang="es-E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Google Shape;138;p 2"/>
          <p:cNvSpPr/>
          <p:nvPr/>
        </p:nvSpPr>
        <p:spPr>
          <a:xfrm>
            <a:off x="713160" y="448956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Google Shape;139;p 2"/>
          <p:cNvSpPr/>
          <p:nvPr/>
        </p:nvSpPr>
        <p:spPr>
          <a:xfrm>
            <a:off x="960120" y="468180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EDF5E9"/>
          </a:solidFill>
          <a:ln w="12700">
            <a:solidFill>
              <a:srgbClr val="EDF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Google Shape;140;p 2"/>
          <p:cNvSpPr/>
          <p:nvPr/>
        </p:nvSpPr>
        <p:spPr>
          <a:xfrm>
            <a:off x="1865520" y="4809600"/>
            <a:ext cx="187236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Operaciones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Google Shape;141;p 2"/>
          <p:cNvSpPr/>
          <p:nvPr/>
        </p:nvSpPr>
        <p:spPr>
          <a:xfrm>
            <a:off x="4160520" y="4672440"/>
            <a:ext cx="3426840" cy="72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 dirty="0">
                <a:solidFill>
                  <a:srgbClr val="12233E"/>
                </a:solidFill>
                <a:latin typeface="Arial"/>
                <a:ea typeface="Arial"/>
              </a:rPr>
              <a:t>PRL y </a:t>
            </a:r>
            <a:r>
              <a:rPr lang="en-US" sz="1700" b="0" strike="noStrike" spc="-1" dirty="0" err="1">
                <a:solidFill>
                  <a:srgbClr val="12233E"/>
                </a:solidFill>
                <a:latin typeface="Arial"/>
                <a:ea typeface="Arial"/>
              </a:rPr>
              <a:t>procedimientos</a:t>
            </a:r>
            <a:r>
              <a:rPr lang="en-US" sz="1700" b="0" strike="noStrike" spc="-1" dirty="0">
                <a:solidFill>
                  <a:srgbClr val="12233E"/>
                </a:solidFill>
                <a:latin typeface="Arial"/>
                <a:ea typeface="Arial"/>
              </a:rPr>
              <a:t> </a:t>
            </a:r>
            <a:r>
              <a:rPr lang="en-US" sz="1700" b="0" strike="noStrike" spc="-1" dirty="0" err="1">
                <a:solidFill>
                  <a:srgbClr val="12233E"/>
                </a:solidFill>
                <a:latin typeface="Arial"/>
                <a:ea typeface="Arial"/>
              </a:rPr>
              <a:t>operativos</a:t>
            </a:r>
            <a:endParaRPr lang="es-E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Google Shape;142;p 2"/>
          <p:cNvSpPr/>
          <p:nvPr/>
        </p:nvSpPr>
        <p:spPr>
          <a:xfrm>
            <a:off x="8065080" y="4626720"/>
            <a:ext cx="3015360" cy="68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12233E"/>
                </a:solidFill>
                <a:latin typeface="Arial"/>
                <a:ea typeface="Arial"/>
              </a:rPr>
              <a:t>Reducir riesgos y asegurar la continuidad del servicio</a:t>
            </a:r>
            <a:r>
              <a:rPr lang="en-US" sz="1530" b="0" strike="noStrike" spc="-1">
                <a:solidFill>
                  <a:srgbClr val="65748B"/>
                </a:solidFill>
                <a:latin typeface="Arial"/>
                <a:ea typeface="Arial"/>
              </a:rPr>
              <a:t>.</a:t>
            </a:r>
            <a:endParaRPr lang="es-ES" sz="153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Google Shape;143;p 2"/>
          <p:cNvPicPr/>
          <p:nvPr/>
        </p:nvPicPr>
        <p:blipFill>
          <a:blip r:embed="rId4"/>
          <a:stretch/>
        </p:blipFill>
        <p:spPr>
          <a:xfrm>
            <a:off x="1064880" y="2066040"/>
            <a:ext cx="519480" cy="519480"/>
          </a:xfrm>
          <a:prstGeom prst="rect">
            <a:avLst/>
          </a:prstGeom>
          <a:ln w="0">
            <a:noFill/>
          </a:ln>
        </p:spPr>
      </p:pic>
      <p:pic>
        <p:nvPicPr>
          <p:cNvPr id="341" name="Google Shape;144;p 2"/>
          <p:cNvPicPr/>
          <p:nvPr/>
        </p:nvPicPr>
        <p:blipFill>
          <a:blip r:embed="rId5"/>
          <a:stretch/>
        </p:blipFill>
        <p:spPr>
          <a:xfrm>
            <a:off x="1042560" y="3410640"/>
            <a:ext cx="564480" cy="564480"/>
          </a:xfrm>
          <a:prstGeom prst="rect">
            <a:avLst/>
          </a:prstGeom>
          <a:ln w="0">
            <a:noFill/>
          </a:ln>
        </p:spPr>
      </p:pic>
      <p:pic>
        <p:nvPicPr>
          <p:cNvPr id="342" name="Google Shape;145;p 2"/>
          <p:cNvPicPr/>
          <p:nvPr/>
        </p:nvPicPr>
        <p:blipFill>
          <a:blip r:embed="rId6"/>
          <a:stretch/>
        </p:blipFill>
        <p:spPr>
          <a:xfrm>
            <a:off x="1042560" y="4764240"/>
            <a:ext cx="564480" cy="564480"/>
          </a:xfrm>
          <a:prstGeom prst="rect">
            <a:avLst/>
          </a:prstGeom>
          <a:ln w="0">
            <a:noFill/>
          </a:ln>
        </p:spPr>
      </p:pic>
      <p:sp>
        <p:nvSpPr>
          <p:cNvPr id="343" name="Google Shape;146;p 2"/>
          <p:cNvSpPr/>
          <p:nvPr/>
        </p:nvSpPr>
        <p:spPr>
          <a:xfrm>
            <a:off x="9196920" y="1190520"/>
            <a:ext cx="97776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Objetivo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4" name="Google Shape;147;p 2"/>
          <p:cNvCxnSpPr/>
          <p:nvPr/>
        </p:nvCxnSpPr>
        <p:spPr>
          <a:xfrm>
            <a:off x="3966480" y="4635720"/>
            <a:ext cx="2160" cy="77040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45" name="Google Shape;148;p 2"/>
          <p:cNvCxnSpPr/>
          <p:nvPr/>
        </p:nvCxnSpPr>
        <p:spPr>
          <a:xfrm>
            <a:off x="3966480" y="329184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46" name="Google Shape;149;p 2"/>
          <p:cNvCxnSpPr/>
          <p:nvPr/>
        </p:nvCxnSpPr>
        <p:spPr>
          <a:xfrm>
            <a:off x="3966480" y="193860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47" name="Google Shape;150;p 2"/>
          <p:cNvCxnSpPr/>
          <p:nvPr/>
        </p:nvCxnSpPr>
        <p:spPr>
          <a:xfrm>
            <a:off x="7691040" y="1878840"/>
            <a:ext cx="2160" cy="77040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48" name="Google Shape;151;p 2"/>
          <p:cNvCxnSpPr/>
          <p:nvPr/>
        </p:nvCxnSpPr>
        <p:spPr>
          <a:xfrm>
            <a:off x="7691040" y="329184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49" name="Google Shape;152;p 2"/>
          <p:cNvCxnSpPr/>
          <p:nvPr/>
        </p:nvCxnSpPr>
        <p:spPr>
          <a:xfrm>
            <a:off x="7691040" y="465408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sp>
        <p:nvSpPr>
          <p:cNvPr id="350" name="Google Shape;153;p 2"/>
          <p:cNvSpPr/>
          <p:nvPr/>
        </p:nvSpPr>
        <p:spPr>
          <a:xfrm>
            <a:off x="1508040" y="1191600"/>
            <a:ext cx="166176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Perfil profesional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Google Shape;154;p 2"/>
          <p:cNvSpPr/>
          <p:nvPr/>
        </p:nvSpPr>
        <p:spPr>
          <a:xfrm>
            <a:off x="4137840" y="1239120"/>
            <a:ext cx="3472560" cy="345240"/>
          </a:xfrm>
          <a:prstGeom prst="roundRect">
            <a:avLst>
              <a:gd name="adj" fmla="val 20000"/>
            </a:avLst>
          </a:prstGeom>
          <a:solidFill>
            <a:srgbClr val="65748B"/>
          </a:solidFill>
          <a:ln w="12700">
            <a:solidFill>
              <a:srgbClr val="65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Google Shape;155;p 2"/>
          <p:cNvSpPr/>
          <p:nvPr/>
        </p:nvSpPr>
        <p:spPr>
          <a:xfrm>
            <a:off x="5301360" y="1186920"/>
            <a:ext cx="114552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Formación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160;g3f5ad115aa7_0_151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Google Shape;161;g3f5ad115aa7_0_ 2"/>
          <p:cNvSpPr/>
          <p:nvPr/>
        </p:nvSpPr>
        <p:spPr>
          <a:xfrm>
            <a:off x="0" y="6519600"/>
            <a:ext cx="12180240" cy="3452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Google Shape;162;g3f5ad115aa7_0_ 2"/>
          <p:cNvSpPr/>
          <p:nvPr/>
        </p:nvSpPr>
        <p:spPr>
          <a:xfrm>
            <a:off x="168120" y="6538320"/>
            <a:ext cx="29887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Dpt. Analistas de Datos de RRHH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Google Shape;163;g3f5ad115aa7_0_ 2"/>
          <p:cNvSpPr/>
          <p:nvPr/>
        </p:nvSpPr>
        <p:spPr>
          <a:xfrm>
            <a:off x="2742840" y="6538320"/>
            <a:ext cx="138744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6B7280"/>
                </a:solidFill>
                <a:latin typeface="Arial"/>
                <a:ea typeface="Arial"/>
              </a:rPr>
              <a:t>- 27 Julio 2026</a:t>
            </a:r>
            <a:endParaRPr lang="es-E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7" name="Google Shape;164;g3f5ad115aa7_0_ 2"/>
          <p:cNvPicPr/>
          <p:nvPr/>
        </p:nvPicPr>
        <p:blipFill>
          <a:blip r:embed="rId2"/>
          <a:srcRect t="26207" b="23016"/>
          <a:stretch/>
        </p:blipFill>
        <p:spPr>
          <a:xfrm>
            <a:off x="10038960" y="288360"/>
            <a:ext cx="1938600" cy="528480"/>
          </a:xfrm>
          <a:prstGeom prst="rect">
            <a:avLst/>
          </a:prstGeom>
          <a:ln w="0">
            <a:noFill/>
          </a:ln>
        </p:spPr>
      </p:pic>
      <p:sp>
        <p:nvSpPr>
          <p:cNvPr id="358" name="Google Shape;165;g3f5ad115aa7_0_ 2"/>
          <p:cNvSpPr/>
          <p:nvPr/>
        </p:nvSpPr>
        <p:spPr>
          <a:xfrm>
            <a:off x="859320" y="317520"/>
            <a:ext cx="781164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42346"/>
                </a:solidFill>
                <a:latin typeface="Calibri"/>
                <a:ea typeface="Calibri"/>
              </a:rPr>
              <a:t>Propuestas de formativas por perfil</a:t>
            </a:r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Google Shape;166;g3f5ad115aa7_0_ 2"/>
          <p:cNvPicPr/>
          <p:nvPr/>
        </p:nvPicPr>
        <p:blipFill>
          <a:blip r:embed="rId3"/>
          <a:stretch/>
        </p:blipFill>
        <p:spPr>
          <a:xfrm>
            <a:off x="713160" y="1224360"/>
            <a:ext cx="3251520" cy="363600"/>
          </a:xfrm>
          <a:prstGeom prst="rect">
            <a:avLst/>
          </a:prstGeom>
          <a:ln w="0">
            <a:noFill/>
          </a:ln>
        </p:spPr>
      </p:pic>
      <p:sp>
        <p:nvSpPr>
          <p:cNvPr id="360" name="Google Shape;167;g3f5ad115aa7_0_ 2"/>
          <p:cNvSpPr/>
          <p:nvPr/>
        </p:nvSpPr>
        <p:spPr>
          <a:xfrm>
            <a:off x="7872120" y="1238040"/>
            <a:ext cx="3510720" cy="349920"/>
          </a:xfrm>
          <a:prstGeom prst="roundRect">
            <a:avLst>
              <a:gd name="adj" fmla="val 20000"/>
            </a:avLst>
          </a:prstGeom>
          <a:solidFill>
            <a:srgbClr val="B83A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Google Shape;168;g3f5ad115aa7_0_ 2"/>
          <p:cNvSpPr/>
          <p:nvPr/>
        </p:nvSpPr>
        <p:spPr>
          <a:xfrm>
            <a:off x="713160" y="178308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Google Shape;169;g3f5ad115aa7_0_ 2"/>
          <p:cNvSpPr/>
          <p:nvPr/>
        </p:nvSpPr>
        <p:spPr>
          <a:xfrm>
            <a:off x="960120" y="197496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E9F2FC"/>
          </a:solidFill>
          <a:ln w="12700">
            <a:solidFill>
              <a:srgbClr val="E9F2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Google Shape;170;g3f5ad115aa7_0_ 2"/>
          <p:cNvSpPr/>
          <p:nvPr/>
        </p:nvSpPr>
        <p:spPr>
          <a:xfrm>
            <a:off x="1865520" y="2103120"/>
            <a:ext cx="187236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Administrativo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Google Shape;171;g3f5ad115aa7_0_ 2"/>
          <p:cNvSpPr/>
          <p:nvPr/>
        </p:nvSpPr>
        <p:spPr>
          <a:xfrm>
            <a:off x="713160" y="313632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Google Shape;172;g3f5ad115aa7_0_ 2"/>
          <p:cNvSpPr/>
          <p:nvPr/>
        </p:nvSpPr>
        <p:spPr>
          <a:xfrm>
            <a:off x="960120" y="332856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FCE9ED"/>
          </a:solidFill>
          <a:ln w="12700">
            <a:solidFill>
              <a:srgbClr val="FCE9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Google Shape;173;g3f5ad115aa7_0_ 2"/>
          <p:cNvSpPr/>
          <p:nvPr/>
        </p:nvSpPr>
        <p:spPr>
          <a:xfrm>
            <a:off x="1865520" y="3456360"/>
            <a:ext cx="209952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Atención al cliente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Google Shape;174;g3f5ad115aa7_0_ 2"/>
          <p:cNvSpPr/>
          <p:nvPr/>
        </p:nvSpPr>
        <p:spPr>
          <a:xfrm>
            <a:off x="713160" y="4489560"/>
            <a:ext cx="10806120" cy="107712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4E8E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Google Shape;175;g3f5ad115aa7_0_ 2"/>
          <p:cNvSpPr/>
          <p:nvPr/>
        </p:nvSpPr>
        <p:spPr>
          <a:xfrm>
            <a:off x="960120" y="4681800"/>
            <a:ext cx="729360" cy="729360"/>
          </a:xfrm>
          <a:prstGeom prst="roundRect">
            <a:avLst>
              <a:gd name="adj" fmla="val 15000"/>
            </a:avLst>
          </a:prstGeom>
          <a:solidFill>
            <a:srgbClr val="EDF5E9"/>
          </a:solidFill>
          <a:ln w="12700">
            <a:solidFill>
              <a:srgbClr val="EDF5E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Google Shape;176;g3f5ad115aa7_0_ 2"/>
          <p:cNvSpPr/>
          <p:nvPr/>
        </p:nvSpPr>
        <p:spPr>
          <a:xfrm>
            <a:off x="1865520" y="4809600"/>
            <a:ext cx="187236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142346"/>
                </a:solidFill>
                <a:latin typeface="Calibri"/>
                <a:ea typeface="Calibri"/>
              </a:rPr>
              <a:t>Operaciones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0" name="Google Shape;177;g3f5ad115aa7_0_ 2"/>
          <p:cNvPicPr/>
          <p:nvPr/>
        </p:nvPicPr>
        <p:blipFill>
          <a:blip r:embed="rId4"/>
          <a:stretch/>
        </p:blipFill>
        <p:spPr>
          <a:xfrm>
            <a:off x="1064880" y="2066040"/>
            <a:ext cx="519480" cy="519480"/>
          </a:xfrm>
          <a:prstGeom prst="rect">
            <a:avLst/>
          </a:prstGeom>
          <a:ln w="0">
            <a:noFill/>
          </a:ln>
        </p:spPr>
      </p:pic>
      <p:sp>
        <p:nvSpPr>
          <p:cNvPr id="371" name="Google Shape;178;g3f5ad115aa7_0_ 2"/>
          <p:cNvSpPr/>
          <p:nvPr/>
        </p:nvSpPr>
        <p:spPr>
          <a:xfrm>
            <a:off x="1508040" y="1191600"/>
            <a:ext cx="166176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Perfil profesional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Google Shape;179;g3f5ad115aa7_0_ 2"/>
          <p:cNvPicPr/>
          <p:nvPr/>
        </p:nvPicPr>
        <p:blipFill>
          <a:blip r:embed="rId5"/>
          <a:stretch/>
        </p:blipFill>
        <p:spPr>
          <a:xfrm>
            <a:off x="1042560" y="3410640"/>
            <a:ext cx="564480" cy="564480"/>
          </a:xfrm>
          <a:prstGeom prst="rect">
            <a:avLst/>
          </a:prstGeom>
          <a:ln w="0">
            <a:noFill/>
          </a:ln>
        </p:spPr>
      </p:pic>
      <p:pic>
        <p:nvPicPr>
          <p:cNvPr id="373" name="Google Shape;180;g3f5ad115aa7_0_ 2"/>
          <p:cNvPicPr/>
          <p:nvPr/>
        </p:nvPicPr>
        <p:blipFill>
          <a:blip r:embed="rId6"/>
          <a:stretch/>
        </p:blipFill>
        <p:spPr>
          <a:xfrm>
            <a:off x="1064880" y="4786560"/>
            <a:ext cx="519480" cy="519480"/>
          </a:xfrm>
          <a:prstGeom prst="rect">
            <a:avLst/>
          </a:prstGeom>
          <a:ln w="0">
            <a:noFill/>
          </a:ln>
        </p:spPr>
      </p:pic>
      <p:sp>
        <p:nvSpPr>
          <p:cNvPr id="374" name="Google Shape;181;g3f5ad115aa7_0_ 2"/>
          <p:cNvSpPr/>
          <p:nvPr/>
        </p:nvSpPr>
        <p:spPr>
          <a:xfrm>
            <a:off x="5439240" y="1177920"/>
            <a:ext cx="101196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Medios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Google Shape;182;g3f5ad115aa7_0_ 2"/>
          <p:cNvSpPr/>
          <p:nvPr/>
        </p:nvSpPr>
        <p:spPr>
          <a:xfrm>
            <a:off x="9183960" y="1177920"/>
            <a:ext cx="98208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Barreras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Google Shape;183;g3f5ad115aa7_0_ 2"/>
          <p:cNvSpPr/>
          <p:nvPr/>
        </p:nvSpPr>
        <p:spPr>
          <a:xfrm>
            <a:off x="4160520" y="1947600"/>
            <a:ext cx="3243960" cy="67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0" strike="noStrike" spc="-1">
                <a:solidFill>
                  <a:srgbClr val="12233E"/>
                </a:solidFill>
                <a:latin typeface="Arial"/>
                <a:ea typeface="Arial"/>
              </a:rPr>
              <a:t>externa certificada en ciberseguridad</a:t>
            </a:r>
            <a:endParaRPr lang="es-E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Google Shape;184;g3f5ad115aa7_0_ 2"/>
          <p:cNvSpPr/>
          <p:nvPr/>
        </p:nvSpPr>
        <p:spPr>
          <a:xfrm>
            <a:off x="8092440" y="2002680"/>
            <a:ext cx="2832480" cy="56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Falta de tiempo 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Formación suficiente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78" name="Google Shape;185;g3f5ad115aa7_0_ 2"/>
          <p:cNvCxnSpPr/>
          <p:nvPr/>
        </p:nvCxnSpPr>
        <p:spPr>
          <a:xfrm>
            <a:off x="7772400" y="192924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sp>
        <p:nvSpPr>
          <p:cNvPr id="379" name="Google Shape;186;g3f5ad115aa7_0_ 2"/>
          <p:cNvSpPr/>
          <p:nvPr/>
        </p:nvSpPr>
        <p:spPr>
          <a:xfrm>
            <a:off x="4160520" y="3300840"/>
            <a:ext cx="3243960" cy="67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0" strike="noStrike" spc="-1">
                <a:solidFill>
                  <a:srgbClr val="12233E"/>
                </a:solidFill>
                <a:latin typeface="Arial"/>
                <a:ea typeface="Arial"/>
              </a:rPr>
              <a:t>Taller interno con casos reales y simulaciones</a:t>
            </a:r>
            <a:endParaRPr lang="es-E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Google Shape;187;g3f5ad115aa7_0_ 2"/>
          <p:cNvSpPr/>
          <p:nvPr/>
        </p:nvSpPr>
        <p:spPr>
          <a:xfrm>
            <a:off x="8092440" y="3355920"/>
            <a:ext cx="2832480" cy="56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Carga de trabajo 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Falta de tiempo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81" name="Google Shape;188;g3f5ad115aa7_0_ 2"/>
          <p:cNvCxnSpPr/>
          <p:nvPr/>
        </p:nvCxnSpPr>
        <p:spPr>
          <a:xfrm>
            <a:off x="7772400" y="328248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sp>
        <p:nvSpPr>
          <p:cNvPr id="382" name="Google Shape;189;g3f5ad115aa7_0_ 2"/>
          <p:cNvSpPr/>
          <p:nvPr/>
        </p:nvSpPr>
        <p:spPr>
          <a:xfrm>
            <a:off x="4160520" y="4654440"/>
            <a:ext cx="3243960" cy="67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spc="-1" dirty="0">
                <a:solidFill>
                  <a:srgbClr val="12233E"/>
                </a:solidFill>
                <a:latin typeface="Arial"/>
                <a:ea typeface="Arial"/>
              </a:rPr>
              <a:t>E</a:t>
            </a:r>
            <a:r>
              <a:rPr lang="en-US" sz="1650" b="0" strike="noStrike" spc="-1" dirty="0">
                <a:solidFill>
                  <a:srgbClr val="12233E"/>
                </a:solidFill>
                <a:latin typeface="Arial"/>
                <a:ea typeface="Arial"/>
              </a:rPr>
              <a:t>xterna </a:t>
            </a:r>
            <a:r>
              <a:rPr lang="en-US" sz="1650" b="0" strike="noStrike" spc="-1" dirty="0" err="1">
                <a:solidFill>
                  <a:srgbClr val="12233E"/>
                </a:solidFill>
                <a:latin typeface="Arial"/>
                <a:ea typeface="Arial"/>
              </a:rPr>
              <a:t>certificada</a:t>
            </a:r>
            <a:r>
              <a:rPr lang="en-US" sz="1650" b="0" strike="noStrike" spc="-1" dirty="0">
                <a:solidFill>
                  <a:srgbClr val="12233E"/>
                </a:solidFill>
                <a:latin typeface="Arial"/>
                <a:ea typeface="Arial"/>
              </a:rPr>
              <a:t> </a:t>
            </a:r>
            <a:r>
              <a:rPr lang="en-US" sz="1650" b="0" strike="noStrike" spc="-1" dirty="0" err="1">
                <a:solidFill>
                  <a:srgbClr val="12233E"/>
                </a:solidFill>
                <a:latin typeface="Arial"/>
                <a:ea typeface="Arial"/>
              </a:rPr>
              <a:t>en</a:t>
            </a:r>
            <a:r>
              <a:rPr lang="en-US" sz="1650" b="0" strike="noStrike" spc="-1" dirty="0">
                <a:solidFill>
                  <a:srgbClr val="12233E"/>
                </a:solidFill>
                <a:latin typeface="Arial"/>
                <a:ea typeface="Arial"/>
              </a:rPr>
              <a:t> PRL</a:t>
            </a:r>
            <a:endParaRPr lang="es-ES" sz="16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Google Shape;190;g3f5ad115aa7_0_ 2"/>
          <p:cNvSpPr/>
          <p:nvPr/>
        </p:nvSpPr>
        <p:spPr>
          <a:xfrm>
            <a:off x="8092440" y="4709160"/>
            <a:ext cx="2832480" cy="56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Carga de trabajo 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12233E"/>
                </a:solidFill>
                <a:latin typeface="Arial"/>
                <a:ea typeface="Arial"/>
              </a:rPr>
              <a:t>Falta de tiempo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84" name="Google Shape;191;g3f5ad115aa7_0_ 2"/>
          <p:cNvCxnSpPr/>
          <p:nvPr/>
        </p:nvCxnSpPr>
        <p:spPr>
          <a:xfrm>
            <a:off x="7772400" y="4635720"/>
            <a:ext cx="2160" cy="77040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85" name="Google Shape;192;g3f5ad115aa7_0_ 2"/>
          <p:cNvCxnSpPr/>
          <p:nvPr/>
        </p:nvCxnSpPr>
        <p:spPr>
          <a:xfrm>
            <a:off x="3966480" y="1978920"/>
            <a:ext cx="2160" cy="77040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86" name="Google Shape;193;g3f5ad115aa7_0_ 2"/>
          <p:cNvCxnSpPr/>
          <p:nvPr/>
        </p:nvCxnSpPr>
        <p:spPr>
          <a:xfrm>
            <a:off x="3966480" y="4635720"/>
            <a:ext cx="2160" cy="77040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cxnSp>
        <p:nvCxnSpPr>
          <p:cNvPr id="387" name="Google Shape;194;g3f5ad115aa7_0_ 2"/>
          <p:cNvCxnSpPr/>
          <p:nvPr/>
        </p:nvCxnSpPr>
        <p:spPr>
          <a:xfrm>
            <a:off x="3966480" y="3291840"/>
            <a:ext cx="2160" cy="770040"/>
          </a:xfrm>
          <a:prstGeom prst="straightConnector1">
            <a:avLst/>
          </a:prstGeom>
          <a:ln w="12700">
            <a:solidFill>
              <a:srgbClr val="E4E8EE"/>
            </a:solidFill>
            <a:round/>
          </a:ln>
        </p:spPr>
      </p:cxnSp>
      <p:sp>
        <p:nvSpPr>
          <p:cNvPr id="388" name="Google Shape;195;g3f5ad115aa7_0_ 2"/>
          <p:cNvSpPr/>
          <p:nvPr/>
        </p:nvSpPr>
        <p:spPr>
          <a:xfrm>
            <a:off x="4132440" y="1238040"/>
            <a:ext cx="3452760" cy="345240"/>
          </a:xfrm>
          <a:prstGeom prst="roundRect">
            <a:avLst>
              <a:gd name="adj" fmla="val 20000"/>
            </a:avLst>
          </a:prstGeom>
          <a:solidFill>
            <a:srgbClr val="65748B"/>
          </a:solidFill>
          <a:ln w="12700">
            <a:solidFill>
              <a:srgbClr val="65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Google Shape;196;g3f5ad115aa7_0_ 2"/>
          <p:cNvSpPr/>
          <p:nvPr/>
        </p:nvSpPr>
        <p:spPr>
          <a:xfrm>
            <a:off x="5375880" y="1191600"/>
            <a:ext cx="965520" cy="4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chemeClr val="lt1"/>
                </a:solidFill>
                <a:latin typeface="Calibri"/>
                <a:ea typeface="Calibri"/>
              </a:rPr>
              <a:t>Medios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284;p13"/>
          <p:cNvPicPr/>
          <p:nvPr/>
        </p:nvPicPr>
        <p:blipFill>
          <a:blip r:embed="rId2"/>
          <a:srcRect l="14202" r="6324" b="-144"/>
          <a:stretch/>
        </p:blipFill>
        <p:spPr>
          <a:xfrm>
            <a:off x="6930803" y="-13680"/>
            <a:ext cx="5251237" cy="6533280"/>
          </a:xfrm>
          <a:prstGeom prst="rect">
            <a:avLst/>
          </a:prstGeom>
          <a:ln w="0">
            <a:noFill/>
          </a:ln>
        </p:spPr>
      </p:pic>
      <p:sp>
        <p:nvSpPr>
          <p:cNvPr id="391" name="Google Shape;285;p 1"/>
          <p:cNvSpPr/>
          <p:nvPr/>
        </p:nvSpPr>
        <p:spPr>
          <a:xfrm>
            <a:off x="0" y="6519600"/>
            <a:ext cx="12182040" cy="347040"/>
          </a:xfrm>
          <a:prstGeom prst="rect">
            <a:avLst/>
          </a:prstGeom>
          <a:solidFill>
            <a:srgbClr val="FF8A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s-E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Google Shape;286;p 1"/>
          <p:cNvSpPr/>
          <p:nvPr/>
        </p:nvSpPr>
        <p:spPr>
          <a:xfrm>
            <a:off x="729465" y="3318840"/>
            <a:ext cx="2932018" cy="85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3200" b="0" strike="noStrike" spc="-1" dirty="0">
                <a:solidFill>
                  <a:srgbClr val="6B7280"/>
                </a:solidFill>
                <a:latin typeface="Arial"/>
                <a:ea typeface="Arial"/>
              </a:rPr>
              <a:t>Julio 2026</a:t>
            </a:r>
            <a:endParaRPr lang="es-E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3" name="Google Shape;287;p 1"/>
          <p:cNvPicPr/>
          <p:nvPr/>
        </p:nvPicPr>
        <p:blipFill>
          <a:blip r:embed="rId3"/>
          <a:srcRect t="26247" b="23016"/>
          <a:stretch/>
        </p:blipFill>
        <p:spPr>
          <a:xfrm>
            <a:off x="216000" y="360360"/>
            <a:ext cx="1940400" cy="530280"/>
          </a:xfrm>
          <a:prstGeom prst="rect">
            <a:avLst/>
          </a:prstGeom>
          <a:ln w="0">
            <a:noFill/>
          </a:ln>
        </p:spPr>
      </p:pic>
      <p:sp>
        <p:nvSpPr>
          <p:cNvPr id="394" name="Google Shape;288;p 1"/>
          <p:cNvSpPr/>
          <p:nvPr/>
        </p:nvSpPr>
        <p:spPr>
          <a:xfrm>
            <a:off x="729465" y="2742043"/>
            <a:ext cx="5989834" cy="10019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b="1" strike="noStrike" spc="-1" dirty="0" err="1">
                <a:solidFill>
                  <a:srgbClr val="6B7280"/>
                </a:solidFill>
                <a:latin typeface="Arial"/>
                <a:ea typeface="Arial"/>
              </a:rPr>
              <a:t>Dpt</a:t>
            </a:r>
            <a:r>
              <a:rPr lang="es-ES" sz="2800" b="1" strike="noStrike" spc="-1" dirty="0">
                <a:solidFill>
                  <a:srgbClr val="6B7280"/>
                </a:solidFill>
                <a:latin typeface="Arial"/>
                <a:ea typeface="Arial"/>
              </a:rPr>
              <a:t>. Analistas de Datos de RRHH</a:t>
            </a:r>
            <a:endParaRPr lang="es-ES" sz="2800" b="1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</TotalTime>
  <Words>1014</Words>
  <Application>Microsoft Office PowerPoint</Application>
  <PresentationFormat>Panorámica</PresentationFormat>
  <Paragraphs>185</Paragraphs>
  <Slides>22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22</vt:i4>
      </vt:variant>
    </vt:vector>
  </HeadingPairs>
  <TitlesOfParts>
    <vt:vector size="38" baseType="lpstr">
      <vt:lpstr>Aptos</vt:lpstr>
      <vt:lpstr>Arial</vt:lpstr>
      <vt:lpstr>Calibri</vt:lpstr>
      <vt:lpstr>Cambria</vt:lpstr>
      <vt:lpstr>Symbol</vt:lpstr>
      <vt:lpstr>Times New Roman</vt:lpstr>
      <vt:lpstr>Wingdings</vt:lpstr>
      <vt:lpstr>Office</vt:lpstr>
      <vt:lpstr>Office Theme</vt:lpstr>
      <vt:lpstr>Office Theme</vt:lpstr>
      <vt:lpstr>Office</vt:lpstr>
      <vt:lpstr>Tema de Office</vt:lpstr>
      <vt:lpstr>Tema de Office</vt:lpstr>
      <vt:lpstr>Office</vt:lpstr>
      <vt:lpstr>Office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/>
  <dc:creator>Walnut Exporter</dc:creator>
  <dc:description/>
  <cp:lastModifiedBy>Vanessa Bujaldon</cp:lastModifiedBy>
  <cp:revision>46</cp:revision>
  <dcterms:created xsi:type="dcterms:W3CDTF">2026-07-24T12:03:50Z</dcterms:created>
  <dcterms:modified xsi:type="dcterms:W3CDTF">2026-07-27T11:53:54Z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