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94931D5-48D3-4D30-9C95-8817219F3271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- BusinessReport- template.pptx, diapositiva 3: oferta formativa por competencia en 2024.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- BusinessReport- template.pptx, diapositivas 5 y 6: prioridades futuras por competencia.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- BusinessReport- template.pptx, diapositiva 9: ranking de formación frente a importancia.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-720" y="-72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- BusinessReport- template.pptx, diapositiva 3: oferta formativa por competencia en 2024.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- BusinessReport- template.pptx, diapositivas 5 y 6: prioridades futuras por competencia.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- BusinessReport- template.pptx, diapositiva 9: ranking de formación frente a importancia.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456927-6BAD-4585-BCAF-ABFE1F78D7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ADAB08-60B1-49FB-8116-14868F36D7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5A3949F-E407-484B-BA19-5AB36CB2A5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A95B821-EFEA-482C-BE7C-ABEBA1A6AE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4B86B32-5FB0-4029-9B44-1387C2D907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084E645-EBF8-4B1D-BFE7-F0113EB602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F35B3E6-EC3B-49B8-B88B-E0C63419A6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A8FE4A7-1DF6-4D50-8C2C-59CC1B6FB6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8204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3532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1778D5-100F-43A7-852F-4CC20B492849}" type="slidenum"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3532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ftr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s-ES" sz="18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2492DAA-B45A-4045-BDA6-8CF3756F4814}" type="slidenum">
              <a:rPr b="0" lang="es-ES" sz="1800" spc="-1" strike="noStrike">
                <a:solidFill>
                  <a:schemeClr val="dk1"/>
                </a:solidFill>
                <a:latin typeface="Calibri"/>
                <a:ea typeface="Calibri"/>
              </a:rPr>
              <a:t>&lt;número&gt;</a:t>
            </a:fld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8204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3532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30B320-AC43-420E-9D6F-FBEBEAEAF263}" type="slidenum"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3532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87AF7A-754F-493B-8A55-EAD77010CA73}" type="slidenum">
              <a:rPr b="0" lang="es-ES" sz="1200" spc="-1" strike="noStrik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22F56E-CD84-4D93-A7FF-7DD12AA96ECB}" type="slidenum">
              <a:rPr b="0" lang="es-E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82760" cy="37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36040" cy="37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EEA08C-A745-4D40-8F8C-E1B0DACDAFAA}" type="slidenum"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8"/>
          </p:nvPr>
        </p:nvSpPr>
        <p:spPr>
          <a:xfrm>
            <a:off x="504000" y="5165280"/>
            <a:ext cx="2336040" cy="37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9"/>
          </p:nvPr>
        </p:nvSpPr>
        <p:spPr>
          <a:xfrm>
            <a:off x="3447360" y="5165280"/>
            <a:ext cx="3182760" cy="37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0"/>
          </p:nvPr>
        </p:nvSpPr>
        <p:spPr>
          <a:xfrm>
            <a:off x="7227360" y="5165280"/>
            <a:ext cx="2336040" cy="37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F10DC6-140A-467A-8E2E-C004AED1CFCA}" type="slidenum"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1"/>
          </p:nvPr>
        </p:nvSpPr>
        <p:spPr>
          <a:xfrm>
            <a:off x="504000" y="5165280"/>
            <a:ext cx="2336040" cy="37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757575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D207B4-0AF5-43C3-8493-455706BC873D}" type="slidenum">
              <a:rPr b="0" lang="en-US" sz="1200" spc="-1" strike="noStrike">
                <a:solidFill>
                  <a:srgbClr val="757575"/>
                </a:solidFill>
                <a:latin typeface="Arial"/>
                <a:ea typeface="Arial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23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2.png"/><Relationship Id="rId3" Type="http://schemas.openxmlformats.org/officeDocument/2006/relationships/image" Target="../media/image35.png"/><Relationship Id="rId4" Type="http://schemas.openxmlformats.org/officeDocument/2006/relationships/image" Target="../media/image35.png"/><Relationship Id="rId5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8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1;p1" descr=""/>
          <p:cNvPicPr/>
          <p:nvPr/>
        </p:nvPicPr>
        <p:blipFill>
          <a:blip r:embed="rId1"/>
          <a:stretch/>
        </p:blipFill>
        <p:spPr>
          <a:xfrm>
            <a:off x="5593680" y="0"/>
            <a:ext cx="6590880" cy="6507360"/>
          </a:xfrm>
          <a:prstGeom prst="rect">
            <a:avLst/>
          </a:prstGeom>
          <a:ln w="0">
            <a:noFill/>
          </a:ln>
        </p:spPr>
      </p:pic>
      <p:sp>
        <p:nvSpPr>
          <p:cNvPr id="55" name="Google Shape;52;p 2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Google Shape;53;p 2"/>
          <p:cNvSpPr/>
          <p:nvPr/>
        </p:nvSpPr>
        <p:spPr>
          <a:xfrm>
            <a:off x="396000" y="2011680"/>
            <a:ext cx="589356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3600" spc="-1" strike="noStrike">
                <a:solidFill>
                  <a:srgbClr val="1f2937"/>
                </a:solidFill>
                <a:latin typeface="Arial"/>
                <a:ea typeface="Arial"/>
              </a:rPr>
              <a:t>Análisis tendencias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3600" spc="-1" strike="noStrike">
                <a:solidFill>
                  <a:srgbClr val="1f2937"/>
                </a:solidFill>
                <a:latin typeface="Arial"/>
                <a:ea typeface="Arial"/>
              </a:rPr>
              <a:t>formativas del sector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54;p 2"/>
          <p:cNvSpPr/>
          <p:nvPr/>
        </p:nvSpPr>
        <p:spPr>
          <a:xfrm>
            <a:off x="432000" y="3744000"/>
            <a:ext cx="1967760" cy="84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6b7280"/>
                </a:solidFill>
                <a:latin typeface="Arial"/>
                <a:ea typeface="Arial"/>
              </a:rPr>
              <a:t>27 de Julio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Google Shape;55;p 2" descr=""/>
          <p:cNvPicPr/>
          <p:nvPr/>
        </p:nvPicPr>
        <p:blipFill>
          <a:blip r:embed="rId2"/>
          <a:srcRect l="0" t="26247" r="0" b="23016"/>
          <a:stretch/>
        </p:blipFill>
        <p:spPr>
          <a:xfrm>
            <a:off x="216000" y="360360"/>
            <a:ext cx="1937520" cy="527400"/>
          </a:xfrm>
          <a:prstGeom prst="rect">
            <a:avLst/>
          </a:prstGeom>
          <a:ln w="0">
            <a:noFill/>
          </a:ln>
        </p:spPr>
      </p:pic>
      <p:sp>
        <p:nvSpPr>
          <p:cNvPr id="59" name="Google Shape;56;p 2"/>
          <p:cNvSpPr/>
          <p:nvPr/>
        </p:nvSpPr>
        <p:spPr>
          <a:xfrm>
            <a:off x="420120" y="3420000"/>
            <a:ext cx="334764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81;p3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3"/>
          <p:cNvSpPr/>
          <p:nvPr/>
        </p:nvSpPr>
        <p:spPr>
          <a:xfrm>
            <a:off x="168120" y="6538320"/>
            <a:ext cx="2986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83;p3"/>
          <p:cNvSpPr/>
          <p:nvPr/>
        </p:nvSpPr>
        <p:spPr>
          <a:xfrm>
            <a:off x="2742840" y="6538320"/>
            <a:ext cx="138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Google Shape;84;p3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600" y="288360"/>
            <a:ext cx="1936800" cy="52668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6901560" y="2558880"/>
            <a:ext cx="1057680" cy="1093680"/>
          </a:xfrm>
          <a:prstGeom prst="rect">
            <a:avLst/>
          </a:prstGeom>
          <a:ln w="0">
            <a:noFill/>
          </a:ln>
        </p:spPr>
      </p:pic>
      <p:pic>
        <p:nvPicPr>
          <p:cNvPr id="65" name="" descr=""/>
          <p:cNvPicPr/>
          <p:nvPr/>
        </p:nvPicPr>
        <p:blipFill>
          <a:blip r:embed="rId3"/>
          <a:stretch/>
        </p:blipFill>
        <p:spPr>
          <a:xfrm>
            <a:off x="3068640" y="2648880"/>
            <a:ext cx="883440" cy="91368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4"/>
          <a:stretch/>
        </p:blipFill>
        <p:spPr>
          <a:xfrm>
            <a:off x="5018400" y="1620000"/>
            <a:ext cx="869400" cy="898920"/>
          </a:xfrm>
          <a:prstGeom prst="rect">
            <a:avLst/>
          </a:prstGeom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5"/>
          <a:stretch/>
        </p:blipFill>
        <p:spPr>
          <a:xfrm>
            <a:off x="4931280" y="2566080"/>
            <a:ext cx="1043640" cy="107928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6"/>
          <a:stretch/>
        </p:blipFill>
        <p:spPr>
          <a:xfrm>
            <a:off x="5011560" y="3819960"/>
            <a:ext cx="883080" cy="913320"/>
          </a:xfrm>
          <a:prstGeom prst="rect">
            <a:avLst/>
          </a:prstGeom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7"/>
          <a:stretch/>
        </p:blipFill>
        <p:spPr>
          <a:xfrm>
            <a:off x="8701560" y="2558880"/>
            <a:ext cx="1058040" cy="1093680"/>
          </a:xfrm>
          <a:prstGeom prst="rect">
            <a:avLst/>
          </a:prstGeom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6721560" y="3510360"/>
            <a:ext cx="1741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Políticas de formación 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700000" y="3531600"/>
            <a:ext cx="17413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Tendencias formativas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8238960" y="2836440"/>
            <a:ext cx="172080" cy="538560"/>
          </a:xfrm>
          <a:custGeom>
            <a:avLst/>
            <a:gdLst>
              <a:gd name="textAreaLeft" fmla="*/ 0 w 172080"/>
              <a:gd name="textAreaRight" fmla="*/ 174960 w 172080"/>
              <a:gd name="textAreaTop" fmla="*/ 0 h 538560"/>
              <a:gd name="textAreaBottom" fmla="*/ 541440 h 538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489" y="0"/>
                </a:lnTo>
                <a:lnTo>
                  <a:pt x="21600" y="10800"/>
                </a:lnTo>
                <a:lnTo>
                  <a:pt x="10489" y="21600"/>
                </a:lnTo>
                <a:lnTo>
                  <a:pt x="0" y="21600"/>
                </a:lnTo>
                <a:lnTo>
                  <a:pt x="11111" y="1080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33480" y="2836440"/>
            <a:ext cx="172080" cy="538560"/>
          </a:xfrm>
          <a:custGeom>
            <a:avLst/>
            <a:gdLst>
              <a:gd name="textAreaLeft" fmla="*/ 0 w 172080"/>
              <a:gd name="textAreaRight" fmla="*/ 174960 w 172080"/>
              <a:gd name="textAreaTop" fmla="*/ 0 h 538560"/>
              <a:gd name="textAreaBottom" fmla="*/ 541440 h 538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489" y="0"/>
                </a:lnTo>
                <a:lnTo>
                  <a:pt x="21600" y="10800"/>
                </a:lnTo>
                <a:lnTo>
                  <a:pt x="10489" y="21600"/>
                </a:lnTo>
                <a:lnTo>
                  <a:pt x="0" y="21600"/>
                </a:lnTo>
                <a:lnTo>
                  <a:pt x="11111" y="1080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756680" y="2377440"/>
            <a:ext cx="14972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Competencias clave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112360" y="3514680"/>
            <a:ext cx="6951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Medios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143680" y="4627800"/>
            <a:ext cx="86976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Barreras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500880" y="2836440"/>
            <a:ext cx="171720" cy="538560"/>
          </a:xfrm>
          <a:custGeom>
            <a:avLst/>
            <a:gdLst>
              <a:gd name="textAreaLeft" fmla="*/ 0 w 171720"/>
              <a:gd name="textAreaRight" fmla="*/ 174600 w 171720"/>
              <a:gd name="textAreaTop" fmla="*/ 0 h 538560"/>
              <a:gd name="textAreaBottom" fmla="*/ 541440 h 5385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421" y="0"/>
                </a:lnTo>
                <a:lnTo>
                  <a:pt x="21600" y="10800"/>
                </a:lnTo>
                <a:lnTo>
                  <a:pt x="10421" y="21600"/>
                </a:lnTo>
                <a:lnTo>
                  <a:pt x="0" y="21600"/>
                </a:lnTo>
                <a:lnTo>
                  <a:pt x="11179" y="1080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8521560" y="3450240"/>
            <a:ext cx="174132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Aumento desarrollo 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profesional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96;p 4"/>
          <p:cNvSpPr/>
          <p:nvPr/>
        </p:nvSpPr>
        <p:spPr>
          <a:xfrm>
            <a:off x="904320" y="322560"/>
            <a:ext cx="7732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  <a:ea typeface="Calibri"/>
              </a:rPr>
              <a:t>Pregunta de investigación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1;p 3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82;p 3"/>
          <p:cNvSpPr/>
          <p:nvPr/>
        </p:nvSpPr>
        <p:spPr>
          <a:xfrm>
            <a:off x="168120" y="6538320"/>
            <a:ext cx="2986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83;p 3"/>
          <p:cNvSpPr/>
          <p:nvPr/>
        </p:nvSpPr>
        <p:spPr>
          <a:xfrm>
            <a:off x="2742840" y="6538320"/>
            <a:ext cx="138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Google Shape;84;p 3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600" y="288360"/>
            <a:ext cx="1936800" cy="526680"/>
          </a:xfrm>
          <a:prstGeom prst="rect">
            <a:avLst/>
          </a:prstGeom>
          <a:ln w="0">
            <a:noFill/>
          </a:ln>
        </p:spPr>
      </p:pic>
      <p:sp>
        <p:nvSpPr>
          <p:cNvPr id="84" name="Google Shape;96;p 5"/>
          <p:cNvSpPr/>
          <p:nvPr/>
        </p:nvSpPr>
        <p:spPr>
          <a:xfrm>
            <a:off x="904320" y="322560"/>
            <a:ext cx="7732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  <a:ea typeface="Calibri"/>
              </a:rPr>
              <a:t>Dataset utilizado y universo de estudio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692120" y="6296760"/>
            <a:ext cx="4497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https://www.mites.gob.es/es/estadisticas/mercado_trabajo/EAL/welcome.htm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868320" y="771480"/>
            <a:ext cx="4316400" cy="504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800" spc="-1" strike="noStrike">
                <a:solidFill>
                  <a:srgbClr val="505869"/>
                </a:solidFill>
                <a:latin typeface="Calibri"/>
                <a:ea typeface="Calibri"/>
              </a:rPr>
              <a:t>Encuesta Anual Laboral (MITES) 2022-2024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 flipH="1">
            <a:off x="3303000" y="2130120"/>
            <a:ext cx="723960" cy="72360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3"/>
          <a:stretch/>
        </p:blipFill>
        <p:spPr>
          <a:xfrm>
            <a:off x="3295440" y="3756600"/>
            <a:ext cx="734040" cy="73440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4"/>
          <a:stretch/>
        </p:blipFill>
        <p:spPr>
          <a:xfrm>
            <a:off x="3300480" y="4601880"/>
            <a:ext cx="723960" cy="72360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5"/>
          <a:stretch/>
        </p:blipFill>
        <p:spPr>
          <a:xfrm>
            <a:off x="3339720" y="2995920"/>
            <a:ext cx="645840" cy="64548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4314960" y="2403000"/>
            <a:ext cx="362520" cy="177480"/>
          </a:xfrm>
          <a:prstGeom prst="rightArrow">
            <a:avLst>
              <a:gd name="adj1" fmla="val 50000"/>
              <a:gd name="adj2" fmla="val 50700"/>
            </a:avLst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752000" y="2313000"/>
            <a:ext cx="89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10.000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314960" y="3229920"/>
            <a:ext cx="362520" cy="177480"/>
          </a:xfrm>
          <a:prstGeom prst="rightArrow">
            <a:avLst>
              <a:gd name="adj1" fmla="val 50000"/>
              <a:gd name="adj2" fmla="val 50700"/>
            </a:avLst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752000" y="3139920"/>
            <a:ext cx="89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1.800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314960" y="4034880"/>
            <a:ext cx="362520" cy="177480"/>
          </a:xfrm>
          <a:prstGeom prst="rightArrow">
            <a:avLst>
              <a:gd name="adj1" fmla="val 50000"/>
              <a:gd name="adj2" fmla="val 50700"/>
            </a:avLst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752000" y="3944880"/>
            <a:ext cx="89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6.000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314960" y="4874760"/>
            <a:ext cx="362520" cy="177480"/>
          </a:xfrm>
          <a:prstGeom prst="rightArrow">
            <a:avLst>
              <a:gd name="adj1" fmla="val 50000"/>
              <a:gd name="adj2" fmla="val 50700"/>
            </a:avLst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4280" bIns="4428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752000" y="4784760"/>
            <a:ext cx="89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646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912000" y="3139920"/>
            <a:ext cx="89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1.800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948000" y="3944880"/>
            <a:ext cx="89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4.300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6"/>
          <a:stretch/>
        </p:blipFill>
        <p:spPr>
          <a:xfrm>
            <a:off x="7884000" y="3240000"/>
            <a:ext cx="802080" cy="802080"/>
          </a:xfrm>
          <a:prstGeom prst="rect">
            <a:avLst/>
          </a:prstGeom>
          <a:ln w="0">
            <a:noFill/>
          </a:ln>
        </p:spPr>
      </p:pic>
      <p:sp>
        <p:nvSpPr>
          <p:cNvPr id="102" name=""/>
          <p:cNvSpPr/>
          <p:nvPr/>
        </p:nvSpPr>
        <p:spPr>
          <a:xfrm>
            <a:off x="6156000" y="3229920"/>
            <a:ext cx="645480" cy="177480"/>
          </a:xfrm>
          <a:custGeom>
            <a:avLst/>
            <a:gdLst>
              <a:gd name="textAreaLeft" fmla="*/ 119880 w 645480"/>
              <a:gd name="textAreaRight" fmla="*/ 545400 w 645480"/>
              <a:gd name="textAreaTop" fmla="*/ 53280 h 177480"/>
              <a:gd name="textAreaBottom" fmla="*/ 126720 h 177480"/>
            </a:gdLst>
            <a:ahLst/>
            <a:rect l="textAreaLeft" t="textAreaTop" r="textAreaRight" b="textAreaBottom"/>
            <a:pathLst>
              <a:path w="21600" h="21800">
                <a:moveTo>
                  <a:pt x="13200" y="0"/>
                </a:moveTo>
                <a:lnTo>
                  <a:pt x="21600" y="10800"/>
                </a:lnTo>
                <a:lnTo>
                  <a:pt x="13200" y="21800"/>
                </a:lnTo>
                <a:lnTo>
                  <a:pt x="13200" y="15200"/>
                </a:lnTo>
                <a:lnTo>
                  <a:pt x="4000" y="15200"/>
                </a:lnTo>
                <a:lnTo>
                  <a:pt x="4000" y="6400"/>
                </a:lnTo>
                <a:lnTo>
                  <a:pt x="13200" y="6400"/>
                </a:lnTo>
                <a:lnTo>
                  <a:pt x="13200" y="0"/>
                </a:lnTo>
                <a:moveTo>
                  <a:pt x="0" y="6400"/>
                </a:moveTo>
                <a:lnTo>
                  <a:pt x="0" y="15200"/>
                </a:lnTo>
                <a:lnTo>
                  <a:pt x="1000" y="15200"/>
                </a:lnTo>
                <a:lnTo>
                  <a:pt x="1000" y="6400"/>
                </a:lnTo>
                <a:lnTo>
                  <a:pt x="0" y="6400"/>
                </a:lnTo>
                <a:moveTo>
                  <a:pt x="2000" y="6400"/>
                </a:moveTo>
                <a:lnTo>
                  <a:pt x="2000" y="15200"/>
                </a:lnTo>
                <a:lnTo>
                  <a:pt x="3000" y="15200"/>
                </a:lnTo>
                <a:lnTo>
                  <a:pt x="3000" y="6400"/>
                </a:lnTo>
                <a:lnTo>
                  <a:pt x="2000" y="640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156000" y="4034880"/>
            <a:ext cx="645480" cy="177480"/>
          </a:xfrm>
          <a:custGeom>
            <a:avLst/>
            <a:gdLst>
              <a:gd name="textAreaLeft" fmla="*/ 119880 w 645480"/>
              <a:gd name="textAreaRight" fmla="*/ 545400 w 645480"/>
              <a:gd name="textAreaTop" fmla="*/ 53280 h 177480"/>
              <a:gd name="textAreaBottom" fmla="*/ 126720 h 177480"/>
            </a:gdLst>
            <a:ahLst/>
            <a:rect l="textAreaLeft" t="textAreaTop" r="textAreaRight" b="textAreaBottom"/>
            <a:pathLst>
              <a:path w="21600" h="21800">
                <a:moveTo>
                  <a:pt x="13200" y="0"/>
                </a:moveTo>
                <a:lnTo>
                  <a:pt x="21600" y="10800"/>
                </a:lnTo>
                <a:lnTo>
                  <a:pt x="13200" y="21800"/>
                </a:lnTo>
                <a:lnTo>
                  <a:pt x="13200" y="15200"/>
                </a:lnTo>
                <a:lnTo>
                  <a:pt x="4000" y="15200"/>
                </a:lnTo>
                <a:lnTo>
                  <a:pt x="4000" y="6400"/>
                </a:lnTo>
                <a:lnTo>
                  <a:pt x="13200" y="6400"/>
                </a:lnTo>
                <a:lnTo>
                  <a:pt x="13200" y="0"/>
                </a:lnTo>
                <a:moveTo>
                  <a:pt x="0" y="6400"/>
                </a:moveTo>
                <a:lnTo>
                  <a:pt x="0" y="15200"/>
                </a:lnTo>
                <a:lnTo>
                  <a:pt x="1000" y="15200"/>
                </a:lnTo>
                <a:lnTo>
                  <a:pt x="1000" y="6400"/>
                </a:lnTo>
                <a:lnTo>
                  <a:pt x="0" y="6400"/>
                </a:lnTo>
                <a:moveTo>
                  <a:pt x="2000" y="6400"/>
                </a:moveTo>
                <a:lnTo>
                  <a:pt x="2000" y="15200"/>
                </a:lnTo>
                <a:lnTo>
                  <a:pt x="3000" y="15200"/>
                </a:lnTo>
                <a:lnTo>
                  <a:pt x="3000" y="6400"/>
                </a:lnTo>
                <a:lnTo>
                  <a:pt x="2000" y="6400"/>
                </a:lnTo>
                <a:close/>
              </a:path>
            </a:pathLst>
          </a:cu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845880" y="1609560"/>
            <a:ext cx="44337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*</a:t>
            </a: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 N.º medio anual de empresas en la muestra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712000" y="3600000"/>
            <a:ext cx="2085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Calibri"/>
              </a:rPr>
              <a:t>**Empresas formadoras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816200" y="2431080"/>
            <a:ext cx="1341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Calibri"/>
              </a:rPr>
              <a:t>Total empresas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584000" y="3151440"/>
            <a:ext cx="157320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Calibri"/>
              </a:rPr>
              <a:t>Empresas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Calibri"/>
              </a:rPr>
              <a:t>+499 trabajadores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816200" y="3979440"/>
            <a:ext cx="134100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Calibri"/>
              </a:rPr>
              <a:t>Empresas de servicios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636200" y="4628520"/>
            <a:ext cx="1521000" cy="8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Calibri"/>
              </a:rPr>
              <a:t>Empresas transporte y almacenamiento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800000" y="1944000"/>
            <a:ext cx="8820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7704000" y="5580000"/>
            <a:ext cx="341748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600" spc="-1" strike="noStrike">
                <a:solidFill>
                  <a:srgbClr val="000000"/>
                </a:solidFill>
                <a:latin typeface="Calibri"/>
              </a:rPr>
              <a:t>*Media anual del período 2022-2024 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7704000" y="5868000"/>
            <a:ext cx="4425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Calibri"/>
              </a:rPr>
              <a:t>**</a:t>
            </a:r>
            <a:r>
              <a:rPr b="0" lang="es-ES" sz="1200" spc="-1" strike="noStrike">
                <a:solidFill>
                  <a:srgbClr val="000000"/>
                </a:solidFill>
                <a:latin typeface="Calibri"/>
              </a:rPr>
              <a:t>Medias aproximadas obtenidas mediante estimación porcentual 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81;p 2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82;p 2"/>
          <p:cNvSpPr/>
          <p:nvPr/>
        </p:nvSpPr>
        <p:spPr>
          <a:xfrm>
            <a:off x="168120" y="6538320"/>
            <a:ext cx="2986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83;p 2"/>
          <p:cNvSpPr/>
          <p:nvPr/>
        </p:nvSpPr>
        <p:spPr>
          <a:xfrm>
            <a:off x="2742840" y="6538320"/>
            <a:ext cx="138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Google Shape;84;p 2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600" y="288360"/>
            <a:ext cx="1936800" cy="526680"/>
          </a:xfrm>
          <a:prstGeom prst="rect">
            <a:avLst/>
          </a:prstGeom>
          <a:ln w="0">
            <a:noFill/>
          </a:ln>
        </p:spPr>
      </p:pic>
      <p:sp>
        <p:nvSpPr>
          <p:cNvPr id="117" name="TextBox 7"/>
          <p:cNvSpPr/>
          <p:nvPr/>
        </p:nvSpPr>
        <p:spPr>
          <a:xfrm>
            <a:off x="1821240" y="1470960"/>
            <a:ext cx="8537040" cy="17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5400" spc="-1" strike="noStrike">
                <a:solidFill>
                  <a:srgbClr val="142346"/>
                </a:solidFill>
                <a:latin typeface="Calibri"/>
                <a:ea typeface="Calibri"/>
              </a:rPr>
              <a:t>Competencias </a:t>
            </a:r>
            <a:endParaRPr b="0" lang="es-ES" sz="5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4400" spc="-1" strike="noStrike">
                <a:solidFill>
                  <a:srgbClr val="203057"/>
                </a:solidFill>
                <a:latin typeface="Calibri"/>
                <a:ea typeface="Calibri"/>
              </a:rPr>
              <a:t>formación, importancia y cobertura</a:t>
            </a:r>
            <a:r>
              <a:rPr b="1" lang="es-ES" sz="4400" spc="-1" strike="noStrike">
                <a:solidFill>
                  <a:srgbClr val="142346"/>
                </a:solidFill>
                <a:latin typeface="Calibri"/>
                <a:ea typeface="Calibri"/>
              </a:rPr>
              <a:t> 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5627880" y="3816000"/>
            <a:ext cx="932040" cy="932040"/>
          </a:xfrm>
          <a:prstGeom prst="rect">
            <a:avLst/>
          </a:prstGeom>
          <a:ln w="0">
            <a:noFill/>
          </a:ln>
        </p:spPr>
      </p:pic>
      <p:sp>
        <p:nvSpPr>
          <p:cNvPr id="119" name=""/>
          <p:cNvSpPr/>
          <p:nvPr/>
        </p:nvSpPr>
        <p:spPr>
          <a:xfrm>
            <a:off x="4840920" y="3492000"/>
            <a:ext cx="25088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696969"/>
                </a:solidFill>
                <a:latin typeface="Arial"/>
                <a:ea typeface="Arial"/>
              </a:rPr>
              <a:t>En el sector: Servicios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7;p 1"/>
          <p:cNvSpPr/>
          <p:nvPr/>
        </p:nvSpPr>
        <p:spPr>
          <a:xfrm>
            <a:off x="902880" y="308880"/>
            <a:ext cx="8704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  <a:ea typeface="Calibri"/>
              </a:rPr>
              <a:t>Competencias con mayor oferta formativa (2024)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81;p 1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82;p 1"/>
          <p:cNvSpPr/>
          <p:nvPr/>
        </p:nvSpPr>
        <p:spPr>
          <a:xfrm>
            <a:off x="168120" y="6538320"/>
            <a:ext cx="2986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83;p 1"/>
          <p:cNvSpPr/>
          <p:nvPr/>
        </p:nvSpPr>
        <p:spPr>
          <a:xfrm>
            <a:off x="2742840" y="6538320"/>
            <a:ext cx="138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Google Shape;84;p 1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600" y="288360"/>
            <a:ext cx="1936800" cy="52668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1354680" y="1512000"/>
            <a:ext cx="7605000" cy="4498920"/>
          </a:xfrm>
          <a:prstGeom prst="rect">
            <a:avLst/>
          </a:prstGeom>
          <a:ln w="0">
            <a:noFill/>
          </a:ln>
        </p:spPr>
      </p:pic>
      <p:sp>
        <p:nvSpPr>
          <p:cNvPr id="126" name=""/>
          <p:cNvSpPr/>
          <p:nvPr/>
        </p:nvSpPr>
        <p:spPr>
          <a:xfrm>
            <a:off x="9396000" y="6329160"/>
            <a:ext cx="2877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*Fuente datos: MITES Encueta anual laboral 2024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91;p4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92;p 1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93;p 1"/>
          <p:cNvSpPr/>
          <p:nvPr/>
        </p:nvSpPr>
        <p:spPr>
          <a:xfrm>
            <a:off x="168120" y="6538320"/>
            <a:ext cx="2986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94;p 1"/>
          <p:cNvSpPr/>
          <p:nvPr/>
        </p:nvSpPr>
        <p:spPr>
          <a:xfrm>
            <a:off x="2742840" y="6538320"/>
            <a:ext cx="138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Google Shape;95;p 1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6800" cy="526680"/>
          </a:xfrm>
          <a:prstGeom prst="rect">
            <a:avLst/>
          </a:prstGeom>
          <a:ln w="0">
            <a:noFill/>
          </a:ln>
        </p:spPr>
      </p:pic>
      <p:sp>
        <p:nvSpPr>
          <p:cNvPr id="132" name="Google Shape;96;p 1"/>
          <p:cNvSpPr/>
          <p:nvPr/>
        </p:nvSpPr>
        <p:spPr>
          <a:xfrm>
            <a:off x="904320" y="322560"/>
            <a:ext cx="7732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  <a:ea typeface="Calibri"/>
              </a:rPr>
              <a:t>Tendencias en la cobertura formativa (2022-2024)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1584000" y="1111680"/>
            <a:ext cx="8526600" cy="500472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3"/>
          <a:stretch/>
        </p:blipFill>
        <p:spPr>
          <a:xfrm>
            <a:off x="9864000" y="5817240"/>
            <a:ext cx="1881360" cy="407160"/>
          </a:xfrm>
          <a:prstGeom prst="rect">
            <a:avLst/>
          </a:prstGeom>
          <a:ln w="0">
            <a:noFill/>
          </a:ln>
        </p:spPr>
      </p:pic>
      <p:sp>
        <p:nvSpPr>
          <p:cNvPr id="135" name=""/>
          <p:cNvSpPr/>
          <p:nvPr/>
        </p:nvSpPr>
        <p:spPr>
          <a:xfrm>
            <a:off x="3600000" y="1111680"/>
            <a:ext cx="4316400" cy="504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800" spc="-1" strike="noStrike">
                <a:solidFill>
                  <a:srgbClr val="142346"/>
                </a:solidFill>
                <a:latin typeface="Calibri"/>
                <a:ea typeface="Calibri"/>
              </a:rPr>
              <a:t>¿En qué competencias forman más las empresas?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8748000" y="6293520"/>
            <a:ext cx="3525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*Fuente datos: MITES Encueta anual laboral 2022/2023/2024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91;p 1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Google Shape;92;p 2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Google Shape;93;p 2"/>
          <p:cNvSpPr/>
          <p:nvPr/>
        </p:nvSpPr>
        <p:spPr>
          <a:xfrm>
            <a:off x="168120" y="6538320"/>
            <a:ext cx="2986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Google Shape;94;p 2"/>
          <p:cNvSpPr/>
          <p:nvPr/>
        </p:nvSpPr>
        <p:spPr>
          <a:xfrm>
            <a:off x="2742840" y="6538320"/>
            <a:ext cx="138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Google Shape;95;p 2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6800" cy="526680"/>
          </a:xfrm>
          <a:prstGeom prst="rect">
            <a:avLst/>
          </a:prstGeom>
          <a:ln w="0">
            <a:noFill/>
          </a:ln>
        </p:spPr>
      </p:pic>
      <p:sp>
        <p:nvSpPr>
          <p:cNvPr id="142" name="Google Shape;96;p 2"/>
          <p:cNvSpPr/>
          <p:nvPr/>
        </p:nvSpPr>
        <p:spPr>
          <a:xfrm>
            <a:off x="904320" y="322560"/>
            <a:ext cx="7912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  <a:ea typeface="Calibri"/>
              </a:rPr>
              <a:t>Tendencias en la cobertura formativa (2022-2024)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1620000" y="1111680"/>
            <a:ext cx="8848080" cy="501840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9864000" y="5817240"/>
            <a:ext cx="1881360" cy="407160"/>
          </a:xfrm>
          <a:prstGeom prst="rect">
            <a:avLst/>
          </a:prstGeom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3600000" y="1111680"/>
            <a:ext cx="4316400" cy="504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800" spc="-1" strike="noStrike">
                <a:solidFill>
                  <a:srgbClr val="142346"/>
                </a:solidFill>
                <a:latin typeface="Calibri"/>
                <a:ea typeface="Calibri"/>
              </a:rPr>
              <a:t>¿Qué competencias serán prioritarias para la formación futura?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8748000" y="6293880"/>
            <a:ext cx="3525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*Fuente datos: MITES Encueta anual laboral 2022/2023/2024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91;p 2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92;p 3"/>
          <p:cNvSpPr/>
          <p:nvPr/>
        </p:nvSpPr>
        <p:spPr>
          <a:xfrm>
            <a:off x="0" y="6519600"/>
            <a:ext cx="12178440" cy="34344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93;p 3"/>
          <p:cNvSpPr/>
          <p:nvPr/>
        </p:nvSpPr>
        <p:spPr>
          <a:xfrm>
            <a:off x="168120" y="6538320"/>
            <a:ext cx="2986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94;p 3"/>
          <p:cNvSpPr/>
          <p:nvPr/>
        </p:nvSpPr>
        <p:spPr>
          <a:xfrm>
            <a:off x="2742840" y="6538320"/>
            <a:ext cx="1385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oogle Shape;95;p 3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6800" cy="526680"/>
          </a:xfrm>
          <a:prstGeom prst="rect">
            <a:avLst/>
          </a:prstGeom>
          <a:ln w="0">
            <a:noFill/>
          </a:ln>
        </p:spPr>
      </p:pic>
      <p:sp>
        <p:nvSpPr>
          <p:cNvPr id="152" name="Google Shape;96;p 3"/>
          <p:cNvSpPr/>
          <p:nvPr/>
        </p:nvSpPr>
        <p:spPr>
          <a:xfrm>
            <a:off x="904320" y="322560"/>
            <a:ext cx="7552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  <a:ea typeface="Calibri"/>
              </a:rPr>
              <a:t>Tendencias en la cobertura formativa (2022-2024)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2"/>
          <a:stretch/>
        </p:blipFill>
        <p:spPr>
          <a:xfrm>
            <a:off x="1620000" y="1111680"/>
            <a:ext cx="8848080" cy="50184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3"/>
          <a:stretch/>
        </p:blipFill>
        <p:spPr>
          <a:xfrm>
            <a:off x="9864000" y="5817240"/>
            <a:ext cx="1881360" cy="407160"/>
          </a:xfrm>
          <a:prstGeom prst="rect">
            <a:avLst/>
          </a:prstGeom>
          <a:ln w="0">
            <a:noFill/>
          </a:ln>
        </p:spPr>
      </p:pic>
      <p:sp>
        <p:nvSpPr>
          <p:cNvPr id="155" name=""/>
          <p:cNvSpPr/>
          <p:nvPr/>
        </p:nvSpPr>
        <p:spPr>
          <a:xfrm>
            <a:off x="2124000" y="3024000"/>
            <a:ext cx="8456400" cy="644400"/>
          </a:xfrm>
          <a:prstGeom prst="rect">
            <a:avLst/>
          </a:prstGeom>
          <a:noFill/>
          <a:ln w="36000">
            <a:solidFill>
              <a:srgbClr val="cd5c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00000" y="1111680"/>
            <a:ext cx="4316400" cy="504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800" spc="-1" strike="noStrike">
                <a:solidFill>
                  <a:srgbClr val="142346"/>
                </a:solidFill>
                <a:latin typeface="Calibri"/>
                <a:ea typeface="Calibri"/>
              </a:rPr>
              <a:t>¿Qué competencias serán prioritarias para la formación futura?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8748000" y="6293880"/>
            <a:ext cx="3525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*Fuente datos: MITES Encueta anual laboral 2022/2023/2024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35;p 1"/>
          <p:cNvSpPr/>
          <p:nvPr/>
        </p:nvSpPr>
        <p:spPr>
          <a:xfrm>
            <a:off x="0" y="6519600"/>
            <a:ext cx="12178080" cy="3430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9" name="Google Shape;35;p 4"/>
          <p:cNvSpPr/>
          <p:nvPr/>
        </p:nvSpPr>
        <p:spPr>
          <a:xfrm>
            <a:off x="0" y="6519600"/>
            <a:ext cx="12178080" cy="3430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0" name="Google Shape;38;p 1"/>
          <p:cNvSpPr/>
          <p:nvPr/>
        </p:nvSpPr>
        <p:spPr>
          <a:xfrm>
            <a:off x="168120" y="6538320"/>
            <a:ext cx="2986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39;p 1"/>
          <p:cNvSpPr/>
          <p:nvPr/>
        </p:nvSpPr>
        <p:spPr>
          <a:xfrm>
            <a:off x="2742840" y="6538320"/>
            <a:ext cx="13852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Google Shape;92;g3f4b6d773eb_0_ 1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6440" cy="526320"/>
          </a:xfrm>
          <a:prstGeom prst="rect">
            <a:avLst/>
          </a:prstGeom>
          <a:ln w="0">
            <a:noFill/>
          </a:ln>
        </p:spPr>
      </p:pic>
      <p:sp>
        <p:nvSpPr>
          <p:cNvPr id="163" name="Text 3"/>
          <p:cNvSpPr/>
          <p:nvPr/>
        </p:nvSpPr>
        <p:spPr>
          <a:xfrm>
            <a:off x="1690560" y="2810880"/>
            <a:ext cx="555804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2000" spc="-1" strike="noStrike">
                <a:solidFill>
                  <a:srgbClr val="1b2a38"/>
                </a:solidFill>
                <a:latin typeface="Cambria"/>
                <a:ea typeface="Cambria"/>
              </a:rPr>
              <a:t>Reequilibrar la inversión técnica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727640" y="3345120"/>
            <a:ext cx="462096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600" spc="-1" strike="noStrike">
                <a:solidFill>
                  <a:srgbClr val="3a3f4b"/>
                </a:solidFill>
                <a:latin typeface="Calibri"/>
                <a:ea typeface="Calibri"/>
              </a:rPr>
              <a:t>Mantener cobertura, actualizar contenidos y evaluar la necesidad real de cada propuesta formativa.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1080000" y="2963520"/>
            <a:ext cx="452880" cy="452880"/>
          </a:xfrm>
          <a:prstGeom prst="ellipse">
            <a:avLst/>
          </a:prstGeom>
          <a:solidFill>
            <a:srgbClr val="142346"/>
          </a:solidFill>
          <a:ln w="12700">
            <a:solidFill>
              <a:srgbClr val="1423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1090800" y="296460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1690560" y="1491480"/>
            <a:ext cx="54511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2000" spc="-1" strike="noStrike">
                <a:solidFill>
                  <a:srgbClr val="1b2a38"/>
                </a:solidFill>
                <a:latin typeface="Cambria"/>
                <a:ea typeface="Cambria"/>
              </a:rPr>
              <a:t>Priorizar la resolución de problemas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1090800" y="178236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1105200" y="1711080"/>
            <a:ext cx="452880" cy="452880"/>
          </a:xfrm>
          <a:prstGeom prst="ellipse">
            <a:avLst/>
          </a:prstGeom>
          <a:solidFill>
            <a:srgbClr val="e8622c"/>
          </a:solidFill>
          <a:ln w="12700">
            <a:solidFill>
              <a:srgbClr val="e862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1115280" y="168876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3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1090800" y="440244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3"/>
          <p:cNvSpPr/>
          <p:nvPr/>
        </p:nvSpPr>
        <p:spPr>
          <a:xfrm>
            <a:off x="1115280" y="4341960"/>
            <a:ext cx="452880" cy="452880"/>
          </a:xfrm>
          <a:prstGeom prst="ellipse">
            <a:avLst/>
          </a:prstGeom>
          <a:solidFill>
            <a:srgbClr val="d9a400"/>
          </a:solidFill>
          <a:ln w="12700">
            <a:solidFill>
              <a:srgbClr val="d9a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1115280" y="434196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3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1690560" y="4234680"/>
            <a:ext cx="614772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2000" spc="-1" strike="noStrike">
                <a:solidFill>
                  <a:srgbClr val="1b2a38"/>
                </a:solidFill>
                <a:latin typeface="Cambria"/>
                <a:ea typeface="Cambria"/>
              </a:rPr>
              <a:t>Consolidar el Trabajo en equipo y Atención al cliente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8"/>
          <p:cNvSpPr/>
          <p:nvPr/>
        </p:nvSpPr>
        <p:spPr>
          <a:xfrm>
            <a:off x="1690560" y="4735080"/>
            <a:ext cx="517536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600" spc="-1" strike="noStrike">
                <a:solidFill>
                  <a:srgbClr val="3a3f4b"/>
                </a:solidFill>
                <a:latin typeface="Calibri"/>
                <a:ea typeface="Calibri"/>
              </a:rPr>
              <a:t>Adaptar profundidad y metodología a los perfiles más implicados.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1727640" y="1867320"/>
            <a:ext cx="513828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600" spc="-1" strike="noStrike">
                <a:solidFill>
                  <a:srgbClr val="3a3f4b"/>
                </a:solidFill>
                <a:latin typeface="Calibri"/>
                <a:ea typeface="Calibri"/>
              </a:rPr>
              <a:t>Crear una formación aplicada a incidencias, calidad, toma de decisiones y mejora continua.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952920" y="335160"/>
            <a:ext cx="64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  <a:ea typeface="Calibri"/>
              </a:rPr>
              <a:t>Implicaciones en las políticas de formación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35;p 9"/>
          <p:cNvSpPr/>
          <p:nvPr/>
        </p:nvSpPr>
        <p:spPr>
          <a:xfrm>
            <a:off x="0" y="6519600"/>
            <a:ext cx="12178080" cy="3430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9" name="Google Shape;35;p 12"/>
          <p:cNvSpPr/>
          <p:nvPr/>
        </p:nvSpPr>
        <p:spPr>
          <a:xfrm>
            <a:off x="0" y="6519600"/>
            <a:ext cx="12178080" cy="3430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0" name="Google Shape;38;p 6"/>
          <p:cNvSpPr/>
          <p:nvPr/>
        </p:nvSpPr>
        <p:spPr>
          <a:xfrm>
            <a:off x="168120" y="6538320"/>
            <a:ext cx="2986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39;p 5"/>
          <p:cNvSpPr/>
          <p:nvPr/>
        </p:nvSpPr>
        <p:spPr>
          <a:xfrm>
            <a:off x="2742840" y="6538320"/>
            <a:ext cx="13852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Google Shape;92;g3f4b6d773eb_0_ 5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6440" cy="526320"/>
          </a:xfrm>
          <a:prstGeom prst="rect">
            <a:avLst/>
          </a:prstGeom>
          <a:ln w="0">
            <a:noFill/>
          </a:ln>
        </p:spPr>
      </p:pic>
      <p:sp>
        <p:nvSpPr>
          <p:cNvPr id="183" name="TextBox 4"/>
          <p:cNvSpPr/>
          <p:nvPr/>
        </p:nvSpPr>
        <p:spPr>
          <a:xfrm>
            <a:off x="2750040" y="1470960"/>
            <a:ext cx="6691680" cy="17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5400" spc="-1" strike="noStrike">
                <a:solidFill>
                  <a:srgbClr val="006400"/>
                </a:solidFill>
                <a:latin typeface="Calibri"/>
                <a:ea typeface="Calibri"/>
              </a:rPr>
              <a:t>Medios</a:t>
            </a:r>
            <a:r>
              <a:rPr b="1" lang="es-ES" sz="5400" spc="-1" strike="noStrike">
                <a:solidFill>
                  <a:srgbClr val="142346"/>
                </a:solidFill>
                <a:latin typeface="Calibri"/>
                <a:ea typeface="Calibri"/>
              </a:rPr>
              <a:t> </a:t>
            </a:r>
            <a:endParaRPr b="0" lang="es-ES" sz="5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4400" spc="-1" strike="noStrike">
                <a:solidFill>
                  <a:srgbClr val="203057"/>
                </a:solidFill>
                <a:latin typeface="Calibri"/>
                <a:ea typeface="Calibri"/>
              </a:rPr>
              <a:t>principales, evolución y uso</a:t>
            </a:r>
            <a:r>
              <a:rPr b="1" lang="es-ES" sz="4400" spc="-1" strike="noStrike">
                <a:solidFill>
                  <a:srgbClr val="142346"/>
                </a:solidFill>
                <a:latin typeface="Calibri"/>
                <a:ea typeface="Calibri"/>
              </a:rPr>
              <a:t> 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3089160" y="3421800"/>
            <a:ext cx="60116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696969"/>
                </a:solidFill>
                <a:latin typeface="Arial"/>
                <a:ea typeface="Arial"/>
              </a:rPr>
              <a:t>En la actividad laboral: Transporte y almacenamiento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2"/>
          <a:stretch/>
        </p:blipFill>
        <p:spPr>
          <a:xfrm>
            <a:off x="5483880" y="3852000"/>
            <a:ext cx="1221840" cy="122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35;p 13"/>
          <p:cNvSpPr/>
          <p:nvPr/>
        </p:nvSpPr>
        <p:spPr>
          <a:xfrm>
            <a:off x="0" y="6519600"/>
            <a:ext cx="12179520" cy="344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35;p 14"/>
          <p:cNvSpPr/>
          <p:nvPr/>
        </p:nvSpPr>
        <p:spPr>
          <a:xfrm>
            <a:off x="0" y="6519600"/>
            <a:ext cx="12179520" cy="344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38;p 7"/>
          <p:cNvSpPr/>
          <p:nvPr/>
        </p:nvSpPr>
        <p:spPr>
          <a:xfrm>
            <a:off x="168120" y="6538320"/>
            <a:ext cx="298800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39;p 7"/>
          <p:cNvSpPr/>
          <p:nvPr/>
        </p:nvSpPr>
        <p:spPr>
          <a:xfrm>
            <a:off x="2742840" y="6538320"/>
            <a:ext cx="13867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Google Shape;92;g3f4b6d773eb_0_ 7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7880" cy="527760"/>
          </a:xfrm>
          <a:prstGeom prst="rect">
            <a:avLst/>
          </a:prstGeom>
          <a:ln w="0">
            <a:noFill/>
          </a:ln>
        </p:spPr>
      </p:pic>
      <p:sp>
        <p:nvSpPr>
          <p:cNvPr id="191" name="TextBox 8"/>
          <p:cNvSpPr/>
          <p:nvPr/>
        </p:nvSpPr>
        <p:spPr>
          <a:xfrm>
            <a:off x="938520" y="317520"/>
            <a:ext cx="5996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</a:rPr>
              <a:t>Principales medios de formación (2024)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2"/>
          <a:stretch/>
        </p:blipFill>
        <p:spPr>
          <a:xfrm>
            <a:off x="462960" y="1368000"/>
            <a:ext cx="10983240" cy="4413960"/>
          </a:xfrm>
          <a:prstGeom prst="rect">
            <a:avLst/>
          </a:prstGeom>
          <a:ln w="0">
            <a:noFill/>
          </a:ln>
        </p:spPr>
      </p:pic>
      <p:sp>
        <p:nvSpPr>
          <p:cNvPr id="193" name=""/>
          <p:cNvSpPr/>
          <p:nvPr/>
        </p:nvSpPr>
        <p:spPr>
          <a:xfrm>
            <a:off x="9396000" y="6329160"/>
            <a:ext cx="2877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*Fuente datos: MITES Encueta anual laboral 2024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35;p 15"/>
          <p:cNvSpPr/>
          <p:nvPr/>
        </p:nvSpPr>
        <p:spPr>
          <a:xfrm>
            <a:off x="0" y="6519600"/>
            <a:ext cx="12179520" cy="344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n 18" descr=""/>
          <p:cNvPicPr/>
          <p:nvPr/>
        </p:nvPicPr>
        <p:blipFill>
          <a:blip r:embed="rId1"/>
          <a:srcRect l="1993" t="10551" r="0" b="0"/>
          <a:stretch/>
        </p:blipFill>
        <p:spPr>
          <a:xfrm>
            <a:off x="685800" y="1600200"/>
            <a:ext cx="9370080" cy="4551480"/>
          </a:xfrm>
          <a:prstGeom prst="rect">
            <a:avLst/>
          </a:prstGeom>
          <a:ln w="0">
            <a:noFill/>
          </a:ln>
        </p:spPr>
      </p:pic>
      <p:sp>
        <p:nvSpPr>
          <p:cNvPr id="196" name="Google Shape;35;p 16"/>
          <p:cNvSpPr/>
          <p:nvPr/>
        </p:nvSpPr>
        <p:spPr>
          <a:xfrm>
            <a:off x="0" y="6519600"/>
            <a:ext cx="12179520" cy="344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38;p 8"/>
          <p:cNvSpPr/>
          <p:nvPr/>
        </p:nvSpPr>
        <p:spPr>
          <a:xfrm>
            <a:off x="168120" y="6538320"/>
            <a:ext cx="298800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39;p 8"/>
          <p:cNvSpPr/>
          <p:nvPr/>
        </p:nvSpPr>
        <p:spPr>
          <a:xfrm>
            <a:off x="2742840" y="6538320"/>
            <a:ext cx="13867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Google Shape;92;g3f4b6d773eb_0_ 8" descr=""/>
          <p:cNvPicPr/>
          <p:nvPr/>
        </p:nvPicPr>
        <p:blipFill>
          <a:blip r:embed="rId2"/>
          <a:srcRect l="0" t="26220" r="0" b="23016"/>
          <a:stretch/>
        </p:blipFill>
        <p:spPr>
          <a:xfrm>
            <a:off x="10038960" y="288360"/>
            <a:ext cx="1937880" cy="527760"/>
          </a:xfrm>
          <a:prstGeom prst="rect">
            <a:avLst/>
          </a:prstGeom>
          <a:ln w="0">
            <a:noFill/>
          </a:ln>
        </p:spPr>
      </p:pic>
      <p:sp>
        <p:nvSpPr>
          <p:cNvPr id="200" name="TextBox 9"/>
          <p:cNvSpPr/>
          <p:nvPr/>
        </p:nvSpPr>
        <p:spPr>
          <a:xfrm>
            <a:off x="974520" y="317520"/>
            <a:ext cx="743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</a:rPr>
              <a:t>Cambios en los medios de formación (2023-2024)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9072000" y="6294960"/>
            <a:ext cx="34189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*Fuente datos: MITES Encueta anual laboral 2023/2024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35;p 17"/>
          <p:cNvSpPr/>
          <p:nvPr/>
        </p:nvSpPr>
        <p:spPr>
          <a:xfrm>
            <a:off x="0" y="6519600"/>
            <a:ext cx="12179520" cy="344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35;p 18"/>
          <p:cNvSpPr/>
          <p:nvPr/>
        </p:nvSpPr>
        <p:spPr>
          <a:xfrm>
            <a:off x="0" y="6519600"/>
            <a:ext cx="12179520" cy="344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38;p 9"/>
          <p:cNvSpPr/>
          <p:nvPr/>
        </p:nvSpPr>
        <p:spPr>
          <a:xfrm>
            <a:off x="168120" y="6538320"/>
            <a:ext cx="298800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39;p 9"/>
          <p:cNvSpPr/>
          <p:nvPr/>
        </p:nvSpPr>
        <p:spPr>
          <a:xfrm>
            <a:off x="2742840" y="6538320"/>
            <a:ext cx="138672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Google Shape;92;g3f4b6d773eb_0_ 9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7880" cy="527760"/>
          </a:xfrm>
          <a:prstGeom prst="rect">
            <a:avLst/>
          </a:prstGeom>
          <a:ln w="0">
            <a:noFill/>
          </a:ln>
        </p:spPr>
      </p:pic>
      <p:sp>
        <p:nvSpPr>
          <p:cNvPr id="207" name="TextBox 10"/>
          <p:cNvSpPr/>
          <p:nvPr/>
        </p:nvSpPr>
        <p:spPr>
          <a:xfrm>
            <a:off x="980640" y="335160"/>
            <a:ext cx="7561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</a:rPr>
              <a:t>Distintos medios para distintos tipos de formación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Interrelacion medios 2" descr=""/>
          <p:cNvPicPr/>
          <p:nvPr/>
        </p:nvPicPr>
        <p:blipFill>
          <a:blip r:embed="rId2"/>
          <a:stretch/>
        </p:blipFill>
        <p:spPr>
          <a:xfrm>
            <a:off x="685800" y="1400040"/>
            <a:ext cx="10817640" cy="478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35;p 2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Google Shape;35;p 3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Google Shape;38;p 2"/>
          <p:cNvSpPr/>
          <p:nvPr/>
        </p:nvSpPr>
        <p:spPr>
          <a:xfrm>
            <a:off x="168120" y="6538320"/>
            <a:ext cx="2987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Google Shape;39;p 2"/>
          <p:cNvSpPr/>
          <p:nvPr/>
        </p:nvSpPr>
        <p:spPr>
          <a:xfrm>
            <a:off x="2742840" y="6538320"/>
            <a:ext cx="138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Google Shape;92;g3f4b6d773eb_0_ 2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7520" cy="527400"/>
          </a:xfrm>
          <a:prstGeom prst="rect">
            <a:avLst/>
          </a:prstGeom>
          <a:ln w="0">
            <a:noFill/>
          </a:ln>
        </p:spPr>
      </p:pic>
      <p:sp>
        <p:nvSpPr>
          <p:cNvPr id="214" name="TextBox 2"/>
          <p:cNvSpPr/>
          <p:nvPr/>
        </p:nvSpPr>
        <p:spPr>
          <a:xfrm>
            <a:off x="2701440" y="1470960"/>
            <a:ext cx="6789240" cy="22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5400" spc="-1" strike="noStrike">
                <a:solidFill>
                  <a:srgbClr val="b22222"/>
                </a:solidFill>
                <a:latin typeface="Calibri"/>
              </a:rPr>
              <a:t>Barreras </a:t>
            </a:r>
            <a:endParaRPr b="0" lang="es-ES" sz="5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s-ES" sz="4400" spc="-1" strike="noStrike">
                <a:solidFill>
                  <a:srgbClr val="142346"/>
                </a:solidFill>
                <a:latin typeface="Calibri"/>
              </a:rPr>
              <a:t>que limitan la efectividad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4400" spc="-1" strike="noStrike">
                <a:solidFill>
                  <a:srgbClr val="142346"/>
                </a:solidFill>
                <a:latin typeface="Calibri"/>
              </a:rPr>
              <a:t>de las políticas de formación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4220640" y="3817800"/>
            <a:ext cx="374904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696969"/>
                </a:solidFill>
                <a:latin typeface="Arial"/>
                <a:ea typeface="Arial"/>
              </a:rPr>
              <a:t>En empresas de +499 empleados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2"/>
          <a:stretch/>
        </p:blipFill>
        <p:spPr>
          <a:xfrm>
            <a:off x="5596920" y="4356000"/>
            <a:ext cx="996480" cy="99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35;p 19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35;p 20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Google Shape;38;p 10"/>
          <p:cNvSpPr/>
          <p:nvPr/>
        </p:nvSpPr>
        <p:spPr>
          <a:xfrm>
            <a:off x="168120" y="6538320"/>
            <a:ext cx="2987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39;p 10"/>
          <p:cNvSpPr/>
          <p:nvPr/>
        </p:nvSpPr>
        <p:spPr>
          <a:xfrm>
            <a:off x="2742840" y="6538320"/>
            <a:ext cx="138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1" name="Google Shape;92;g3f4b6d773eb_0_ 10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7520" cy="527400"/>
          </a:xfrm>
          <a:prstGeom prst="rect">
            <a:avLst/>
          </a:prstGeom>
          <a:ln w="0">
            <a:noFill/>
          </a:ln>
        </p:spPr>
      </p:pic>
      <p:pic>
        <p:nvPicPr>
          <p:cNvPr id="222" name="Imagen 17" descr=""/>
          <p:cNvPicPr/>
          <p:nvPr/>
        </p:nvPicPr>
        <p:blipFill>
          <a:blip r:embed="rId2"/>
          <a:srcRect l="0" t="0" r="0" b="9951"/>
          <a:stretch/>
        </p:blipFill>
        <p:spPr>
          <a:xfrm>
            <a:off x="4640040" y="4176000"/>
            <a:ext cx="1134360" cy="1009440"/>
          </a:xfrm>
          <a:prstGeom prst="rect">
            <a:avLst/>
          </a:prstGeom>
          <a:ln w="0">
            <a:noFill/>
          </a:ln>
        </p:spPr>
      </p:pic>
      <p:sp>
        <p:nvSpPr>
          <p:cNvPr id="223" name="TextBox 11"/>
          <p:cNvSpPr/>
          <p:nvPr/>
        </p:nvSpPr>
        <p:spPr>
          <a:xfrm>
            <a:off x="2695680" y="1470960"/>
            <a:ext cx="6789240" cy="22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ES" sz="5400" spc="-1" strike="noStrike">
                <a:solidFill>
                  <a:srgbClr val="b22222"/>
                </a:solidFill>
                <a:latin typeface="Calibri"/>
              </a:rPr>
              <a:t>Barreras </a:t>
            </a:r>
            <a:endParaRPr b="0" lang="es-ES" sz="5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s-ES" sz="4400" spc="-1" strike="noStrike">
                <a:solidFill>
                  <a:srgbClr val="142346"/>
                </a:solidFill>
                <a:latin typeface="Calibri"/>
              </a:rPr>
              <a:t>que limitan la efectividad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s-ES" sz="4400" spc="-1" strike="noStrike">
                <a:solidFill>
                  <a:srgbClr val="142346"/>
                </a:solidFill>
                <a:latin typeface="Calibri"/>
              </a:rPr>
              <a:t>de las políticas de formación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Imagen 19" descr=""/>
          <p:cNvPicPr/>
          <p:nvPr/>
        </p:nvPicPr>
        <p:blipFill>
          <a:blip r:embed="rId3"/>
          <a:srcRect l="14026" t="7353" r="0" b="21984"/>
          <a:stretch/>
        </p:blipFill>
        <p:spPr>
          <a:xfrm>
            <a:off x="6373440" y="4272120"/>
            <a:ext cx="1184040" cy="96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Imagen 15" descr=""/>
          <p:cNvPicPr/>
          <p:nvPr/>
        </p:nvPicPr>
        <p:blipFill>
          <a:blip r:embed="rId1"/>
          <a:srcRect l="0" t="8722" r="0" b="0"/>
          <a:stretch/>
        </p:blipFill>
        <p:spPr>
          <a:xfrm>
            <a:off x="801360" y="1504440"/>
            <a:ext cx="7666560" cy="4515120"/>
          </a:xfrm>
          <a:prstGeom prst="rect">
            <a:avLst/>
          </a:prstGeom>
          <a:ln w="0">
            <a:noFill/>
          </a:ln>
        </p:spPr>
      </p:pic>
      <p:sp>
        <p:nvSpPr>
          <p:cNvPr id="226" name="Google Shape;35;p 6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oogle Shape;35;p 7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38;p 3"/>
          <p:cNvSpPr/>
          <p:nvPr/>
        </p:nvSpPr>
        <p:spPr>
          <a:xfrm>
            <a:off x="168120" y="6538320"/>
            <a:ext cx="2987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39;p 4"/>
          <p:cNvSpPr/>
          <p:nvPr/>
        </p:nvSpPr>
        <p:spPr>
          <a:xfrm>
            <a:off x="2742840" y="6538320"/>
            <a:ext cx="138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Google Shape;92;g3f4b6d773eb_0_ 4" descr=""/>
          <p:cNvPicPr/>
          <p:nvPr/>
        </p:nvPicPr>
        <p:blipFill>
          <a:blip r:embed="rId2"/>
          <a:srcRect l="0" t="26220" r="0" b="23016"/>
          <a:stretch/>
        </p:blipFill>
        <p:spPr>
          <a:xfrm>
            <a:off x="10038960" y="288360"/>
            <a:ext cx="1937520" cy="527400"/>
          </a:xfrm>
          <a:prstGeom prst="rect">
            <a:avLst/>
          </a:prstGeom>
          <a:ln w="0">
            <a:noFill/>
          </a:ln>
        </p:spPr>
      </p:pic>
      <p:pic>
        <p:nvPicPr>
          <p:cNvPr id="231" name="Imagen 1" descr=""/>
          <p:cNvPicPr/>
          <p:nvPr/>
        </p:nvPicPr>
        <p:blipFill>
          <a:blip r:embed="rId3"/>
          <a:stretch/>
        </p:blipFill>
        <p:spPr>
          <a:xfrm>
            <a:off x="6652080" y="2724480"/>
            <a:ext cx="403200" cy="403200"/>
          </a:xfrm>
          <a:prstGeom prst="rect">
            <a:avLst/>
          </a:prstGeom>
          <a:ln w="0">
            <a:noFill/>
          </a:ln>
        </p:spPr>
      </p:pic>
      <p:pic>
        <p:nvPicPr>
          <p:cNvPr id="232" name="Imagen 2" descr=""/>
          <p:cNvPicPr/>
          <p:nvPr/>
        </p:nvPicPr>
        <p:blipFill>
          <a:blip r:embed="rId4"/>
          <a:stretch/>
        </p:blipFill>
        <p:spPr>
          <a:xfrm>
            <a:off x="8569800" y="1484640"/>
            <a:ext cx="568440" cy="568440"/>
          </a:xfrm>
          <a:prstGeom prst="rect">
            <a:avLst/>
          </a:prstGeom>
          <a:ln w="0">
            <a:noFill/>
          </a:ln>
        </p:spPr>
      </p:pic>
      <p:pic>
        <p:nvPicPr>
          <p:cNvPr id="233" name="Imagen 5" descr=""/>
          <p:cNvPicPr/>
          <p:nvPr/>
        </p:nvPicPr>
        <p:blipFill>
          <a:blip r:embed="rId5"/>
          <a:srcRect l="0" t="0" r="0" b="9951"/>
          <a:stretch/>
        </p:blipFill>
        <p:spPr>
          <a:xfrm>
            <a:off x="7965360" y="1407600"/>
            <a:ext cx="631800" cy="568440"/>
          </a:xfrm>
          <a:prstGeom prst="rect">
            <a:avLst/>
          </a:prstGeom>
          <a:ln w="0">
            <a:noFill/>
          </a:ln>
        </p:spPr>
      </p:pic>
      <p:pic>
        <p:nvPicPr>
          <p:cNvPr id="234" name="Imagen 6" descr=""/>
          <p:cNvPicPr/>
          <p:nvPr/>
        </p:nvPicPr>
        <p:blipFill>
          <a:blip r:embed="rId6"/>
          <a:srcRect l="10040" t="0" r="0" b="25277"/>
          <a:stretch/>
        </p:blipFill>
        <p:spPr>
          <a:xfrm>
            <a:off x="4873320" y="4370400"/>
            <a:ext cx="568080" cy="471240"/>
          </a:xfrm>
          <a:prstGeom prst="rect">
            <a:avLst/>
          </a:prstGeom>
          <a:ln w="0">
            <a:noFill/>
          </a:ln>
        </p:spPr>
      </p:pic>
      <p:pic>
        <p:nvPicPr>
          <p:cNvPr id="235" name="Imagen 7" descr=""/>
          <p:cNvPicPr/>
          <p:nvPr/>
        </p:nvPicPr>
        <p:blipFill>
          <a:blip r:embed="rId7"/>
          <a:srcRect l="22442" t="0" r="22147" b="25277"/>
          <a:stretch/>
        </p:blipFill>
        <p:spPr>
          <a:xfrm>
            <a:off x="5198400" y="3924360"/>
            <a:ext cx="348480" cy="471240"/>
          </a:xfrm>
          <a:prstGeom prst="rect">
            <a:avLst/>
          </a:prstGeom>
          <a:ln w="0">
            <a:noFill/>
          </a:ln>
        </p:spPr>
      </p:pic>
      <p:pic>
        <p:nvPicPr>
          <p:cNvPr id="236" name="Imagen 8" descr=""/>
          <p:cNvPicPr/>
          <p:nvPr/>
        </p:nvPicPr>
        <p:blipFill>
          <a:blip r:embed="rId8"/>
          <a:srcRect l="0" t="11059" r="31921" b="27713"/>
          <a:stretch/>
        </p:blipFill>
        <p:spPr>
          <a:xfrm>
            <a:off x="5668920" y="3172320"/>
            <a:ext cx="477360" cy="428760"/>
          </a:xfrm>
          <a:prstGeom prst="rect">
            <a:avLst/>
          </a:prstGeom>
          <a:ln w="0">
            <a:noFill/>
          </a:ln>
        </p:spPr>
      </p:pic>
      <p:pic>
        <p:nvPicPr>
          <p:cNvPr id="237" name="Imagen 9" descr=""/>
          <p:cNvPicPr/>
          <p:nvPr/>
        </p:nvPicPr>
        <p:blipFill>
          <a:blip r:embed="rId9"/>
          <a:srcRect l="11472" t="8962" r="24524" b="34032"/>
          <a:stretch/>
        </p:blipFill>
        <p:spPr>
          <a:xfrm>
            <a:off x="6652080" y="2317320"/>
            <a:ext cx="403200" cy="358560"/>
          </a:xfrm>
          <a:prstGeom prst="rect">
            <a:avLst/>
          </a:prstGeom>
          <a:ln w="0">
            <a:noFill/>
          </a:ln>
        </p:spPr>
      </p:pic>
      <p:pic>
        <p:nvPicPr>
          <p:cNvPr id="238" name="Imagen 10" descr=""/>
          <p:cNvPicPr/>
          <p:nvPr/>
        </p:nvPicPr>
        <p:blipFill>
          <a:blip r:embed="rId10"/>
          <a:srcRect l="14026" t="7353" r="0" b="21984"/>
          <a:stretch/>
        </p:blipFill>
        <p:spPr>
          <a:xfrm>
            <a:off x="7827120" y="1979280"/>
            <a:ext cx="542520" cy="445320"/>
          </a:xfrm>
          <a:prstGeom prst="rect">
            <a:avLst/>
          </a:prstGeom>
          <a:ln w="0">
            <a:noFill/>
          </a:ln>
        </p:spPr>
      </p:pic>
      <p:pic>
        <p:nvPicPr>
          <p:cNvPr id="239" name="Imagen 11" descr=""/>
          <p:cNvPicPr/>
          <p:nvPr/>
        </p:nvPicPr>
        <p:blipFill>
          <a:blip r:embed="rId11"/>
          <a:srcRect l="0" t="0" r="0" b="35981"/>
          <a:stretch/>
        </p:blipFill>
        <p:spPr>
          <a:xfrm>
            <a:off x="5269680" y="3517920"/>
            <a:ext cx="631800" cy="403200"/>
          </a:xfrm>
          <a:prstGeom prst="rect">
            <a:avLst/>
          </a:prstGeom>
          <a:ln w="0">
            <a:noFill/>
          </a:ln>
        </p:spPr>
      </p:pic>
      <p:pic>
        <p:nvPicPr>
          <p:cNvPr id="240" name="Imagen 12" descr=""/>
          <p:cNvPicPr/>
          <p:nvPr/>
        </p:nvPicPr>
        <p:blipFill>
          <a:blip r:embed="rId12"/>
          <a:srcRect l="12402" t="7973" r="0" b="25233"/>
          <a:stretch/>
        </p:blipFill>
        <p:spPr>
          <a:xfrm>
            <a:off x="4061160" y="5126040"/>
            <a:ext cx="522360" cy="397440"/>
          </a:xfrm>
          <a:prstGeom prst="rect">
            <a:avLst/>
          </a:prstGeom>
          <a:ln w="0">
            <a:noFill/>
          </a:ln>
        </p:spPr>
      </p:pic>
      <p:pic>
        <p:nvPicPr>
          <p:cNvPr id="241" name="Imagen 25" descr=""/>
          <p:cNvPicPr/>
          <p:nvPr/>
        </p:nvPicPr>
        <p:blipFill>
          <a:blip r:embed="rId13"/>
          <a:srcRect l="0" t="0" r="18293" b="34047"/>
          <a:stretch/>
        </p:blipFill>
        <p:spPr>
          <a:xfrm>
            <a:off x="4132440" y="4701960"/>
            <a:ext cx="522360" cy="420840"/>
          </a:xfrm>
          <a:prstGeom prst="rect">
            <a:avLst/>
          </a:prstGeom>
          <a:ln w="0">
            <a:noFill/>
          </a:ln>
        </p:spPr>
      </p:pic>
      <p:sp>
        <p:nvSpPr>
          <p:cNvPr id="242" name="TextBox 1"/>
          <p:cNvSpPr/>
          <p:nvPr/>
        </p:nvSpPr>
        <p:spPr>
          <a:xfrm>
            <a:off x="896760" y="317520"/>
            <a:ext cx="6295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</a:rPr>
              <a:t>Principales barreras a la formación (2024)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9396000" y="6329520"/>
            <a:ext cx="2877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*Fuente datos: MITES Encueta anual laboral 2024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35;p 5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Imagen 13" descr=""/>
          <p:cNvPicPr/>
          <p:nvPr/>
        </p:nvPicPr>
        <p:blipFill>
          <a:blip r:embed="rId1"/>
          <a:srcRect l="1993" t="10551" r="0" b="0"/>
          <a:stretch/>
        </p:blipFill>
        <p:spPr>
          <a:xfrm>
            <a:off x="784440" y="1477440"/>
            <a:ext cx="8428680" cy="4093920"/>
          </a:xfrm>
          <a:prstGeom prst="rect">
            <a:avLst/>
          </a:prstGeom>
          <a:ln w="0">
            <a:noFill/>
          </a:ln>
        </p:spPr>
      </p:pic>
      <p:sp>
        <p:nvSpPr>
          <p:cNvPr id="246" name="Google Shape;35;p 8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38;p 5"/>
          <p:cNvSpPr/>
          <p:nvPr/>
        </p:nvSpPr>
        <p:spPr>
          <a:xfrm>
            <a:off x="168120" y="6538320"/>
            <a:ext cx="2987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39;p 3"/>
          <p:cNvSpPr/>
          <p:nvPr/>
        </p:nvSpPr>
        <p:spPr>
          <a:xfrm>
            <a:off x="2742840" y="6538320"/>
            <a:ext cx="138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"/>
          <p:cNvSpPr/>
          <p:nvPr/>
        </p:nvSpPr>
        <p:spPr>
          <a:xfrm>
            <a:off x="9468000" y="2244600"/>
            <a:ext cx="2157120" cy="1290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36000">
            <a:solidFill>
              <a:srgbClr val="c9c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56520" bIns="565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0" name="Google Shape;92;g3f4b6d773eb_0_ 3" descr=""/>
          <p:cNvPicPr/>
          <p:nvPr/>
        </p:nvPicPr>
        <p:blipFill>
          <a:blip r:embed="rId2"/>
          <a:srcRect l="0" t="26220" r="0" b="23016"/>
          <a:stretch/>
        </p:blipFill>
        <p:spPr>
          <a:xfrm>
            <a:off x="10038960" y="288360"/>
            <a:ext cx="1937520" cy="527400"/>
          </a:xfrm>
          <a:prstGeom prst="rect">
            <a:avLst/>
          </a:prstGeom>
          <a:ln w="0">
            <a:noFill/>
          </a:ln>
        </p:spPr>
      </p:pic>
      <p:sp>
        <p:nvSpPr>
          <p:cNvPr id="251" name="TextBox 5"/>
          <p:cNvSpPr/>
          <p:nvPr/>
        </p:nvSpPr>
        <p:spPr>
          <a:xfrm>
            <a:off x="905760" y="317520"/>
            <a:ext cx="7718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</a:rPr>
              <a:t>Cambios en las barreras a la formación (2022-2024)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CuadroTexto 4"/>
          <p:cNvSpPr/>
          <p:nvPr/>
        </p:nvSpPr>
        <p:spPr>
          <a:xfrm>
            <a:off x="9648000" y="2217240"/>
            <a:ext cx="2191320" cy="12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 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El ranking de barreras a la formación se mantiene estable.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Imagen 14" descr=""/>
          <p:cNvPicPr/>
          <p:nvPr/>
        </p:nvPicPr>
        <p:blipFill>
          <a:blip r:embed="rId3"/>
          <a:srcRect l="33802" t="31338" r="34875" b="36629"/>
          <a:stretch/>
        </p:blipFill>
        <p:spPr>
          <a:xfrm>
            <a:off x="9466920" y="2217240"/>
            <a:ext cx="391320" cy="400320"/>
          </a:xfrm>
          <a:prstGeom prst="rect">
            <a:avLst/>
          </a:prstGeom>
          <a:ln w="0">
            <a:noFill/>
          </a:ln>
        </p:spPr>
      </p:pic>
      <p:sp>
        <p:nvSpPr>
          <p:cNvPr id="254" name="Shape 4"/>
          <p:cNvSpPr/>
          <p:nvPr/>
        </p:nvSpPr>
        <p:spPr>
          <a:xfrm>
            <a:off x="9504000" y="4052520"/>
            <a:ext cx="2121120" cy="12006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36000">
            <a:solidFill>
              <a:srgbClr val="c9c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56520" bIns="565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5" name="CuadroTexto 5"/>
          <p:cNvSpPr/>
          <p:nvPr/>
        </p:nvSpPr>
        <p:spPr>
          <a:xfrm>
            <a:off x="9538920" y="4025520"/>
            <a:ext cx="2122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   </a:t>
            </a: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Solo la oferta formativa muestra tendencia creciente.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Imagen 16" descr=""/>
          <p:cNvPicPr/>
          <p:nvPr/>
        </p:nvPicPr>
        <p:blipFill>
          <a:blip r:embed="rId4"/>
          <a:srcRect l="33802" t="31338" r="34875" b="36629"/>
          <a:stretch/>
        </p:blipFill>
        <p:spPr>
          <a:xfrm>
            <a:off x="9502920" y="4025520"/>
            <a:ext cx="391320" cy="400320"/>
          </a:xfrm>
          <a:prstGeom prst="rect">
            <a:avLst/>
          </a:prstGeom>
          <a:ln w="0">
            <a:noFill/>
          </a:ln>
        </p:spPr>
      </p:pic>
      <p:sp>
        <p:nvSpPr>
          <p:cNvPr id="257" name="CuadroTexto 6"/>
          <p:cNvSpPr/>
          <p:nvPr/>
        </p:nvSpPr>
        <p:spPr>
          <a:xfrm>
            <a:off x="353880" y="1784160"/>
            <a:ext cx="427680" cy="32238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000" rIns="45000" tIns="90000" bIns="90000" anchor="t" vert="vert270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chemeClr val="dk1"/>
                </a:solidFill>
                <a:latin typeface="Calibri"/>
              </a:rPr>
              <a:t>% empresas que citan el motivo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8748000" y="6294240"/>
            <a:ext cx="35251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050" spc="-1" strike="noStrike">
                <a:solidFill>
                  <a:srgbClr val="000000"/>
                </a:solidFill>
                <a:latin typeface="Calibri"/>
              </a:rPr>
              <a:t>*Fuente datos: MITES Encueta anual laboral 2022/2023/2024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1"/>
          <p:cNvSpPr/>
          <p:nvPr/>
        </p:nvSpPr>
        <p:spPr>
          <a:xfrm>
            <a:off x="1216800" y="2877120"/>
            <a:ext cx="3882600" cy="111780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9c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"/>
          <p:cNvSpPr/>
          <p:nvPr/>
        </p:nvSpPr>
        <p:spPr>
          <a:xfrm>
            <a:off x="1207440" y="1461960"/>
            <a:ext cx="3882600" cy="111780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9c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35;p 10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35;p 11"/>
          <p:cNvSpPr/>
          <p:nvPr/>
        </p:nvSpPr>
        <p:spPr>
          <a:xfrm>
            <a:off x="0" y="6519600"/>
            <a:ext cx="12179160" cy="3441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38;p 4"/>
          <p:cNvSpPr/>
          <p:nvPr/>
        </p:nvSpPr>
        <p:spPr>
          <a:xfrm>
            <a:off x="168120" y="6538320"/>
            <a:ext cx="2987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39;p 6"/>
          <p:cNvSpPr/>
          <p:nvPr/>
        </p:nvSpPr>
        <p:spPr>
          <a:xfrm>
            <a:off x="2742840" y="6538320"/>
            <a:ext cx="138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Google Shape;92;g3f4b6d773eb_0_ 6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7520" cy="527400"/>
          </a:xfrm>
          <a:prstGeom prst="rect">
            <a:avLst/>
          </a:prstGeom>
          <a:ln w="0">
            <a:noFill/>
          </a:ln>
        </p:spPr>
      </p:pic>
      <p:sp>
        <p:nvSpPr>
          <p:cNvPr id="266" name="TextBox 6"/>
          <p:cNvSpPr/>
          <p:nvPr/>
        </p:nvSpPr>
        <p:spPr>
          <a:xfrm>
            <a:off x="954360" y="299160"/>
            <a:ext cx="64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142346"/>
                </a:solidFill>
                <a:latin typeface="Calibri"/>
              </a:rPr>
              <a:t>Implicaciones en las políticas de formación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1365840" y="3083040"/>
            <a:ext cx="13237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42346"/>
                </a:solidFill>
                <a:latin typeface="Cambria"/>
                <a:ea typeface="Cambria"/>
              </a:rPr>
              <a:t>53%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1380240" y="3447360"/>
            <a:ext cx="364248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b2a38"/>
                </a:solidFill>
                <a:latin typeface="Calibri"/>
                <a:ea typeface="Calibri"/>
              </a:rPr>
              <a:t>"Ya formamos bastante" (percepción)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0"/>
          <p:cNvSpPr/>
          <p:nvPr/>
        </p:nvSpPr>
        <p:spPr>
          <a:xfrm>
            <a:off x="6622920" y="1639440"/>
            <a:ext cx="453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2"/>
          <p:cNvSpPr/>
          <p:nvPr/>
        </p:nvSpPr>
        <p:spPr>
          <a:xfrm>
            <a:off x="5909040" y="3129120"/>
            <a:ext cx="555912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b2a38"/>
                </a:solidFill>
                <a:latin typeface="Cambria"/>
                <a:ea typeface="Cambria"/>
              </a:rPr>
              <a:t>Contrastar la percepción con datos objetivos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3"/>
          <p:cNvSpPr/>
          <p:nvPr/>
        </p:nvSpPr>
        <p:spPr>
          <a:xfrm>
            <a:off x="5946120" y="3447360"/>
            <a:ext cx="46220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3f4b"/>
                </a:solidFill>
                <a:latin typeface="Calibri"/>
                <a:ea typeface="Calibri"/>
              </a:rPr>
              <a:t> </a:t>
            </a:r>
            <a:r>
              <a:rPr b="0" lang="en-US" sz="1600" spc="-1" strike="noStrike">
                <a:solidFill>
                  <a:srgbClr val="3a3f4b"/>
                </a:solidFill>
                <a:latin typeface="Calibri"/>
                <a:ea typeface="Calibri"/>
              </a:rPr>
              <a:t>verificar la falta de competencias real de la plantilla.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5298480" y="3137760"/>
            <a:ext cx="453960" cy="453960"/>
          </a:xfrm>
          <a:prstGeom prst="ellipse">
            <a:avLst/>
          </a:prstGeom>
          <a:solidFill>
            <a:srgbClr val="142346"/>
          </a:solidFill>
          <a:ln w="12700">
            <a:solidFill>
              <a:srgbClr val="1423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4"/>
          <p:cNvSpPr/>
          <p:nvPr/>
        </p:nvSpPr>
        <p:spPr>
          <a:xfrm>
            <a:off x="5309280" y="3138840"/>
            <a:ext cx="453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5"/>
          <p:cNvSpPr/>
          <p:nvPr/>
        </p:nvSpPr>
        <p:spPr>
          <a:xfrm>
            <a:off x="1380240" y="1726560"/>
            <a:ext cx="34441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600" spc="-1" strike="noStrike">
                <a:solidFill>
                  <a:srgbClr val="e8622c"/>
                </a:solidFill>
                <a:latin typeface="Cambria"/>
                <a:ea typeface="Cambria"/>
              </a:rPr>
              <a:t>55%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6"/>
          <p:cNvSpPr/>
          <p:nvPr/>
        </p:nvSpPr>
        <p:spPr>
          <a:xfrm>
            <a:off x="1357920" y="1988640"/>
            <a:ext cx="371196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b2a38"/>
                </a:solidFill>
                <a:latin typeface="Calibri"/>
                <a:ea typeface="Calibri"/>
              </a:rPr>
              <a:t>Falta de tiempo / carga de trabajo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7"/>
          <p:cNvSpPr/>
          <p:nvPr/>
        </p:nvSpPr>
        <p:spPr>
          <a:xfrm>
            <a:off x="5909040" y="1593720"/>
            <a:ext cx="545220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b2a38"/>
                </a:solidFill>
                <a:latin typeface="Cambria"/>
                <a:ea typeface="Cambria"/>
              </a:rPr>
              <a:t>Formación adaptada al tiempo /carga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8"/>
          <p:cNvSpPr/>
          <p:nvPr/>
        </p:nvSpPr>
        <p:spPr>
          <a:xfrm>
            <a:off x="5309280" y="1884600"/>
            <a:ext cx="453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0"/>
          <p:cNvSpPr/>
          <p:nvPr/>
        </p:nvSpPr>
        <p:spPr>
          <a:xfrm>
            <a:off x="5323680" y="1813320"/>
            <a:ext cx="453960" cy="453960"/>
          </a:xfrm>
          <a:prstGeom prst="ellipse">
            <a:avLst/>
          </a:prstGeom>
          <a:solidFill>
            <a:srgbClr val="e8622c"/>
          </a:solidFill>
          <a:ln w="12700">
            <a:solidFill>
              <a:srgbClr val="e862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29"/>
          <p:cNvSpPr/>
          <p:nvPr/>
        </p:nvSpPr>
        <p:spPr>
          <a:xfrm>
            <a:off x="5333760" y="1791000"/>
            <a:ext cx="453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1"/>
          <p:cNvSpPr/>
          <p:nvPr/>
        </p:nvSpPr>
        <p:spPr>
          <a:xfrm>
            <a:off x="1216800" y="4246920"/>
            <a:ext cx="3887640" cy="111780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9c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0"/>
          <p:cNvSpPr/>
          <p:nvPr/>
        </p:nvSpPr>
        <p:spPr>
          <a:xfrm>
            <a:off x="1520640" y="4419000"/>
            <a:ext cx="173520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d9a400"/>
                </a:solidFill>
                <a:latin typeface="Cambria"/>
                <a:ea typeface="Cambria"/>
              </a:rPr>
              <a:t>+3,2pp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31"/>
          <p:cNvSpPr/>
          <p:nvPr/>
        </p:nvSpPr>
        <p:spPr>
          <a:xfrm>
            <a:off x="1393200" y="4707000"/>
            <a:ext cx="366336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b2a38"/>
                </a:solidFill>
                <a:latin typeface="Calibri"/>
                <a:ea typeface="Calibri"/>
              </a:rPr>
              <a:t>Falta de oferta formativa adecuada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32"/>
          <p:cNvSpPr/>
          <p:nvPr/>
        </p:nvSpPr>
        <p:spPr>
          <a:xfrm>
            <a:off x="5309280" y="4432680"/>
            <a:ext cx="453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2"/>
          <p:cNvSpPr/>
          <p:nvPr/>
        </p:nvSpPr>
        <p:spPr>
          <a:xfrm>
            <a:off x="5333760" y="4372200"/>
            <a:ext cx="453960" cy="453960"/>
          </a:xfrm>
          <a:prstGeom prst="ellipse">
            <a:avLst/>
          </a:prstGeom>
          <a:solidFill>
            <a:srgbClr val="d9a400"/>
          </a:solidFill>
          <a:ln w="12700">
            <a:solidFill>
              <a:srgbClr val="d9a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3"/>
          <p:cNvSpPr/>
          <p:nvPr/>
        </p:nvSpPr>
        <p:spPr>
          <a:xfrm>
            <a:off x="5333760" y="4372200"/>
            <a:ext cx="4539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4"/>
          <p:cNvSpPr/>
          <p:nvPr/>
        </p:nvSpPr>
        <p:spPr>
          <a:xfrm>
            <a:off x="5909040" y="4372920"/>
            <a:ext cx="495864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b2a38"/>
                </a:solidFill>
                <a:latin typeface="Cambria"/>
                <a:ea typeface="Cambria"/>
              </a:rPr>
              <a:t>Vigilar la oferta formativa del mercado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5"/>
          <p:cNvSpPr/>
          <p:nvPr/>
        </p:nvSpPr>
        <p:spPr>
          <a:xfrm>
            <a:off x="5909040" y="4873320"/>
            <a:ext cx="51764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3f4b"/>
                </a:solidFill>
                <a:latin typeface="Calibri"/>
                <a:ea typeface="Calibri"/>
              </a:rPr>
              <a:t>Puede encajar con formación interna o cursos adaptados incompany.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36"/>
          <p:cNvSpPr/>
          <p:nvPr/>
        </p:nvSpPr>
        <p:spPr>
          <a:xfrm>
            <a:off x="5946120" y="2005560"/>
            <a:ext cx="5139360" cy="5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3f4b"/>
                </a:solidFill>
                <a:latin typeface="Calibri"/>
                <a:ea typeface="Calibri"/>
              </a:rPr>
              <a:t>Sesiones cortas, integrada en el puesto, canales flexibles, fechas de baja carga.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85;p1"/>
          <p:cNvSpPr/>
          <p:nvPr/>
        </p:nvSpPr>
        <p:spPr>
          <a:xfrm>
            <a:off x="0" y="6519600"/>
            <a:ext cx="12179880" cy="3448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86;p 2"/>
          <p:cNvSpPr/>
          <p:nvPr/>
        </p:nvSpPr>
        <p:spPr>
          <a:xfrm>
            <a:off x="0" y="6519600"/>
            <a:ext cx="12179880" cy="3448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87;p 2"/>
          <p:cNvSpPr/>
          <p:nvPr/>
        </p:nvSpPr>
        <p:spPr>
          <a:xfrm>
            <a:off x="168120" y="6538320"/>
            <a:ext cx="29883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88;p 2"/>
          <p:cNvSpPr/>
          <p:nvPr/>
        </p:nvSpPr>
        <p:spPr>
          <a:xfrm>
            <a:off x="2742840" y="6538320"/>
            <a:ext cx="13870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Google Shape;89;p 2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8240" cy="528120"/>
          </a:xfrm>
          <a:prstGeom prst="rect">
            <a:avLst/>
          </a:prstGeom>
          <a:ln w="0">
            <a:noFill/>
          </a:ln>
        </p:spPr>
      </p:pic>
      <p:sp>
        <p:nvSpPr>
          <p:cNvPr id="294" name="Google Shape;90;p 2"/>
          <p:cNvSpPr/>
          <p:nvPr/>
        </p:nvSpPr>
        <p:spPr>
          <a:xfrm>
            <a:off x="2384280" y="1269000"/>
            <a:ext cx="7421040" cy="35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15000"/>
              </a:lnSpc>
              <a:spcBef>
                <a:spcPts val="1701"/>
              </a:spcBef>
              <a:spcAft>
                <a:spcPts val="1701"/>
              </a:spcAft>
              <a:tabLst>
                <a:tab algn="l" pos="0"/>
              </a:tabLst>
            </a:pPr>
            <a:r>
              <a:rPr b="1" lang="en-US" sz="5200" spc="-1" strike="noStrike">
                <a:solidFill>
                  <a:srgbClr val="3a3f4b"/>
                </a:solidFill>
                <a:latin typeface="Calibri"/>
                <a:ea typeface="Calibri"/>
              </a:rPr>
              <a:t>Perfiles</a:t>
            </a:r>
            <a:endParaRPr b="0" lang="es-ES" sz="5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15000"/>
              </a:lnSpc>
              <a:spcBef>
                <a:spcPts val="1701"/>
              </a:spcBef>
              <a:spcAft>
                <a:spcPts val="1701"/>
              </a:spcAft>
              <a:tabLst>
                <a:tab algn="l" pos="0"/>
              </a:tabLst>
            </a:pPr>
            <a:r>
              <a:rPr b="1" lang="en-US" sz="5200" spc="-1" strike="noStrike">
                <a:solidFill>
                  <a:srgbClr val="3a3f4b"/>
                </a:solidFill>
                <a:latin typeface="Calibri"/>
                <a:ea typeface="Calibri"/>
              </a:rPr>
              <a:t>propuestas de formación</a:t>
            </a:r>
            <a:endParaRPr b="0" lang="es-ES" sz="5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tabLst>
                <a:tab algn="l" pos="0"/>
              </a:tabLst>
            </a:pPr>
            <a:endParaRPr b="0" lang="es-ES" sz="5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Google Shape;91;p 3" descr=""/>
          <p:cNvPicPr/>
          <p:nvPr/>
        </p:nvPicPr>
        <p:blipFill>
          <a:blip r:embed="rId2"/>
          <a:stretch/>
        </p:blipFill>
        <p:spPr>
          <a:xfrm>
            <a:off x="4536000" y="3865680"/>
            <a:ext cx="1326600" cy="1352160"/>
          </a:xfrm>
          <a:prstGeom prst="rect">
            <a:avLst/>
          </a:prstGeom>
          <a:ln w="0">
            <a:noFill/>
          </a:ln>
        </p:spPr>
      </p:pic>
      <p:pic>
        <p:nvPicPr>
          <p:cNvPr id="296" name="Google Shape;92;p 4" descr=""/>
          <p:cNvPicPr/>
          <p:nvPr/>
        </p:nvPicPr>
        <p:blipFill>
          <a:blip r:embed="rId3"/>
          <a:stretch/>
        </p:blipFill>
        <p:spPr>
          <a:xfrm>
            <a:off x="6273360" y="3907800"/>
            <a:ext cx="1357920" cy="1310040"/>
          </a:xfrm>
          <a:prstGeom prst="rect">
            <a:avLst/>
          </a:prstGeom>
          <a:ln w="0">
            <a:noFill/>
          </a:ln>
        </p:spPr>
      </p:pic>
      <p:sp>
        <p:nvSpPr>
          <p:cNvPr id="297" name=""/>
          <p:cNvSpPr/>
          <p:nvPr/>
        </p:nvSpPr>
        <p:spPr>
          <a:xfrm>
            <a:off x="5904000" y="2246040"/>
            <a:ext cx="381960" cy="5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4000" spc="-1" strike="noStrike">
                <a:solidFill>
                  <a:srgbClr val="000000"/>
                </a:solidFill>
                <a:latin typeface="Calibri"/>
              </a:rPr>
              <a:t>y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97;p2"/>
          <p:cNvSpPr/>
          <p:nvPr/>
        </p:nvSpPr>
        <p:spPr>
          <a:xfrm>
            <a:off x="0" y="6519600"/>
            <a:ext cx="12179880" cy="3448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98;p 2"/>
          <p:cNvSpPr/>
          <p:nvPr/>
        </p:nvSpPr>
        <p:spPr>
          <a:xfrm>
            <a:off x="0" y="6519600"/>
            <a:ext cx="12179880" cy="3448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99;p 2"/>
          <p:cNvSpPr/>
          <p:nvPr/>
        </p:nvSpPr>
        <p:spPr>
          <a:xfrm>
            <a:off x="168120" y="6538320"/>
            <a:ext cx="29883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100;p 2"/>
          <p:cNvSpPr/>
          <p:nvPr/>
        </p:nvSpPr>
        <p:spPr>
          <a:xfrm>
            <a:off x="2742840" y="6538320"/>
            <a:ext cx="13870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Google Shape;101;p 2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8240" cy="528120"/>
          </a:xfrm>
          <a:prstGeom prst="rect">
            <a:avLst/>
          </a:prstGeom>
          <a:ln w="0">
            <a:noFill/>
          </a:ln>
        </p:spPr>
      </p:pic>
      <p:sp>
        <p:nvSpPr>
          <p:cNvPr id="303" name="Google Shape;102;p 2"/>
          <p:cNvSpPr/>
          <p:nvPr/>
        </p:nvSpPr>
        <p:spPr>
          <a:xfrm>
            <a:off x="859320" y="317520"/>
            <a:ext cx="6369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346"/>
                </a:solidFill>
                <a:latin typeface="Calibri"/>
                <a:ea typeface="Calibri"/>
              </a:rPr>
              <a:t>Perfiles profesionales analizados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Google Shape;103;p 2"/>
          <p:cNvSpPr/>
          <p:nvPr/>
        </p:nvSpPr>
        <p:spPr>
          <a:xfrm>
            <a:off x="2589840" y="1325880"/>
            <a:ext cx="576360" cy="5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04;p 2"/>
          <p:cNvSpPr/>
          <p:nvPr/>
        </p:nvSpPr>
        <p:spPr>
          <a:xfrm>
            <a:off x="1746000" y="2814840"/>
            <a:ext cx="7040520" cy="5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1b2a38"/>
                </a:solidFill>
                <a:latin typeface="Cambria"/>
                <a:ea typeface="Cambria"/>
              </a:rPr>
              <a:t>Atención al cliente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105;p 2"/>
          <p:cNvSpPr/>
          <p:nvPr/>
        </p:nvSpPr>
        <p:spPr>
          <a:xfrm>
            <a:off x="1746000" y="3373560"/>
            <a:ext cx="58539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3f4b"/>
                </a:solidFill>
                <a:latin typeface="Calibri"/>
                <a:ea typeface="Calibri"/>
              </a:rPr>
              <a:t>Atiende consultas e incidencias y mantiene la calidad del servicio y la relación con el cliente.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06;p 2"/>
          <p:cNvSpPr/>
          <p:nvPr/>
        </p:nvSpPr>
        <p:spPr>
          <a:xfrm>
            <a:off x="1753920" y="1340280"/>
            <a:ext cx="69051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1b2a38"/>
                </a:solidFill>
                <a:latin typeface="Cambria"/>
                <a:ea typeface="Cambria"/>
              </a:rPr>
              <a:t>Administrativo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07;p 2"/>
          <p:cNvSpPr/>
          <p:nvPr/>
        </p:nvSpPr>
        <p:spPr>
          <a:xfrm>
            <a:off x="1726920" y="4392360"/>
            <a:ext cx="628056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1b2a38"/>
                </a:solidFill>
                <a:latin typeface="Cambria"/>
                <a:ea typeface="Cambria"/>
              </a:rPr>
              <a:t>Operaciones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Google Shape;108;p 2"/>
          <p:cNvSpPr/>
          <p:nvPr/>
        </p:nvSpPr>
        <p:spPr>
          <a:xfrm>
            <a:off x="1726920" y="4914000"/>
            <a:ext cx="65559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3f4b"/>
                </a:solidFill>
                <a:latin typeface="Calibri"/>
                <a:ea typeface="Calibri"/>
              </a:rPr>
              <a:t>Ejecuta y supervisa las tareas operativas, asegurando el cumplimiento de los procedimientos, la seguridad y la continuidad del servicio</a:t>
            </a:r>
            <a:r>
              <a:rPr b="0" lang="en-US" sz="1100" spc="-1" strike="noStrike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09;p 2"/>
          <p:cNvSpPr/>
          <p:nvPr/>
        </p:nvSpPr>
        <p:spPr>
          <a:xfrm>
            <a:off x="1733040" y="1908360"/>
            <a:ext cx="6509160" cy="5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8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a3f4b"/>
                </a:solidFill>
                <a:latin typeface="Calibri"/>
                <a:ea typeface="Calibri"/>
              </a:rPr>
              <a:t>Gestiona documentación, datos y procesos internos, organización y seguridad de la información.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Google Shape;110;p 2"/>
          <p:cNvSpPr/>
          <p:nvPr/>
        </p:nvSpPr>
        <p:spPr>
          <a:xfrm>
            <a:off x="506520" y="1522440"/>
            <a:ext cx="1016280" cy="980640"/>
          </a:xfrm>
          <a:prstGeom prst="roundRect">
            <a:avLst>
              <a:gd name="adj" fmla="val 15000"/>
            </a:avLst>
          </a:prstGeom>
          <a:solidFill>
            <a:srgbClr val="e9f2fc"/>
          </a:solidFill>
          <a:ln w="12700">
            <a:solidFill>
              <a:srgbClr val="e9f2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Google Shape;111;p 2" descr=""/>
          <p:cNvPicPr/>
          <p:nvPr/>
        </p:nvPicPr>
        <p:blipFill>
          <a:blip r:embed="rId2"/>
          <a:stretch/>
        </p:blipFill>
        <p:spPr>
          <a:xfrm>
            <a:off x="652680" y="1663560"/>
            <a:ext cx="724320" cy="698760"/>
          </a:xfrm>
          <a:prstGeom prst="rect">
            <a:avLst/>
          </a:prstGeom>
          <a:ln w="0">
            <a:noFill/>
          </a:ln>
        </p:spPr>
      </p:pic>
      <p:sp>
        <p:nvSpPr>
          <p:cNvPr id="313" name="Google Shape;112;p 2"/>
          <p:cNvSpPr/>
          <p:nvPr/>
        </p:nvSpPr>
        <p:spPr>
          <a:xfrm>
            <a:off x="540000" y="3062880"/>
            <a:ext cx="1016280" cy="980640"/>
          </a:xfrm>
          <a:prstGeom prst="roundRect">
            <a:avLst>
              <a:gd name="adj" fmla="val 15000"/>
            </a:avLst>
          </a:prstGeom>
          <a:solidFill>
            <a:srgbClr val="fce9ed"/>
          </a:solidFill>
          <a:ln w="12700">
            <a:solidFill>
              <a:srgbClr val="e9f2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Google Shape;113;p 2"/>
          <p:cNvSpPr/>
          <p:nvPr/>
        </p:nvSpPr>
        <p:spPr>
          <a:xfrm>
            <a:off x="540000" y="4603320"/>
            <a:ext cx="1016280" cy="980640"/>
          </a:xfrm>
          <a:prstGeom prst="roundRect">
            <a:avLst>
              <a:gd name="adj" fmla="val 15000"/>
            </a:avLst>
          </a:prstGeom>
          <a:solidFill>
            <a:srgbClr val="edf5e9"/>
          </a:solidFill>
          <a:ln w="12700">
            <a:solidFill>
              <a:srgbClr val="e9f2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Google Shape;114;p 2" descr=""/>
          <p:cNvPicPr/>
          <p:nvPr/>
        </p:nvPicPr>
        <p:blipFill>
          <a:blip r:embed="rId3"/>
          <a:stretch/>
        </p:blipFill>
        <p:spPr>
          <a:xfrm>
            <a:off x="685800" y="4744080"/>
            <a:ext cx="724320" cy="698760"/>
          </a:xfrm>
          <a:prstGeom prst="rect">
            <a:avLst/>
          </a:prstGeom>
          <a:ln w="0">
            <a:noFill/>
          </a:ln>
        </p:spPr>
      </p:pic>
      <p:pic>
        <p:nvPicPr>
          <p:cNvPr id="316" name="Google Shape;115;p 2" descr=""/>
          <p:cNvPicPr/>
          <p:nvPr/>
        </p:nvPicPr>
        <p:blipFill>
          <a:blip r:embed="rId4"/>
          <a:stretch/>
        </p:blipFill>
        <p:spPr>
          <a:xfrm>
            <a:off x="664920" y="3188880"/>
            <a:ext cx="766080" cy="69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120;p3"/>
          <p:cNvSpPr/>
          <p:nvPr/>
        </p:nvSpPr>
        <p:spPr>
          <a:xfrm>
            <a:off x="0" y="6519600"/>
            <a:ext cx="12179880" cy="3448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Google Shape;121;p 2"/>
          <p:cNvSpPr/>
          <p:nvPr/>
        </p:nvSpPr>
        <p:spPr>
          <a:xfrm>
            <a:off x="0" y="6519600"/>
            <a:ext cx="12179880" cy="3448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Google Shape;122;p 2"/>
          <p:cNvSpPr/>
          <p:nvPr/>
        </p:nvSpPr>
        <p:spPr>
          <a:xfrm>
            <a:off x="168120" y="6538320"/>
            <a:ext cx="29883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3;p 2"/>
          <p:cNvSpPr/>
          <p:nvPr/>
        </p:nvSpPr>
        <p:spPr>
          <a:xfrm>
            <a:off x="2742840" y="6538320"/>
            <a:ext cx="13870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1" name="Google Shape;124;p 2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960" y="288360"/>
            <a:ext cx="1938240" cy="528120"/>
          </a:xfrm>
          <a:prstGeom prst="rect">
            <a:avLst/>
          </a:prstGeom>
          <a:ln w="0">
            <a:noFill/>
          </a:ln>
        </p:spPr>
      </p:pic>
      <p:sp>
        <p:nvSpPr>
          <p:cNvPr id="322" name="Google Shape;125;p 2"/>
          <p:cNvSpPr/>
          <p:nvPr/>
        </p:nvSpPr>
        <p:spPr>
          <a:xfrm>
            <a:off x="859320" y="317520"/>
            <a:ext cx="7811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346"/>
                </a:solidFill>
                <a:latin typeface="Calibri"/>
                <a:ea typeface="Calibri"/>
              </a:rPr>
              <a:t>Propuestas de formativas por perfil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Google Shape;126;p 2" descr=""/>
          <p:cNvPicPr/>
          <p:nvPr/>
        </p:nvPicPr>
        <p:blipFill>
          <a:blip r:embed="rId2"/>
          <a:stretch/>
        </p:blipFill>
        <p:spPr>
          <a:xfrm>
            <a:off x="713160" y="1224360"/>
            <a:ext cx="3251160" cy="363240"/>
          </a:xfrm>
          <a:prstGeom prst="rect">
            <a:avLst/>
          </a:prstGeom>
          <a:ln w="0">
            <a:noFill/>
          </a:ln>
        </p:spPr>
      </p:pic>
      <p:sp>
        <p:nvSpPr>
          <p:cNvPr id="324" name="Google Shape;127;p 2"/>
          <p:cNvSpPr/>
          <p:nvPr/>
        </p:nvSpPr>
        <p:spPr>
          <a:xfrm>
            <a:off x="7923600" y="1239120"/>
            <a:ext cx="3524040" cy="348480"/>
          </a:xfrm>
          <a:prstGeom prst="roundRect">
            <a:avLst>
              <a:gd name="adj" fmla="val 20000"/>
            </a:avLst>
          </a:prstGeom>
          <a:solidFill>
            <a:srgbClr val="3876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Google Shape;128;p 2"/>
          <p:cNvSpPr/>
          <p:nvPr/>
        </p:nvSpPr>
        <p:spPr>
          <a:xfrm>
            <a:off x="713160" y="1783080"/>
            <a:ext cx="10805760" cy="10767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4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129;p 2"/>
          <p:cNvSpPr/>
          <p:nvPr/>
        </p:nvSpPr>
        <p:spPr>
          <a:xfrm>
            <a:off x="960120" y="1974960"/>
            <a:ext cx="729000" cy="729000"/>
          </a:xfrm>
          <a:prstGeom prst="roundRect">
            <a:avLst>
              <a:gd name="adj" fmla="val 15000"/>
            </a:avLst>
          </a:prstGeom>
          <a:solidFill>
            <a:srgbClr val="e9f2fc"/>
          </a:solidFill>
          <a:ln w="12700">
            <a:solidFill>
              <a:srgbClr val="e9f2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130;p 2"/>
          <p:cNvSpPr/>
          <p:nvPr/>
        </p:nvSpPr>
        <p:spPr>
          <a:xfrm>
            <a:off x="1865520" y="2103120"/>
            <a:ext cx="1872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346"/>
                </a:solidFill>
                <a:latin typeface="Calibri"/>
                <a:ea typeface="Calibri"/>
              </a:rPr>
              <a:t>Administrativo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131;p 2"/>
          <p:cNvSpPr/>
          <p:nvPr/>
        </p:nvSpPr>
        <p:spPr>
          <a:xfrm>
            <a:off x="4160520" y="1965960"/>
            <a:ext cx="342648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2233e"/>
                </a:solidFill>
                <a:latin typeface="Arial"/>
                <a:ea typeface="Arial"/>
              </a:rPr>
              <a:t>Ciberseguridad y optimización de procesos mediante herramientas de IA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132;p 2"/>
          <p:cNvSpPr/>
          <p:nvPr/>
        </p:nvSpPr>
        <p:spPr>
          <a:xfrm>
            <a:off x="8065080" y="1920240"/>
            <a:ext cx="30150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2233e"/>
                </a:solidFill>
                <a:latin typeface="Arial"/>
                <a:ea typeface="Arial"/>
              </a:rPr>
              <a:t>Proteger la información y reducir tareas manuales.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133;p 2"/>
          <p:cNvSpPr/>
          <p:nvPr/>
        </p:nvSpPr>
        <p:spPr>
          <a:xfrm>
            <a:off x="713160" y="3136320"/>
            <a:ext cx="10805760" cy="10767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4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Google Shape;134;p 2"/>
          <p:cNvSpPr/>
          <p:nvPr/>
        </p:nvSpPr>
        <p:spPr>
          <a:xfrm>
            <a:off x="960120" y="3328560"/>
            <a:ext cx="729000" cy="729000"/>
          </a:xfrm>
          <a:prstGeom prst="roundRect">
            <a:avLst>
              <a:gd name="adj" fmla="val 15000"/>
            </a:avLst>
          </a:prstGeom>
          <a:solidFill>
            <a:srgbClr val="fce9ed"/>
          </a:solidFill>
          <a:ln w="12700">
            <a:solidFill>
              <a:srgbClr val="fce9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Google Shape;135;p 2"/>
          <p:cNvSpPr/>
          <p:nvPr/>
        </p:nvSpPr>
        <p:spPr>
          <a:xfrm>
            <a:off x="1865520" y="3456360"/>
            <a:ext cx="20991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346"/>
                </a:solidFill>
                <a:latin typeface="Calibri"/>
                <a:ea typeface="Calibri"/>
              </a:rPr>
              <a:t>Atención al cliente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36;p 2"/>
          <p:cNvSpPr/>
          <p:nvPr/>
        </p:nvSpPr>
        <p:spPr>
          <a:xfrm>
            <a:off x="4160520" y="3319200"/>
            <a:ext cx="342648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2233e"/>
                </a:solidFill>
                <a:latin typeface="Arial"/>
                <a:ea typeface="Arial"/>
              </a:rPr>
              <a:t>Gestión de incidencias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37;p 2"/>
          <p:cNvSpPr/>
          <p:nvPr/>
        </p:nvSpPr>
        <p:spPr>
          <a:xfrm>
            <a:off x="8065080" y="3310200"/>
            <a:ext cx="30150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2233e"/>
                </a:solidFill>
                <a:latin typeface="Arial"/>
                <a:ea typeface="Arial"/>
              </a:rPr>
              <a:t>Responder mejor y de forma más homogénea al cliente.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Google Shape;138;p 2"/>
          <p:cNvSpPr/>
          <p:nvPr/>
        </p:nvSpPr>
        <p:spPr>
          <a:xfrm>
            <a:off x="713160" y="4489560"/>
            <a:ext cx="10805760" cy="10767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4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39;p 2"/>
          <p:cNvSpPr/>
          <p:nvPr/>
        </p:nvSpPr>
        <p:spPr>
          <a:xfrm>
            <a:off x="960120" y="4681800"/>
            <a:ext cx="729000" cy="729000"/>
          </a:xfrm>
          <a:prstGeom prst="roundRect">
            <a:avLst>
              <a:gd name="adj" fmla="val 15000"/>
            </a:avLst>
          </a:prstGeom>
          <a:solidFill>
            <a:srgbClr val="edf5e9"/>
          </a:solidFill>
          <a:ln w="12700">
            <a:solidFill>
              <a:srgbClr val="ed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Google Shape;140;p 2"/>
          <p:cNvSpPr/>
          <p:nvPr/>
        </p:nvSpPr>
        <p:spPr>
          <a:xfrm>
            <a:off x="1865520" y="4809600"/>
            <a:ext cx="1872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346"/>
                </a:solidFill>
                <a:latin typeface="Calibri"/>
                <a:ea typeface="Calibri"/>
              </a:rPr>
              <a:t>Operaciones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Google Shape;141;p 2"/>
          <p:cNvSpPr/>
          <p:nvPr/>
        </p:nvSpPr>
        <p:spPr>
          <a:xfrm>
            <a:off x="4160520" y="4672440"/>
            <a:ext cx="342648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2233e"/>
                </a:solidFill>
                <a:latin typeface="Arial"/>
                <a:ea typeface="Arial"/>
              </a:rPr>
              <a:t>Seguridad, PRL y procedimientos operativos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Google Shape;142;p 2"/>
          <p:cNvSpPr/>
          <p:nvPr/>
        </p:nvSpPr>
        <p:spPr>
          <a:xfrm>
            <a:off x="8065080" y="4626720"/>
            <a:ext cx="30150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2233e"/>
                </a:solidFill>
                <a:latin typeface="Arial"/>
                <a:ea typeface="Arial"/>
              </a:rPr>
              <a:t>Reducir riesgos y asegurar la continuidad del servicio</a:t>
            </a:r>
            <a:r>
              <a:rPr b="0" lang="en-US" sz="1530" spc="-1" strike="noStrike">
                <a:solidFill>
                  <a:srgbClr val="65748b"/>
                </a:solidFill>
                <a:latin typeface="Arial"/>
                <a:ea typeface="Arial"/>
              </a:rPr>
              <a:t>.</a:t>
            </a:r>
            <a:endParaRPr b="0" lang="es-ES" sz="15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0" name="Google Shape;143;p 2" descr=""/>
          <p:cNvPicPr/>
          <p:nvPr/>
        </p:nvPicPr>
        <p:blipFill>
          <a:blip r:embed="rId3"/>
          <a:stretch/>
        </p:blipFill>
        <p:spPr>
          <a:xfrm>
            <a:off x="1064880" y="2066040"/>
            <a:ext cx="519120" cy="519120"/>
          </a:xfrm>
          <a:prstGeom prst="rect">
            <a:avLst/>
          </a:prstGeom>
          <a:ln w="0">
            <a:noFill/>
          </a:ln>
        </p:spPr>
      </p:pic>
      <p:pic>
        <p:nvPicPr>
          <p:cNvPr id="341" name="Google Shape;144;p 2" descr=""/>
          <p:cNvPicPr/>
          <p:nvPr/>
        </p:nvPicPr>
        <p:blipFill>
          <a:blip r:embed="rId4"/>
          <a:stretch/>
        </p:blipFill>
        <p:spPr>
          <a:xfrm>
            <a:off x="1042560" y="3410640"/>
            <a:ext cx="564120" cy="564120"/>
          </a:xfrm>
          <a:prstGeom prst="rect">
            <a:avLst/>
          </a:prstGeom>
          <a:ln w="0">
            <a:noFill/>
          </a:ln>
        </p:spPr>
      </p:pic>
      <p:pic>
        <p:nvPicPr>
          <p:cNvPr id="342" name="Google Shape;145;p 2" descr=""/>
          <p:cNvPicPr/>
          <p:nvPr/>
        </p:nvPicPr>
        <p:blipFill>
          <a:blip r:embed="rId5"/>
          <a:stretch/>
        </p:blipFill>
        <p:spPr>
          <a:xfrm>
            <a:off x="1042560" y="4764240"/>
            <a:ext cx="564120" cy="564120"/>
          </a:xfrm>
          <a:prstGeom prst="rect">
            <a:avLst/>
          </a:prstGeom>
          <a:ln w="0">
            <a:noFill/>
          </a:ln>
        </p:spPr>
      </p:pic>
      <p:sp>
        <p:nvSpPr>
          <p:cNvPr id="343" name="Google Shape;146;p 2"/>
          <p:cNvSpPr/>
          <p:nvPr/>
        </p:nvSpPr>
        <p:spPr>
          <a:xfrm>
            <a:off x="9196920" y="1190520"/>
            <a:ext cx="9774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Calibri"/>
              </a:rPr>
              <a:t>Objetivo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4" name="Google Shape;147;p 2"/>
          <p:cNvCxnSpPr/>
          <p:nvPr/>
        </p:nvCxnSpPr>
        <p:spPr>
          <a:xfrm>
            <a:off x="3966480" y="4635720"/>
            <a:ext cx="2520" cy="77076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cxnSp>
        <p:nvCxnSpPr>
          <p:cNvPr id="345" name="Google Shape;148;p 2"/>
          <p:cNvCxnSpPr/>
          <p:nvPr/>
        </p:nvCxnSpPr>
        <p:spPr>
          <a:xfrm>
            <a:off x="3966480" y="3291840"/>
            <a:ext cx="2520" cy="77040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cxnSp>
        <p:nvCxnSpPr>
          <p:cNvPr id="346" name="Google Shape;149;p 2"/>
          <p:cNvCxnSpPr/>
          <p:nvPr/>
        </p:nvCxnSpPr>
        <p:spPr>
          <a:xfrm>
            <a:off x="3966480" y="1938600"/>
            <a:ext cx="2520" cy="77040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cxnSp>
        <p:nvCxnSpPr>
          <p:cNvPr id="347" name="Google Shape;150;p 2"/>
          <p:cNvCxnSpPr/>
          <p:nvPr/>
        </p:nvCxnSpPr>
        <p:spPr>
          <a:xfrm>
            <a:off x="7691040" y="1878840"/>
            <a:ext cx="2520" cy="77076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cxnSp>
        <p:nvCxnSpPr>
          <p:cNvPr id="348" name="Google Shape;151;p 2"/>
          <p:cNvCxnSpPr/>
          <p:nvPr/>
        </p:nvCxnSpPr>
        <p:spPr>
          <a:xfrm>
            <a:off x="7691040" y="3291840"/>
            <a:ext cx="2520" cy="77040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cxnSp>
        <p:nvCxnSpPr>
          <p:cNvPr id="349" name="Google Shape;152;p 2"/>
          <p:cNvCxnSpPr/>
          <p:nvPr/>
        </p:nvCxnSpPr>
        <p:spPr>
          <a:xfrm>
            <a:off x="7691040" y="4654080"/>
            <a:ext cx="2520" cy="77040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sp>
        <p:nvSpPr>
          <p:cNvPr id="350" name="Google Shape;153;p 2"/>
          <p:cNvSpPr/>
          <p:nvPr/>
        </p:nvSpPr>
        <p:spPr>
          <a:xfrm>
            <a:off x="1508040" y="1191600"/>
            <a:ext cx="16614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Calibri"/>
              </a:rPr>
              <a:t>Perfil profesional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54;p 2"/>
          <p:cNvSpPr/>
          <p:nvPr/>
        </p:nvSpPr>
        <p:spPr>
          <a:xfrm>
            <a:off x="4137840" y="1239120"/>
            <a:ext cx="3472200" cy="344880"/>
          </a:xfrm>
          <a:prstGeom prst="roundRect">
            <a:avLst>
              <a:gd name="adj" fmla="val 20000"/>
            </a:avLst>
          </a:prstGeom>
          <a:solidFill>
            <a:srgbClr val="65748b"/>
          </a:solidFill>
          <a:ln w="12700">
            <a:solidFill>
              <a:srgbClr val="65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55;p 2"/>
          <p:cNvSpPr/>
          <p:nvPr/>
        </p:nvSpPr>
        <p:spPr>
          <a:xfrm>
            <a:off x="5301360" y="1186920"/>
            <a:ext cx="11451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Calibri"/>
              </a:rPr>
              <a:t>Formación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60;g3f5ad115aa7_0_151"/>
          <p:cNvSpPr/>
          <p:nvPr/>
        </p:nvSpPr>
        <p:spPr>
          <a:xfrm>
            <a:off x="0" y="6519600"/>
            <a:ext cx="12179880" cy="3448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61;g3f5ad115aa7_0_ 2"/>
          <p:cNvSpPr/>
          <p:nvPr/>
        </p:nvSpPr>
        <p:spPr>
          <a:xfrm>
            <a:off x="0" y="6519600"/>
            <a:ext cx="12179880" cy="3448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62;g3f5ad115aa7_0_ 2"/>
          <p:cNvSpPr/>
          <p:nvPr/>
        </p:nvSpPr>
        <p:spPr>
          <a:xfrm>
            <a:off x="168120" y="6538320"/>
            <a:ext cx="298836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163;g3f5ad115aa7_0_ 2"/>
          <p:cNvSpPr/>
          <p:nvPr/>
        </p:nvSpPr>
        <p:spPr>
          <a:xfrm>
            <a:off x="2742840" y="6538320"/>
            <a:ext cx="138708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Arial"/>
                <a:ea typeface="Arial"/>
              </a:rPr>
              <a:t>- 27 Julio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7" name="Google Shape;164;g3f5ad115aa7_0_ 2" descr=""/>
          <p:cNvPicPr/>
          <p:nvPr/>
        </p:nvPicPr>
        <p:blipFill>
          <a:blip r:embed="rId1"/>
          <a:srcRect l="0" t="26207" r="0" b="23016"/>
          <a:stretch/>
        </p:blipFill>
        <p:spPr>
          <a:xfrm>
            <a:off x="10038960" y="288360"/>
            <a:ext cx="1938240" cy="528120"/>
          </a:xfrm>
          <a:prstGeom prst="rect">
            <a:avLst/>
          </a:prstGeom>
          <a:ln w="0">
            <a:noFill/>
          </a:ln>
        </p:spPr>
      </p:pic>
      <p:sp>
        <p:nvSpPr>
          <p:cNvPr id="358" name="Google Shape;165;g3f5ad115aa7_0_ 2"/>
          <p:cNvSpPr/>
          <p:nvPr/>
        </p:nvSpPr>
        <p:spPr>
          <a:xfrm>
            <a:off x="859320" y="317520"/>
            <a:ext cx="781128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42346"/>
                </a:solidFill>
                <a:latin typeface="Calibri"/>
                <a:ea typeface="Calibri"/>
              </a:rPr>
              <a:t>Propuestas de formativas por perfil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9" name="Google Shape;166;g3f5ad115aa7_0_ 2" descr=""/>
          <p:cNvPicPr/>
          <p:nvPr/>
        </p:nvPicPr>
        <p:blipFill>
          <a:blip r:embed="rId2"/>
          <a:stretch/>
        </p:blipFill>
        <p:spPr>
          <a:xfrm>
            <a:off x="713160" y="1224360"/>
            <a:ext cx="3251160" cy="363240"/>
          </a:xfrm>
          <a:prstGeom prst="rect">
            <a:avLst/>
          </a:prstGeom>
          <a:ln w="0">
            <a:noFill/>
          </a:ln>
        </p:spPr>
      </p:pic>
      <p:sp>
        <p:nvSpPr>
          <p:cNvPr id="360" name="Google Shape;167;g3f5ad115aa7_0_ 2"/>
          <p:cNvSpPr/>
          <p:nvPr/>
        </p:nvSpPr>
        <p:spPr>
          <a:xfrm>
            <a:off x="7872120" y="1238040"/>
            <a:ext cx="3510360" cy="349560"/>
          </a:xfrm>
          <a:prstGeom prst="roundRect">
            <a:avLst>
              <a:gd name="adj" fmla="val 20000"/>
            </a:avLst>
          </a:prstGeom>
          <a:solidFill>
            <a:srgbClr val="b83a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Google Shape;168;g3f5ad115aa7_0_ 2"/>
          <p:cNvSpPr/>
          <p:nvPr/>
        </p:nvSpPr>
        <p:spPr>
          <a:xfrm>
            <a:off x="713160" y="1783080"/>
            <a:ext cx="10805760" cy="10767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4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Google Shape;169;g3f5ad115aa7_0_ 2"/>
          <p:cNvSpPr/>
          <p:nvPr/>
        </p:nvSpPr>
        <p:spPr>
          <a:xfrm>
            <a:off x="960120" y="1974960"/>
            <a:ext cx="729000" cy="729000"/>
          </a:xfrm>
          <a:prstGeom prst="roundRect">
            <a:avLst>
              <a:gd name="adj" fmla="val 15000"/>
            </a:avLst>
          </a:prstGeom>
          <a:solidFill>
            <a:srgbClr val="e9f2fc"/>
          </a:solidFill>
          <a:ln w="12700">
            <a:solidFill>
              <a:srgbClr val="e9f2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Google Shape;170;g3f5ad115aa7_0_ 2"/>
          <p:cNvSpPr/>
          <p:nvPr/>
        </p:nvSpPr>
        <p:spPr>
          <a:xfrm>
            <a:off x="1865520" y="2103120"/>
            <a:ext cx="1872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346"/>
                </a:solidFill>
                <a:latin typeface="Calibri"/>
                <a:ea typeface="Calibri"/>
              </a:rPr>
              <a:t>Administrativo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Google Shape;171;g3f5ad115aa7_0_ 2"/>
          <p:cNvSpPr/>
          <p:nvPr/>
        </p:nvSpPr>
        <p:spPr>
          <a:xfrm>
            <a:off x="713160" y="3136320"/>
            <a:ext cx="10805760" cy="10767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4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Google Shape;172;g3f5ad115aa7_0_ 2"/>
          <p:cNvSpPr/>
          <p:nvPr/>
        </p:nvSpPr>
        <p:spPr>
          <a:xfrm>
            <a:off x="960120" y="3328560"/>
            <a:ext cx="729000" cy="729000"/>
          </a:xfrm>
          <a:prstGeom prst="roundRect">
            <a:avLst>
              <a:gd name="adj" fmla="val 15000"/>
            </a:avLst>
          </a:prstGeom>
          <a:solidFill>
            <a:srgbClr val="fce9ed"/>
          </a:solidFill>
          <a:ln w="12700">
            <a:solidFill>
              <a:srgbClr val="fce9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Google Shape;173;g3f5ad115aa7_0_ 2"/>
          <p:cNvSpPr/>
          <p:nvPr/>
        </p:nvSpPr>
        <p:spPr>
          <a:xfrm>
            <a:off x="1865520" y="3456360"/>
            <a:ext cx="20991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346"/>
                </a:solidFill>
                <a:latin typeface="Calibri"/>
                <a:ea typeface="Calibri"/>
              </a:rPr>
              <a:t>Atención al cliente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Google Shape;174;g3f5ad115aa7_0_ 2"/>
          <p:cNvSpPr/>
          <p:nvPr/>
        </p:nvSpPr>
        <p:spPr>
          <a:xfrm>
            <a:off x="713160" y="4489560"/>
            <a:ext cx="10805760" cy="10767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4e8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75;g3f5ad115aa7_0_ 2"/>
          <p:cNvSpPr/>
          <p:nvPr/>
        </p:nvSpPr>
        <p:spPr>
          <a:xfrm>
            <a:off x="960120" y="4681800"/>
            <a:ext cx="729000" cy="729000"/>
          </a:xfrm>
          <a:prstGeom prst="roundRect">
            <a:avLst>
              <a:gd name="adj" fmla="val 15000"/>
            </a:avLst>
          </a:prstGeom>
          <a:solidFill>
            <a:srgbClr val="edf5e9"/>
          </a:solidFill>
          <a:ln w="12700">
            <a:solidFill>
              <a:srgbClr val="ed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76;g3f5ad115aa7_0_ 2"/>
          <p:cNvSpPr/>
          <p:nvPr/>
        </p:nvSpPr>
        <p:spPr>
          <a:xfrm>
            <a:off x="1865520" y="4809600"/>
            <a:ext cx="1872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42346"/>
                </a:solidFill>
                <a:latin typeface="Calibri"/>
                <a:ea typeface="Calibri"/>
              </a:rPr>
              <a:t>Operaciones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0" name="Google Shape;177;g3f5ad115aa7_0_ 2" descr=""/>
          <p:cNvPicPr/>
          <p:nvPr/>
        </p:nvPicPr>
        <p:blipFill>
          <a:blip r:embed="rId3"/>
          <a:stretch/>
        </p:blipFill>
        <p:spPr>
          <a:xfrm>
            <a:off x="1064880" y="2066040"/>
            <a:ext cx="519120" cy="519120"/>
          </a:xfrm>
          <a:prstGeom prst="rect">
            <a:avLst/>
          </a:prstGeom>
          <a:ln w="0">
            <a:noFill/>
          </a:ln>
        </p:spPr>
      </p:pic>
      <p:sp>
        <p:nvSpPr>
          <p:cNvPr id="371" name="Google Shape;178;g3f5ad115aa7_0_ 2"/>
          <p:cNvSpPr/>
          <p:nvPr/>
        </p:nvSpPr>
        <p:spPr>
          <a:xfrm>
            <a:off x="1508040" y="1191600"/>
            <a:ext cx="16614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Calibri"/>
              </a:rPr>
              <a:t>Perfil profesional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Google Shape;179;g3f5ad115aa7_0_ 2" descr=""/>
          <p:cNvPicPr/>
          <p:nvPr/>
        </p:nvPicPr>
        <p:blipFill>
          <a:blip r:embed="rId4"/>
          <a:stretch/>
        </p:blipFill>
        <p:spPr>
          <a:xfrm>
            <a:off x="1042560" y="3410640"/>
            <a:ext cx="564120" cy="564120"/>
          </a:xfrm>
          <a:prstGeom prst="rect">
            <a:avLst/>
          </a:prstGeom>
          <a:ln w="0">
            <a:noFill/>
          </a:ln>
        </p:spPr>
      </p:pic>
      <p:pic>
        <p:nvPicPr>
          <p:cNvPr id="373" name="Google Shape;180;g3f5ad115aa7_0_ 2" descr=""/>
          <p:cNvPicPr/>
          <p:nvPr/>
        </p:nvPicPr>
        <p:blipFill>
          <a:blip r:embed="rId5"/>
          <a:stretch/>
        </p:blipFill>
        <p:spPr>
          <a:xfrm>
            <a:off x="1064880" y="4786560"/>
            <a:ext cx="519120" cy="519120"/>
          </a:xfrm>
          <a:prstGeom prst="rect">
            <a:avLst/>
          </a:prstGeom>
          <a:ln w="0">
            <a:noFill/>
          </a:ln>
        </p:spPr>
      </p:pic>
      <p:sp>
        <p:nvSpPr>
          <p:cNvPr id="374" name="Google Shape;181;g3f5ad115aa7_0_ 2"/>
          <p:cNvSpPr/>
          <p:nvPr/>
        </p:nvSpPr>
        <p:spPr>
          <a:xfrm>
            <a:off x="5439240" y="1177920"/>
            <a:ext cx="10116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Calibri"/>
              </a:rPr>
              <a:t>Medios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Google Shape;182;g3f5ad115aa7_0_ 2"/>
          <p:cNvSpPr/>
          <p:nvPr/>
        </p:nvSpPr>
        <p:spPr>
          <a:xfrm>
            <a:off x="9183960" y="1177920"/>
            <a:ext cx="9817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Calibri"/>
              </a:rPr>
              <a:t>Barreras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Google Shape;183;g3f5ad115aa7_0_ 2"/>
          <p:cNvSpPr/>
          <p:nvPr/>
        </p:nvSpPr>
        <p:spPr>
          <a:xfrm>
            <a:off x="4160520" y="1947600"/>
            <a:ext cx="324360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2233e"/>
                </a:solidFill>
                <a:latin typeface="Arial"/>
                <a:ea typeface="Arial"/>
              </a:rPr>
              <a:t>externa certificada en ciberseguridad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Google Shape;184;g3f5ad115aa7_0_ 2"/>
          <p:cNvSpPr/>
          <p:nvPr/>
        </p:nvSpPr>
        <p:spPr>
          <a:xfrm>
            <a:off x="8092440" y="2002680"/>
            <a:ext cx="28321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2233e"/>
                </a:solidFill>
                <a:latin typeface="Arial"/>
                <a:ea typeface="Arial"/>
              </a:rPr>
              <a:t>Falta de tiempo 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2233e"/>
                </a:solidFill>
                <a:latin typeface="Arial"/>
                <a:ea typeface="Arial"/>
              </a:rPr>
              <a:t>Formación suficiente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8" name="Google Shape;185;g3f5ad115aa7_0_ 2"/>
          <p:cNvCxnSpPr/>
          <p:nvPr/>
        </p:nvCxnSpPr>
        <p:spPr>
          <a:xfrm>
            <a:off x="7772400" y="1929240"/>
            <a:ext cx="2520" cy="77040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sp>
        <p:nvSpPr>
          <p:cNvPr id="379" name="Google Shape;186;g3f5ad115aa7_0_ 2"/>
          <p:cNvSpPr/>
          <p:nvPr/>
        </p:nvSpPr>
        <p:spPr>
          <a:xfrm>
            <a:off x="4160520" y="3300840"/>
            <a:ext cx="324360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2233e"/>
                </a:solidFill>
                <a:latin typeface="Arial"/>
                <a:ea typeface="Arial"/>
              </a:rPr>
              <a:t>Taller interno con casos reales y simulaciones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187;g3f5ad115aa7_0_ 2"/>
          <p:cNvSpPr/>
          <p:nvPr/>
        </p:nvSpPr>
        <p:spPr>
          <a:xfrm>
            <a:off x="8092440" y="3355920"/>
            <a:ext cx="28321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2233e"/>
                </a:solidFill>
                <a:latin typeface="Arial"/>
                <a:ea typeface="Arial"/>
              </a:rPr>
              <a:t>Carga de trabajo 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2233e"/>
                </a:solidFill>
                <a:latin typeface="Arial"/>
                <a:ea typeface="Arial"/>
              </a:rPr>
              <a:t>Falta de tiempo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1" name="Google Shape;188;g3f5ad115aa7_0_ 2"/>
          <p:cNvCxnSpPr/>
          <p:nvPr/>
        </p:nvCxnSpPr>
        <p:spPr>
          <a:xfrm>
            <a:off x="7772400" y="3282480"/>
            <a:ext cx="2520" cy="77040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sp>
        <p:nvSpPr>
          <p:cNvPr id="382" name="Google Shape;189;g3f5ad115aa7_0_ 2"/>
          <p:cNvSpPr/>
          <p:nvPr/>
        </p:nvSpPr>
        <p:spPr>
          <a:xfrm>
            <a:off x="4160520" y="4654440"/>
            <a:ext cx="324360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12233e"/>
                </a:solidFill>
                <a:latin typeface="Arial"/>
                <a:ea typeface="Arial"/>
              </a:rPr>
              <a:t>Práctica en el puesto + externa certificada en PRL</a:t>
            </a:r>
            <a:endParaRPr b="0" lang="es-E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190;g3f5ad115aa7_0_ 2"/>
          <p:cNvSpPr/>
          <p:nvPr/>
        </p:nvSpPr>
        <p:spPr>
          <a:xfrm>
            <a:off x="8092440" y="4709160"/>
            <a:ext cx="28321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2233e"/>
                </a:solidFill>
                <a:latin typeface="Arial"/>
                <a:ea typeface="Arial"/>
              </a:rPr>
              <a:t>Carga de trabajo 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2233e"/>
                </a:solidFill>
                <a:latin typeface="Arial"/>
                <a:ea typeface="Arial"/>
              </a:rPr>
              <a:t>Falta de tiempo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4" name="Google Shape;191;g3f5ad115aa7_0_ 2"/>
          <p:cNvCxnSpPr/>
          <p:nvPr/>
        </p:nvCxnSpPr>
        <p:spPr>
          <a:xfrm>
            <a:off x="7772400" y="4635720"/>
            <a:ext cx="2520" cy="77076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cxnSp>
        <p:nvCxnSpPr>
          <p:cNvPr id="385" name="Google Shape;192;g3f5ad115aa7_0_ 2"/>
          <p:cNvCxnSpPr/>
          <p:nvPr/>
        </p:nvCxnSpPr>
        <p:spPr>
          <a:xfrm>
            <a:off x="3966480" y="1978920"/>
            <a:ext cx="2520" cy="77076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cxnSp>
        <p:nvCxnSpPr>
          <p:cNvPr id="386" name="Google Shape;193;g3f5ad115aa7_0_ 2"/>
          <p:cNvCxnSpPr/>
          <p:nvPr/>
        </p:nvCxnSpPr>
        <p:spPr>
          <a:xfrm>
            <a:off x="3966480" y="4635720"/>
            <a:ext cx="2520" cy="77076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cxnSp>
        <p:nvCxnSpPr>
          <p:cNvPr id="387" name="Google Shape;194;g3f5ad115aa7_0_ 2"/>
          <p:cNvCxnSpPr/>
          <p:nvPr/>
        </p:nvCxnSpPr>
        <p:spPr>
          <a:xfrm>
            <a:off x="3966480" y="3291840"/>
            <a:ext cx="2520" cy="770400"/>
          </a:xfrm>
          <a:prstGeom prst="straightConnector1">
            <a:avLst/>
          </a:prstGeom>
          <a:ln w="12700">
            <a:solidFill>
              <a:srgbClr val="e4e8ee"/>
            </a:solidFill>
            <a:round/>
          </a:ln>
        </p:spPr>
      </p:cxnSp>
      <p:sp>
        <p:nvSpPr>
          <p:cNvPr id="388" name="Google Shape;195;g3f5ad115aa7_0_ 2"/>
          <p:cNvSpPr/>
          <p:nvPr/>
        </p:nvSpPr>
        <p:spPr>
          <a:xfrm>
            <a:off x="4132440" y="1238040"/>
            <a:ext cx="3452400" cy="344880"/>
          </a:xfrm>
          <a:prstGeom prst="roundRect">
            <a:avLst>
              <a:gd name="adj" fmla="val 20000"/>
            </a:avLst>
          </a:prstGeom>
          <a:solidFill>
            <a:srgbClr val="65748b"/>
          </a:solidFill>
          <a:ln w="12700">
            <a:solidFill>
              <a:srgbClr val="65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Google Shape;196;g3f5ad115aa7_0_ 2"/>
          <p:cNvSpPr/>
          <p:nvPr/>
        </p:nvSpPr>
        <p:spPr>
          <a:xfrm>
            <a:off x="5375880" y="1191600"/>
            <a:ext cx="9651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Calibri"/>
              </a:rPr>
              <a:t>Medios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284;p13" descr=""/>
          <p:cNvPicPr/>
          <p:nvPr/>
        </p:nvPicPr>
        <p:blipFill>
          <a:blip r:embed="rId1"/>
          <a:stretch/>
        </p:blipFill>
        <p:spPr>
          <a:xfrm>
            <a:off x="6084000" y="-13680"/>
            <a:ext cx="6607080" cy="6523560"/>
          </a:xfrm>
          <a:prstGeom prst="rect">
            <a:avLst/>
          </a:prstGeom>
          <a:ln w="0">
            <a:noFill/>
          </a:ln>
        </p:spPr>
      </p:pic>
      <p:sp>
        <p:nvSpPr>
          <p:cNvPr id="391" name="Google Shape;285;p 1"/>
          <p:cNvSpPr/>
          <p:nvPr/>
        </p:nvSpPr>
        <p:spPr>
          <a:xfrm>
            <a:off x="0" y="6519600"/>
            <a:ext cx="12181680" cy="3466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Google Shape;286;p 1"/>
          <p:cNvSpPr/>
          <p:nvPr/>
        </p:nvSpPr>
        <p:spPr>
          <a:xfrm>
            <a:off x="1116000" y="3744000"/>
            <a:ext cx="197028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6b7280"/>
                </a:solidFill>
                <a:latin typeface="Arial"/>
                <a:ea typeface="Arial"/>
              </a:rPr>
              <a:t>Julio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Google Shape;287;p 1" descr=""/>
          <p:cNvPicPr/>
          <p:nvPr/>
        </p:nvPicPr>
        <p:blipFill>
          <a:blip r:embed="rId2"/>
          <a:srcRect l="0" t="26247" r="0" b="23016"/>
          <a:stretch/>
        </p:blipFill>
        <p:spPr>
          <a:xfrm>
            <a:off x="216000" y="360360"/>
            <a:ext cx="1940040" cy="529920"/>
          </a:xfrm>
          <a:prstGeom prst="rect">
            <a:avLst/>
          </a:prstGeom>
          <a:ln w="0">
            <a:noFill/>
          </a:ln>
        </p:spPr>
      </p:pic>
      <p:sp>
        <p:nvSpPr>
          <p:cNvPr id="394" name="Google Shape;288;p 1"/>
          <p:cNvSpPr/>
          <p:nvPr/>
        </p:nvSpPr>
        <p:spPr>
          <a:xfrm>
            <a:off x="1104120" y="3420000"/>
            <a:ext cx="335016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206;p 1"/>
          <p:cNvSpPr/>
          <p:nvPr/>
        </p:nvSpPr>
        <p:spPr>
          <a:xfrm>
            <a:off x="2352240" y="1555560"/>
            <a:ext cx="7485480" cy="16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142346"/>
                </a:solidFill>
                <a:latin typeface="Calibri"/>
                <a:ea typeface="Calibri"/>
              </a:rPr>
              <a:t>GRACIAS</a:t>
            </a:r>
            <a:endParaRPr b="0" lang="es-ES" sz="10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2026-07-24T12:03:50Z</dcterms:created>
  <dc:creator>Walnut Exporter</dc:creator>
  <dc:description/>
  <dc:language>es-ES</dc:language>
  <cp:lastModifiedBy/>
  <dcterms:modified xsi:type="dcterms:W3CDTF">2026-07-25T17:18:09Z</dcterms:modified>
  <cp:revision>39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