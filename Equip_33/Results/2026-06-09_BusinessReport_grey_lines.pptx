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A35E62-4F66-44DE-8CC5-955BC0E0A7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4EEC53-5935-443D-BF63-6244D5075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9394D63-C348-4BE7-B73D-88DA650A4C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12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01B6D9-2342-48A2-A83D-FCAB6C79A58D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12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78B164-A163-451B-B119-DD3F0D1D221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12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AACC9D-3B9C-4FED-BF5D-C53E7CB7AB3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" Target="slide21.xml"/><Relationship Id="rId1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20.xml"/><Relationship Id="rId13" Type="http://schemas.openxmlformats.org/officeDocument/2006/relationships/slide" Target="slide21.xml"/><Relationship Id="rId1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3.xml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4.xml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7.xml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3920" cy="6352560"/>
          </a:xfrm>
          <a:prstGeom prst="rect">
            <a:avLst/>
          </a:prstGeom>
          <a:ln w="0">
            <a:noFill/>
          </a:ln>
        </p:spPr>
      </p:pic>
      <p:sp>
        <p:nvSpPr>
          <p:cNvPr id="18" name="Shape 12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0" y="6519600"/>
            <a:ext cx="12188520" cy="353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Text 96"/>
          <p:cNvSpPr/>
          <p:nvPr/>
        </p:nvSpPr>
        <p:spPr>
          <a:xfrm>
            <a:off x="396000" y="2011680"/>
            <a:ext cx="59029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3600" spc="-1" strike="noStrike">
                <a:solidFill>
                  <a:srgbClr val="1f2937"/>
                </a:solidFill>
                <a:latin typeface="Aptos"/>
                <a:ea typeface="DejaVu Sans"/>
              </a:rPr>
              <a:t>Análisis de absentismo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3600" spc="-1" strike="noStrike">
                <a:solidFill>
                  <a:srgbClr val="1f2937"/>
                </a:solidFill>
                <a:latin typeface="Aptos"/>
                <a:ea typeface="DejaVu Sans"/>
              </a:rPr>
              <a:t>y perfil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7"/>
          <p:cNvSpPr/>
          <p:nvPr/>
        </p:nvSpPr>
        <p:spPr>
          <a:xfrm>
            <a:off x="432000" y="3744000"/>
            <a:ext cx="19771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Junio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3" name="Text 98"/>
          <p:cNvSpPr/>
          <p:nvPr/>
        </p:nvSpPr>
        <p:spPr>
          <a:xfrm>
            <a:off x="420120" y="3420000"/>
            <a:ext cx="33570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3920" cy="6352560"/>
          </a:xfrm>
          <a:prstGeom prst="rect">
            <a:avLst/>
          </a:prstGeom>
          <a:ln w="0">
            <a:noFill/>
          </a:ln>
        </p:spPr>
      </p:pic>
      <p:sp>
        <p:nvSpPr>
          <p:cNvPr id="25" name="Shape 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0" y="6519600"/>
            <a:ext cx="12188520" cy="353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7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8" name="Text 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468000" y="966240"/>
            <a:ext cx="26985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Indice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525960" y="166536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25960" y="172800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Indicadores clave…………………………………………………1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525960" y="220536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44"/>
          <p:cNvSpPr/>
          <p:nvPr/>
        </p:nvSpPr>
        <p:spPr>
          <a:xfrm>
            <a:off x="525960" y="328068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54"/>
          <p:cNvSpPr/>
          <p:nvPr/>
        </p:nvSpPr>
        <p:spPr>
          <a:xfrm>
            <a:off x="525960" y="381600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25960" y="225864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Magnitud del absentismo por empleado…..…………………2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55"/>
          <p:cNvSpPr/>
          <p:nvPr/>
        </p:nvSpPr>
        <p:spPr>
          <a:xfrm>
            <a:off x="525960" y="436320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25960" y="334584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Anticipación y planificación de RRHH……..…………………5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56"/>
          <p:cNvSpPr/>
          <p:nvPr/>
        </p:nvSpPr>
        <p:spPr>
          <a:xfrm>
            <a:off x="525960" y="489852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25960" y="388116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Conclusiones en relación al absentismo…….………………7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57"/>
          <p:cNvSpPr/>
          <p:nvPr/>
        </p:nvSpPr>
        <p:spPr>
          <a:xfrm>
            <a:off x="525960" y="544176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25960" y="493200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Perfiles sociodemográficos de la plantilla...………………...9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25960" y="546732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Recomendaciones para políticas de talento…………….....10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25960" y="442116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Recomendaciones en relación al absentismo………….…...9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64"/>
          <p:cNvSpPr/>
          <p:nvPr/>
        </p:nvSpPr>
        <p:spPr>
          <a:xfrm>
            <a:off x="521280" y="274068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21280" y="279396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Magnitud y variación anual del absentismo…………………3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7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Indicadores clave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52" name="Shape 19"/>
          <p:cNvSpPr/>
          <p:nvPr/>
        </p:nvSpPr>
        <p:spPr>
          <a:xfrm>
            <a:off x="612000" y="213336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28000" y="2412000"/>
            <a:ext cx="54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720000" y="2484000"/>
            <a:ext cx="12571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c71585"/>
                </a:solidFill>
                <a:latin typeface="Arial"/>
                <a:ea typeface="DejaVu Sans"/>
              </a:rPr>
              <a:t>93,90%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20000" y="287172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Ausencias efectuadas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56000" y="324000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mayoría de las ausencias solicitadas se materializan.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3420000" y="214272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636000" y="2421360"/>
            <a:ext cx="54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3528000" y="2493360"/>
            <a:ext cx="12571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ff8c00"/>
                </a:solidFill>
                <a:latin typeface="Arial"/>
                <a:ea typeface="DejaVu Sans"/>
              </a:rPr>
              <a:t>Marzo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528000" y="288108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Mes pico con 755h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564000" y="324936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Mayor carga operativa por absentismo.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6228000" y="214272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444000" y="2421360"/>
            <a:ext cx="540000" cy="360"/>
          </a:xfrm>
          <a:prstGeom prst="line">
            <a:avLst/>
          </a:prstGeom>
          <a:ln w="36000">
            <a:solidFill>
              <a:srgbClr val="4682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6336000" y="2493360"/>
            <a:ext cx="2697480" cy="9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4682b4"/>
                </a:solidFill>
                <a:latin typeface="Arial"/>
                <a:ea typeface="DejaVu Sans"/>
              </a:rPr>
              <a:t>Consultas médicas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336000" y="288108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Motivo principal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372000" y="3249360"/>
            <a:ext cx="2337120" cy="10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 el motivo más frecuente de ausencia laboral con 142 ausencias.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9036360" y="214272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252360" y="2421360"/>
            <a:ext cx="54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9144360" y="2493360"/>
            <a:ext cx="12571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c71585"/>
                </a:solidFill>
                <a:latin typeface="Arial"/>
                <a:ea typeface="DejaVu Sans"/>
              </a:rPr>
              <a:t>0,35%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144360" y="288108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Eficacia relativa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180360" y="324936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Margen de mejora frente a la carga laboral.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60880" y="97128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Materialización de ausencias, concentración mensual de carga,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motivo modal de ausencia y eficacia relativa frente a la carga laboral.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 / 11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38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185640" y="1476000"/>
            <a:ext cx="8514000" cy="4693680"/>
          </a:xfrm>
          <a:prstGeom prst="rect">
            <a:avLst/>
          </a:prstGeom>
          <a:ln w="0">
            <a:noFill/>
          </a:ln>
        </p:spPr>
      </p:pic>
      <p:sp>
        <p:nvSpPr>
          <p:cNvPr id="77" name="Shape 139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Shape 141"/>
          <p:cNvSpPr/>
          <p:nvPr/>
        </p:nvSpPr>
        <p:spPr>
          <a:xfrm>
            <a:off x="3185640" y="1620000"/>
            <a:ext cx="8694000" cy="454968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80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del absentismo por empleado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81" name="Text 82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Tres empleados acumulan más del 25% del total de horas de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4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34"/>
          <p:cNvSpPr/>
          <p:nvPr/>
        </p:nvSpPr>
        <p:spPr>
          <a:xfrm>
            <a:off x="540000" y="1703880"/>
            <a:ext cx="2159640" cy="9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20000" y="1835640"/>
            <a:ext cx="36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612000" y="1882800"/>
            <a:ext cx="17276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c71585"/>
                </a:solidFill>
                <a:latin typeface="Arial"/>
                <a:ea typeface="DejaVu Sans"/>
              </a:rPr>
              <a:t>5.043 </a:t>
            </a:r>
            <a:r>
              <a:rPr b="0" lang="es-ES" sz="1500" spc="-1" strike="noStrike">
                <a:solidFill>
                  <a:srgbClr val="c71585"/>
                </a:solidFill>
                <a:latin typeface="Arial"/>
                <a:ea typeface="DejaVu Sans"/>
              </a:rPr>
              <a:t>horas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2000" y="2196000"/>
            <a:ext cx="1907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totales de absentismo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586520" y="540252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Shape 162"/>
          <p:cNvSpPr/>
          <p:nvPr/>
        </p:nvSpPr>
        <p:spPr>
          <a:xfrm>
            <a:off x="540000" y="3132000"/>
            <a:ext cx="2159640" cy="89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20000" y="3299760"/>
            <a:ext cx="36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612000" y="3346920"/>
            <a:ext cx="19076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8c00"/>
                </a:solidFill>
                <a:latin typeface="Arial"/>
                <a:ea typeface="DejaVu Sans"/>
              </a:rPr>
              <a:t>152,8 </a:t>
            </a:r>
            <a:r>
              <a:rPr b="0" lang="es-ES" sz="1500" spc="-1" strike="noStrike">
                <a:solidFill>
                  <a:srgbClr val="ff8c00"/>
                </a:solidFill>
                <a:latin typeface="Arial"/>
                <a:ea typeface="DejaVu Sans"/>
              </a:rPr>
              <a:t>horas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2000" y="3660120"/>
            <a:ext cx="2087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promedio por empleado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63"/>
          <p:cNvSpPr/>
          <p:nvPr/>
        </p:nvSpPr>
        <p:spPr>
          <a:xfrm>
            <a:off x="540000" y="4578120"/>
            <a:ext cx="2159640" cy="118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20000" y="4745880"/>
            <a:ext cx="360000" cy="360"/>
          </a:xfrm>
          <a:prstGeom prst="line">
            <a:avLst/>
          </a:prstGeom>
          <a:ln w="36000">
            <a:solidFill>
              <a:srgbClr val="4682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612000" y="4793040"/>
            <a:ext cx="15476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4682b4"/>
                </a:solidFill>
                <a:latin typeface="Arial"/>
                <a:ea typeface="DejaVu Sans"/>
              </a:rPr>
              <a:t>476 </a:t>
            </a:r>
            <a:r>
              <a:rPr b="0" lang="es-ES" sz="1500" spc="-1" strike="noStrike">
                <a:solidFill>
                  <a:srgbClr val="4682b4"/>
                </a:solidFill>
                <a:latin typeface="Arial"/>
                <a:ea typeface="DejaVu Sans"/>
              </a:rPr>
              <a:t>horas</a:t>
            </a:r>
            <a:r>
              <a:rPr b="0" lang="es-ES" sz="1800" spc="-1" strike="noStrike">
                <a:solidFill>
                  <a:srgbClr val="4682b4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12000" y="5106240"/>
            <a:ext cx="2087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del empleado con mayor absentismo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119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Shape 159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Text 94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540000" y="2195280"/>
            <a:ext cx="11068920" cy="3564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03" name="Text 9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Mayor concentración de episodios y horas de absentismo en los meses de marzo y julio.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60"/>
          <p:cNvSpPr/>
          <p:nvPr/>
        </p:nvSpPr>
        <p:spPr>
          <a:xfrm>
            <a:off x="540000" y="2123280"/>
            <a:ext cx="11159640" cy="359856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9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00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3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20000" y="1830240"/>
            <a:ext cx="4319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Número de episodios de absentismo por 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61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" name="Shape 169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Text 105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540000" y="2152800"/>
            <a:ext cx="10979640" cy="3572280"/>
          </a:xfrm>
          <a:prstGeom prst="rect">
            <a:avLst/>
          </a:prstGeom>
          <a:ln w="0">
            <a:noFill/>
          </a:ln>
        </p:spPr>
      </p:pic>
      <p:sp>
        <p:nvSpPr>
          <p:cNvPr id="114" name="Text 10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Mayor concentración de episodios y horas de absentismo en los meses de marzo y julio.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70"/>
          <p:cNvSpPr/>
          <p:nvPr/>
        </p:nvSpPr>
        <p:spPr>
          <a:xfrm>
            <a:off x="540000" y="2123280"/>
            <a:ext cx="11159640" cy="359856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07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08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3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20000" y="1830240"/>
            <a:ext cx="4319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Número total de horas de absentismo por 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65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Shape 166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Text 101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24" name="Text 102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Marzo y julio concentran los picos de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67"/>
          <p:cNvSpPr/>
          <p:nvPr/>
        </p:nvSpPr>
        <p:spPr>
          <a:xfrm>
            <a:off x="540000" y="1439280"/>
            <a:ext cx="10977840" cy="3598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587880" y="1587960"/>
            <a:ext cx="10677960" cy="3380760"/>
          </a:xfrm>
          <a:prstGeom prst="rect">
            <a:avLst/>
          </a:prstGeom>
          <a:ln w="0">
            <a:noFill/>
          </a:ln>
        </p:spPr>
      </p:pic>
      <p:sp>
        <p:nvSpPr>
          <p:cNvPr id="128" name="Shape 168"/>
          <p:cNvSpPr/>
          <p:nvPr/>
        </p:nvSpPr>
        <p:spPr>
          <a:xfrm>
            <a:off x="540000" y="5400000"/>
            <a:ext cx="8637840" cy="71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El absentismo se concentra en dos picos claros: marzo (356% sobre el mes base) y julio (344%),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frente a una base estable el resto del año.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0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0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4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40"/>
          <p:cNvSpPr/>
          <p:nvPr/>
        </p:nvSpPr>
        <p:spPr>
          <a:xfrm>
            <a:off x="8640000" y="1440000"/>
            <a:ext cx="3057840" cy="287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Marzo acumula el máximo de  episodios simultáneos, un total de 79.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Julio tiene las bajas más largas de media aproximadamente 11,6h por episodio.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Cada uno requiere una respuesta operativa distinta.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35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" name="Shape 136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Text 77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36" name="Text 79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Marzo y julio: causas distintas, respuestas distintas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37"/>
          <p:cNvSpPr/>
          <p:nvPr/>
        </p:nvSpPr>
        <p:spPr>
          <a:xfrm>
            <a:off x="540000" y="1440000"/>
            <a:ext cx="7917840" cy="485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663840" y="1479960"/>
            <a:ext cx="7074000" cy="4709880"/>
          </a:xfrm>
          <a:prstGeom prst="rect">
            <a:avLst/>
          </a:prstGeom>
          <a:ln w="0">
            <a:noFill/>
          </a:ln>
        </p:spPr>
      </p:pic>
      <p:sp>
        <p:nvSpPr>
          <p:cNvPr id="140" name="Text 35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8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5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/>
        </p:nvSpPr>
        <p:spPr>
          <a:xfrm>
            <a:off x="8820000" y="1440000"/>
            <a:ext cx="2877840" cy="251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El 70% de las horas de absentismo corresponden a una enfermedad diagnosticada (no planificable).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El 25% son consultas y trámites programables con antelación.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4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Text 83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Anticipación y planificación de RRHH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47" name="Text 8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808080"/>
                </a:solidFill>
                <a:latin typeface="Arial"/>
                <a:ea typeface="DejaVu Sans"/>
              </a:rPr>
              <a:t>El 70% del absentismo no es planificable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45"/>
          <p:cNvSpPr/>
          <p:nvPr/>
        </p:nvSpPr>
        <p:spPr>
          <a:xfrm>
            <a:off x="540000" y="1440000"/>
            <a:ext cx="7917840" cy="485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1080000" y="1620000"/>
            <a:ext cx="6453000" cy="4478040"/>
          </a:xfrm>
          <a:prstGeom prst="rect">
            <a:avLst/>
          </a:prstGeom>
          <a:ln w="0">
            <a:noFill/>
          </a:ln>
        </p:spPr>
      </p:pic>
      <p:sp>
        <p:nvSpPr>
          <p:cNvPr id="151" name="Text 4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6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46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Shape 147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56" name="Text 8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Los inicios de semana de marzo y julio son los momentos de mayor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8"/>
          <p:cNvSpPr/>
          <p:nvPr/>
        </p:nvSpPr>
        <p:spPr>
          <a:xfrm>
            <a:off x="540000" y="1439280"/>
            <a:ext cx="10977840" cy="3778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49"/>
          <p:cNvSpPr/>
          <p:nvPr/>
        </p:nvSpPr>
        <p:spPr>
          <a:xfrm>
            <a:off x="540000" y="5472000"/>
            <a:ext cx="8637840" cy="71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Los lunes de marzo, julio, septiembre, octubre y noviembre concentran las ausencias más largas, lo que es información clave para reforzar turnos con antelación.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1240920" y="1471680"/>
            <a:ext cx="9484920" cy="3714840"/>
          </a:xfrm>
          <a:prstGeom prst="rect">
            <a:avLst/>
          </a:prstGeom>
          <a:ln w="0">
            <a:noFill/>
          </a:ln>
        </p:spPr>
      </p:pic>
      <p:sp>
        <p:nvSpPr>
          <p:cNvPr id="161" name="Text 4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87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7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86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Anticipación y planificación de RRHH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5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Shape 15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Text 89"/>
          <p:cNvSpPr/>
          <p:nvPr/>
        </p:nvSpPr>
        <p:spPr>
          <a:xfrm>
            <a:off x="540000" y="388800"/>
            <a:ext cx="701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Conclusiones en relación al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68" name="Shape 152"/>
          <p:cNvSpPr/>
          <p:nvPr/>
        </p:nvSpPr>
        <p:spPr>
          <a:xfrm>
            <a:off x="612000" y="1936080"/>
            <a:ext cx="10725120" cy="942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Las ausencias tienen una duración promedio de unas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4.0 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llegando en casos puntuales a las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120 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Suponen un total de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5.043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perdidas por absentismo, que equivale a la jornada anual de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2,8 empleados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a tiempo completo.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91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Magnitud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anticiparse al absentismo para reforzar la planificación de recursos humanos y garantizar la continuidad operativa.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Variación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3"/>
          <p:cNvSpPr/>
          <p:nvPr/>
        </p:nvSpPr>
        <p:spPr>
          <a:xfrm>
            <a:off x="612000" y="3995640"/>
            <a:ext cx="10725120" cy="682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Clara estacionalidad: los picos críticos ocurren en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marzo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un total de 755 horas y en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julio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un total de 730 horas. Enero es el mes con menos horas, un total de 212 horas.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45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90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8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2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540000" y="388800"/>
            <a:ext cx="701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en relación al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81" name="Shape 10"/>
          <p:cNvSpPr/>
          <p:nvPr/>
        </p:nvSpPr>
        <p:spPr>
          <a:xfrm>
            <a:off x="612000" y="1936080"/>
            <a:ext cx="10725120" cy="1842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Calendario mensual (mes × día de la semana) con los niveles de intensidad de absentismo histórica, como apoyo a la planificación.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Campaña interna para incentivar la notificación anticipada de consultas médicas y dentales programadas, ampliando el margen de reacción de RRHH.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Identificar perfiles de mayor riesgo y adaptar la distribución de tareas/carga.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Campañas preventivas de salud, talleres higienen postural y prevención de riesgos laborales.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Anticipación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anticiparse al absentismo para reforzar la planificación de recursos humanos y garantizar la continuidad operativa.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48000" y="410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Continuidad operativa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612000" y="4427640"/>
            <a:ext cx="10725120" cy="1222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Bolsas de horas, equipos de refuerzo, personal polivalente, turnos de sustitución y planes de cobertura para rutas o centros críticos.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Acuerdos con ETT’s, para cubrir absentismo no planificable, sobre todo en los picos de marzo y julio.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9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9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9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94" name="Shape 21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forma_edad">
            <a:hlinkClick r:id="rId2" action="ppaction://hlinksldjump"/>
          </p:cNvPr>
          <p:cNvSpPr/>
          <p:nvPr/>
        </p:nvSpPr>
        <p:spPr>
          <a:xfrm>
            <a:off x="432000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3"/>
          <a:srcRect l="13319" t="0" r="30340" b="8795"/>
          <a:stretch/>
        </p:blipFill>
        <p:spPr>
          <a:xfrm>
            <a:off x="7200000" y="2556000"/>
            <a:ext cx="2481120" cy="2481120"/>
          </a:xfrm>
          <a:prstGeom prst="rect">
            <a:avLst/>
          </a:prstGeom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4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sp>
        <p:nvSpPr>
          <p:cNvPr id="204" name="boton_educativo">
            <a:hlinkClick r:id="rId5" action="ppaction://hlinksldjump"/>
          </p:cNvPr>
          <p:cNvSpPr/>
          <p:nvPr/>
        </p:nvSpPr>
        <p:spPr>
          <a:xfrm>
            <a:off x="432036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4">
            <a:hlinkClick r:id="rId6" action="ppaction://hlinksldjump"/>
          </p:cNvPr>
          <p:cNvSpPr/>
          <p:nvPr/>
        </p:nvSpPr>
        <p:spPr>
          <a:xfrm>
            <a:off x="432072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5">
            <a:hlinkClick r:id="rId7" action="ppaction://hlinksldjump"/>
          </p:cNvPr>
          <p:cNvSpPr/>
          <p:nvPr/>
        </p:nvSpPr>
        <p:spPr>
          <a:xfrm>
            <a:off x="432108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6">
            <a:hlinkClick r:id="rId8" action="ppaction://hlinksldjump"/>
          </p:cNvPr>
          <p:cNvSpPr/>
          <p:nvPr/>
        </p:nvSpPr>
        <p:spPr>
          <a:xfrm>
            <a:off x="432144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7">
            <a:hlinkClick r:id="rId9" action="ppaction://hlinksldjump"/>
          </p:cNvPr>
          <p:cNvSpPr/>
          <p:nvPr/>
        </p:nvSpPr>
        <p:spPr>
          <a:xfrm>
            <a:off x="4321440" y="3859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8">
            <a:hlinkClick r:id="rId10" action="ppaction://hlinksldjump"/>
          </p:cNvPr>
          <p:cNvSpPr/>
          <p:nvPr/>
        </p:nvSpPr>
        <p:spPr>
          <a:xfrm>
            <a:off x="4321800" y="4212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9">
            <a:hlinkClick r:id="rId11" action="ppaction://hlinksldjump"/>
          </p:cNvPr>
          <p:cNvSpPr/>
          <p:nvPr/>
        </p:nvSpPr>
        <p:spPr>
          <a:xfrm>
            <a:off x="4322160" y="4761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9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3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4" name="Shape 40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" name="Text 29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17" name="Shape 41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7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4"/>
          <a:stretch/>
        </p:blipFill>
        <p:spPr>
          <a:xfrm>
            <a:off x="5714640" y="241200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25" name="forma_edad 2">
            <a:hlinkClick r:id="rId5" action="ppaction://hlinksldjump"/>
          </p:cNvPr>
          <p:cNvSpPr/>
          <p:nvPr/>
        </p:nvSpPr>
        <p:spPr>
          <a:xfrm>
            <a:off x="4320360" y="187848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boton_educativo 2">
            <a:hlinkClick r:id="rId6" action="ppaction://hlinksldjump"/>
          </p:cNvPr>
          <p:cNvSpPr/>
          <p:nvPr/>
        </p:nvSpPr>
        <p:spPr>
          <a:xfrm>
            <a:off x="4320720" y="223128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3">
            <a:hlinkClick r:id="rId7" action="ppaction://hlinksldjump"/>
          </p:cNvPr>
          <p:cNvSpPr/>
          <p:nvPr/>
        </p:nvSpPr>
        <p:spPr>
          <a:xfrm>
            <a:off x="4321080" y="25840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5">
            <a:hlinkClick r:id="rId8" action="ppaction://hlinksldjump"/>
          </p:cNvPr>
          <p:cNvSpPr/>
          <p:nvPr/>
        </p:nvSpPr>
        <p:spPr>
          <a:xfrm>
            <a:off x="4321440" y="29368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46">
            <a:hlinkClick r:id="rId9" action="ppaction://hlinksldjump"/>
          </p:cNvPr>
          <p:cNvSpPr/>
          <p:nvPr/>
        </p:nvSpPr>
        <p:spPr>
          <a:xfrm>
            <a:off x="4321800" y="328968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7">
            <a:hlinkClick r:id="rId10" action="ppaction://hlinksldjump"/>
          </p:cNvPr>
          <p:cNvSpPr/>
          <p:nvPr/>
        </p:nvSpPr>
        <p:spPr>
          <a:xfrm>
            <a:off x="4321800" y="38296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8">
            <a:hlinkClick r:id="rId11" action="ppaction://hlinksldjump"/>
          </p:cNvPr>
          <p:cNvSpPr/>
          <p:nvPr/>
        </p:nvSpPr>
        <p:spPr>
          <a:xfrm>
            <a:off x="4322160" y="418248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49">
            <a:hlinkClick r:id="rId12" action="ppaction://hlinksldjump"/>
          </p:cNvPr>
          <p:cNvSpPr/>
          <p:nvPr/>
        </p:nvSpPr>
        <p:spPr>
          <a:xfrm>
            <a:off x="4322520" y="473184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6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8" name="Shape 24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41" name="Shape 25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47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49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forma_edad 1">
            <a:hlinkClick r:id="rId5" action="ppaction://hlinksldjump"/>
          </p:cNvPr>
          <p:cNvSpPr/>
          <p:nvPr/>
        </p:nvSpPr>
        <p:spPr>
          <a:xfrm>
            <a:off x="4320720" y="18846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boton_educativo 1">
            <a:hlinkClick r:id="rId6" action="ppaction://hlinksldjump"/>
          </p:cNvPr>
          <p:cNvSpPr/>
          <p:nvPr/>
        </p:nvSpPr>
        <p:spPr>
          <a:xfrm>
            <a:off x="4321080" y="22374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7">
            <a:hlinkClick r:id="rId7" action="ppaction://hlinksldjump"/>
          </p:cNvPr>
          <p:cNvSpPr/>
          <p:nvPr/>
        </p:nvSpPr>
        <p:spPr>
          <a:xfrm>
            <a:off x="4321440" y="2590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8">
            <a:hlinkClick r:id="rId8" action="ppaction://hlinksldjump"/>
          </p:cNvPr>
          <p:cNvSpPr/>
          <p:nvPr/>
        </p:nvSpPr>
        <p:spPr>
          <a:xfrm>
            <a:off x="4321800" y="29430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9">
            <a:hlinkClick r:id="rId9" action="ppaction://hlinksldjump"/>
          </p:cNvPr>
          <p:cNvSpPr/>
          <p:nvPr/>
        </p:nvSpPr>
        <p:spPr>
          <a:xfrm>
            <a:off x="4322160" y="32958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0">
            <a:hlinkClick r:id="rId10" action="ppaction://hlinksldjump"/>
          </p:cNvPr>
          <p:cNvSpPr/>
          <p:nvPr/>
        </p:nvSpPr>
        <p:spPr>
          <a:xfrm>
            <a:off x="4322160" y="38358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1">
            <a:hlinkClick r:id="rId11" action="ppaction://hlinksldjump"/>
          </p:cNvPr>
          <p:cNvSpPr/>
          <p:nvPr/>
        </p:nvSpPr>
        <p:spPr>
          <a:xfrm>
            <a:off x="4322520" y="41886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32">
            <a:hlinkClick r:id="rId12" action="ppaction://hlinksldjump"/>
          </p:cNvPr>
          <p:cNvSpPr/>
          <p:nvPr/>
        </p:nvSpPr>
        <p:spPr>
          <a:xfrm>
            <a:off x="4322880" y="47379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7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5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2" name="Shape 5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" name="Text 38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65" name="Shape 5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1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5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73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forma_edad 3">
            <a:hlinkClick r:id="rId5" action="ppaction://hlinksldjump"/>
          </p:cNvPr>
          <p:cNvSpPr/>
          <p:nvPr/>
        </p:nvSpPr>
        <p:spPr>
          <a:xfrm>
            <a:off x="431928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boton_educativo 3">
            <a:hlinkClick r:id="rId6" action="ppaction://hlinksldjump"/>
          </p:cNvPr>
          <p:cNvSpPr/>
          <p:nvPr/>
        </p:nvSpPr>
        <p:spPr>
          <a:xfrm>
            <a:off x="431964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4">
            <a:hlinkClick r:id="rId7" action="ppaction://hlinksldjump"/>
          </p:cNvPr>
          <p:cNvSpPr/>
          <p:nvPr/>
        </p:nvSpPr>
        <p:spPr>
          <a:xfrm>
            <a:off x="432000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55">
            <a:hlinkClick r:id="rId8" action="ppaction://hlinksldjump"/>
          </p:cNvPr>
          <p:cNvSpPr/>
          <p:nvPr/>
        </p:nvSpPr>
        <p:spPr>
          <a:xfrm>
            <a:off x="432036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56">
            <a:hlinkClick r:id="rId9" action="ppaction://hlinksldjump"/>
          </p:cNvPr>
          <p:cNvSpPr/>
          <p:nvPr/>
        </p:nvSpPr>
        <p:spPr>
          <a:xfrm>
            <a:off x="432072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7">
            <a:hlinkClick r:id="rId10" action="ppaction://hlinksldjump"/>
          </p:cNvPr>
          <p:cNvSpPr/>
          <p:nvPr/>
        </p:nvSpPr>
        <p:spPr>
          <a:xfrm>
            <a:off x="4320720" y="3823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58">
            <a:hlinkClick r:id="rId11" action="ppaction://hlinksldjump"/>
          </p:cNvPr>
          <p:cNvSpPr/>
          <p:nvPr/>
        </p:nvSpPr>
        <p:spPr>
          <a:xfrm>
            <a:off x="4321080" y="4176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59">
            <a:hlinkClick r:id="rId12" action="ppaction://hlinksldjump"/>
          </p:cNvPr>
          <p:cNvSpPr/>
          <p:nvPr/>
        </p:nvSpPr>
        <p:spPr>
          <a:xfrm>
            <a:off x="4321440" y="4725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9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6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6" name="Shape 6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7" name="Text 43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89" name="Shape 6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4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6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96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97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forma_edad 4">
            <a:hlinkClick r:id="rId5" action="ppaction://hlinksldjump"/>
          </p:cNvPr>
          <p:cNvSpPr/>
          <p:nvPr/>
        </p:nvSpPr>
        <p:spPr>
          <a:xfrm>
            <a:off x="432144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boton_educativo 4">
            <a:hlinkClick r:id="rId6" action="ppaction://hlinksldjump"/>
          </p:cNvPr>
          <p:cNvSpPr/>
          <p:nvPr/>
        </p:nvSpPr>
        <p:spPr>
          <a:xfrm>
            <a:off x="432180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64">
            <a:hlinkClick r:id="rId7" action="ppaction://hlinksldjump"/>
          </p:cNvPr>
          <p:cNvSpPr/>
          <p:nvPr/>
        </p:nvSpPr>
        <p:spPr>
          <a:xfrm>
            <a:off x="432216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5">
            <a:hlinkClick r:id="rId8" action="ppaction://hlinksldjump"/>
          </p:cNvPr>
          <p:cNvSpPr/>
          <p:nvPr/>
        </p:nvSpPr>
        <p:spPr>
          <a:xfrm>
            <a:off x="432252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66">
            <a:hlinkClick r:id="rId9" action="ppaction://hlinksldjump"/>
          </p:cNvPr>
          <p:cNvSpPr/>
          <p:nvPr/>
        </p:nvSpPr>
        <p:spPr>
          <a:xfrm>
            <a:off x="432288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7">
            <a:hlinkClick r:id="rId10" action="ppaction://hlinksldjump"/>
          </p:cNvPr>
          <p:cNvSpPr/>
          <p:nvPr/>
        </p:nvSpPr>
        <p:spPr>
          <a:xfrm>
            <a:off x="4322880" y="3823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68">
            <a:hlinkClick r:id="rId11" action="ppaction://hlinksldjump"/>
          </p:cNvPr>
          <p:cNvSpPr/>
          <p:nvPr/>
        </p:nvSpPr>
        <p:spPr>
          <a:xfrm>
            <a:off x="4323240" y="4176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9">
            <a:hlinkClick r:id="rId12" action="ppaction://hlinksldjump"/>
          </p:cNvPr>
          <p:cNvSpPr/>
          <p:nvPr/>
        </p:nvSpPr>
        <p:spPr>
          <a:xfrm>
            <a:off x="4323600" y="4725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4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7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0" name="Shape 7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" name="Text 47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13" name="Shape 7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49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7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19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4"/>
          <a:stretch/>
        </p:blipFill>
        <p:spPr>
          <a:xfrm>
            <a:off x="5545080" y="2088720"/>
            <a:ext cx="6476400" cy="3236760"/>
          </a:xfrm>
          <a:prstGeom prst="rect">
            <a:avLst/>
          </a:prstGeom>
          <a:ln w="0">
            <a:noFill/>
          </a:ln>
        </p:spPr>
      </p:pic>
      <p:sp>
        <p:nvSpPr>
          <p:cNvPr id="321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forma_edad 5">
            <a:hlinkClick r:id="rId5" action="ppaction://hlinksldjump"/>
          </p:cNvPr>
          <p:cNvSpPr/>
          <p:nvPr/>
        </p:nvSpPr>
        <p:spPr>
          <a:xfrm>
            <a:off x="432144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boton_educativo 5">
            <a:hlinkClick r:id="rId6" action="ppaction://hlinksldjump"/>
          </p:cNvPr>
          <p:cNvSpPr/>
          <p:nvPr/>
        </p:nvSpPr>
        <p:spPr>
          <a:xfrm>
            <a:off x="432180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74">
            <a:hlinkClick r:id="rId7" action="ppaction://hlinksldjump"/>
          </p:cNvPr>
          <p:cNvSpPr/>
          <p:nvPr/>
        </p:nvSpPr>
        <p:spPr>
          <a:xfrm>
            <a:off x="432216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75">
            <a:hlinkClick r:id="rId8" action="ppaction://hlinksldjump"/>
          </p:cNvPr>
          <p:cNvSpPr/>
          <p:nvPr/>
        </p:nvSpPr>
        <p:spPr>
          <a:xfrm>
            <a:off x="432252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76">
            <a:hlinkClick r:id="rId9" action="ppaction://hlinksldjump"/>
          </p:cNvPr>
          <p:cNvSpPr/>
          <p:nvPr/>
        </p:nvSpPr>
        <p:spPr>
          <a:xfrm>
            <a:off x="432288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77">
            <a:hlinkClick r:id="rId10" action="ppaction://hlinksldjump"/>
          </p:cNvPr>
          <p:cNvSpPr/>
          <p:nvPr/>
        </p:nvSpPr>
        <p:spPr>
          <a:xfrm>
            <a:off x="4322880" y="3823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78">
            <a:hlinkClick r:id="rId11" action="ppaction://hlinksldjump"/>
          </p:cNvPr>
          <p:cNvSpPr/>
          <p:nvPr/>
        </p:nvSpPr>
        <p:spPr>
          <a:xfrm>
            <a:off x="4323240" y="4176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79">
            <a:hlinkClick r:id="rId12" action="ppaction://hlinksldjump"/>
          </p:cNvPr>
          <p:cNvSpPr/>
          <p:nvPr/>
        </p:nvSpPr>
        <p:spPr>
          <a:xfrm>
            <a:off x="4323600" y="4725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2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48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9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4" name="Shape 9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5" name="Text 53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37" name="Shape 9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5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9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43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44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345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forma_edad 6">
            <a:hlinkClick r:id="rId5" action="ppaction://hlinksldjump"/>
          </p:cNvPr>
          <p:cNvSpPr/>
          <p:nvPr/>
        </p:nvSpPr>
        <p:spPr>
          <a:xfrm>
            <a:off x="4321800" y="187848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boton_educativo 6">
            <a:hlinkClick r:id="rId6" action="ppaction://hlinksldjump"/>
          </p:cNvPr>
          <p:cNvSpPr/>
          <p:nvPr/>
        </p:nvSpPr>
        <p:spPr>
          <a:xfrm>
            <a:off x="4322160" y="223128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80">
            <a:hlinkClick r:id="rId7" action="ppaction://hlinksldjump"/>
          </p:cNvPr>
          <p:cNvSpPr/>
          <p:nvPr/>
        </p:nvSpPr>
        <p:spPr>
          <a:xfrm>
            <a:off x="4322520" y="25840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1">
            <a:hlinkClick r:id="rId8" action="ppaction://hlinksldjump"/>
          </p:cNvPr>
          <p:cNvSpPr/>
          <p:nvPr/>
        </p:nvSpPr>
        <p:spPr>
          <a:xfrm>
            <a:off x="4322880" y="29368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82">
            <a:hlinkClick r:id="rId9" action="ppaction://hlinksldjump"/>
          </p:cNvPr>
          <p:cNvSpPr/>
          <p:nvPr/>
        </p:nvSpPr>
        <p:spPr>
          <a:xfrm>
            <a:off x="4323240" y="328968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83">
            <a:hlinkClick r:id="rId10" action="ppaction://hlinksldjump"/>
          </p:cNvPr>
          <p:cNvSpPr/>
          <p:nvPr/>
        </p:nvSpPr>
        <p:spPr>
          <a:xfrm>
            <a:off x="4323240" y="38296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84">
            <a:hlinkClick r:id="rId11" action="ppaction://hlinksldjump"/>
          </p:cNvPr>
          <p:cNvSpPr/>
          <p:nvPr/>
        </p:nvSpPr>
        <p:spPr>
          <a:xfrm>
            <a:off x="4323600" y="418248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85">
            <a:hlinkClick r:id="rId12" action="ppaction://hlinksldjump"/>
          </p:cNvPr>
          <p:cNvSpPr/>
          <p:nvPr/>
        </p:nvSpPr>
        <p:spPr>
          <a:xfrm>
            <a:off x="4323960" y="473184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5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10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8" name="Shape 10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9" name="Text 56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61" name="Shape 10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5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0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68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369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forma_edad 7">
            <a:hlinkClick r:id="rId5" action="ppaction://hlinksldjump"/>
          </p:cNvPr>
          <p:cNvSpPr/>
          <p:nvPr/>
        </p:nvSpPr>
        <p:spPr>
          <a:xfrm>
            <a:off x="4322160" y="18846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boton_educativo 7">
            <a:hlinkClick r:id="rId6" action="ppaction://hlinksldjump"/>
          </p:cNvPr>
          <p:cNvSpPr/>
          <p:nvPr/>
        </p:nvSpPr>
        <p:spPr>
          <a:xfrm>
            <a:off x="4322520" y="22374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86">
            <a:hlinkClick r:id="rId7" action="ppaction://hlinksldjump"/>
          </p:cNvPr>
          <p:cNvSpPr/>
          <p:nvPr/>
        </p:nvSpPr>
        <p:spPr>
          <a:xfrm>
            <a:off x="4322880" y="2590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87">
            <a:hlinkClick r:id="rId8" action="ppaction://hlinksldjump"/>
          </p:cNvPr>
          <p:cNvSpPr/>
          <p:nvPr/>
        </p:nvSpPr>
        <p:spPr>
          <a:xfrm>
            <a:off x="4323240" y="29430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88">
            <a:hlinkClick r:id="rId9" action="ppaction://hlinksldjump"/>
          </p:cNvPr>
          <p:cNvSpPr/>
          <p:nvPr/>
        </p:nvSpPr>
        <p:spPr>
          <a:xfrm>
            <a:off x="4323600" y="32958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89">
            <a:hlinkClick r:id="rId10" action="ppaction://hlinksldjump"/>
          </p:cNvPr>
          <p:cNvSpPr/>
          <p:nvPr/>
        </p:nvSpPr>
        <p:spPr>
          <a:xfrm>
            <a:off x="4323600" y="38358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94">
            <a:hlinkClick r:id="rId11" action="ppaction://hlinksldjump"/>
          </p:cNvPr>
          <p:cNvSpPr/>
          <p:nvPr/>
        </p:nvSpPr>
        <p:spPr>
          <a:xfrm>
            <a:off x="4323960" y="41886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95">
            <a:hlinkClick r:id="rId12" action="ppaction://hlinksldjump"/>
          </p:cNvPr>
          <p:cNvSpPr/>
          <p:nvPr/>
        </p:nvSpPr>
        <p:spPr>
          <a:xfrm>
            <a:off x="4324320" y="47379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57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11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2" name="Shape 11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3" name="Text 59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85" name="Shape 11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61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boton_gasto">
            <a:hlinkClick r:id="rId2" action="ppaction://hlinksldjump"/>
          </p:cNvPr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" descr=""/>
          <p:cNvPicPr/>
          <p:nvPr/>
        </p:nvPicPr>
        <p:blipFill>
          <a:blip r:embed="rId3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91" name="" descr=""/>
          <p:cNvPicPr/>
          <p:nvPr/>
        </p:nvPicPr>
        <p:blipFill>
          <a:blip r:embed="rId4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92" name="" descr=""/>
          <p:cNvPicPr/>
          <p:nvPr/>
        </p:nvPicPr>
        <p:blipFill>
          <a:blip r:embed="rId5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393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forma_edad 8">
            <a:hlinkClick r:id="rId6" action="ppaction://hlinksldjump"/>
          </p:cNvPr>
          <p:cNvSpPr/>
          <p:nvPr/>
        </p:nvSpPr>
        <p:spPr>
          <a:xfrm>
            <a:off x="4322520" y="189072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boton_educativo 8">
            <a:hlinkClick r:id="rId7" action="ppaction://hlinksldjump"/>
          </p:cNvPr>
          <p:cNvSpPr/>
          <p:nvPr/>
        </p:nvSpPr>
        <p:spPr>
          <a:xfrm>
            <a:off x="4322880" y="224352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96">
            <a:hlinkClick r:id="rId8" action="ppaction://hlinksldjump"/>
          </p:cNvPr>
          <p:cNvSpPr/>
          <p:nvPr/>
        </p:nvSpPr>
        <p:spPr>
          <a:xfrm>
            <a:off x="4323240" y="259632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7">
            <a:hlinkClick r:id="rId9" action="ppaction://hlinksldjump"/>
          </p:cNvPr>
          <p:cNvSpPr/>
          <p:nvPr/>
        </p:nvSpPr>
        <p:spPr>
          <a:xfrm>
            <a:off x="4323600" y="294912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98">
            <a:hlinkClick r:id="rId10" action="ppaction://hlinksldjump"/>
          </p:cNvPr>
          <p:cNvSpPr/>
          <p:nvPr/>
        </p:nvSpPr>
        <p:spPr>
          <a:xfrm>
            <a:off x="4323960" y="330192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99">
            <a:hlinkClick r:id="rId11" action="ppaction://hlinksldjump"/>
          </p:cNvPr>
          <p:cNvSpPr/>
          <p:nvPr/>
        </p:nvSpPr>
        <p:spPr>
          <a:xfrm>
            <a:off x="4323960" y="384192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04">
            <a:hlinkClick r:id="rId12" action="ppaction://hlinksldjump"/>
          </p:cNvPr>
          <p:cNvSpPr/>
          <p:nvPr/>
        </p:nvSpPr>
        <p:spPr>
          <a:xfrm>
            <a:off x="4324320" y="419472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05">
            <a:hlinkClick r:id="rId13" action="ppaction://hlinksldjump"/>
          </p:cNvPr>
          <p:cNvSpPr/>
          <p:nvPr/>
        </p:nvSpPr>
        <p:spPr>
          <a:xfrm>
            <a:off x="4324680" y="474408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2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60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106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6" name="Shape 107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7" name="Text 50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09" name="Shape 108">
            <a:hlinkClick r:id="rId2" action="ppaction://hlinksldjump"/>
          </p:cNvPr>
          <p:cNvSpPr/>
          <p:nvPr/>
        </p:nvSpPr>
        <p:spPr>
          <a:xfrm>
            <a:off x="612000" y="1936080"/>
            <a:ext cx="10725120" cy="148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la plantilla tiene educación secundaria. El desarrollo profesional debería priorizar la formación práctica, modular y certificable frente a los itinerarios académicos tradicionales.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52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648000" y="396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109"/>
          <p:cNvSpPr/>
          <p:nvPr/>
        </p:nvSpPr>
        <p:spPr>
          <a:xfrm>
            <a:off x="612000" y="4319640"/>
            <a:ext cx="10725120" cy="140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La plantilla se concentra entre 30 y 40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52,8%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 y entre 40 y 50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). Además,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66,7%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al menos un hijo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dos o más. Esto apunta a una plantilla en una etapa vital donde la conciliación puede ser crítica para el compromiso.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24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51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11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121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9" name="Shape 122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0" name="Text 68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22" name="Text 70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48000" y="396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24">
            <a:hlinkClick r:id="rId2" action="ppaction://hlinksldjump"/>
          </p:cNvPr>
          <p:cNvSpPr/>
          <p:nvPr/>
        </p:nvSpPr>
        <p:spPr>
          <a:xfrm>
            <a:off x="612000" y="4319640"/>
            <a:ext cx="10725120" cy="140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La plantilla se concentra entre 30 y 40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52,8%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 y entre 40 y 50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). Además,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66,7%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al menos un hijo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dos o más. Esto apunta a una plantilla en una etapa vital donde la conciliación puede ser crítica para el compromiso.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5"/>
          <p:cNvSpPr/>
          <p:nvPr/>
        </p:nvSpPr>
        <p:spPr>
          <a:xfrm>
            <a:off x="612000" y="1960200"/>
            <a:ext cx="10725120" cy="16524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Crear itinerarios cortos de capacitación en liderazgo operativo, planificación de rutas, gestión de incidencias, atención al cliente y herramientas digitales.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Diseñar rutas de carrera desde posiciones operativas hacia coordinador de equipo, formador interno, supervisor de rutas o planificación logística.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Usar a los empleados con mayor antigüedad como mentores, especialmente porque hay una base importante de experiencia acumulada.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25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69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11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117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2" name="Shape 118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3" name="Text 65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35" name="Text 67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648000" y="396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20"/>
          <p:cNvSpPr/>
          <p:nvPr/>
        </p:nvSpPr>
        <p:spPr>
          <a:xfrm>
            <a:off x="612000" y="4319640"/>
            <a:ext cx="10725120" cy="17989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Ofrecer mayor previsibilidad de turnos y rutas.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Facilitar cambios de turno planificados.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Diseñar medidas específicas para empleados con responsabilidades familiares, especialmente en campañas de alta demanda.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Analizar si el absentismo concentrado en lunes o en verano puede estar relacionado con tensiones de conciliación, vacaciones escolares o cargas familiares.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3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66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58"/>
          <p:cNvSpPr/>
          <p:nvPr/>
        </p:nvSpPr>
        <p:spPr>
          <a:xfrm>
            <a:off x="612360" y="1910880"/>
            <a:ext cx="10725120" cy="16524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Crear itinerarios cortos de capacitación en liderazgo operativo, planificación de rutas, gestión de incidencias, atención al cliente y herramientas digitales.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Diseñar rutas de carrera desde posiciones operativas hacia coordinador de equipo, formador interno, supervisor de rutas o planificación logística.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Usar a los empleados con mayor antigüedad como mentores, especialmente porque hay una base importante de experiencia acumulada.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11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5" name="Shape 114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6" name="Text 62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7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48" name="Shape 115">
            <a:hlinkClick r:id="rId2" action="ppaction://hlinksldjump"/>
          </p:cNvPr>
          <p:cNvSpPr/>
          <p:nvPr/>
        </p:nvSpPr>
        <p:spPr>
          <a:xfrm>
            <a:off x="612000" y="1936080"/>
            <a:ext cx="10725120" cy="94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la plantilla tiene sobrepeso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25%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presenta obesidad. En una empresa de reparto, donde hay exigencia física por conducción, carga y trabajo en almacén, este dato es especialmente relevante.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64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16"/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vive lejos. Y 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70%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tiene un gasto medio, alto en transporte.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31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63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129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8" name="Shape 130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9" name="Text 74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61" name="Shape 131"/>
          <p:cNvSpPr/>
          <p:nvPr/>
        </p:nvSpPr>
        <p:spPr>
          <a:xfrm>
            <a:off x="612000" y="1936080"/>
            <a:ext cx="10725120" cy="94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Programas voluntarios de salud física, ergonomía, prevención de lesiones y hábitos saludables.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médico en la empresa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7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32"/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Valorar ayudas de transporte para empleados con mayor distancia o coste.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Optimizar asignación de centros, rutas o bases cuando sea posible.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Explorar turnos compactos o más previsibles para quienes viven más lejos.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33">
            <a:hlinkClick r:id="rId2" action="ppaction://hlinksldjump"/>
          </p:cNvPr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vive lejos. Y 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70%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tiene un gasto medio, alto en transporte.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75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12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2" name="Shape 126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3" name="Text 71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75" name="Shape 127"/>
          <p:cNvSpPr/>
          <p:nvPr/>
        </p:nvSpPr>
        <p:spPr>
          <a:xfrm>
            <a:off x="612000" y="1936080"/>
            <a:ext cx="10725120" cy="94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Programas de salud física, ergonomía, prevención de lesiones y hábitos saludables.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médico en la empresa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73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128"/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Valorar ayudas de transporte para empleados con mayor distancia o coste.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Optimizar asignación de centros, rutas o bases cuando sea posible.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Explorar turnos compactos o más previsibles para quienes viven más lejos.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72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3920" cy="6352560"/>
          </a:xfrm>
          <a:prstGeom prst="rect">
            <a:avLst/>
          </a:prstGeom>
          <a:ln w="0">
            <a:noFill/>
          </a:ln>
        </p:spPr>
      </p:pic>
      <p:sp>
        <p:nvSpPr>
          <p:cNvPr id="485" name="Shape 5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0" y="6519600"/>
            <a:ext cx="12188520" cy="353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1116000" y="3744000"/>
            <a:ext cx="19771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Junio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8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89" name="Text 7"/>
          <p:cNvSpPr/>
          <p:nvPr/>
        </p:nvSpPr>
        <p:spPr>
          <a:xfrm>
            <a:off x="1104120" y="3420000"/>
            <a:ext cx="33570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2026-07-04T17:08:40Z</dcterms:created>
  <dc:creator/>
  <dc:description/>
  <dc:language>es-ES</dc:language>
  <cp:lastModifiedBy/>
  <dcterms:modified xsi:type="dcterms:W3CDTF">2026-07-05T21:25:49Z</dcterms:modified>
  <cp:revision>68</cp:revision>
  <dc:subject/>
  <dc:title>Plantilla resultados absentismo RapidExpress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11</vt:i4>
  </property>
</Properties>
</file>