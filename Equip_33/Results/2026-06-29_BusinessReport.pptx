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1800"/>
            <a:ext cx="109692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98F768-241D-4888-B6F4-D20A8385E1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1800"/>
            <a:ext cx="109692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A1842BA-438E-497C-BE43-4C74871F11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3A9FD26-4643-4288-83E1-49F6FFAD49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1800"/>
            <a:ext cx="109692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9C82AF-0F12-41CF-B7F5-61034905B9CF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1800"/>
            <a:ext cx="109692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20D6F2-6F0E-4F6C-91B9-DA9E2B98A1D7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E2B0D3-8B9F-49CA-8913-9DD6D9541B09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15.xml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8.xml"/><Relationship Id="rId9" Type="http://schemas.openxmlformats.org/officeDocument/2006/relationships/slide" Target="slide19.xml"/><Relationship Id="rId10" Type="http://schemas.openxmlformats.org/officeDocument/2006/relationships/slide" Target="slide20.xml"/><Relationship Id="rId11" Type="http://schemas.openxmlformats.org/officeDocument/2006/relationships/slide" Target="slide21.xml"/><Relationship Id="rId1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slide" Target="slide14.xml"/><Relationship Id="rId7" Type="http://schemas.openxmlformats.org/officeDocument/2006/relationships/slide" Target="slide15.xml"/><Relationship Id="rId8" Type="http://schemas.openxmlformats.org/officeDocument/2006/relationships/slide" Target="slide16.xml"/><Relationship Id="rId9" Type="http://schemas.openxmlformats.org/officeDocument/2006/relationships/slide" Target="slide17.xml"/><Relationship Id="rId10" Type="http://schemas.openxmlformats.org/officeDocument/2006/relationships/slide" Target="slide18.xml"/><Relationship Id="rId11" Type="http://schemas.openxmlformats.org/officeDocument/2006/relationships/slide" Target="slide19.xml"/><Relationship Id="rId12" Type="http://schemas.openxmlformats.org/officeDocument/2006/relationships/slide" Target="slide20.xml"/><Relationship Id="rId13" Type="http://schemas.openxmlformats.org/officeDocument/2006/relationships/slide" Target="slide21.xml"/><Relationship Id="rId1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3.xml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4.xml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7.xml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32840" cy="6351480"/>
          </a:xfrm>
          <a:prstGeom prst="rect">
            <a:avLst/>
          </a:prstGeom>
          <a:ln w="0">
            <a:noFill/>
          </a:ln>
        </p:spPr>
      </p:pic>
      <p:sp>
        <p:nvSpPr>
          <p:cNvPr id="18" name="Shape 12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0" y="6519600"/>
            <a:ext cx="12187440" cy="352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Text 96"/>
          <p:cNvSpPr/>
          <p:nvPr/>
        </p:nvSpPr>
        <p:spPr>
          <a:xfrm>
            <a:off x="396000" y="2011680"/>
            <a:ext cx="5901840" cy="10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3600" spc="-1" strike="noStrike">
                <a:solidFill>
                  <a:srgbClr val="1f2937"/>
                </a:solidFill>
                <a:latin typeface="Aptos"/>
                <a:ea typeface="DejaVu Sans"/>
              </a:rPr>
              <a:t>Análisis de absentismo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3600" spc="-1" strike="noStrike">
                <a:solidFill>
                  <a:srgbClr val="1f2937"/>
                </a:solidFill>
                <a:latin typeface="Aptos"/>
                <a:ea typeface="DejaVu Sans"/>
              </a:rPr>
              <a:t>y perfil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7"/>
          <p:cNvSpPr/>
          <p:nvPr/>
        </p:nvSpPr>
        <p:spPr>
          <a:xfrm>
            <a:off x="432000" y="3744000"/>
            <a:ext cx="197604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6b7280"/>
                </a:solidFill>
                <a:latin typeface="Aptos"/>
                <a:ea typeface="DejaVu Sans"/>
              </a:rPr>
              <a:t>Junio 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2"/>
          <a:srcRect l="0" t="26247" r="0" b="23016"/>
          <a:stretch/>
        </p:blipFill>
        <p:spPr>
          <a:xfrm>
            <a:off x="216000" y="360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23" name="Text 98"/>
          <p:cNvSpPr/>
          <p:nvPr/>
        </p:nvSpPr>
        <p:spPr>
          <a:xfrm>
            <a:off x="420120" y="3420000"/>
            <a:ext cx="335592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32840" cy="6351480"/>
          </a:xfrm>
          <a:prstGeom prst="rect">
            <a:avLst/>
          </a:prstGeom>
          <a:ln w="0">
            <a:noFill/>
          </a:ln>
        </p:spPr>
      </p:pic>
      <p:sp>
        <p:nvSpPr>
          <p:cNvPr id="25" name="Shape 3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0" y="6519600"/>
            <a:ext cx="12187440" cy="352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7" name="" descr=""/>
          <p:cNvPicPr/>
          <p:nvPr/>
        </p:nvPicPr>
        <p:blipFill>
          <a:blip r:embed="rId2"/>
          <a:srcRect l="0" t="26247" r="0" b="23016"/>
          <a:stretch/>
        </p:blipFill>
        <p:spPr>
          <a:xfrm>
            <a:off x="216000" y="360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28" name="Text 6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468000" y="966240"/>
            <a:ext cx="2697480" cy="68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Indice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525960" y="1665360"/>
            <a:ext cx="514548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25960" y="1728000"/>
            <a:ext cx="56404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Indicadores clave…………………………………………………1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525960" y="2205360"/>
            <a:ext cx="514548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44"/>
          <p:cNvSpPr/>
          <p:nvPr/>
        </p:nvSpPr>
        <p:spPr>
          <a:xfrm>
            <a:off x="525960" y="3280680"/>
            <a:ext cx="514548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54"/>
          <p:cNvSpPr/>
          <p:nvPr/>
        </p:nvSpPr>
        <p:spPr>
          <a:xfrm>
            <a:off x="525960" y="3816000"/>
            <a:ext cx="514548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25960" y="2258640"/>
            <a:ext cx="56404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Magnitud del absentismo por empleado…..…………………2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55"/>
          <p:cNvSpPr/>
          <p:nvPr/>
        </p:nvSpPr>
        <p:spPr>
          <a:xfrm>
            <a:off x="525960" y="4363200"/>
            <a:ext cx="514548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25960" y="3345840"/>
            <a:ext cx="56404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Anticipación y planificación de RRHH……..…………………5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56"/>
          <p:cNvSpPr/>
          <p:nvPr/>
        </p:nvSpPr>
        <p:spPr>
          <a:xfrm>
            <a:off x="525960" y="4898520"/>
            <a:ext cx="514548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25960" y="3881160"/>
            <a:ext cx="56404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Conclusiones en relación al absentismo…….………………7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57"/>
          <p:cNvSpPr/>
          <p:nvPr/>
        </p:nvSpPr>
        <p:spPr>
          <a:xfrm>
            <a:off x="525960" y="5441760"/>
            <a:ext cx="514548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25960" y="4932000"/>
            <a:ext cx="56404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Perfiles sociodemográficos de la plantilla...………………...9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25960" y="5467320"/>
            <a:ext cx="56404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Recomendaciones para políticas de talento…………….....10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25960" y="4421160"/>
            <a:ext cx="56404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Recomendaciones en relación al absentismo………….…...9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64"/>
          <p:cNvSpPr/>
          <p:nvPr/>
        </p:nvSpPr>
        <p:spPr>
          <a:xfrm>
            <a:off x="521280" y="2740680"/>
            <a:ext cx="5145480" cy="42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21280" y="2793960"/>
            <a:ext cx="56404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Magnitud y variación anual del absentismo…………………3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17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" name="Shape 18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Indicadores clave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52" name="Shape 19"/>
          <p:cNvSpPr/>
          <p:nvPr/>
        </p:nvSpPr>
        <p:spPr>
          <a:xfrm>
            <a:off x="612000" y="2133360"/>
            <a:ext cx="2516040" cy="182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6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28000" y="2412000"/>
            <a:ext cx="540000" cy="360"/>
          </a:xfrm>
          <a:prstGeom prst="line">
            <a:avLst/>
          </a:prstGeom>
          <a:ln w="36000">
            <a:solidFill>
              <a:srgbClr val="c71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720000" y="2484000"/>
            <a:ext cx="1256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c71585"/>
                </a:solidFill>
                <a:latin typeface="Arial"/>
                <a:ea typeface="DejaVu Sans"/>
              </a:rPr>
              <a:t>93,90%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720000" y="2871720"/>
            <a:ext cx="233604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Ausencias efectuadas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756000" y="3240000"/>
            <a:ext cx="233604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mayoría de las ausencias solicitadas se materializan. 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3420000" y="2142720"/>
            <a:ext cx="2516040" cy="182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636000" y="2421360"/>
            <a:ext cx="540000" cy="360"/>
          </a:xfrm>
          <a:prstGeom prst="line">
            <a:avLst/>
          </a:prstGeom>
          <a:ln w="36000">
            <a:solidFill>
              <a:srgbClr val="ff8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3528000" y="2493360"/>
            <a:ext cx="1256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ff8c00"/>
                </a:solidFill>
                <a:latin typeface="Arial"/>
                <a:ea typeface="DejaVu Sans"/>
              </a:rPr>
              <a:t>Marzo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528000" y="2881080"/>
            <a:ext cx="233604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Mes pico con 755h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564000" y="3249360"/>
            <a:ext cx="233604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Mayor carga operativa por absentismo.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6228000" y="2142720"/>
            <a:ext cx="2516040" cy="182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444000" y="2421360"/>
            <a:ext cx="540000" cy="360"/>
          </a:xfrm>
          <a:prstGeom prst="line">
            <a:avLst/>
          </a:prstGeom>
          <a:ln w="36000">
            <a:solidFill>
              <a:srgbClr val="4682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6336000" y="2493360"/>
            <a:ext cx="2696400" cy="97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4682b4"/>
                </a:solidFill>
                <a:latin typeface="Arial"/>
                <a:ea typeface="DejaVu Sans"/>
              </a:rPr>
              <a:t>Consultas médicas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336000" y="2881080"/>
            <a:ext cx="233604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Motivo principal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372000" y="3249360"/>
            <a:ext cx="2336040" cy="10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 el motivo más frecuente de ausencia laboral con 142 ausencias.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9036360" y="2142720"/>
            <a:ext cx="2516040" cy="182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9252360" y="2421360"/>
            <a:ext cx="540000" cy="360"/>
          </a:xfrm>
          <a:prstGeom prst="line">
            <a:avLst/>
          </a:prstGeom>
          <a:ln w="36000">
            <a:solidFill>
              <a:srgbClr val="c71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9144360" y="2493360"/>
            <a:ext cx="1256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c71585"/>
                </a:solidFill>
                <a:latin typeface="Arial"/>
                <a:ea typeface="DejaVu Sans"/>
              </a:rPr>
              <a:t>0,35%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9144360" y="2881080"/>
            <a:ext cx="233604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Eficacia relativa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9180360" y="3249360"/>
            <a:ext cx="233604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Margen de mejora frente a la carga laboral.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60880" y="971280"/>
            <a:ext cx="56404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Materialización de ausencias, concentración mensual de carga,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motivo modal de ausencia y eficacia relativa frente a la carga laboral.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 / 11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38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185640" y="1476000"/>
            <a:ext cx="8512920" cy="4692600"/>
          </a:xfrm>
          <a:prstGeom prst="rect">
            <a:avLst/>
          </a:prstGeom>
          <a:ln w="0">
            <a:noFill/>
          </a:ln>
        </p:spPr>
      </p:pic>
      <p:sp>
        <p:nvSpPr>
          <p:cNvPr id="77" name="Shape 139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Shape 141"/>
          <p:cNvSpPr/>
          <p:nvPr/>
        </p:nvSpPr>
        <p:spPr>
          <a:xfrm>
            <a:off x="3185640" y="1620000"/>
            <a:ext cx="8692920" cy="454860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80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del absentismo por empleado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2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81" name="Text 82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Tres empleados acumulan más del 25% del total de horas de absentismo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4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34"/>
          <p:cNvSpPr/>
          <p:nvPr/>
        </p:nvSpPr>
        <p:spPr>
          <a:xfrm>
            <a:off x="540000" y="1703880"/>
            <a:ext cx="2158560" cy="92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20000" y="1835640"/>
            <a:ext cx="360000" cy="360"/>
          </a:xfrm>
          <a:prstGeom prst="line">
            <a:avLst/>
          </a:prstGeom>
          <a:ln w="36000">
            <a:solidFill>
              <a:srgbClr val="c71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612000" y="1882800"/>
            <a:ext cx="172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c71585"/>
                </a:solidFill>
                <a:latin typeface="Arial"/>
                <a:ea typeface="DejaVu Sans"/>
              </a:rPr>
              <a:t>5.043 </a:t>
            </a:r>
            <a:r>
              <a:rPr b="0" lang="es-ES" sz="1500" spc="-1" strike="noStrike">
                <a:solidFill>
                  <a:srgbClr val="c71585"/>
                </a:solidFill>
                <a:latin typeface="Arial"/>
                <a:ea typeface="DejaVu Sans"/>
              </a:rPr>
              <a:t>horas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12000" y="2196000"/>
            <a:ext cx="190656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totales de absentismo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586520" y="5402520"/>
            <a:ext cx="233604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Shape 162"/>
          <p:cNvSpPr/>
          <p:nvPr/>
        </p:nvSpPr>
        <p:spPr>
          <a:xfrm>
            <a:off x="540000" y="3132000"/>
            <a:ext cx="2158560" cy="89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20000" y="3299760"/>
            <a:ext cx="360000" cy="360"/>
          </a:xfrm>
          <a:prstGeom prst="line">
            <a:avLst/>
          </a:prstGeom>
          <a:ln w="36000">
            <a:solidFill>
              <a:srgbClr val="ff8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" name=""/>
          <p:cNvSpPr/>
          <p:nvPr/>
        </p:nvSpPr>
        <p:spPr>
          <a:xfrm>
            <a:off x="612000" y="3346920"/>
            <a:ext cx="190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8c00"/>
                </a:solidFill>
                <a:latin typeface="Arial"/>
                <a:ea typeface="DejaVu Sans"/>
              </a:rPr>
              <a:t>152,8 </a:t>
            </a:r>
            <a:r>
              <a:rPr b="0" lang="es-ES" sz="1500" spc="-1" strike="noStrike">
                <a:solidFill>
                  <a:srgbClr val="ff8c00"/>
                </a:solidFill>
                <a:latin typeface="Arial"/>
                <a:ea typeface="DejaVu Sans"/>
              </a:rPr>
              <a:t>horas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12000" y="3660120"/>
            <a:ext cx="208656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promedio por empleado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63"/>
          <p:cNvSpPr/>
          <p:nvPr/>
        </p:nvSpPr>
        <p:spPr>
          <a:xfrm>
            <a:off x="540000" y="4578120"/>
            <a:ext cx="2158560" cy="1180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20000" y="4745880"/>
            <a:ext cx="360000" cy="360"/>
          </a:xfrm>
          <a:prstGeom prst="line">
            <a:avLst/>
          </a:prstGeom>
          <a:ln w="36000">
            <a:solidFill>
              <a:srgbClr val="4682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612000" y="4793040"/>
            <a:ext cx="1546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4682b4"/>
                </a:solidFill>
                <a:latin typeface="Arial"/>
                <a:ea typeface="DejaVu Sans"/>
              </a:rPr>
              <a:t>476 </a:t>
            </a:r>
            <a:r>
              <a:rPr b="0" lang="es-ES" sz="1500" spc="-1" strike="noStrike">
                <a:solidFill>
                  <a:srgbClr val="4682b4"/>
                </a:solidFill>
                <a:latin typeface="Arial"/>
                <a:ea typeface="DejaVu Sans"/>
              </a:rPr>
              <a:t>horas</a:t>
            </a:r>
            <a:r>
              <a:rPr b="0" lang="es-ES" sz="1800" spc="-1" strike="noStrike">
                <a:solidFill>
                  <a:srgbClr val="4682b4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12000" y="5106240"/>
            <a:ext cx="208656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del empleado con mayor absentismo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119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" name="Shape 159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Text 94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540000" y="2195280"/>
            <a:ext cx="11067840" cy="356328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103" name="Text 95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Mayor concentración de episodios y horas de absentismo en los meses de marzo y julio.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60"/>
          <p:cNvSpPr/>
          <p:nvPr/>
        </p:nvSpPr>
        <p:spPr>
          <a:xfrm>
            <a:off x="540000" y="2123280"/>
            <a:ext cx="11158560" cy="359748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99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00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3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20000" y="1830240"/>
            <a:ext cx="431856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Número de episodios de absentismo por 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61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" name="Shape 169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" name="Text 105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540000" y="2152800"/>
            <a:ext cx="10978560" cy="357120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3"/>
          <a:stretch/>
        </p:blipFill>
        <p:spPr>
          <a:xfrm>
            <a:off x="540000" y="2148120"/>
            <a:ext cx="11052000" cy="3691440"/>
          </a:xfrm>
          <a:prstGeom prst="rect">
            <a:avLst/>
          </a:prstGeom>
          <a:ln w="0">
            <a:noFill/>
          </a:ln>
        </p:spPr>
      </p:pic>
      <p:sp>
        <p:nvSpPr>
          <p:cNvPr id="115" name="Text 106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Mayor concentración de episodios y horas de absentismo en los meses de marzo y julio.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70"/>
          <p:cNvSpPr/>
          <p:nvPr/>
        </p:nvSpPr>
        <p:spPr>
          <a:xfrm>
            <a:off x="540000" y="2123280"/>
            <a:ext cx="11158560" cy="359748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07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08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3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720000" y="1830240"/>
            <a:ext cx="431856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Número total de horas de absentismo por 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65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" name="Shape 166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" name="Text 101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125" name="Text 102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Marzo y julio concentran los picos de absentismo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67"/>
          <p:cNvSpPr/>
          <p:nvPr/>
        </p:nvSpPr>
        <p:spPr>
          <a:xfrm>
            <a:off x="540000" y="1439280"/>
            <a:ext cx="10976760" cy="359748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2"/>
          <a:stretch/>
        </p:blipFill>
        <p:spPr>
          <a:xfrm>
            <a:off x="587880" y="1587960"/>
            <a:ext cx="10676880" cy="3379680"/>
          </a:xfrm>
          <a:prstGeom prst="rect">
            <a:avLst/>
          </a:prstGeom>
          <a:ln w="0">
            <a:noFill/>
          </a:ln>
        </p:spPr>
      </p:pic>
      <p:sp>
        <p:nvSpPr>
          <p:cNvPr id="129" name="Shape 168"/>
          <p:cNvSpPr/>
          <p:nvPr/>
        </p:nvSpPr>
        <p:spPr>
          <a:xfrm>
            <a:off x="540000" y="5400000"/>
            <a:ext cx="8636760" cy="716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El absentismo se concentra en dos picos claros: marzo (356% sobre el mes base) y julio (344%),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frente a una base estable el resto del año.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03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04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4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40"/>
          <p:cNvSpPr/>
          <p:nvPr/>
        </p:nvSpPr>
        <p:spPr>
          <a:xfrm>
            <a:off x="8640000" y="1440000"/>
            <a:ext cx="3056760" cy="2876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Marzo acumula el máximo de  episodios simultáneos, un total de 79.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Julio tiene las bajas más largas de media aproximadamente 11,6h por episodio.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Cada uno requiere una respuesta operativa distinta.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5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" name="Shape 136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Text 77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137" name="Text 79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Marzo y julio: causas distintas, respuestas distintas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2"/>
          <a:stretch/>
        </p:blipFill>
        <p:spPr>
          <a:xfrm>
            <a:off x="663840" y="1479960"/>
            <a:ext cx="7072920" cy="4708800"/>
          </a:xfrm>
          <a:prstGeom prst="rect">
            <a:avLst/>
          </a:prstGeom>
          <a:ln w="0">
            <a:noFill/>
          </a:ln>
        </p:spPr>
      </p:pic>
      <p:sp>
        <p:nvSpPr>
          <p:cNvPr id="140" name="Shape 137"/>
          <p:cNvSpPr/>
          <p:nvPr/>
        </p:nvSpPr>
        <p:spPr>
          <a:xfrm>
            <a:off x="540000" y="1440000"/>
            <a:ext cx="7916760" cy="485676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35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78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5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2"/>
          <p:cNvSpPr/>
          <p:nvPr/>
        </p:nvSpPr>
        <p:spPr>
          <a:xfrm>
            <a:off x="8820000" y="1440000"/>
            <a:ext cx="2876760" cy="2516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El 70% de las horas de absentismo corresponden a una enfermedad diagnosticada (no planificable).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El 25% son consultas y trámites programables con antelación.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43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5" name="Shape 144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Text 83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Anticipación y planificación de RRHH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148" name="Text 85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808080"/>
                </a:solidFill>
                <a:latin typeface="Arial"/>
                <a:ea typeface="DejaVu Sans"/>
              </a:rPr>
              <a:t>El 70% del absentismo no es planificable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45"/>
          <p:cNvSpPr/>
          <p:nvPr/>
        </p:nvSpPr>
        <p:spPr>
          <a:xfrm>
            <a:off x="540000" y="1440000"/>
            <a:ext cx="7916760" cy="4856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2"/>
          <a:stretch/>
        </p:blipFill>
        <p:spPr>
          <a:xfrm>
            <a:off x="1080000" y="1620000"/>
            <a:ext cx="6451920" cy="4476960"/>
          </a:xfrm>
          <a:prstGeom prst="rect">
            <a:avLst/>
          </a:prstGeom>
          <a:ln w="0">
            <a:noFill/>
          </a:ln>
        </p:spPr>
      </p:pic>
      <p:sp>
        <p:nvSpPr>
          <p:cNvPr id="152" name="Text 40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84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6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46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" name="Shape 147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157" name="Text 88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Los inicios de semana de marzo y julio son los momentos de mayor riesgo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48"/>
          <p:cNvSpPr/>
          <p:nvPr/>
        </p:nvSpPr>
        <p:spPr>
          <a:xfrm>
            <a:off x="540000" y="1439280"/>
            <a:ext cx="10976760" cy="377748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49"/>
          <p:cNvSpPr/>
          <p:nvPr/>
        </p:nvSpPr>
        <p:spPr>
          <a:xfrm>
            <a:off x="540000" y="5472000"/>
            <a:ext cx="8636760" cy="716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Los lunes de marzo, julio, septiembre, octubre y noviembre concentran las ausencias más largas, lo que es información clave para reforzar turnos con antelación.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2"/>
          <a:stretch/>
        </p:blipFill>
        <p:spPr>
          <a:xfrm>
            <a:off x="1240920" y="1471680"/>
            <a:ext cx="9483840" cy="3713760"/>
          </a:xfrm>
          <a:prstGeom prst="rect">
            <a:avLst/>
          </a:prstGeom>
          <a:ln w="0">
            <a:noFill/>
          </a:ln>
        </p:spPr>
      </p:pic>
      <p:sp>
        <p:nvSpPr>
          <p:cNvPr id="162" name="Text 42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87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7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86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Anticipación y planificación de RRHH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50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" name="Shape 151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Text 89"/>
          <p:cNvSpPr/>
          <p:nvPr/>
        </p:nvSpPr>
        <p:spPr>
          <a:xfrm>
            <a:off x="540000" y="388800"/>
            <a:ext cx="701676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Conclusiones en relación al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169" name="Shape 152"/>
          <p:cNvSpPr/>
          <p:nvPr/>
        </p:nvSpPr>
        <p:spPr>
          <a:xfrm>
            <a:off x="612000" y="1936080"/>
            <a:ext cx="10724040" cy="94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Las ausencias tienen una duración mediana de unas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4.0 horas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, llegando en casos puntuales a las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120 horas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Suponen un total de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5.043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horas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perdidas por absentismo, que equivale a la jornada anual de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2,8 empleados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a tiempo completo.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1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648000" y="1584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Magnitud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anticiparse al absentismo para reforzar la planificación de recursos humanos y garantizar la continuidad operativa.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 rot="21590400">
            <a:off x="862920" y="1875600"/>
            <a:ext cx="10467360" cy="17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48000" y="3672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Variación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53"/>
          <p:cNvSpPr/>
          <p:nvPr/>
        </p:nvSpPr>
        <p:spPr>
          <a:xfrm>
            <a:off x="612000" y="3995640"/>
            <a:ext cx="10724040" cy="68148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Clara estacionalidad: los picos críticos ocurren en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marzo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, un total de 755 horas y en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julio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, un total de 730 horas. Enero es el mes con menos horas, un total de 212 horas.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45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90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8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2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540000" y="388800"/>
            <a:ext cx="701676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en relación al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182" name="Shape 10"/>
          <p:cNvSpPr/>
          <p:nvPr/>
        </p:nvSpPr>
        <p:spPr>
          <a:xfrm>
            <a:off x="612000" y="1936080"/>
            <a:ext cx="10724040" cy="184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Calendario mensual (mes × día de la semana) con los niveles de intensidad de absentismo histórica, como apoyo a la planificación.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Campaña interna para incentivar la notificación anticipada de consultas médicas y dentales programadas, ampliando el margen de reacción de RRHH.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Identificar perfiles de mayor riesgo y adaptar la distribución de tareas/carga.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Campañas preventivas de salud, talleres higienen postural y prevención de riesgos laborales.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48000" y="1584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Anticipación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anticiparse al absentismo para reforzar la planificación de recursos humanos y garantizar la continuidad operativa.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 rot="21590400">
            <a:off x="862920" y="1875600"/>
            <a:ext cx="10467360" cy="17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648000" y="4104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Continuidad operativa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1"/>
          <p:cNvSpPr/>
          <p:nvPr/>
        </p:nvSpPr>
        <p:spPr>
          <a:xfrm>
            <a:off x="612000" y="4427640"/>
            <a:ext cx="10724040" cy="122148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Bolsas de horas, equipos de refuerzo, personal polivalente, turnos de sustitución y planes de cobertura para rutas o centros críticos.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Acuerdos con ETT’s, para cubrir absentismo no planificable, sobre todo en los picos de marzo y julio.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93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9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9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2" name="Shape 20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195" name="Shape 21"/>
          <p:cNvSpPr/>
          <p:nvPr/>
        </p:nvSpPr>
        <p:spPr>
          <a:xfrm>
            <a:off x="612000" y="1756080"/>
            <a:ext cx="3344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504000" y="144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 rot="21590400">
            <a:off x="869400" y="1886760"/>
            <a:ext cx="2552040" cy="39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4212000" y="1440000"/>
            <a:ext cx="2372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2"/>
          <p:cNvSpPr/>
          <p:nvPr/>
        </p:nvSpPr>
        <p:spPr>
          <a:xfrm>
            <a:off x="4320000" y="1756440"/>
            <a:ext cx="7736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forma_edad">
            <a:hlinkClick r:id="rId2" action="ppaction://hlinksldjump"/>
          </p:cNvPr>
          <p:cNvSpPr/>
          <p:nvPr/>
        </p:nvSpPr>
        <p:spPr>
          <a:xfrm>
            <a:off x="4320000" y="1872000"/>
            <a:ext cx="107604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3"/>
          <a:srcRect l="13319" t="0" r="30340" b="8795"/>
          <a:stretch/>
        </p:blipFill>
        <p:spPr>
          <a:xfrm>
            <a:off x="7200000" y="2556000"/>
            <a:ext cx="2480040" cy="2480040"/>
          </a:xfrm>
          <a:prstGeom prst="rect">
            <a:avLst/>
          </a:prstGeom>
          <a:ln w="0">
            <a:noFill/>
          </a:ln>
        </p:spPr>
      </p:pic>
      <p:pic>
        <p:nvPicPr>
          <p:cNvPr id="204" name="" descr=""/>
          <p:cNvPicPr/>
          <p:nvPr/>
        </p:nvPicPr>
        <p:blipFill>
          <a:blip r:embed="rId4"/>
          <a:stretch/>
        </p:blipFill>
        <p:spPr>
          <a:xfrm>
            <a:off x="-36000" y="5624640"/>
            <a:ext cx="1382040" cy="851760"/>
          </a:xfrm>
          <a:prstGeom prst="rect">
            <a:avLst/>
          </a:prstGeom>
          <a:ln w="0">
            <a:noFill/>
          </a:ln>
        </p:spPr>
      </p:pic>
      <p:sp>
        <p:nvSpPr>
          <p:cNvPr id="205" name="boton_educativo">
            <a:hlinkClick r:id="rId5" action="ppaction://hlinksldjump"/>
          </p:cNvPr>
          <p:cNvSpPr/>
          <p:nvPr/>
        </p:nvSpPr>
        <p:spPr>
          <a:xfrm>
            <a:off x="4320360" y="2224800"/>
            <a:ext cx="107568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4">
            <a:hlinkClick r:id="rId6" action="ppaction://hlinksldjump"/>
          </p:cNvPr>
          <p:cNvSpPr/>
          <p:nvPr/>
        </p:nvSpPr>
        <p:spPr>
          <a:xfrm>
            <a:off x="4320720" y="25776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5">
            <a:hlinkClick r:id="rId7" action="ppaction://hlinksldjump"/>
          </p:cNvPr>
          <p:cNvSpPr/>
          <p:nvPr/>
        </p:nvSpPr>
        <p:spPr>
          <a:xfrm>
            <a:off x="4321080" y="29304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6">
            <a:hlinkClick r:id="rId8" action="ppaction://hlinksldjump"/>
          </p:cNvPr>
          <p:cNvSpPr/>
          <p:nvPr/>
        </p:nvSpPr>
        <p:spPr>
          <a:xfrm>
            <a:off x="4321440" y="3283200"/>
            <a:ext cx="1075320" cy="564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7">
            <a:hlinkClick r:id="rId9" action="ppaction://hlinksldjump"/>
          </p:cNvPr>
          <p:cNvSpPr/>
          <p:nvPr/>
        </p:nvSpPr>
        <p:spPr>
          <a:xfrm>
            <a:off x="4321440" y="38592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8">
            <a:hlinkClick r:id="rId10" action="ppaction://hlinksldjump"/>
          </p:cNvPr>
          <p:cNvSpPr/>
          <p:nvPr/>
        </p:nvSpPr>
        <p:spPr>
          <a:xfrm>
            <a:off x="4321800" y="421200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9">
            <a:hlinkClick r:id="rId11" action="ppaction://hlinksldjump"/>
          </p:cNvPr>
          <p:cNvSpPr/>
          <p:nvPr/>
        </p:nvSpPr>
        <p:spPr>
          <a:xfrm>
            <a:off x="4322160" y="476136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92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33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5" name="Shape 40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6" name="Text 29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218" name="Shape 41"/>
          <p:cNvSpPr/>
          <p:nvPr/>
        </p:nvSpPr>
        <p:spPr>
          <a:xfrm>
            <a:off x="612000" y="1756080"/>
            <a:ext cx="3344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7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 rot="21590400">
            <a:off x="869400" y="1886760"/>
            <a:ext cx="2552040" cy="39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42"/>
          <p:cNvSpPr/>
          <p:nvPr/>
        </p:nvSpPr>
        <p:spPr>
          <a:xfrm>
            <a:off x="4320000" y="1756440"/>
            <a:ext cx="7736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0040" cy="680040"/>
          </a:xfrm>
          <a:prstGeom prst="rect">
            <a:avLst/>
          </a:prstGeom>
          <a:ln w="0">
            <a:noFill/>
          </a:ln>
        </p:spPr>
      </p:pic>
      <p:pic>
        <p:nvPicPr>
          <p:cNvPr id="224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2040" cy="851760"/>
          </a:xfrm>
          <a:prstGeom prst="rect">
            <a:avLst/>
          </a:prstGeom>
          <a:ln w="0">
            <a:noFill/>
          </a:ln>
        </p:spPr>
      </p:pic>
      <p:pic>
        <p:nvPicPr>
          <p:cNvPr id="225" name="" descr=""/>
          <p:cNvPicPr/>
          <p:nvPr/>
        </p:nvPicPr>
        <p:blipFill>
          <a:blip r:embed="rId4"/>
          <a:stretch/>
        </p:blipFill>
        <p:spPr>
          <a:xfrm>
            <a:off x="5714640" y="2412000"/>
            <a:ext cx="6305400" cy="3105000"/>
          </a:xfrm>
          <a:prstGeom prst="rect">
            <a:avLst/>
          </a:prstGeom>
          <a:ln w="0">
            <a:noFill/>
          </a:ln>
        </p:spPr>
      </p:pic>
      <p:sp>
        <p:nvSpPr>
          <p:cNvPr id="226" name="forma_edad 2">
            <a:hlinkClick r:id="rId5" action="ppaction://hlinksldjump"/>
          </p:cNvPr>
          <p:cNvSpPr/>
          <p:nvPr/>
        </p:nvSpPr>
        <p:spPr>
          <a:xfrm>
            <a:off x="4320360" y="1878480"/>
            <a:ext cx="1076040" cy="35604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boton_educativo 2">
            <a:hlinkClick r:id="rId6" action="ppaction://hlinksldjump"/>
          </p:cNvPr>
          <p:cNvSpPr/>
          <p:nvPr/>
        </p:nvSpPr>
        <p:spPr>
          <a:xfrm>
            <a:off x="4320720" y="2231280"/>
            <a:ext cx="107568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43">
            <a:hlinkClick r:id="rId7" action="ppaction://hlinksldjump"/>
          </p:cNvPr>
          <p:cNvSpPr/>
          <p:nvPr/>
        </p:nvSpPr>
        <p:spPr>
          <a:xfrm>
            <a:off x="4321080" y="258408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45">
            <a:hlinkClick r:id="rId8" action="ppaction://hlinksldjump"/>
          </p:cNvPr>
          <p:cNvSpPr/>
          <p:nvPr/>
        </p:nvSpPr>
        <p:spPr>
          <a:xfrm>
            <a:off x="4321440" y="293688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46">
            <a:hlinkClick r:id="rId9" action="ppaction://hlinksldjump"/>
          </p:cNvPr>
          <p:cNvSpPr/>
          <p:nvPr/>
        </p:nvSpPr>
        <p:spPr>
          <a:xfrm>
            <a:off x="4321800" y="3289680"/>
            <a:ext cx="1075320" cy="564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7">
            <a:hlinkClick r:id="rId10" action="ppaction://hlinksldjump"/>
          </p:cNvPr>
          <p:cNvSpPr/>
          <p:nvPr/>
        </p:nvSpPr>
        <p:spPr>
          <a:xfrm>
            <a:off x="4321800" y="382968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48">
            <a:hlinkClick r:id="rId11" action="ppaction://hlinksldjump"/>
          </p:cNvPr>
          <p:cNvSpPr/>
          <p:nvPr/>
        </p:nvSpPr>
        <p:spPr>
          <a:xfrm>
            <a:off x="4322160" y="418248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49">
            <a:hlinkClick r:id="rId12" action="ppaction://hlinksldjump"/>
          </p:cNvPr>
          <p:cNvSpPr/>
          <p:nvPr/>
        </p:nvSpPr>
        <p:spPr>
          <a:xfrm>
            <a:off x="4322520" y="473184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504000" y="144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4212000" y="1440000"/>
            <a:ext cx="2372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6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9" name="Shape 24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242" name="Shape 25"/>
          <p:cNvSpPr/>
          <p:nvPr/>
        </p:nvSpPr>
        <p:spPr>
          <a:xfrm>
            <a:off x="612000" y="1756080"/>
            <a:ext cx="3344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28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 rot="21590400">
            <a:off x="869400" y="1886760"/>
            <a:ext cx="2552040" cy="39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6"/>
          <p:cNvSpPr/>
          <p:nvPr/>
        </p:nvSpPr>
        <p:spPr>
          <a:xfrm>
            <a:off x="4320000" y="1756440"/>
            <a:ext cx="7736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0040" cy="680040"/>
          </a:xfrm>
          <a:prstGeom prst="rect">
            <a:avLst/>
          </a:prstGeom>
          <a:ln w="0">
            <a:noFill/>
          </a:ln>
        </p:spPr>
      </p:pic>
      <p:pic>
        <p:nvPicPr>
          <p:cNvPr id="248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2040" cy="851760"/>
          </a:xfrm>
          <a:prstGeom prst="rect">
            <a:avLst/>
          </a:prstGeom>
          <a:ln w="0">
            <a:noFill/>
          </a:ln>
        </p:spPr>
      </p:pic>
      <p:pic>
        <p:nvPicPr>
          <p:cNvPr id="249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5400" cy="3105000"/>
          </a:xfrm>
          <a:prstGeom prst="rect">
            <a:avLst/>
          </a:prstGeom>
          <a:ln w="0">
            <a:noFill/>
          </a:ln>
        </p:spPr>
      </p:pic>
      <p:sp>
        <p:nvSpPr>
          <p:cNvPr id="250" name=""/>
          <p:cNvSpPr/>
          <p:nvPr/>
        </p:nvSpPr>
        <p:spPr>
          <a:xfrm>
            <a:off x="504000" y="144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4212000" y="1440000"/>
            <a:ext cx="2372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forma_edad 1">
            <a:hlinkClick r:id="rId5" action="ppaction://hlinksldjump"/>
          </p:cNvPr>
          <p:cNvSpPr/>
          <p:nvPr/>
        </p:nvSpPr>
        <p:spPr>
          <a:xfrm>
            <a:off x="4320720" y="1884600"/>
            <a:ext cx="107604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boton_educativo 1">
            <a:hlinkClick r:id="rId6" action="ppaction://hlinksldjump"/>
          </p:cNvPr>
          <p:cNvSpPr/>
          <p:nvPr/>
        </p:nvSpPr>
        <p:spPr>
          <a:xfrm>
            <a:off x="4321080" y="2237400"/>
            <a:ext cx="1075680" cy="35604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7">
            <a:hlinkClick r:id="rId7" action="ppaction://hlinksldjump"/>
          </p:cNvPr>
          <p:cNvSpPr/>
          <p:nvPr/>
        </p:nvSpPr>
        <p:spPr>
          <a:xfrm>
            <a:off x="4321440" y="25902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8">
            <a:hlinkClick r:id="rId8" action="ppaction://hlinksldjump"/>
          </p:cNvPr>
          <p:cNvSpPr/>
          <p:nvPr/>
        </p:nvSpPr>
        <p:spPr>
          <a:xfrm>
            <a:off x="4321800" y="29430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9">
            <a:hlinkClick r:id="rId9" action="ppaction://hlinksldjump"/>
          </p:cNvPr>
          <p:cNvSpPr/>
          <p:nvPr/>
        </p:nvSpPr>
        <p:spPr>
          <a:xfrm>
            <a:off x="4322160" y="3295800"/>
            <a:ext cx="1075320" cy="564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0">
            <a:hlinkClick r:id="rId10" action="ppaction://hlinksldjump"/>
          </p:cNvPr>
          <p:cNvSpPr/>
          <p:nvPr/>
        </p:nvSpPr>
        <p:spPr>
          <a:xfrm>
            <a:off x="4322160" y="38358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31">
            <a:hlinkClick r:id="rId11" action="ppaction://hlinksldjump"/>
          </p:cNvPr>
          <p:cNvSpPr/>
          <p:nvPr/>
        </p:nvSpPr>
        <p:spPr>
          <a:xfrm>
            <a:off x="4322520" y="418860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2">
            <a:hlinkClick r:id="rId12" action="ppaction://hlinksldjump"/>
          </p:cNvPr>
          <p:cNvSpPr/>
          <p:nvPr/>
        </p:nvSpPr>
        <p:spPr>
          <a:xfrm>
            <a:off x="4322880" y="473796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7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50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3" name="Shape 51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4" name="Text 38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266" name="Shape 52"/>
          <p:cNvSpPr/>
          <p:nvPr/>
        </p:nvSpPr>
        <p:spPr>
          <a:xfrm>
            <a:off x="612000" y="1756080"/>
            <a:ext cx="3344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41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 rot="21590400">
            <a:off x="869400" y="1886760"/>
            <a:ext cx="2552040" cy="39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53"/>
          <p:cNvSpPr/>
          <p:nvPr/>
        </p:nvSpPr>
        <p:spPr>
          <a:xfrm>
            <a:off x="4320000" y="1756440"/>
            <a:ext cx="7736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1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0040" cy="680040"/>
          </a:xfrm>
          <a:prstGeom prst="rect">
            <a:avLst/>
          </a:prstGeom>
          <a:ln w="0">
            <a:noFill/>
          </a:ln>
        </p:spPr>
      </p:pic>
      <p:pic>
        <p:nvPicPr>
          <p:cNvPr id="272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2040" cy="851760"/>
          </a:xfrm>
          <a:prstGeom prst="rect">
            <a:avLst/>
          </a:prstGeom>
          <a:ln w="0">
            <a:noFill/>
          </a:ln>
        </p:spPr>
      </p:pic>
      <p:pic>
        <p:nvPicPr>
          <p:cNvPr id="273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5400" cy="3105000"/>
          </a:xfrm>
          <a:prstGeom prst="rect">
            <a:avLst/>
          </a:prstGeom>
          <a:ln w="0">
            <a:noFill/>
          </a:ln>
        </p:spPr>
      </p:pic>
      <p:sp>
        <p:nvSpPr>
          <p:cNvPr id="274" name=""/>
          <p:cNvSpPr/>
          <p:nvPr/>
        </p:nvSpPr>
        <p:spPr>
          <a:xfrm>
            <a:off x="504000" y="144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4212000" y="1440000"/>
            <a:ext cx="2372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forma_edad 3">
            <a:hlinkClick r:id="rId5" action="ppaction://hlinksldjump"/>
          </p:cNvPr>
          <p:cNvSpPr/>
          <p:nvPr/>
        </p:nvSpPr>
        <p:spPr>
          <a:xfrm>
            <a:off x="4319280" y="1872000"/>
            <a:ext cx="107604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boton_educativo 3">
            <a:hlinkClick r:id="rId6" action="ppaction://hlinksldjump"/>
          </p:cNvPr>
          <p:cNvSpPr/>
          <p:nvPr/>
        </p:nvSpPr>
        <p:spPr>
          <a:xfrm>
            <a:off x="4319640" y="2224800"/>
            <a:ext cx="107568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54">
            <a:hlinkClick r:id="rId7" action="ppaction://hlinksldjump"/>
          </p:cNvPr>
          <p:cNvSpPr/>
          <p:nvPr/>
        </p:nvSpPr>
        <p:spPr>
          <a:xfrm>
            <a:off x="4320000" y="25776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55">
            <a:hlinkClick r:id="rId8" action="ppaction://hlinksldjump"/>
          </p:cNvPr>
          <p:cNvSpPr/>
          <p:nvPr/>
        </p:nvSpPr>
        <p:spPr>
          <a:xfrm>
            <a:off x="4320360" y="29304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56">
            <a:hlinkClick r:id="rId9" action="ppaction://hlinksldjump"/>
          </p:cNvPr>
          <p:cNvSpPr/>
          <p:nvPr/>
        </p:nvSpPr>
        <p:spPr>
          <a:xfrm>
            <a:off x="4320720" y="3283200"/>
            <a:ext cx="1075320" cy="564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57">
            <a:hlinkClick r:id="rId10" action="ppaction://hlinksldjump"/>
          </p:cNvPr>
          <p:cNvSpPr/>
          <p:nvPr/>
        </p:nvSpPr>
        <p:spPr>
          <a:xfrm>
            <a:off x="4320720" y="38232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58">
            <a:hlinkClick r:id="rId11" action="ppaction://hlinksldjump"/>
          </p:cNvPr>
          <p:cNvSpPr/>
          <p:nvPr/>
        </p:nvSpPr>
        <p:spPr>
          <a:xfrm>
            <a:off x="4321080" y="417600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59">
            <a:hlinkClick r:id="rId12" action="ppaction://hlinksldjump"/>
          </p:cNvPr>
          <p:cNvSpPr/>
          <p:nvPr/>
        </p:nvSpPr>
        <p:spPr>
          <a:xfrm>
            <a:off x="4321440" y="472536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9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60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7" name="Shape 61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8" name="Text 43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290" name="Shape 62"/>
          <p:cNvSpPr/>
          <p:nvPr/>
        </p:nvSpPr>
        <p:spPr>
          <a:xfrm>
            <a:off x="612000" y="1756080"/>
            <a:ext cx="3344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46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 rot="21590400">
            <a:off x="869400" y="1886760"/>
            <a:ext cx="2552040" cy="39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63"/>
          <p:cNvSpPr/>
          <p:nvPr/>
        </p:nvSpPr>
        <p:spPr>
          <a:xfrm>
            <a:off x="4320000" y="1756440"/>
            <a:ext cx="7736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0040" cy="680040"/>
          </a:xfrm>
          <a:prstGeom prst="rect">
            <a:avLst/>
          </a:prstGeom>
          <a:ln w="0">
            <a:noFill/>
          </a:ln>
        </p:spPr>
      </p:pic>
      <p:pic>
        <p:nvPicPr>
          <p:cNvPr id="296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2040" cy="851760"/>
          </a:xfrm>
          <a:prstGeom prst="rect">
            <a:avLst/>
          </a:prstGeom>
          <a:ln w="0">
            <a:noFill/>
          </a:ln>
        </p:spPr>
      </p:pic>
      <p:pic>
        <p:nvPicPr>
          <p:cNvPr id="297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5400" cy="3105000"/>
          </a:xfrm>
          <a:prstGeom prst="rect">
            <a:avLst/>
          </a:prstGeom>
          <a:ln w="0">
            <a:noFill/>
          </a:ln>
        </p:spPr>
      </p:pic>
      <p:sp>
        <p:nvSpPr>
          <p:cNvPr id="298" name=""/>
          <p:cNvSpPr/>
          <p:nvPr/>
        </p:nvSpPr>
        <p:spPr>
          <a:xfrm>
            <a:off x="504000" y="144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4212000" y="1440000"/>
            <a:ext cx="2372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forma_edad 4">
            <a:hlinkClick r:id="rId5" action="ppaction://hlinksldjump"/>
          </p:cNvPr>
          <p:cNvSpPr/>
          <p:nvPr/>
        </p:nvSpPr>
        <p:spPr>
          <a:xfrm>
            <a:off x="4321440" y="1872000"/>
            <a:ext cx="107604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boton_educativo 4">
            <a:hlinkClick r:id="rId6" action="ppaction://hlinksldjump"/>
          </p:cNvPr>
          <p:cNvSpPr/>
          <p:nvPr/>
        </p:nvSpPr>
        <p:spPr>
          <a:xfrm>
            <a:off x="4321800" y="2224800"/>
            <a:ext cx="107568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4">
            <a:hlinkClick r:id="rId7" action="ppaction://hlinksldjump"/>
          </p:cNvPr>
          <p:cNvSpPr/>
          <p:nvPr/>
        </p:nvSpPr>
        <p:spPr>
          <a:xfrm>
            <a:off x="4322160" y="25776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65">
            <a:hlinkClick r:id="rId8" action="ppaction://hlinksldjump"/>
          </p:cNvPr>
          <p:cNvSpPr/>
          <p:nvPr/>
        </p:nvSpPr>
        <p:spPr>
          <a:xfrm>
            <a:off x="4322520" y="29304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66">
            <a:hlinkClick r:id="rId9" action="ppaction://hlinksldjump"/>
          </p:cNvPr>
          <p:cNvSpPr/>
          <p:nvPr/>
        </p:nvSpPr>
        <p:spPr>
          <a:xfrm>
            <a:off x="4322880" y="3283200"/>
            <a:ext cx="1075320" cy="564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67">
            <a:hlinkClick r:id="rId10" action="ppaction://hlinksldjump"/>
          </p:cNvPr>
          <p:cNvSpPr/>
          <p:nvPr/>
        </p:nvSpPr>
        <p:spPr>
          <a:xfrm>
            <a:off x="4322880" y="38232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68">
            <a:hlinkClick r:id="rId11" action="ppaction://hlinksldjump"/>
          </p:cNvPr>
          <p:cNvSpPr/>
          <p:nvPr/>
        </p:nvSpPr>
        <p:spPr>
          <a:xfrm>
            <a:off x="4323240" y="417600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69">
            <a:hlinkClick r:id="rId12" action="ppaction://hlinksldjump"/>
          </p:cNvPr>
          <p:cNvSpPr/>
          <p:nvPr/>
        </p:nvSpPr>
        <p:spPr>
          <a:xfrm>
            <a:off x="4323600" y="472536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44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70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1" name="Shape 71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2" name="Text 47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314" name="Shape 72"/>
          <p:cNvSpPr/>
          <p:nvPr/>
        </p:nvSpPr>
        <p:spPr>
          <a:xfrm>
            <a:off x="612000" y="1756080"/>
            <a:ext cx="3344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49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 rot="21590400">
            <a:off x="869400" y="1886760"/>
            <a:ext cx="2552040" cy="39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73"/>
          <p:cNvSpPr/>
          <p:nvPr/>
        </p:nvSpPr>
        <p:spPr>
          <a:xfrm>
            <a:off x="4320000" y="1756440"/>
            <a:ext cx="7736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0040" cy="680040"/>
          </a:xfrm>
          <a:prstGeom prst="rect">
            <a:avLst/>
          </a:prstGeom>
          <a:ln w="0">
            <a:noFill/>
          </a:ln>
        </p:spPr>
      </p:pic>
      <p:pic>
        <p:nvPicPr>
          <p:cNvPr id="320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2040" cy="851760"/>
          </a:xfrm>
          <a:prstGeom prst="rect">
            <a:avLst/>
          </a:prstGeom>
          <a:ln w="0">
            <a:noFill/>
          </a:ln>
        </p:spPr>
      </p:pic>
      <p:pic>
        <p:nvPicPr>
          <p:cNvPr id="321" name="" descr=""/>
          <p:cNvPicPr/>
          <p:nvPr/>
        </p:nvPicPr>
        <p:blipFill>
          <a:blip r:embed="rId4"/>
          <a:stretch/>
        </p:blipFill>
        <p:spPr>
          <a:xfrm>
            <a:off x="5545080" y="2088720"/>
            <a:ext cx="6475320" cy="3235680"/>
          </a:xfrm>
          <a:prstGeom prst="rect">
            <a:avLst/>
          </a:prstGeom>
          <a:ln w="0">
            <a:noFill/>
          </a:ln>
        </p:spPr>
      </p:pic>
      <p:sp>
        <p:nvSpPr>
          <p:cNvPr id="322" name=""/>
          <p:cNvSpPr/>
          <p:nvPr/>
        </p:nvSpPr>
        <p:spPr>
          <a:xfrm>
            <a:off x="504000" y="144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4212000" y="1440000"/>
            <a:ext cx="2372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forma_edad 5">
            <a:hlinkClick r:id="rId5" action="ppaction://hlinksldjump"/>
          </p:cNvPr>
          <p:cNvSpPr/>
          <p:nvPr/>
        </p:nvSpPr>
        <p:spPr>
          <a:xfrm>
            <a:off x="4321440" y="1872000"/>
            <a:ext cx="107604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boton_educativo 5">
            <a:hlinkClick r:id="rId6" action="ppaction://hlinksldjump"/>
          </p:cNvPr>
          <p:cNvSpPr/>
          <p:nvPr/>
        </p:nvSpPr>
        <p:spPr>
          <a:xfrm>
            <a:off x="4321800" y="2224800"/>
            <a:ext cx="107568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74">
            <a:hlinkClick r:id="rId7" action="ppaction://hlinksldjump"/>
          </p:cNvPr>
          <p:cNvSpPr/>
          <p:nvPr/>
        </p:nvSpPr>
        <p:spPr>
          <a:xfrm>
            <a:off x="4322160" y="25776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75">
            <a:hlinkClick r:id="rId8" action="ppaction://hlinksldjump"/>
          </p:cNvPr>
          <p:cNvSpPr/>
          <p:nvPr/>
        </p:nvSpPr>
        <p:spPr>
          <a:xfrm>
            <a:off x="4322520" y="29304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76">
            <a:hlinkClick r:id="rId9" action="ppaction://hlinksldjump"/>
          </p:cNvPr>
          <p:cNvSpPr/>
          <p:nvPr/>
        </p:nvSpPr>
        <p:spPr>
          <a:xfrm>
            <a:off x="4322880" y="3283200"/>
            <a:ext cx="1075320" cy="56484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77">
            <a:hlinkClick r:id="rId10" action="ppaction://hlinksldjump"/>
          </p:cNvPr>
          <p:cNvSpPr/>
          <p:nvPr/>
        </p:nvSpPr>
        <p:spPr>
          <a:xfrm>
            <a:off x="4322880" y="38232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78">
            <a:hlinkClick r:id="rId11" action="ppaction://hlinksldjump"/>
          </p:cNvPr>
          <p:cNvSpPr/>
          <p:nvPr/>
        </p:nvSpPr>
        <p:spPr>
          <a:xfrm>
            <a:off x="4323240" y="417600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79">
            <a:hlinkClick r:id="rId12" action="ppaction://hlinksldjump"/>
          </p:cNvPr>
          <p:cNvSpPr/>
          <p:nvPr/>
        </p:nvSpPr>
        <p:spPr>
          <a:xfrm>
            <a:off x="4323600" y="472536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20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48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90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5" name="Shape 91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6" name="Text 53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338" name="Shape 92"/>
          <p:cNvSpPr/>
          <p:nvPr/>
        </p:nvSpPr>
        <p:spPr>
          <a:xfrm>
            <a:off x="612000" y="1756080"/>
            <a:ext cx="3344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55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 rot="21590400">
            <a:off x="869400" y="1886760"/>
            <a:ext cx="2552040" cy="39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93"/>
          <p:cNvSpPr/>
          <p:nvPr/>
        </p:nvSpPr>
        <p:spPr>
          <a:xfrm>
            <a:off x="4320000" y="1756440"/>
            <a:ext cx="7736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0040" cy="680040"/>
          </a:xfrm>
          <a:prstGeom prst="rect">
            <a:avLst/>
          </a:prstGeom>
          <a:ln w="0">
            <a:noFill/>
          </a:ln>
        </p:spPr>
      </p:pic>
      <p:pic>
        <p:nvPicPr>
          <p:cNvPr id="344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2040" cy="851760"/>
          </a:xfrm>
          <a:prstGeom prst="rect">
            <a:avLst/>
          </a:prstGeom>
          <a:ln w="0">
            <a:noFill/>
          </a:ln>
        </p:spPr>
      </p:pic>
      <p:pic>
        <p:nvPicPr>
          <p:cNvPr id="345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5400" cy="3105000"/>
          </a:xfrm>
          <a:prstGeom prst="rect">
            <a:avLst/>
          </a:prstGeom>
          <a:ln w="0">
            <a:noFill/>
          </a:ln>
        </p:spPr>
      </p:pic>
      <p:sp>
        <p:nvSpPr>
          <p:cNvPr id="346" name=""/>
          <p:cNvSpPr/>
          <p:nvPr/>
        </p:nvSpPr>
        <p:spPr>
          <a:xfrm>
            <a:off x="504000" y="144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4212000" y="1440000"/>
            <a:ext cx="2372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forma_edad 6">
            <a:hlinkClick r:id="rId5" action="ppaction://hlinksldjump"/>
          </p:cNvPr>
          <p:cNvSpPr/>
          <p:nvPr/>
        </p:nvSpPr>
        <p:spPr>
          <a:xfrm>
            <a:off x="4321800" y="1878480"/>
            <a:ext cx="107604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boton_educativo 6">
            <a:hlinkClick r:id="rId6" action="ppaction://hlinksldjump"/>
          </p:cNvPr>
          <p:cNvSpPr/>
          <p:nvPr/>
        </p:nvSpPr>
        <p:spPr>
          <a:xfrm>
            <a:off x="4322160" y="2231280"/>
            <a:ext cx="107568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80">
            <a:hlinkClick r:id="rId7" action="ppaction://hlinksldjump"/>
          </p:cNvPr>
          <p:cNvSpPr/>
          <p:nvPr/>
        </p:nvSpPr>
        <p:spPr>
          <a:xfrm>
            <a:off x="4322520" y="258408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81">
            <a:hlinkClick r:id="rId8" action="ppaction://hlinksldjump"/>
          </p:cNvPr>
          <p:cNvSpPr/>
          <p:nvPr/>
        </p:nvSpPr>
        <p:spPr>
          <a:xfrm>
            <a:off x="4322880" y="293688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82">
            <a:hlinkClick r:id="rId9" action="ppaction://hlinksldjump"/>
          </p:cNvPr>
          <p:cNvSpPr/>
          <p:nvPr/>
        </p:nvSpPr>
        <p:spPr>
          <a:xfrm>
            <a:off x="4323240" y="3289680"/>
            <a:ext cx="1075320" cy="564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83">
            <a:hlinkClick r:id="rId10" action="ppaction://hlinksldjump"/>
          </p:cNvPr>
          <p:cNvSpPr/>
          <p:nvPr/>
        </p:nvSpPr>
        <p:spPr>
          <a:xfrm>
            <a:off x="4323240" y="382968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84">
            <a:hlinkClick r:id="rId11" action="ppaction://hlinksldjump"/>
          </p:cNvPr>
          <p:cNvSpPr/>
          <p:nvPr/>
        </p:nvSpPr>
        <p:spPr>
          <a:xfrm>
            <a:off x="4323600" y="418248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85">
            <a:hlinkClick r:id="rId12" action="ppaction://hlinksldjump"/>
          </p:cNvPr>
          <p:cNvSpPr/>
          <p:nvPr/>
        </p:nvSpPr>
        <p:spPr>
          <a:xfrm>
            <a:off x="4323960" y="473184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21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54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100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9" name="Shape 101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0" name="Text 56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362" name="Shape 102"/>
          <p:cNvSpPr/>
          <p:nvPr/>
        </p:nvSpPr>
        <p:spPr>
          <a:xfrm>
            <a:off x="612000" y="1756080"/>
            <a:ext cx="3344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58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 rot="21590400">
            <a:off x="869400" y="1886760"/>
            <a:ext cx="2552040" cy="39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03"/>
          <p:cNvSpPr/>
          <p:nvPr/>
        </p:nvSpPr>
        <p:spPr>
          <a:xfrm>
            <a:off x="4320000" y="1756440"/>
            <a:ext cx="7736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0040" cy="680040"/>
          </a:xfrm>
          <a:prstGeom prst="rect">
            <a:avLst/>
          </a:prstGeom>
          <a:ln w="0">
            <a:noFill/>
          </a:ln>
        </p:spPr>
      </p:pic>
      <p:pic>
        <p:nvPicPr>
          <p:cNvPr id="368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2040" cy="851760"/>
          </a:xfrm>
          <a:prstGeom prst="rect">
            <a:avLst/>
          </a:prstGeom>
          <a:ln w="0">
            <a:noFill/>
          </a:ln>
        </p:spPr>
      </p:pic>
      <p:pic>
        <p:nvPicPr>
          <p:cNvPr id="369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5400" cy="3105000"/>
          </a:xfrm>
          <a:prstGeom prst="rect">
            <a:avLst/>
          </a:prstGeom>
          <a:ln w="0">
            <a:noFill/>
          </a:ln>
        </p:spPr>
      </p:pic>
      <p:sp>
        <p:nvSpPr>
          <p:cNvPr id="370" name=""/>
          <p:cNvSpPr/>
          <p:nvPr/>
        </p:nvSpPr>
        <p:spPr>
          <a:xfrm>
            <a:off x="504000" y="144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4212000" y="1440000"/>
            <a:ext cx="2372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forma_edad 7">
            <a:hlinkClick r:id="rId5" action="ppaction://hlinksldjump"/>
          </p:cNvPr>
          <p:cNvSpPr/>
          <p:nvPr/>
        </p:nvSpPr>
        <p:spPr>
          <a:xfrm>
            <a:off x="4322160" y="1884600"/>
            <a:ext cx="107604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boton_educativo 7">
            <a:hlinkClick r:id="rId6" action="ppaction://hlinksldjump"/>
          </p:cNvPr>
          <p:cNvSpPr/>
          <p:nvPr/>
        </p:nvSpPr>
        <p:spPr>
          <a:xfrm>
            <a:off x="4322520" y="2237400"/>
            <a:ext cx="107568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86">
            <a:hlinkClick r:id="rId7" action="ppaction://hlinksldjump"/>
          </p:cNvPr>
          <p:cNvSpPr/>
          <p:nvPr/>
        </p:nvSpPr>
        <p:spPr>
          <a:xfrm>
            <a:off x="4322880" y="25902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87">
            <a:hlinkClick r:id="rId8" action="ppaction://hlinksldjump"/>
          </p:cNvPr>
          <p:cNvSpPr/>
          <p:nvPr/>
        </p:nvSpPr>
        <p:spPr>
          <a:xfrm>
            <a:off x="4323240" y="29430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88">
            <a:hlinkClick r:id="rId9" action="ppaction://hlinksldjump"/>
          </p:cNvPr>
          <p:cNvSpPr/>
          <p:nvPr/>
        </p:nvSpPr>
        <p:spPr>
          <a:xfrm>
            <a:off x="4323600" y="3295800"/>
            <a:ext cx="1075320" cy="564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89">
            <a:hlinkClick r:id="rId10" action="ppaction://hlinksldjump"/>
          </p:cNvPr>
          <p:cNvSpPr/>
          <p:nvPr/>
        </p:nvSpPr>
        <p:spPr>
          <a:xfrm>
            <a:off x="4323600" y="383580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94">
            <a:hlinkClick r:id="rId11" action="ppaction://hlinksldjump"/>
          </p:cNvPr>
          <p:cNvSpPr/>
          <p:nvPr/>
        </p:nvSpPr>
        <p:spPr>
          <a:xfrm>
            <a:off x="4323960" y="418860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95">
            <a:hlinkClick r:id="rId12" action="ppaction://hlinksldjump"/>
          </p:cNvPr>
          <p:cNvSpPr/>
          <p:nvPr/>
        </p:nvSpPr>
        <p:spPr>
          <a:xfrm>
            <a:off x="4324320" y="473796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22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57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110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83" name="Shape 111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4" name="Text 59"/>
          <p:cNvSpPr/>
          <p:nvPr/>
        </p:nvSpPr>
        <p:spPr>
          <a:xfrm>
            <a:off x="540000" y="388800"/>
            <a:ext cx="67165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386" name="Shape 112"/>
          <p:cNvSpPr/>
          <p:nvPr/>
        </p:nvSpPr>
        <p:spPr>
          <a:xfrm>
            <a:off x="612000" y="1756080"/>
            <a:ext cx="3344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61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 rot="21590400">
            <a:off x="869400" y="1886760"/>
            <a:ext cx="2552040" cy="39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boton_gasto">
            <a:hlinkClick r:id="rId2" action="ppaction://hlinksldjump"/>
          </p:cNvPr>
          <p:cNvSpPr/>
          <p:nvPr/>
        </p:nvSpPr>
        <p:spPr>
          <a:xfrm>
            <a:off x="4320000" y="1756440"/>
            <a:ext cx="7736040" cy="43599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1" name="" descr=""/>
          <p:cNvPicPr/>
          <p:nvPr/>
        </p:nvPicPr>
        <p:blipFill>
          <a:blip r:embed="rId3"/>
          <a:srcRect l="13319" t="0" r="30340" b="8795"/>
          <a:stretch/>
        </p:blipFill>
        <p:spPr>
          <a:xfrm>
            <a:off x="4140000" y="5710320"/>
            <a:ext cx="680040" cy="680040"/>
          </a:xfrm>
          <a:prstGeom prst="rect">
            <a:avLst/>
          </a:prstGeom>
          <a:ln w="0">
            <a:noFill/>
          </a:ln>
        </p:spPr>
      </p:pic>
      <p:pic>
        <p:nvPicPr>
          <p:cNvPr id="392" name="" descr=""/>
          <p:cNvPicPr/>
          <p:nvPr/>
        </p:nvPicPr>
        <p:blipFill>
          <a:blip r:embed="rId4"/>
          <a:stretch/>
        </p:blipFill>
        <p:spPr>
          <a:xfrm>
            <a:off x="-36000" y="5624640"/>
            <a:ext cx="1382040" cy="851760"/>
          </a:xfrm>
          <a:prstGeom prst="rect">
            <a:avLst/>
          </a:prstGeom>
          <a:ln w="0">
            <a:noFill/>
          </a:ln>
        </p:spPr>
      </p:pic>
      <p:pic>
        <p:nvPicPr>
          <p:cNvPr id="393" name="" descr=""/>
          <p:cNvPicPr/>
          <p:nvPr/>
        </p:nvPicPr>
        <p:blipFill>
          <a:blip r:embed="rId5"/>
          <a:stretch/>
        </p:blipFill>
        <p:spPr>
          <a:xfrm>
            <a:off x="5716440" y="2411640"/>
            <a:ext cx="6305400" cy="3105000"/>
          </a:xfrm>
          <a:prstGeom prst="rect">
            <a:avLst/>
          </a:prstGeom>
          <a:ln w="0">
            <a:noFill/>
          </a:ln>
        </p:spPr>
      </p:pic>
      <p:sp>
        <p:nvSpPr>
          <p:cNvPr id="394" name=""/>
          <p:cNvSpPr/>
          <p:nvPr/>
        </p:nvSpPr>
        <p:spPr>
          <a:xfrm>
            <a:off x="504000" y="144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4212000" y="1440000"/>
            <a:ext cx="2372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forma_edad 8">
            <a:hlinkClick r:id="rId6" action="ppaction://hlinksldjump"/>
          </p:cNvPr>
          <p:cNvSpPr/>
          <p:nvPr/>
        </p:nvSpPr>
        <p:spPr>
          <a:xfrm>
            <a:off x="4322520" y="1890720"/>
            <a:ext cx="107604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boton_educativo 8">
            <a:hlinkClick r:id="rId7" action="ppaction://hlinksldjump"/>
          </p:cNvPr>
          <p:cNvSpPr/>
          <p:nvPr/>
        </p:nvSpPr>
        <p:spPr>
          <a:xfrm>
            <a:off x="4322880" y="2243520"/>
            <a:ext cx="107568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96">
            <a:hlinkClick r:id="rId8" action="ppaction://hlinksldjump"/>
          </p:cNvPr>
          <p:cNvSpPr/>
          <p:nvPr/>
        </p:nvSpPr>
        <p:spPr>
          <a:xfrm>
            <a:off x="4323240" y="259632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97">
            <a:hlinkClick r:id="rId9" action="ppaction://hlinksldjump"/>
          </p:cNvPr>
          <p:cNvSpPr/>
          <p:nvPr/>
        </p:nvSpPr>
        <p:spPr>
          <a:xfrm>
            <a:off x="4323600" y="294912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98">
            <a:hlinkClick r:id="rId10" action="ppaction://hlinksldjump"/>
          </p:cNvPr>
          <p:cNvSpPr/>
          <p:nvPr/>
        </p:nvSpPr>
        <p:spPr>
          <a:xfrm>
            <a:off x="4323960" y="3301920"/>
            <a:ext cx="1075320" cy="564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99">
            <a:hlinkClick r:id="rId11" action="ppaction://hlinksldjump"/>
          </p:cNvPr>
          <p:cNvSpPr/>
          <p:nvPr/>
        </p:nvSpPr>
        <p:spPr>
          <a:xfrm>
            <a:off x="4323960" y="3841920"/>
            <a:ext cx="1075320" cy="35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04">
            <a:hlinkClick r:id="rId12" action="ppaction://hlinksldjump"/>
          </p:cNvPr>
          <p:cNvSpPr/>
          <p:nvPr/>
        </p:nvSpPr>
        <p:spPr>
          <a:xfrm>
            <a:off x="4324320" y="419472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05">
            <a:hlinkClick r:id="rId13" action="ppaction://hlinksldjump"/>
          </p:cNvPr>
          <p:cNvSpPr/>
          <p:nvPr/>
        </p:nvSpPr>
        <p:spPr>
          <a:xfrm>
            <a:off x="4324680" y="4744080"/>
            <a:ext cx="1075320" cy="53604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23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60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106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07" name="Shape 107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8" name="Text 50"/>
          <p:cNvSpPr/>
          <p:nvPr/>
        </p:nvSpPr>
        <p:spPr>
          <a:xfrm>
            <a:off x="540000" y="388800"/>
            <a:ext cx="647676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9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410" name="Shape 108">
            <a:hlinkClick r:id="rId2" action="ppaction://hlinksldjump"/>
          </p:cNvPr>
          <p:cNvSpPr/>
          <p:nvPr/>
        </p:nvSpPr>
        <p:spPr>
          <a:xfrm>
            <a:off x="612000" y="1936080"/>
            <a:ext cx="10724040" cy="148068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77,8%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la plantilla tiene educación secundaria. El desarrollo profesional debería priorizar la formación práctica, modular y certificable frente a los itinerarios académicos tradicionales.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52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648000" y="1584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Educación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 rot="21590400">
            <a:off x="862920" y="1875600"/>
            <a:ext cx="10467360" cy="17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648000" y="396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Conciliación familiar</a:t>
            </a:r>
            <a:r>
              <a:rPr b="1" lang="es-ES" sz="1800" spc="-1" strike="noStrike">
                <a:solidFill>
                  <a:srgbClr val="696969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109"/>
          <p:cNvSpPr/>
          <p:nvPr/>
        </p:nvSpPr>
        <p:spPr>
          <a:xfrm>
            <a:off x="612000" y="4319640"/>
            <a:ext cx="10724040" cy="14011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La plantilla se concentra entre 30 y 40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52,8%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 y entre 40 y 50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). Además,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66,7%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al menos un hijo y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38,9%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dos o más. Esto apunta a una plantilla en una etapa vital donde la conciliación puede ser crítica para el compromiso.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24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51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11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121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0" name="Shape 122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1" name="Text 68"/>
          <p:cNvSpPr/>
          <p:nvPr/>
        </p:nvSpPr>
        <p:spPr>
          <a:xfrm>
            <a:off x="540000" y="388800"/>
            <a:ext cx="647676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2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423" name="Text 70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648000" y="1584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Educación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 rot="21590400">
            <a:off x="862920" y="1875600"/>
            <a:ext cx="10467360" cy="17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648000" y="396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Conciliación familiar</a:t>
            </a:r>
            <a:r>
              <a:rPr b="1" lang="es-ES" sz="1800" spc="-1" strike="noStrike">
                <a:solidFill>
                  <a:srgbClr val="696969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24">
            <a:hlinkClick r:id="rId2" action="ppaction://hlinksldjump"/>
          </p:cNvPr>
          <p:cNvSpPr/>
          <p:nvPr/>
        </p:nvSpPr>
        <p:spPr>
          <a:xfrm>
            <a:off x="612000" y="4319640"/>
            <a:ext cx="10724040" cy="14011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La plantilla se concentra entre 30 y 40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52,8%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 y entre 40 y 50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). Además,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66,7%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al menos un hijo y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38,9%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dos o más. Esto apunta a una plantilla en una etapa vital donde la conciliación puede ser crítica para el compromiso.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125"/>
          <p:cNvSpPr/>
          <p:nvPr/>
        </p:nvSpPr>
        <p:spPr>
          <a:xfrm>
            <a:off x="612000" y="1960200"/>
            <a:ext cx="10724040" cy="16513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Crear itinerarios cortos de capacitación en liderazgo operativo, planificación de rutas, gestión de incidencias, atención al cliente y herramientas digitales.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Diseñar rutas de carrera desde posiciones operativas hacia coordinador de equipo, formador interno, supervisor de rutas o planificación logística.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Usar a los empleados con mayor antigüedad como mentores, especialmente porque hay una base importante de experiencia acumulada.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25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69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11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117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3" name="Shape 118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4" name="Text 65"/>
          <p:cNvSpPr/>
          <p:nvPr/>
        </p:nvSpPr>
        <p:spPr>
          <a:xfrm>
            <a:off x="540000" y="388800"/>
            <a:ext cx="647676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5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436" name="Text 67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648000" y="1584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Educación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 rot="21590400">
            <a:off x="862920" y="1875600"/>
            <a:ext cx="10467360" cy="17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648000" y="3960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Conciliación familiar</a:t>
            </a:r>
            <a:r>
              <a:rPr b="1" lang="es-ES" sz="1800" spc="-1" strike="noStrike">
                <a:solidFill>
                  <a:srgbClr val="696969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20"/>
          <p:cNvSpPr/>
          <p:nvPr/>
        </p:nvSpPr>
        <p:spPr>
          <a:xfrm>
            <a:off x="612000" y="4319640"/>
            <a:ext cx="10724040" cy="179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Ofrecer mayor previsibilidad de turnos y rutas.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Facilitar cambios de turno planificados.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Diseñar medidas específicas para empleados con responsabilidades familiares, especialmente en campañas de alta demanda.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Analizar si el absentismo concentrado en lunes o en verano puede estar relacionado con tensiones de conciliación, vacaciones escolares o cargas familiares.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30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66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158"/>
          <p:cNvSpPr/>
          <p:nvPr/>
        </p:nvSpPr>
        <p:spPr>
          <a:xfrm>
            <a:off x="612360" y="1910880"/>
            <a:ext cx="10724040" cy="16513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Crear itinerarios cortos de capacitación en liderazgo operativo, planificación de rutas, gestión de incidencias, atención al cliente y herramientas digitales.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Diseñar rutas de carrera desde posiciones operativas hacia coordinador de equipo, formador interno, supervisor de rutas o planificación logística.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Usar a los empleados con mayor antigüedad como mentores, especialmente porque hay una base importante de experiencia acumulada.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113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6" name="Shape 114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7" name="Text 62"/>
          <p:cNvSpPr/>
          <p:nvPr/>
        </p:nvSpPr>
        <p:spPr>
          <a:xfrm>
            <a:off x="540000" y="388800"/>
            <a:ext cx="647676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8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449" name="Shape 115">
            <a:hlinkClick r:id="rId2" action="ppaction://hlinksldjump"/>
          </p:cNvPr>
          <p:cNvSpPr/>
          <p:nvPr/>
        </p:nvSpPr>
        <p:spPr>
          <a:xfrm>
            <a:off x="612000" y="1936080"/>
            <a:ext cx="10724040" cy="94068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38,9%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la plantilla tiene sobrepeso y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25%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presenta obesidad. En una empresa de reparto, donde hay exigencia física por conducción, carga y trabajo en almacén, este dato es especialmente relevante.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64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648000" y="1584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Bienestar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 rot="21590400">
            <a:off x="862920" y="1875600"/>
            <a:ext cx="10467360" cy="17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648000" y="3672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Movilidad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116"/>
          <p:cNvSpPr/>
          <p:nvPr/>
        </p:nvSpPr>
        <p:spPr>
          <a:xfrm>
            <a:off x="612000" y="3995640"/>
            <a:ext cx="10724040" cy="10411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vive lejos. Y 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70%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tiene un gasto medio, alto en transporte.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31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63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129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9" name="Shape 130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0" name="Text 74"/>
          <p:cNvSpPr/>
          <p:nvPr/>
        </p:nvSpPr>
        <p:spPr>
          <a:xfrm>
            <a:off x="540000" y="388800"/>
            <a:ext cx="647676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1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462" name="Shape 131"/>
          <p:cNvSpPr/>
          <p:nvPr/>
        </p:nvSpPr>
        <p:spPr>
          <a:xfrm>
            <a:off x="612000" y="1936080"/>
            <a:ext cx="10724040" cy="94068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Revisión de cargas, rutas, tiempos de descanso y exposición física.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Tener un acuerdo con un médico de confianza para consultas médicas y acuerdos con clínicas dentales.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Liga de futbol 7 amateur.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76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648000" y="1584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Bienestar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 rot="21590400">
            <a:off x="862920" y="1875600"/>
            <a:ext cx="10467360" cy="17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648000" y="3672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Movilidad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32"/>
          <p:cNvSpPr/>
          <p:nvPr/>
        </p:nvSpPr>
        <p:spPr>
          <a:xfrm>
            <a:off x="612000" y="3995640"/>
            <a:ext cx="10724040" cy="10411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Valorar ayudas de transporte para empleados con mayor distancia o coste.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Optimizar asignación de centros, rutas o bases cuando sea posible.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Explorar turnos compactos o más previsibles para quienes viven más lejos.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33">
            <a:hlinkClick r:id="rId2" action="ppaction://hlinksldjump"/>
          </p:cNvPr>
          <p:cNvSpPr/>
          <p:nvPr/>
        </p:nvSpPr>
        <p:spPr>
          <a:xfrm>
            <a:off x="612000" y="3995640"/>
            <a:ext cx="10724040" cy="10411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vive lejos. Y 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70%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tiene un gasto medio, alto en transporte.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32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75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123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3" name="Shape 126"/>
          <p:cNvSpPr/>
          <p:nvPr/>
        </p:nvSpPr>
        <p:spPr>
          <a:xfrm>
            <a:off x="0" y="6510600"/>
            <a:ext cx="12187440" cy="361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4" name="Text 71"/>
          <p:cNvSpPr/>
          <p:nvPr/>
        </p:nvSpPr>
        <p:spPr>
          <a:xfrm>
            <a:off x="540000" y="388800"/>
            <a:ext cx="647676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5" name="" descr=""/>
          <p:cNvPicPr/>
          <p:nvPr/>
        </p:nvPicPr>
        <p:blipFill>
          <a:blip r:embed="rId1"/>
          <a:srcRect l="0" t="26247" r="0" b="23016"/>
          <a:stretch/>
        </p:blipFill>
        <p:spPr>
          <a:xfrm>
            <a:off x="10038240" y="288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476" name="Shape 127"/>
          <p:cNvSpPr/>
          <p:nvPr/>
        </p:nvSpPr>
        <p:spPr>
          <a:xfrm>
            <a:off x="612000" y="1936080"/>
            <a:ext cx="10724040" cy="94068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Programas de salud física, ergonomía, prevención de lesiones y hábitos saludables.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Revisión de cargas, rutas, tiempos de descanso y exposición física.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Tener un médico en la empresa para consultas médicas y acuerdos con clínicas dentales.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73"/>
          <p:cNvSpPr/>
          <p:nvPr/>
        </p:nvSpPr>
        <p:spPr>
          <a:xfrm>
            <a:off x="168120" y="6538320"/>
            <a:ext cx="2995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648000" y="1584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Bienestar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560880" y="971280"/>
            <a:ext cx="94734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 rot="21590400">
            <a:off x="862920" y="1875600"/>
            <a:ext cx="10467360" cy="17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648000" y="3672000"/>
            <a:ext cx="32360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Movilidad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128"/>
          <p:cNvSpPr/>
          <p:nvPr/>
        </p:nvSpPr>
        <p:spPr>
          <a:xfrm>
            <a:off x="612000" y="3995640"/>
            <a:ext cx="10724040" cy="10411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Valorar ayudas de transporte para empleados con mayor distancia o coste.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Optimizar asignación de centros, rutas o bases cuando sea posible.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Explorar turnos compactos o más previsibles para quienes viven más lejos.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33"/>
          <p:cNvSpPr/>
          <p:nvPr/>
        </p:nvSpPr>
        <p:spPr>
          <a:xfrm>
            <a:off x="2742840" y="6538320"/>
            <a:ext cx="13946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72"/>
          <p:cNvSpPr/>
          <p:nvPr/>
        </p:nvSpPr>
        <p:spPr>
          <a:xfrm>
            <a:off x="11412000" y="6538320"/>
            <a:ext cx="7534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171"/>
          <p:cNvSpPr/>
          <p:nvPr/>
        </p:nvSpPr>
        <p:spPr>
          <a:xfrm>
            <a:off x="612000" y="1936080"/>
            <a:ext cx="10724040" cy="100728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Revisión de cargas, rutas, tiempos de descanso y exposición física.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Tener un acuerdo con un médico de confianza para consultas médicas y acuerdos con clínicas dentales.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Liga de futbol 7 amateur.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32840" cy="6351480"/>
          </a:xfrm>
          <a:prstGeom prst="rect">
            <a:avLst/>
          </a:prstGeom>
          <a:ln w="0">
            <a:noFill/>
          </a:ln>
        </p:spPr>
      </p:pic>
      <p:sp>
        <p:nvSpPr>
          <p:cNvPr id="487" name="Shape 5"/>
          <p:cNvSpPr/>
          <p:nvPr/>
        </p:nvSpPr>
        <p:spPr>
          <a:xfrm>
            <a:off x="0" y="0"/>
            <a:ext cx="12187440" cy="16020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8" name="Shape 6"/>
          <p:cNvSpPr/>
          <p:nvPr/>
        </p:nvSpPr>
        <p:spPr>
          <a:xfrm>
            <a:off x="0" y="6519600"/>
            <a:ext cx="12187440" cy="352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9" name="Text 4"/>
          <p:cNvSpPr/>
          <p:nvPr/>
        </p:nvSpPr>
        <p:spPr>
          <a:xfrm>
            <a:off x="1116000" y="3744000"/>
            <a:ext cx="197604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6b7280"/>
                </a:solidFill>
                <a:latin typeface="Aptos"/>
                <a:ea typeface="DejaVu Sans"/>
              </a:rPr>
              <a:t>Junio 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0" name="" descr=""/>
          <p:cNvPicPr/>
          <p:nvPr/>
        </p:nvPicPr>
        <p:blipFill>
          <a:blip r:embed="rId2"/>
          <a:srcRect l="0" t="26247" r="0" b="23016"/>
          <a:stretch/>
        </p:blipFill>
        <p:spPr>
          <a:xfrm>
            <a:off x="216000" y="360360"/>
            <a:ext cx="1945800" cy="535680"/>
          </a:xfrm>
          <a:prstGeom prst="rect">
            <a:avLst/>
          </a:prstGeom>
          <a:ln w="0">
            <a:noFill/>
          </a:ln>
        </p:spPr>
      </p:pic>
      <p:sp>
        <p:nvSpPr>
          <p:cNvPr id="491" name="Text 7"/>
          <p:cNvSpPr/>
          <p:nvPr/>
        </p:nvSpPr>
        <p:spPr>
          <a:xfrm>
            <a:off x="1104120" y="3420000"/>
            <a:ext cx="335592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2026-07-04T17:08:40Z</dcterms:created>
  <dc:creator/>
  <dc:description/>
  <dc:language>es-ES</dc:language>
  <cp:lastModifiedBy/>
  <dcterms:modified xsi:type="dcterms:W3CDTF">2026-07-06T13:05:10Z</dcterms:modified>
  <cp:revision>73</cp:revision>
  <dc:subject/>
  <dc:title>Plantilla resultados absentismo RapidExpress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11</vt:i4>
  </property>
</Properties>
</file>