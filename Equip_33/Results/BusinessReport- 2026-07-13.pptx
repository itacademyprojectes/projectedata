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slideMaster6.xml" ContentType="application/vnd.openxmlformats-officedocument.presentationml.slideMaster+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_rels/notesSlide2.xml.rels" ContentType="application/vnd.openxmlformats-package.relationships+xml"/>
  <Override PartName="/ppt/notesSlides/_rels/notesSlide6.xml.rels" ContentType="application/vnd.openxmlformats-package.relationships+xml"/>
  <Override PartName="/ppt/notesSlides/notesSlide2.xml" ContentType="application/vnd.openxmlformats-officedocument.presentationml.notesSlide+xml"/>
  <Override PartName="/ppt/notesSlides/notesSlide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s-ES" sz="4400" spc="-1" strike="noStrike">
                <a:solidFill>
                  <a:srgbClr val="000000"/>
                </a:solidFill>
                <a:latin typeface="Arial"/>
              </a:rPr>
              <a:t>Pulse para desplazar la diapositiva</a:t>
            </a:r>
            <a:endParaRPr b="0" lang="es-ES" sz="4400" spc="-1" strike="noStrike">
              <a:solidFill>
                <a:srgbClr val="000000"/>
              </a:solidFill>
              <a:latin typeface="Arial"/>
            </a:endParaRPr>
          </a:p>
        </p:txBody>
      </p:sp>
      <p:sp>
        <p:nvSpPr>
          <p:cNvPr id="3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s-ES" sz="2000" spc="-1" strike="noStrike">
                <a:solidFill>
                  <a:srgbClr val="000000"/>
                </a:solidFill>
                <a:latin typeface="Arial"/>
              </a:rPr>
              <a:t>Pulse para editar el formato de las notas</a:t>
            </a:r>
            <a:endParaRPr b="0" lang="es-ES" sz="2000" spc="-1" strike="noStrike">
              <a:solidFill>
                <a:srgbClr val="000000"/>
              </a:solidFill>
              <a:latin typeface="Arial"/>
            </a:endParaRPr>
          </a:p>
        </p:txBody>
      </p:sp>
      <p:sp>
        <p:nvSpPr>
          <p:cNvPr id="3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ES" sz="1400" spc="-1" strike="noStrike">
                <a:solidFill>
                  <a:srgbClr val="000000"/>
                </a:solidFill>
                <a:latin typeface="Times New Roman"/>
              </a:rPr>
              <a:t>&lt;cabecera&gt;</a:t>
            </a:r>
            <a:endParaRPr b="0" lang="es-ES" sz="1400" spc="-1" strike="noStrike">
              <a:solidFill>
                <a:srgbClr val="000000"/>
              </a:solidFill>
              <a:latin typeface="Times New Roman"/>
            </a:endParaRPr>
          </a:p>
        </p:txBody>
      </p:sp>
      <p:sp>
        <p:nvSpPr>
          <p:cNvPr id="38" name="PlaceHolder 4"/>
          <p:cNvSpPr>
            <a:spLocks noGrp="1"/>
          </p:cNvSpPr>
          <p:nvPr>
            <p:ph type="dt" idx="16"/>
          </p:nvPr>
        </p:nvSpPr>
        <p:spPr>
          <a:xfrm>
            <a:off x="4278960" y="0"/>
            <a:ext cx="3280680" cy="534240"/>
          </a:xfrm>
          <a:prstGeom prst="rect">
            <a:avLst/>
          </a:prstGeom>
          <a:noFill/>
          <a:ln w="0">
            <a:noFill/>
          </a:ln>
        </p:spPr>
        <p:txBody>
          <a:bodyPr lIns="0" rIns="0" tIns="0" bIns="0" anchor="t">
            <a:noAutofit/>
          </a:bodyPr>
          <a:lstStyle>
            <a:lvl1pPr indent="0" algn="r">
              <a:buNone/>
              <a:defRPr b="0" lang="es-ES" sz="1400" spc="-1" strike="noStrike">
                <a:solidFill>
                  <a:srgbClr val="000000"/>
                </a:solidFill>
                <a:latin typeface="Times New Roman"/>
              </a:defRPr>
            </a:lvl1pPr>
          </a:lstStyle>
          <a:p>
            <a:pPr indent="0" algn="r">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39" name="PlaceHolder 5"/>
          <p:cNvSpPr>
            <a:spLocks noGrp="1"/>
          </p:cNvSpPr>
          <p:nvPr>
            <p:ph type="ftr" idx="17"/>
          </p:nvPr>
        </p:nvSpPr>
        <p:spPr>
          <a:xfrm>
            <a:off x="0" y="10157400"/>
            <a:ext cx="3280680" cy="534240"/>
          </a:xfrm>
          <a:prstGeom prst="rect">
            <a:avLst/>
          </a:prstGeom>
          <a:noFill/>
          <a:ln w="0">
            <a:noFill/>
          </a:ln>
        </p:spPr>
        <p:txBody>
          <a:bodyPr lIns="0" rIns="0" tIns="0" bIns="0" anchor="b">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40" name="PlaceHolder 6"/>
          <p:cNvSpPr>
            <a:spLocks noGrp="1"/>
          </p:cNvSpPr>
          <p:nvPr>
            <p:ph type="sldNum" idx="18"/>
          </p:nvPr>
        </p:nvSpPr>
        <p:spPr>
          <a:xfrm>
            <a:off x="4278960" y="10157400"/>
            <a:ext cx="3280680" cy="534240"/>
          </a:xfrm>
          <a:prstGeom prst="rect">
            <a:avLst/>
          </a:prstGeom>
          <a:noFill/>
          <a:ln w="0">
            <a:noFill/>
          </a:ln>
        </p:spPr>
        <p:txBody>
          <a:bodyPr lIns="0" rIns="0" tIns="0" bIns="0" anchor="b">
            <a:noAutofit/>
          </a:bodyPr>
          <a:lstStyle>
            <a:lvl1pPr indent="0" algn="r">
              <a:buNone/>
              <a:defRPr b="0" lang="es-ES" sz="1400" spc="-1" strike="noStrike">
                <a:solidFill>
                  <a:srgbClr val="000000"/>
                </a:solidFill>
                <a:latin typeface="Times New Roman"/>
              </a:defRPr>
            </a:lvl1pPr>
          </a:lstStyle>
          <a:p>
            <a:pPr indent="0" algn="r">
              <a:buNone/>
            </a:pPr>
            <a:fld id="{7E00E717-E4D0-4030-BD04-177F892BEB47}"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360" y="-360"/>
            <a:ext cx="0" cy="0"/>
          </a:xfrm>
          <a:prstGeom prst="rect">
            <a:avLst/>
          </a:prstGeom>
          <a:ln w="0">
            <a:noFill/>
          </a:ln>
        </p:spPr>
      </p:sp>
      <p:sp>
        <p:nvSpPr>
          <p:cNvPr id="24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s-ES" sz="1800" spc="-1" strike="noStrike">
              <a:solidFill>
                <a:srgbClr val="000000"/>
              </a:solidFill>
              <a:latin typeface="Arial"/>
            </a:endParaRPr>
          </a:p>
        </p:txBody>
      </p:sp>
      <p:sp>
        <p:nvSpPr>
          <p:cNvPr id="244"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pc="-1" strike="noStrike">
                <a:solidFill>
                  <a:schemeClr val="dk1"/>
                </a:solidFill>
                <a:latin typeface="+mn-lt"/>
                <a:ea typeface="+mn-ea"/>
              </a:defRPr>
            </a:lvl1pPr>
          </a:lstStyle>
          <a:p>
            <a:pPr indent="0" algn="r" defTabSz="914400">
              <a:lnSpc>
                <a:spcPct val="100000"/>
              </a:lnSpc>
              <a:buNone/>
              <a:tabLst>
                <a:tab algn="l" pos="0"/>
              </a:tabLst>
            </a:pPr>
            <a:fld id="{12BE379F-733E-4305-BC95-013FE4377142}" type="slidenum">
              <a:rPr b="0" lang="en-US" sz="1800" spc="-1" strike="noStrike">
                <a:solidFill>
                  <a:schemeClr val="dk1"/>
                </a:solidFill>
                <a:latin typeface="+mn-lt"/>
                <a:ea typeface="+mn-ea"/>
              </a:rPr>
              <a:t>&lt;número&gt;</a:t>
            </a:fld>
            <a:endParaRPr b="0" lang="es-ES" sz="18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360" y="-360"/>
            <a:ext cx="0" cy="0"/>
          </a:xfrm>
          <a:prstGeom prst="rect">
            <a:avLst/>
          </a:prstGeom>
          <a:ln w="0">
            <a:noFill/>
          </a:ln>
        </p:spPr>
      </p:sp>
      <p:sp>
        <p:nvSpPr>
          <p:cNvPr id="24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tabLst>
                <a:tab algn="l" pos="0"/>
              </a:tabLst>
            </a:pPr>
            <a:r>
              <a:rPr b="0" lang="en-US" sz="2000" spc="-1" strike="noStrike">
                <a:solidFill>
                  <a:srgbClr val="000000"/>
                </a:solidFill>
                <a:latin typeface="Arial"/>
              </a:rPr>
              <a:t>Los resultados no permiten afirmar que las incidencias disciplinarias causen más absentismo, pero sí identifican este colectivo como un grupo de riesgo prioritario. Las siguientes medidas convierten esta evidencia en un proceso de gestión basado en datos.</a:t>
            </a:r>
            <a:endParaRPr b="0" lang="es-ES" sz="2000" spc="-1" strike="noStrike">
              <a:solidFill>
                <a:srgbClr val="000000"/>
              </a:solidFill>
              <a:latin typeface="Arial"/>
            </a:endParaRPr>
          </a:p>
        </p:txBody>
      </p:sp>
      <p:sp>
        <p:nvSpPr>
          <p:cNvPr id="247" name="PlaceHolder 3"/>
          <p:cNvSpPr>
            <a:spLocks noGrp="1"/>
          </p:cNvSpPr>
          <p:nvPr>
            <p:ph type="sldNum" idx="20"/>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pc="-1" strike="noStrike">
                <a:solidFill>
                  <a:schemeClr val="dk1"/>
                </a:solidFill>
                <a:latin typeface="+mn-lt"/>
                <a:ea typeface="+mn-ea"/>
              </a:defRPr>
            </a:lvl1pPr>
          </a:lstStyle>
          <a:p>
            <a:pPr indent="0" algn="r" defTabSz="914400">
              <a:lnSpc>
                <a:spcPct val="100000"/>
              </a:lnSpc>
              <a:buNone/>
              <a:tabLst>
                <a:tab algn="l" pos="0"/>
              </a:tabLst>
            </a:pPr>
            <a:fld id="{1094D2C8-5B0A-4381-91DC-EF865645A6B0}" type="slidenum">
              <a:rPr b="0" lang="en-US" sz="1800" spc="-1" strike="noStrike">
                <a:solidFill>
                  <a:schemeClr val="dk1"/>
                </a:solidFill>
                <a:latin typeface="+mn-lt"/>
                <a:ea typeface="+mn-ea"/>
              </a:rPr>
              <a:t>&lt;número&gt;</a:t>
            </a:fld>
            <a:endParaRPr b="0" lang="es-ES" sz="18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1800"/>
            <a:ext cx="10964160" cy="114012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4E9D0BF-22BF-4C7C-9B77-FD8E5B818225}" type="slidenum">
              <a:t>&lt;#&gt;</a:t>
            </a:fld>
          </a:p>
        </p:txBody>
      </p:sp>
      <p:sp>
        <p:nvSpPr>
          <p:cNvPr id="6" name="PlaceHolder 5"/>
          <p:cNvSpPr>
            <a:spLocks noGrp="1"/>
          </p:cNvSpPr>
          <p:nvPr>
            <p:ph type="dt" idx="3"/>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redeterminado">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1800"/>
            <a:ext cx="10964160" cy="114012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B5B88A6F-7216-4DA0-A9C1-20F0B35E69F5}" type="slidenum">
              <a:t>&lt;#&gt;</a:t>
            </a:fld>
          </a:p>
        </p:txBody>
      </p:sp>
      <p:sp>
        <p:nvSpPr>
          <p:cNvPr id="6" name="PlaceHolder 5"/>
          <p:cNvSpPr>
            <a:spLocks noGrp="1"/>
          </p:cNvSpPr>
          <p:nvPr>
            <p:ph type="dt" idx="6"/>
          </p:nvPr>
        </p:nvSpPr>
        <p:spPr/>
        <p:txBody>
          <a:bodyPr/>
          <a:p>
            <a:r>
              <a:rPr lang="es-E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1">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1800"/>
            <a:ext cx="10964160" cy="114012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2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2D4AAC39-98D4-445B-B918-08FF75D9B292}" type="slidenum">
              <a:t>&lt;#&gt;</a:t>
            </a:fld>
          </a:p>
        </p:txBody>
      </p:sp>
      <p:sp>
        <p:nvSpPr>
          <p:cNvPr id="6" name="PlaceHolder 5"/>
          <p:cNvSpPr>
            <a:spLocks noGrp="1"/>
          </p:cNvSpPr>
          <p:nvPr>
            <p:ph type="dt" idx="9"/>
          </p:nvPr>
        </p:nvSpPr>
        <p:spPr/>
        <p:txBody>
          <a:bodyPr/>
          <a:p>
            <a:r>
              <a:rPr lang="es-E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redeterminado 2">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1800"/>
            <a:ext cx="10964160" cy="114012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2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F0B2ECFB-3BF9-412E-B12C-1151D9BAA3DE}" type="slidenum">
              <a:t>&lt;#&gt;</a:t>
            </a:fld>
          </a:p>
        </p:txBody>
      </p:sp>
      <p:sp>
        <p:nvSpPr>
          <p:cNvPr id="6" name="PlaceHolder 5"/>
          <p:cNvSpPr>
            <a:spLocks noGrp="1"/>
          </p:cNvSpPr>
          <p:nvPr>
            <p:ph type="dt" idx="12"/>
          </p:nvPr>
        </p:nvSpPr>
        <p:spPr/>
        <p:txBody>
          <a:bodyPr/>
          <a:p>
            <a:r>
              <a:rPr lang="es-E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 blanco">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A3FCD981-6510-421B-9693-1007B4A2BA8B}" type="slidenum">
              <a:t>&lt;#&gt;</a:t>
            </a:fld>
          </a:p>
        </p:txBody>
      </p:sp>
      <p:sp>
        <p:nvSpPr>
          <p:cNvPr id="4" name="PlaceHolder 3"/>
          <p:cNvSpPr>
            <a:spLocks noGrp="1"/>
          </p:cNvSpPr>
          <p:nvPr>
            <p:ph type="dt" idx="15"/>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1800"/>
            <a:ext cx="10964160" cy="114012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1" name="PlaceHolder 2"/>
          <p:cNvSpPr>
            <a:spLocks noGrp="1"/>
          </p:cNvSpPr>
          <p:nvPr>
            <p:ph type="ftr" idx="1"/>
          </p:nvPr>
        </p:nvSpPr>
        <p:spPr>
          <a:xfrm>
            <a:off x="3447360" y="5165280"/>
            <a:ext cx="3186000" cy="38160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s-ES" sz="1400" spc="-1" strike="noStrike">
                <a:solidFill>
                  <a:srgbClr val="000000"/>
                </a:solidFill>
                <a:latin typeface="Times New Roman"/>
              </a:defRPr>
            </a:lvl1pPr>
          </a:lstStyle>
          <a:p>
            <a:pPr indent="0" algn="ctr" defTabSz="914400">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2" name="PlaceHolder 3"/>
          <p:cNvSpPr>
            <a:spLocks noGrp="1"/>
          </p:cNvSpPr>
          <p:nvPr>
            <p:ph type="sldNum" idx="2"/>
          </p:nvPr>
        </p:nvSpPr>
        <p:spPr>
          <a:xfrm>
            <a:off x="7227360" y="5165280"/>
            <a:ext cx="2339280" cy="38160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s-ES" sz="1400" spc="-1" strike="noStrike">
                <a:solidFill>
                  <a:srgbClr val="000000"/>
                </a:solidFill>
                <a:latin typeface="Times New Roman"/>
                <a:ea typeface="Times New Roman"/>
              </a:defRPr>
            </a:lvl1pPr>
          </a:lstStyle>
          <a:p>
            <a:pPr indent="0" algn="r" defTabSz="914400">
              <a:lnSpc>
                <a:spcPct val="100000"/>
              </a:lnSpc>
              <a:buNone/>
              <a:tabLst>
                <a:tab algn="l" pos="0"/>
              </a:tabLst>
            </a:pPr>
            <a:fld id="{694D6680-A2B2-4248-ADA5-17E5F72F20F7}" type="slidenum">
              <a:rPr b="0" lang="es-ES" sz="1400" spc="-1" strike="noStrike">
                <a:solidFill>
                  <a:srgbClr val="000000"/>
                </a:solidFill>
                <a:latin typeface="Times New Roman"/>
                <a:ea typeface="Times New Roman"/>
              </a:rPr>
              <a:t>&lt;número&gt;</a:t>
            </a:fld>
            <a:endParaRPr b="0" lang="es-ES" sz="1400" spc="-1" strike="noStrike">
              <a:solidFill>
                <a:srgbClr val="000000"/>
              </a:solidFill>
              <a:latin typeface="Times New Roman"/>
            </a:endParaRPr>
          </a:p>
        </p:txBody>
      </p:sp>
      <p:sp>
        <p:nvSpPr>
          <p:cNvPr id="3" name="PlaceHolder 4"/>
          <p:cNvSpPr>
            <a:spLocks noGrp="1"/>
          </p:cNvSpPr>
          <p:nvPr>
            <p:ph type="dt" idx="3"/>
          </p:nvPr>
        </p:nvSpPr>
        <p:spPr>
          <a:xfrm>
            <a:off x="504000" y="5165280"/>
            <a:ext cx="2339280" cy="381600"/>
          </a:xfrm>
          <a:prstGeom prst="rect">
            <a:avLst/>
          </a:prstGeom>
          <a:noFill/>
          <a:ln w="0">
            <a:noFill/>
          </a:ln>
        </p:spPr>
        <p:txBody>
          <a:bodyPr lIns="0" rIns="0" tIns="0" bIns="0" anchor="t">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Arial"/>
              </a:rPr>
              <a:t>Cuarto nivel del esquema</a:t>
            </a:r>
            <a:endParaRPr b="0" lang="es-E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rial"/>
              </a:rPr>
              <a:t>Quinto nivel del esquema</a:t>
            </a:r>
            <a:endParaRPr b="0" lang="es-E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rial"/>
              </a:rPr>
              <a:t>Sexto nivel del esquema</a:t>
            </a:r>
            <a:endParaRPr b="0" lang="es-E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rial"/>
              </a:rPr>
              <a:t>Séptimo nivel del esquema</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1800"/>
            <a:ext cx="10964160" cy="114012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8"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9" name="PlaceHolder 3"/>
          <p:cNvSpPr>
            <a:spLocks noGrp="1"/>
          </p:cNvSpPr>
          <p:nvPr>
            <p:ph type="ftr" idx="4"/>
          </p:nvPr>
        </p:nvSpPr>
        <p:spPr>
          <a:xfrm>
            <a:off x="3447360" y="5165280"/>
            <a:ext cx="3186000" cy="38160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s-ES" sz="1400" spc="-1" strike="noStrike">
                <a:solidFill>
                  <a:srgbClr val="000000"/>
                </a:solidFill>
                <a:latin typeface="Times New Roman"/>
              </a:defRPr>
            </a:lvl1pPr>
          </a:lstStyle>
          <a:p>
            <a:pPr indent="0" algn="ctr" defTabSz="914400">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10" name="PlaceHolder 4"/>
          <p:cNvSpPr>
            <a:spLocks noGrp="1"/>
          </p:cNvSpPr>
          <p:nvPr>
            <p:ph type="sldNum" idx="5"/>
          </p:nvPr>
        </p:nvSpPr>
        <p:spPr>
          <a:xfrm>
            <a:off x="7227360" y="5165280"/>
            <a:ext cx="2339280" cy="38160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s-ES" sz="1400" spc="-1" strike="noStrike">
                <a:solidFill>
                  <a:srgbClr val="000000"/>
                </a:solidFill>
                <a:latin typeface="Times New Roman"/>
                <a:ea typeface="Times New Roman"/>
              </a:defRPr>
            </a:lvl1pPr>
          </a:lstStyle>
          <a:p>
            <a:pPr indent="0" algn="r" defTabSz="914400">
              <a:lnSpc>
                <a:spcPct val="100000"/>
              </a:lnSpc>
              <a:buNone/>
              <a:tabLst>
                <a:tab algn="l" pos="0"/>
              </a:tabLst>
            </a:pPr>
            <a:fld id="{3640CDAB-274D-4C80-9503-ED73207A1259}" type="slidenum">
              <a:rPr b="0" lang="es-ES" sz="1400" spc="-1" strike="noStrike">
                <a:solidFill>
                  <a:srgbClr val="000000"/>
                </a:solidFill>
                <a:latin typeface="Times New Roman"/>
                <a:ea typeface="Times New Roman"/>
              </a:rPr>
              <a:t>&lt;número&gt;</a:t>
            </a:fld>
            <a:endParaRPr b="0" lang="es-ES" sz="1400" spc="-1" strike="noStrike">
              <a:solidFill>
                <a:srgbClr val="000000"/>
              </a:solidFill>
              <a:latin typeface="Times New Roman"/>
            </a:endParaRPr>
          </a:p>
        </p:txBody>
      </p:sp>
      <p:sp>
        <p:nvSpPr>
          <p:cNvPr id="11" name="PlaceHolder 5"/>
          <p:cNvSpPr>
            <a:spLocks noGrp="1"/>
          </p:cNvSpPr>
          <p:nvPr>
            <p:ph type="dt" idx="6"/>
          </p:nvPr>
        </p:nvSpPr>
        <p:spPr>
          <a:xfrm>
            <a:off x="504000" y="5165280"/>
            <a:ext cx="2339280" cy="381600"/>
          </a:xfrm>
          <a:prstGeom prst="rect">
            <a:avLst/>
          </a:prstGeom>
          <a:noFill/>
          <a:ln w="0">
            <a:noFill/>
          </a:ln>
        </p:spPr>
        <p:txBody>
          <a:bodyPr lIns="0" rIns="0" tIns="0" bIns="0" anchor="t">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1800"/>
            <a:ext cx="10964160" cy="114012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15" name="PlaceHolder 2"/>
          <p:cNvSpPr>
            <a:spLocks noGrp="1"/>
          </p:cNvSpPr>
          <p:nvPr>
            <p:ph type="ftr" idx="7"/>
          </p:nvPr>
        </p:nvSpPr>
        <p:spPr>
          <a:xfrm>
            <a:off x="3447360" y="5165280"/>
            <a:ext cx="3186000" cy="38160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s-ES" sz="1400" spc="-1" strike="noStrike">
                <a:solidFill>
                  <a:srgbClr val="000000"/>
                </a:solidFill>
                <a:latin typeface="Times New Roman"/>
              </a:defRPr>
            </a:lvl1pPr>
          </a:lstStyle>
          <a:p>
            <a:pPr indent="0" algn="ctr" defTabSz="914400">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16" name="PlaceHolder 3"/>
          <p:cNvSpPr>
            <a:spLocks noGrp="1"/>
          </p:cNvSpPr>
          <p:nvPr>
            <p:ph type="sldNum" idx="8"/>
          </p:nvPr>
        </p:nvSpPr>
        <p:spPr>
          <a:xfrm>
            <a:off x="7227360" y="5165280"/>
            <a:ext cx="2339280" cy="38160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s-ES" sz="1400" spc="-1" strike="noStrike">
                <a:solidFill>
                  <a:srgbClr val="000000"/>
                </a:solidFill>
                <a:latin typeface="Times New Roman"/>
                <a:ea typeface="Times New Roman"/>
              </a:defRPr>
            </a:lvl1pPr>
          </a:lstStyle>
          <a:p>
            <a:pPr indent="0" algn="r" defTabSz="914400">
              <a:lnSpc>
                <a:spcPct val="100000"/>
              </a:lnSpc>
              <a:buNone/>
              <a:tabLst>
                <a:tab algn="l" pos="0"/>
              </a:tabLst>
            </a:pPr>
            <a:fld id="{A3C37CEE-B554-4FC4-9D59-7B496052B96D}" type="slidenum">
              <a:rPr b="0" lang="es-ES" sz="1400" spc="-1" strike="noStrike">
                <a:solidFill>
                  <a:srgbClr val="000000"/>
                </a:solidFill>
                <a:latin typeface="Times New Roman"/>
                <a:ea typeface="Times New Roman"/>
              </a:rPr>
              <a:t>&lt;número&gt;</a:t>
            </a:fld>
            <a:endParaRPr b="0" lang="es-ES" sz="1400" spc="-1" strike="noStrike">
              <a:solidFill>
                <a:srgbClr val="000000"/>
              </a:solidFill>
              <a:latin typeface="Times New Roman"/>
            </a:endParaRPr>
          </a:p>
        </p:txBody>
      </p:sp>
      <p:sp>
        <p:nvSpPr>
          <p:cNvPr id="17" name="PlaceHolder 4"/>
          <p:cNvSpPr>
            <a:spLocks noGrp="1"/>
          </p:cNvSpPr>
          <p:nvPr>
            <p:ph type="dt" idx="9"/>
          </p:nvPr>
        </p:nvSpPr>
        <p:spPr>
          <a:xfrm>
            <a:off x="504000" y="5165280"/>
            <a:ext cx="2339280" cy="381600"/>
          </a:xfrm>
          <a:prstGeom prst="rect">
            <a:avLst/>
          </a:prstGeom>
          <a:noFill/>
          <a:ln w="0">
            <a:noFill/>
          </a:ln>
        </p:spPr>
        <p:txBody>
          <a:bodyPr lIns="0" rIns="0" tIns="0" bIns="0" anchor="t">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1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Arial"/>
              </a:rPr>
              <a:t>Cuarto nivel del esquema</a:t>
            </a:r>
            <a:endParaRPr b="0" lang="es-E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rial"/>
              </a:rPr>
              <a:t>Quinto nivel del esquema</a:t>
            </a:r>
            <a:endParaRPr b="0" lang="es-E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rial"/>
              </a:rPr>
              <a:t>Sexto nivel del esquema</a:t>
            </a:r>
            <a:endParaRPr b="0" lang="es-E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rial"/>
              </a:rPr>
              <a:t>Séptimo nivel del esquema</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1800"/>
            <a:ext cx="10964160" cy="114012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22"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23" name="PlaceHolder 3"/>
          <p:cNvSpPr>
            <a:spLocks noGrp="1"/>
          </p:cNvSpPr>
          <p:nvPr>
            <p:ph type="ftr" idx="10"/>
          </p:nvPr>
        </p:nvSpPr>
        <p:spPr>
          <a:xfrm>
            <a:off x="3447360" y="5165280"/>
            <a:ext cx="3186000" cy="38160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s-ES" sz="1400" spc="-1" strike="noStrike">
                <a:solidFill>
                  <a:srgbClr val="000000"/>
                </a:solidFill>
                <a:latin typeface="Times New Roman"/>
              </a:defRPr>
            </a:lvl1pPr>
          </a:lstStyle>
          <a:p>
            <a:pPr indent="0" algn="ctr" defTabSz="914400">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24" name="PlaceHolder 4"/>
          <p:cNvSpPr>
            <a:spLocks noGrp="1"/>
          </p:cNvSpPr>
          <p:nvPr>
            <p:ph type="sldNum" idx="11"/>
          </p:nvPr>
        </p:nvSpPr>
        <p:spPr>
          <a:xfrm>
            <a:off x="7227360" y="5165280"/>
            <a:ext cx="2339280" cy="38160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s-ES" sz="1400" spc="-1" strike="noStrike">
                <a:solidFill>
                  <a:srgbClr val="000000"/>
                </a:solidFill>
                <a:latin typeface="Times New Roman"/>
                <a:ea typeface="Times New Roman"/>
              </a:defRPr>
            </a:lvl1pPr>
          </a:lstStyle>
          <a:p>
            <a:pPr indent="0" algn="r" defTabSz="914400">
              <a:lnSpc>
                <a:spcPct val="100000"/>
              </a:lnSpc>
              <a:buNone/>
              <a:tabLst>
                <a:tab algn="l" pos="0"/>
              </a:tabLst>
            </a:pPr>
            <a:fld id="{266360B3-0B9E-4462-AC26-3B554B9B9943}" type="slidenum">
              <a:rPr b="0" lang="es-ES" sz="1400" spc="-1" strike="noStrike">
                <a:solidFill>
                  <a:srgbClr val="000000"/>
                </a:solidFill>
                <a:latin typeface="Times New Roman"/>
                <a:ea typeface="Times New Roman"/>
              </a:rPr>
              <a:t>&lt;número&gt;</a:t>
            </a:fld>
            <a:endParaRPr b="0" lang="es-ES" sz="1400" spc="-1" strike="noStrike">
              <a:solidFill>
                <a:srgbClr val="000000"/>
              </a:solidFill>
              <a:latin typeface="Times New Roman"/>
            </a:endParaRPr>
          </a:p>
        </p:txBody>
      </p:sp>
      <p:sp>
        <p:nvSpPr>
          <p:cNvPr id="25" name="PlaceHolder 5"/>
          <p:cNvSpPr>
            <a:spLocks noGrp="1"/>
          </p:cNvSpPr>
          <p:nvPr>
            <p:ph type="dt" idx="12"/>
          </p:nvPr>
        </p:nvSpPr>
        <p:spPr>
          <a:xfrm>
            <a:off x="504000" y="5165280"/>
            <a:ext cx="2339280" cy="381600"/>
          </a:xfrm>
          <a:prstGeom prst="rect">
            <a:avLst/>
          </a:prstGeom>
          <a:noFill/>
          <a:ln w="0">
            <a:noFill/>
          </a:ln>
        </p:spPr>
        <p:txBody>
          <a:bodyPr lIns="0" rIns="0" tIns="0" bIns="0" anchor="t">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s-ES" sz="4400" spc="-1" strike="noStrike">
                <a:solidFill>
                  <a:srgbClr val="000000"/>
                </a:solidFill>
                <a:latin typeface="Arial"/>
              </a:rPr>
              <a:t>Pulse para editar el formato del texto de título</a:t>
            </a:r>
            <a:endParaRPr b="0" lang="es-ES" sz="4400" spc="-1" strike="noStrike">
              <a:solidFill>
                <a:srgbClr val="000000"/>
              </a:solidFill>
              <a:latin typeface="Arial"/>
            </a:endParaRPr>
          </a:p>
        </p:txBody>
      </p:sp>
      <p:sp>
        <p:nvSpPr>
          <p:cNvPr id="2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Arial"/>
              </a:rPr>
              <a:t>Cuarto nivel del esquema</a:t>
            </a:r>
            <a:endParaRPr b="0" lang="es-E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rial"/>
              </a:rPr>
              <a:t>Quinto nivel del esquema</a:t>
            </a:r>
            <a:endParaRPr b="0" lang="es-E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rial"/>
              </a:rPr>
              <a:t>Sexto nivel del esquema</a:t>
            </a:r>
            <a:endParaRPr b="0" lang="es-E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rial"/>
              </a:rPr>
              <a:t>Séptimo nivel del esquema</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ftr" idx="13"/>
          </p:nvPr>
        </p:nvSpPr>
        <p:spPr>
          <a:xfrm>
            <a:off x="0" y="0"/>
            <a:ext cx="0" cy="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31" name="PlaceHolder 2"/>
          <p:cNvSpPr>
            <a:spLocks noGrp="1"/>
          </p:cNvSpPr>
          <p:nvPr>
            <p:ph type="sldNum" idx="1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tabLst>
                <a:tab algn="l" pos="0"/>
              </a:tabLst>
              <a:defRPr b="0" lang="es-ES" sz="1800" spc="-1" strike="noStrike">
                <a:solidFill>
                  <a:schemeClr val="dk1"/>
                </a:solidFill>
                <a:latin typeface="Calibri"/>
              </a:defRPr>
            </a:lvl1pPr>
          </a:lstStyle>
          <a:p>
            <a:pPr indent="0" defTabSz="914400">
              <a:lnSpc>
                <a:spcPct val="100000"/>
              </a:lnSpc>
              <a:buNone/>
              <a:tabLst>
                <a:tab algn="l" pos="0"/>
              </a:tabLst>
            </a:pPr>
            <a:fld id="{EC738339-4D16-4898-A30A-636CBFF73589}" type="slidenum">
              <a:rPr b="0" lang="es-ES" sz="1800" spc="-1" strike="noStrike">
                <a:solidFill>
                  <a:schemeClr val="dk1"/>
                </a:solidFill>
                <a:latin typeface="Calibri"/>
              </a:rPr>
              <a:t>&lt;número&gt;</a:t>
            </a:fld>
            <a:endParaRPr b="0" lang="es-ES" sz="1800" spc="-1" strike="noStrike">
              <a:solidFill>
                <a:srgbClr val="000000"/>
              </a:solidFill>
              <a:latin typeface="Times New Roman"/>
            </a:endParaRPr>
          </a:p>
        </p:txBody>
      </p:sp>
      <p:sp>
        <p:nvSpPr>
          <p:cNvPr id="32" name="PlaceHolder 3"/>
          <p:cNvSpPr>
            <a:spLocks noGrp="1"/>
          </p:cNvSpPr>
          <p:nvPr>
            <p:ph type="dt" idx="15"/>
          </p:nvPr>
        </p:nvSpPr>
        <p:spPr>
          <a:xfrm>
            <a:off x="0" y="0"/>
            <a:ext cx="0" cy="0"/>
          </a:xfrm>
          <a:prstGeom prst="rect">
            <a:avLst/>
          </a:prstGeom>
          <a:noFill/>
          <a:ln w="0">
            <a:noFill/>
          </a:ln>
        </p:spPr>
        <p:txBody>
          <a:bodyPr lIns="90000" rIns="90000" tIns="-45000" bIns="-45000" anchor="t">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3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s-ES" sz="4400" spc="-1" strike="noStrike">
                <a:solidFill>
                  <a:srgbClr val="000000"/>
                </a:solidFill>
                <a:latin typeface="Arial"/>
              </a:rPr>
              <a:t>Pulse para editar el formato del texto de título</a:t>
            </a:r>
            <a:endParaRPr b="0" lang="es-ES" sz="4400" spc="-1" strike="noStrike">
              <a:solidFill>
                <a:srgbClr val="000000"/>
              </a:solidFill>
              <a:latin typeface="Arial"/>
            </a:endParaRPr>
          </a:p>
        </p:txBody>
      </p:sp>
      <p:sp>
        <p:nvSpPr>
          <p:cNvPr id="3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Arial"/>
              </a:rPr>
              <a:t>Cuarto nivel del esquema</a:t>
            </a:r>
            <a:endParaRPr b="0" lang="es-E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rial"/>
              </a:rPr>
              <a:t>Quinto nivel del esquema</a:t>
            </a:r>
            <a:endParaRPr b="0" lang="es-E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rial"/>
              </a:rPr>
              <a:t>Sexto nivel del esquema</a:t>
            </a:r>
            <a:endParaRPr b="0" lang="es-E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rial"/>
              </a:rPr>
              <a:t>Séptimo nivel del esquema</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5.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2.png"/><Relationship Id="rId3"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2.png"/><Relationship Id="rId3" Type="http://schemas.openxmlformats.org/officeDocument/2006/relationships/image" Target="../media/image9.png"/><Relationship Id="rId4" Type="http://schemas.openxmlformats.org/officeDocument/2006/relationships/image" Target="../media/image9.png"/><Relationship Id="rId5"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3.png"/><Relationship Id="rId3"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4.png"/><Relationship Id="rId3"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image" Target="../media/image6.png"/><Relationship Id="rId7" Type="http://schemas.openxmlformats.org/officeDocument/2006/relationships/image" Target="../media/image15.png"/><Relationship Id="rId8"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1" name="Google Shape;21;p1" descr=""/>
          <p:cNvPicPr/>
          <p:nvPr/>
        </p:nvPicPr>
        <p:blipFill>
          <a:blip r:embed="rId1"/>
          <a:stretch/>
        </p:blipFill>
        <p:spPr>
          <a:xfrm>
            <a:off x="5593680" y="0"/>
            <a:ext cx="6594120" cy="6510600"/>
          </a:xfrm>
          <a:prstGeom prst="rect">
            <a:avLst/>
          </a:prstGeom>
          <a:ln w="0">
            <a:noFill/>
          </a:ln>
        </p:spPr>
      </p:pic>
      <p:sp>
        <p:nvSpPr>
          <p:cNvPr id="42" name="Google Shape;23;p1"/>
          <p:cNvSpPr/>
          <p:nvPr/>
        </p:nvSpPr>
        <p:spPr>
          <a:xfrm>
            <a:off x="0" y="6519600"/>
            <a:ext cx="12182400" cy="347400"/>
          </a:xfrm>
          <a:prstGeom prst="rect">
            <a:avLst/>
          </a:prstGeom>
          <a:solidFill>
            <a:srgbClr val="ff8a0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s-ES" sz="1400" spc="-1" strike="noStrike">
              <a:solidFill>
                <a:srgbClr val="000000"/>
              </a:solidFill>
              <a:latin typeface="Arial"/>
            </a:endParaRPr>
          </a:p>
        </p:txBody>
      </p:sp>
      <p:sp>
        <p:nvSpPr>
          <p:cNvPr id="43" name="Google Shape;24;p1"/>
          <p:cNvSpPr/>
          <p:nvPr/>
        </p:nvSpPr>
        <p:spPr>
          <a:xfrm>
            <a:off x="396000" y="2011680"/>
            <a:ext cx="5896800" cy="104112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3600" spc="-1" strike="noStrike">
                <a:solidFill>
                  <a:srgbClr val="1f2937"/>
                </a:solidFill>
                <a:latin typeface="Arial"/>
                <a:ea typeface="Arial"/>
              </a:rPr>
              <a:t>Análisis de absentismo</a:t>
            </a:r>
            <a:endParaRPr b="0" lang="es-ES" sz="3600" spc="-1" strike="noStrike">
              <a:solidFill>
                <a:srgbClr val="000000"/>
              </a:solidFill>
              <a:latin typeface="Arial"/>
            </a:endParaRPr>
          </a:p>
          <a:p>
            <a:pPr defTabSz="914400">
              <a:lnSpc>
                <a:spcPct val="100000"/>
              </a:lnSpc>
              <a:tabLst>
                <a:tab algn="l" pos="0"/>
              </a:tabLst>
            </a:pPr>
            <a:r>
              <a:rPr b="0" lang="es-ES" sz="3600" spc="-1" strike="noStrike">
                <a:solidFill>
                  <a:srgbClr val="1f2937"/>
                </a:solidFill>
                <a:latin typeface="Arial"/>
                <a:ea typeface="Arial"/>
              </a:rPr>
              <a:t>y perfil</a:t>
            </a:r>
            <a:endParaRPr b="0" lang="es-ES" sz="3600" spc="-1" strike="noStrike">
              <a:solidFill>
                <a:srgbClr val="000000"/>
              </a:solidFill>
              <a:latin typeface="Arial"/>
            </a:endParaRPr>
          </a:p>
        </p:txBody>
      </p:sp>
      <p:sp>
        <p:nvSpPr>
          <p:cNvPr id="44" name="Google Shape;25;p1"/>
          <p:cNvSpPr/>
          <p:nvPr/>
        </p:nvSpPr>
        <p:spPr>
          <a:xfrm>
            <a:off x="432000" y="3744000"/>
            <a:ext cx="1971000" cy="85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400" spc="-1" strike="noStrike">
                <a:solidFill>
                  <a:srgbClr val="6b7280"/>
                </a:solidFill>
                <a:latin typeface="Arial"/>
                <a:ea typeface="Arial"/>
              </a:rPr>
              <a:t>20 de Julio 2026</a:t>
            </a:r>
            <a:endParaRPr b="0" lang="es-ES" sz="1400" spc="-1" strike="noStrike">
              <a:solidFill>
                <a:srgbClr val="000000"/>
              </a:solidFill>
              <a:latin typeface="Arial"/>
            </a:endParaRPr>
          </a:p>
        </p:txBody>
      </p:sp>
      <p:pic>
        <p:nvPicPr>
          <p:cNvPr id="45" name="Google Shape;26;p1" descr=""/>
          <p:cNvPicPr/>
          <p:nvPr/>
        </p:nvPicPr>
        <p:blipFill>
          <a:blip r:embed="rId2"/>
          <a:srcRect l="0" t="26241" r="0" b="23016"/>
          <a:stretch/>
        </p:blipFill>
        <p:spPr>
          <a:xfrm>
            <a:off x="216000" y="360360"/>
            <a:ext cx="1940760" cy="530640"/>
          </a:xfrm>
          <a:prstGeom prst="rect">
            <a:avLst/>
          </a:prstGeom>
          <a:ln w="0">
            <a:noFill/>
          </a:ln>
        </p:spPr>
      </p:pic>
      <p:sp>
        <p:nvSpPr>
          <p:cNvPr id="46" name="Google Shape;27;p1"/>
          <p:cNvSpPr/>
          <p:nvPr/>
        </p:nvSpPr>
        <p:spPr>
          <a:xfrm>
            <a:off x="420120" y="3420000"/>
            <a:ext cx="3350880" cy="5310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500" spc="-1" strike="noStrike">
                <a:solidFill>
                  <a:srgbClr val="6b7280"/>
                </a:solidFill>
                <a:latin typeface="Arial"/>
                <a:ea typeface="Arial"/>
              </a:rPr>
              <a:t>Dpt. Analistas de Datos de RRHH</a:t>
            </a:r>
            <a:endParaRPr b="0" lang="es-E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TextBox 1"/>
          <p:cNvSpPr/>
          <p:nvPr/>
        </p:nvSpPr>
        <p:spPr>
          <a:xfrm>
            <a:off x="1198800" y="635400"/>
            <a:ext cx="1717200" cy="51660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2800" spc="-1" strike="noStrike">
                <a:solidFill>
                  <a:srgbClr val="142346"/>
                </a:solidFill>
                <a:latin typeface="Calibri"/>
              </a:rPr>
              <a:t>Kpis RRHH</a:t>
            </a:r>
            <a:endParaRPr b="0" lang="es-ES" sz="2800" spc="-1" strike="noStrike">
              <a:solidFill>
                <a:srgbClr val="000000"/>
              </a:solidFill>
              <a:latin typeface="Arial"/>
            </a:endParaRPr>
          </a:p>
        </p:txBody>
      </p:sp>
      <p:sp>
        <p:nvSpPr>
          <p:cNvPr id="48" name="Google Shape;35;p 1"/>
          <p:cNvSpPr/>
          <p:nvPr/>
        </p:nvSpPr>
        <p:spPr>
          <a:xfrm>
            <a:off x="0" y="6519600"/>
            <a:ext cx="12182400" cy="347400"/>
          </a:xfrm>
          <a:prstGeom prst="rect">
            <a:avLst/>
          </a:prstGeom>
          <a:solidFill>
            <a:srgbClr val="ff8a00"/>
          </a:solidFill>
          <a:ln w="0">
            <a:noFill/>
          </a:ln>
        </p:spPr>
        <p:style>
          <a:lnRef idx="0"/>
          <a:fillRef idx="0"/>
          <a:effectRef idx="0"/>
          <a:fontRef idx="minor"/>
        </p:style>
        <p:txBody>
          <a:bodyPr lIns="90000" rIns="90000" tIns="45000" bIns="45000" anchor="t">
            <a:noAutofit/>
          </a:bodyPr>
          <a:p>
            <a:pPr>
              <a:lnSpc>
                <a:spcPct val="100000"/>
              </a:lnSpc>
            </a:pPr>
            <a:endParaRPr b="0" lang="es-ES" sz="1400" spc="-1" strike="noStrike">
              <a:solidFill>
                <a:srgbClr val="000000"/>
              </a:solidFill>
              <a:latin typeface="Arial"/>
            </a:endParaRPr>
          </a:p>
        </p:txBody>
      </p:sp>
      <p:sp>
        <p:nvSpPr>
          <p:cNvPr id="49" name="Google Shape;38;p 2"/>
          <p:cNvSpPr/>
          <p:nvPr/>
        </p:nvSpPr>
        <p:spPr>
          <a:xfrm>
            <a:off x="168120" y="6538320"/>
            <a:ext cx="299088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Dpt. Analistas de Datos de RRHH</a:t>
            </a:r>
            <a:endParaRPr b="0" lang="es-ES" sz="1200" spc="-1" strike="noStrike">
              <a:solidFill>
                <a:srgbClr val="000000"/>
              </a:solidFill>
              <a:latin typeface="Arial"/>
            </a:endParaRPr>
          </a:p>
        </p:txBody>
      </p:sp>
      <p:sp>
        <p:nvSpPr>
          <p:cNvPr id="50" name="Google Shape;39;p 1"/>
          <p:cNvSpPr/>
          <p:nvPr/>
        </p:nvSpPr>
        <p:spPr>
          <a:xfrm>
            <a:off x="2742840" y="6538320"/>
            <a:ext cx="138960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- 20 Julio 2026</a:t>
            </a:r>
            <a:endParaRPr b="0" lang="es-ES" sz="1200" spc="-1" strike="noStrike">
              <a:solidFill>
                <a:srgbClr val="000000"/>
              </a:solidFill>
              <a:latin typeface="Arial"/>
            </a:endParaRPr>
          </a:p>
        </p:txBody>
      </p:sp>
      <p:pic>
        <p:nvPicPr>
          <p:cNvPr id="51" name="Google Shape;92;g3f4b6d773eb_0_ 1" descr=""/>
          <p:cNvPicPr/>
          <p:nvPr/>
        </p:nvPicPr>
        <p:blipFill>
          <a:blip r:embed="rId1"/>
          <a:srcRect l="0" t="26214" r="0" b="23016"/>
          <a:stretch/>
        </p:blipFill>
        <p:spPr>
          <a:xfrm>
            <a:off x="10038600" y="288360"/>
            <a:ext cx="1940760" cy="530640"/>
          </a:xfrm>
          <a:prstGeom prst="rect">
            <a:avLst/>
          </a:prstGeom>
          <a:ln w="0">
            <a:noFill/>
          </a:ln>
        </p:spPr>
      </p:pic>
      <p:pic>
        <p:nvPicPr>
          <p:cNvPr id="52" name="" descr=""/>
          <p:cNvPicPr/>
          <p:nvPr/>
        </p:nvPicPr>
        <p:blipFill>
          <a:blip r:embed="rId2"/>
          <a:stretch/>
        </p:blipFill>
        <p:spPr>
          <a:xfrm>
            <a:off x="3833280" y="1046880"/>
            <a:ext cx="4446360" cy="608760"/>
          </a:xfrm>
          <a:prstGeom prst="rect">
            <a:avLst/>
          </a:prstGeom>
          <a:ln w="0">
            <a:noFill/>
          </a:ln>
        </p:spPr>
      </p:pic>
      <p:pic>
        <p:nvPicPr>
          <p:cNvPr id="53" name="" descr=""/>
          <p:cNvPicPr/>
          <p:nvPr/>
        </p:nvPicPr>
        <p:blipFill>
          <a:blip r:embed="rId3"/>
          <a:stretch/>
        </p:blipFill>
        <p:spPr>
          <a:xfrm>
            <a:off x="1023480" y="1656000"/>
            <a:ext cx="10316520" cy="48484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 name="Imagen 2" descr=""/>
          <p:cNvPicPr/>
          <p:nvPr/>
        </p:nvPicPr>
        <p:blipFill>
          <a:blip r:embed="rId1"/>
          <a:stretch/>
        </p:blipFill>
        <p:spPr>
          <a:xfrm>
            <a:off x="749880" y="1776960"/>
            <a:ext cx="10691280" cy="3901320"/>
          </a:xfrm>
          <a:prstGeom prst="rect">
            <a:avLst/>
          </a:prstGeom>
          <a:ln w="0">
            <a:noFill/>
          </a:ln>
        </p:spPr>
      </p:pic>
      <p:sp>
        <p:nvSpPr>
          <p:cNvPr id="55" name="TextBox 5"/>
          <p:cNvSpPr/>
          <p:nvPr/>
        </p:nvSpPr>
        <p:spPr>
          <a:xfrm>
            <a:off x="8724240" y="6248880"/>
            <a:ext cx="3335040" cy="303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s-ES" sz="1400" spc="-1" strike="noStrike">
                <a:solidFill>
                  <a:srgbClr val="787878"/>
                </a:solidFill>
                <a:latin typeface="Calibri"/>
              </a:rPr>
              <a:t>Nota: 1 turno laboral = 8 horas de ausencia.</a:t>
            </a:r>
            <a:endParaRPr b="0" lang="es-ES" sz="1400" spc="-1" strike="noStrike">
              <a:solidFill>
                <a:srgbClr val="000000"/>
              </a:solidFill>
              <a:latin typeface="Arial"/>
            </a:endParaRPr>
          </a:p>
        </p:txBody>
      </p:sp>
      <p:sp>
        <p:nvSpPr>
          <p:cNvPr id="56" name="Google Shape;35;p 2"/>
          <p:cNvSpPr/>
          <p:nvPr/>
        </p:nvSpPr>
        <p:spPr>
          <a:xfrm>
            <a:off x="0" y="6519600"/>
            <a:ext cx="12182400" cy="347400"/>
          </a:xfrm>
          <a:prstGeom prst="rect">
            <a:avLst/>
          </a:prstGeom>
          <a:solidFill>
            <a:srgbClr val="ff8a00"/>
          </a:solidFill>
          <a:ln w="0">
            <a:noFill/>
          </a:ln>
        </p:spPr>
        <p:style>
          <a:lnRef idx="0"/>
          <a:fillRef idx="0"/>
          <a:effectRef idx="0"/>
          <a:fontRef idx="minor"/>
        </p:style>
        <p:txBody>
          <a:bodyPr lIns="90000" rIns="90000" tIns="45000" bIns="45000" anchor="t">
            <a:noAutofit/>
          </a:bodyPr>
          <a:p>
            <a:pPr>
              <a:lnSpc>
                <a:spcPct val="100000"/>
              </a:lnSpc>
            </a:pPr>
            <a:endParaRPr b="0" lang="es-ES" sz="1400" spc="-1" strike="noStrike">
              <a:solidFill>
                <a:srgbClr val="000000"/>
              </a:solidFill>
              <a:latin typeface="Arial"/>
            </a:endParaRPr>
          </a:p>
        </p:txBody>
      </p:sp>
      <p:sp>
        <p:nvSpPr>
          <p:cNvPr id="57" name="Google Shape;35;p 3"/>
          <p:cNvSpPr/>
          <p:nvPr/>
        </p:nvSpPr>
        <p:spPr>
          <a:xfrm>
            <a:off x="0" y="6519600"/>
            <a:ext cx="12182400" cy="347400"/>
          </a:xfrm>
          <a:prstGeom prst="rect">
            <a:avLst/>
          </a:prstGeom>
          <a:solidFill>
            <a:srgbClr val="ff8a00"/>
          </a:solidFill>
          <a:ln w="0">
            <a:noFill/>
          </a:ln>
        </p:spPr>
        <p:style>
          <a:lnRef idx="0"/>
          <a:fillRef idx="0"/>
          <a:effectRef idx="0"/>
          <a:fontRef idx="minor"/>
        </p:style>
        <p:txBody>
          <a:bodyPr lIns="90000" rIns="90000" tIns="45000" bIns="45000" anchor="t">
            <a:noAutofit/>
          </a:bodyPr>
          <a:p>
            <a:pPr>
              <a:lnSpc>
                <a:spcPct val="100000"/>
              </a:lnSpc>
            </a:pPr>
            <a:endParaRPr b="0" lang="es-ES" sz="1400" spc="-1" strike="noStrike">
              <a:solidFill>
                <a:srgbClr val="000000"/>
              </a:solidFill>
              <a:latin typeface="Arial"/>
            </a:endParaRPr>
          </a:p>
        </p:txBody>
      </p:sp>
      <p:sp>
        <p:nvSpPr>
          <p:cNvPr id="58" name="Google Shape;38;p 3"/>
          <p:cNvSpPr/>
          <p:nvPr/>
        </p:nvSpPr>
        <p:spPr>
          <a:xfrm>
            <a:off x="168120" y="6538320"/>
            <a:ext cx="299088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Dpt. Analistas de Datos de RRHH</a:t>
            </a:r>
            <a:endParaRPr b="0" lang="es-ES" sz="1200" spc="-1" strike="noStrike">
              <a:solidFill>
                <a:srgbClr val="000000"/>
              </a:solidFill>
              <a:latin typeface="Arial"/>
            </a:endParaRPr>
          </a:p>
        </p:txBody>
      </p:sp>
      <p:sp>
        <p:nvSpPr>
          <p:cNvPr id="59" name="Google Shape;39;p 2"/>
          <p:cNvSpPr/>
          <p:nvPr/>
        </p:nvSpPr>
        <p:spPr>
          <a:xfrm>
            <a:off x="2742840" y="6538320"/>
            <a:ext cx="138960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- 20 Julio 2026</a:t>
            </a:r>
            <a:endParaRPr b="0" lang="es-ES" sz="1200" spc="-1" strike="noStrike">
              <a:solidFill>
                <a:srgbClr val="000000"/>
              </a:solidFill>
              <a:latin typeface="Arial"/>
            </a:endParaRPr>
          </a:p>
        </p:txBody>
      </p:sp>
      <p:pic>
        <p:nvPicPr>
          <p:cNvPr id="60" name="Google Shape;92;g3f4b6d773eb_0_ 2" descr=""/>
          <p:cNvPicPr/>
          <p:nvPr/>
        </p:nvPicPr>
        <p:blipFill>
          <a:blip r:embed="rId2"/>
          <a:srcRect l="0" t="26214" r="0" b="23016"/>
          <a:stretch/>
        </p:blipFill>
        <p:spPr>
          <a:xfrm>
            <a:off x="10038960" y="288360"/>
            <a:ext cx="1940760" cy="530640"/>
          </a:xfrm>
          <a:prstGeom prst="rect">
            <a:avLst/>
          </a:prstGeom>
          <a:ln w="0">
            <a:noFill/>
          </a:ln>
        </p:spPr>
      </p:pic>
      <p:sp>
        <p:nvSpPr>
          <p:cNvPr id="61" name="TextBox 4"/>
          <p:cNvSpPr/>
          <p:nvPr/>
        </p:nvSpPr>
        <p:spPr>
          <a:xfrm>
            <a:off x="976320" y="646560"/>
            <a:ext cx="4691520" cy="516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800" spc="-1" strike="noStrike">
                <a:solidFill>
                  <a:srgbClr val="142346"/>
                </a:solidFill>
                <a:latin typeface="Calibri"/>
              </a:rPr>
              <a:t>Niveles de Absentismo Laboral</a:t>
            </a:r>
            <a:endParaRPr b="0" lang="es-E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Shape 1"/>
          <p:cNvSpPr/>
          <p:nvPr/>
        </p:nvSpPr>
        <p:spPr>
          <a:xfrm>
            <a:off x="9576000" y="1980000"/>
            <a:ext cx="2339280" cy="2411280"/>
          </a:xfrm>
          <a:prstGeom prst="roundRect">
            <a:avLst>
              <a:gd name="adj" fmla="val 2133"/>
            </a:avLst>
          </a:prstGeom>
          <a:solidFill>
            <a:srgbClr val="ffffff"/>
          </a:solidFill>
          <a:ln w="36000">
            <a:solidFill>
              <a:srgbClr val="c9cdd3"/>
            </a:solidFill>
            <a:round/>
          </a:ln>
        </p:spPr>
        <p:style>
          <a:lnRef idx="0"/>
          <a:fillRef idx="0"/>
          <a:effectRef idx="0"/>
          <a:fontRef idx="minor"/>
        </p:style>
        <p:txBody>
          <a:bodyPr lIns="101520" rIns="101520" tIns="56520" bIns="56520" anchor="t">
            <a:noAutofit/>
          </a:bodyPr>
          <a:p>
            <a:pPr>
              <a:lnSpc>
                <a:spcPct val="100000"/>
              </a:lnSpc>
            </a:pPr>
            <a:endParaRPr b="0" lang="es-ES" sz="1800" spc="-1" strike="noStrike">
              <a:solidFill>
                <a:schemeClr val="dk1"/>
              </a:solidFill>
              <a:latin typeface="Calibri"/>
            </a:endParaRPr>
          </a:p>
        </p:txBody>
      </p:sp>
      <p:sp>
        <p:nvSpPr>
          <p:cNvPr id="63" name="TextBox 3"/>
          <p:cNvSpPr/>
          <p:nvPr/>
        </p:nvSpPr>
        <p:spPr>
          <a:xfrm>
            <a:off x="1120320" y="645480"/>
            <a:ext cx="6624000" cy="516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800" spc="-1" strike="noStrike">
                <a:solidFill>
                  <a:srgbClr val="142346"/>
                </a:solidFill>
                <a:latin typeface="Calibri"/>
              </a:rPr>
              <a:t>Impacto de cada categoría en el absentismo</a:t>
            </a:r>
            <a:endParaRPr b="0" lang="es-ES" sz="2800" spc="-1" strike="noStrike">
              <a:solidFill>
                <a:srgbClr val="000000"/>
              </a:solidFill>
              <a:latin typeface="Arial"/>
            </a:endParaRPr>
          </a:p>
        </p:txBody>
      </p:sp>
      <p:sp>
        <p:nvSpPr>
          <p:cNvPr id="64" name="CuadroTexto 2"/>
          <p:cNvSpPr/>
          <p:nvPr/>
        </p:nvSpPr>
        <p:spPr>
          <a:xfrm>
            <a:off x="9792000" y="2326680"/>
            <a:ext cx="2159280" cy="20098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spcBef>
                <a:spcPts val="1191"/>
              </a:spcBef>
              <a:spcAft>
                <a:spcPts val="992"/>
              </a:spcAft>
            </a:pPr>
            <a:r>
              <a:rPr b="0" lang="es-ES" sz="1800" spc="-1" strike="noStrike">
                <a:solidFill>
                  <a:schemeClr val="dk1"/>
                </a:solidFill>
                <a:latin typeface="Calibri"/>
              </a:rPr>
              <a:t>El nivel severo acumula el 67% de las jornadas perdidas, evidenciando una fuerte concentración del impacto.</a:t>
            </a:r>
            <a:endParaRPr b="0" lang="es-ES" sz="1800" spc="-1" strike="noStrike">
              <a:solidFill>
                <a:srgbClr val="000000"/>
              </a:solidFill>
              <a:latin typeface="Arial"/>
            </a:endParaRPr>
          </a:p>
        </p:txBody>
      </p:sp>
      <p:sp>
        <p:nvSpPr>
          <p:cNvPr id="65" name="Google Shape;35;p 4"/>
          <p:cNvSpPr/>
          <p:nvPr/>
        </p:nvSpPr>
        <p:spPr>
          <a:xfrm>
            <a:off x="0" y="6519600"/>
            <a:ext cx="12182400" cy="347400"/>
          </a:xfrm>
          <a:prstGeom prst="rect">
            <a:avLst/>
          </a:prstGeom>
          <a:solidFill>
            <a:srgbClr val="ff8a00"/>
          </a:solidFill>
          <a:ln w="0">
            <a:noFill/>
          </a:ln>
        </p:spPr>
        <p:style>
          <a:lnRef idx="0"/>
          <a:fillRef idx="0"/>
          <a:effectRef idx="0"/>
          <a:fontRef idx="minor"/>
        </p:style>
        <p:txBody>
          <a:bodyPr lIns="90000" rIns="90000" tIns="45000" bIns="45000" anchor="t">
            <a:noAutofit/>
          </a:bodyPr>
          <a:p>
            <a:pPr>
              <a:lnSpc>
                <a:spcPct val="100000"/>
              </a:lnSpc>
            </a:pPr>
            <a:endParaRPr b="0" lang="es-ES" sz="1400" spc="-1" strike="noStrike">
              <a:solidFill>
                <a:srgbClr val="000000"/>
              </a:solidFill>
              <a:latin typeface="Arial"/>
            </a:endParaRPr>
          </a:p>
        </p:txBody>
      </p:sp>
      <p:sp>
        <p:nvSpPr>
          <p:cNvPr id="66" name="Google Shape;38;p 4"/>
          <p:cNvSpPr/>
          <p:nvPr/>
        </p:nvSpPr>
        <p:spPr>
          <a:xfrm>
            <a:off x="168120" y="6538320"/>
            <a:ext cx="299088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Dpt. Analistas de Datos de RRHH</a:t>
            </a:r>
            <a:endParaRPr b="0" lang="es-ES" sz="1200" spc="-1" strike="noStrike">
              <a:solidFill>
                <a:srgbClr val="000000"/>
              </a:solidFill>
              <a:latin typeface="Arial"/>
            </a:endParaRPr>
          </a:p>
        </p:txBody>
      </p:sp>
      <p:sp>
        <p:nvSpPr>
          <p:cNvPr id="67" name="Google Shape;39;p 3"/>
          <p:cNvSpPr/>
          <p:nvPr/>
        </p:nvSpPr>
        <p:spPr>
          <a:xfrm>
            <a:off x="2742840" y="6538320"/>
            <a:ext cx="138960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- 20 Julio 2026</a:t>
            </a:r>
            <a:endParaRPr b="0" lang="es-ES" sz="1200" spc="-1" strike="noStrike">
              <a:solidFill>
                <a:srgbClr val="000000"/>
              </a:solidFill>
              <a:latin typeface="Arial"/>
            </a:endParaRPr>
          </a:p>
        </p:txBody>
      </p:sp>
      <p:pic>
        <p:nvPicPr>
          <p:cNvPr id="68" name="Google Shape;92;g3f4b6d773eb_0_ 3" descr=""/>
          <p:cNvPicPr/>
          <p:nvPr/>
        </p:nvPicPr>
        <p:blipFill>
          <a:blip r:embed="rId1"/>
          <a:srcRect l="0" t="26214" r="0" b="23016"/>
          <a:stretch/>
        </p:blipFill>
        <p:spPr>
          <a:xfrm>
            <a:off x="10039320" y="288360"/>
            <a:ext cx="1940760" cy="530640"/>
          </a:xfrm>
          <a:prstGeom prst="rect">
            <a:avLst/>
          </a:prstGeom>
          <a:ln w="0">
            <a:noFill/>
          </a:ln>
        </p:spPr>
      </p:pic>
      <p:pic>
        <p:nvPicPr>
          <p:cNvPr id="69" name="" descr=""/>
          <p:cNvPicPr/>
          <p:nvPr/>
        </p:nvPicPr>
        <p:blipFill>
          <a:blip r:embed="rId2"/>
          <a:stretch/>
        </p:blipFill>
        <p:spPr>
          <a:xfrm>
            <a:off x="9180000" y="1620000"/>
            <a:ext cx="1259280" cy="1259280"/>
          </a:xfrm>
          <a:prstGeom prst="rect">
            <a:avLst/>
          </a:prstGeom>
          <a:ln w="0">
            <a:noFill/>
          </a:ln>
        </p:spPr>
      </p:pic>
      <p:pic>
        <p:nvPicPr>
          <p:cNvPr id="70" name="" descr=""/>
          <p:cNvPicPr/>
          <p:nvPr/>
        </p:nvPicPr>
        <p:blipFill>
          <a:blip r:embed="rId3"/>
          <a:stretch/>
        </p:blipFill>
        <p:spPr>
          <a:xfrm>
            <a:off x="526320" y="1346400"/>
            <a:ext cx="8977320" cy="4625640"/>
          </a:xfrm>
          <a:prstGeom prst="rect">
            <a:avLst/>
          </a:prstGeom>
          <a:ln w="0">
            <a:noFill/>
          </a:ln>
        </p:spPr>
      </p:pic>
      <p:sp>
        <p:nvSpPr>
          <p:cNvPr id="71" name="TextBox 8"/>
          <p:cNvSpPr/>
          <p:nvPr/>
        </p:nvSpPr>
        <p:spPr>
          <a:xfrm>
            <a:off x="8724240" y="6248880"/>
            <a:ext cx="3335040" cy="303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s-ES" sz="1400" spc="-1" strike="noStrike">
                <a:solidFill>
                  <a:srgbClr val="787878"/>
                </a:solidFill>
                <a:latin typeface="Calibri"/>
              </a:rPr>
              <a:t>Nota: 1 turno laboral = 8 horas de ausencia.</a:t>
            </a:r>
            <a:endParaRPr b="0" lang="es-E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TextBox 6"/>
          <p:cNvSpPr/>
          <p:nvPr/>
        </p:nvSpPr>
        <p:spPr>
          <a:xfrm>
            <a:off x="1145520" y="648000"/>
            <a:ext cx="7198560" cy="516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800" spc="-1" strike="noStrike">
                <a:solidFill>
                  <a:srgbClr val="142346"/>
                </a:solidFill>
                <a:latin typeface="Calibri"/>
              </a:rPr>
              <a:t>El grupo de riesgo prioritario para la prevención</a:t>
            </a:r>
            <a:endParaRPr b="0" lang="es-ES" sz="2800" spc="-1" strike="noStrike">
              <a:solidFill>
                <a:srgbClr val="000000"/>
              </a:solidFill>
              <a:latin typeface="Arial"/>
            </a:endParaRPr>
          </a:p>
        </p:txBody>
      </p:sp>
      <p:sp>
        <p:nvSpPr>
          <p:cNvPr id="73" name="Google Shape;35;p 7"/>
          <p:cNvSpPr/>
          <p:nvPr/>
        </p:nvSpPr>
        <p:spPr>
          <a:xfrm>
            <a:off x="0" y="6519600"/>
            <a:ext cx="12182400" cy="347400"/>
          </a:xfrm>
          <a:prstGeom prst="rect">
            <a:avLst/>
          </a:prstGeom>
          <a:solidFill>
            <a:srgbClr val="ff8a00"/>
          </a:solidFill>
          <a:ln w="0">
            <a:noFill/>
          </a:ln>
        </p:spPr>
        <p:style>
          <a:lnRef idx="0"/>
          <a:fillRef idx="0"/>
          <a:effectRef idx="0"/>
          <a:fontRef idx="minor"/>
        </p:style>
        <p:txBody>
          <a:bodyPr lIns="90000" rIns="90000" tIns="45000" bIns="45000" anchor="t">
            <a:noAutofit/>
          </a:bodyPr>
          <a:p>
            <a:pPr>
              <a:lnSpc>
                <a:spcPct val="100000"/>
              </a:lnSpc>
            </a:pPr>
            <a:endParaRPr b="0" lang="es-ES" sz="1400" spc="-1" strike="noStrike">
              <a:solidFill>
                <a:srgbClr val="000000"/>
              </a:solidFill>
              <a:latin typeface="Arial"/>
            </a:endParaRPr>
          </a:p>
        </p:txBody>
      </p:sp>
      <p:sp>
        <p:nvSpPr>
          <p:cNvPr id="74" name="Google Shape;38;p 5"/>
          <p:cNvSpPr/>
          <p:nvPr/>
        </p:nvSpPr>
        <p:spPr>
          <a:xfrm>
            <a:off x="168120" y="6538320"/>
            <a:ext cx="299088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Dpt. Analistas de Datos de RRHH</a:t>
            </a:r>
            <a:endParaRPr b="0" lang="es-ES" sz="1200" spc="-1" strike="noStrike">
              <a:solidFill>
                <a:srgbClr val="000000"/>
              </a:solidFill>
              <a:latin typeface="Arial"/>
            </a:endParaRPr>
          </a:p>
        </p:txBody>
      </p:sp>
      <p:pic>
        <p:nvPicPr>
          <p:cNvPr id="75" name="" descr=""/>
          <p:cNvPicPr/>
          <p:nvPr/>
        </p:nvPicPr>
        <p:blipFill>
          <a:blip r:embed="rId1"/>
          <a:stretch/>
        </p:blipFill>
        <p:spPr>
          <a:xfrm>
            <a:off x="485640" y="1512000"/>
            <a:ext cx="8778240" cy="4067640"/>
          </a:xfrm>
          <a:prstGeom prst="rect">
            <a:avLst/>
          </a:prstGeom>
          <a:ln w="0">
            <a:noFill/>
          </a:ln>
        </p:spPr>
      </p:pic>
      <p:sp>
        <p:nvSpPr>
          <p:cNvPr id="76" name="Google Shape;39;p 4"/>
          <p:cNvSpPr/>
          <p:nvPr/>
        </p:nvSpPr>
        <p:spPr>
          <a:xfrm>
            <a:off x="2742840" y="6538320"/>
            <a:ext cx="138960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- 20 Julio 2026</a:t>
            </a:r>
            <a:endParaRPr b="0" lang="es-ES" sz="1200" spc="-1" strike="noStrike">
              <a:solidFill>
                <a:srgbClr val="000000"/>
              </a:solidFill>
              <a:latin typeface="Arial"/>
            </a:endParaRPr>
          </a:p>
        </p:txBody>
      </p:sp>
      <p:pic>
        <p:nvPicPr>
          <p:cNvPr id="77" name="Google Shape;92;g3f4b6d773eb_0_ 4" descr=""/>
          <p:cNvPicPr/>
          <p:nvPr/>
        </p:nvPicPr>
        <p:blipFill>
          <a:blip r:embed="rId2"/>
          <a:srcRect l="0" t="26214" r="0" b="23016"/>
          <a:stretch/>
        </p:blipFill>
        <p:spPr>
          <a:xfrm>
            <a:off x="10039680" y="288360"/>
            <a:ext cx="1940760" cy="530640"/>
          </a:xfrm>
          <a:prstGeom prst="rect">
            <a:avLst/>
          </a:prstGeom>
          <a:ln w="0">
            <a:noFill/>
          </a:ln>
        </p:spPr>
      </p:pic>
      <p:sp>
        <p:nvSpPr>
          <p:cNvPr id="78" name="Shape 4"/>
          <p:cNvSpPr/>
          <p:nvPr/>
        </p:nvSpPr>
        <p:spPr>
          <a:xfrm>
            <a:off x="9180000" y="2448000"/>
            <a:ext cx="2807640" cy="1907280"/>
          </a:xfrm>
          <a:prstGeom prst="roundRect">
            <a:avLst>
              <a:gd name="adj" fmla="val 2133"/>
            </a:avLst>
          </a:prstGeom>
          <a:solidFill>
            <a:srgbClr val="ffffff"/>
          </a:solidFill>
          <a:ln w="36000">
            <a:solidFill>
              <a:srgbClr val="c9cdd3"/>
            </a:solidFill>
            <a:round/>
          </a:ln>
        </p:spPr>
        <p:style>
          <a:lnRef idx="0"/>
          <a:fillRef idx="0"/>
          <a:effectRef idx="0"/>
          <a:fontRef idx="minor"/>
        </p:style>
        <p:txBody>
          <a:bodyPr lIns="101520" rIns="101520" tIns="56520" bIns="56520" anchor="t">
            <a:noAutofit/>
          </a:bodyPr>
          <a:p>
            <a:pPr>
              <a:lnSpc>
                <a:spcPct val="100000"/>
              </a:lnSpc>
            </a:pPr>
            <a:endParaRPr b="0" lang="es-ES" sz="1800" spc="-1" strike="noStrike">
              <a:solidFill>
                <a:schemeClr val="dk1"/>
              </a:solidFill>
              <a:latin typeface="Calibri"/>
            </a:endParaRPr>
          </a:p>
        </p:txBody>
      </p:sp>
      <p:sp>
        <p:nvSpPr>
          <p:cNvPr id="79" name="CuadroTexto 3"/>
          <p:cNvSpPr/>
          <p:nvPr/>
        </p:nvSpPr>
        <p:spPr>
          <a:xfrm>
            <a:off x="9408600" y="2845080"/>
            <a:ext cx="2615040" cy="1461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spcBef>
                <a:spcPts val="1191"/>
              </a:spcBef>
              <a:spcAft>
                <a:spcPts val="992"/>
              </a:spcAft>
            </a:pPr>
            <a:r>
              <a:rPr b="0" lang="es-ES" sz="1800" spc="-1" strike="noStrike">
                <a:solidFill>
                  <a:schemeClr val="dk1"/>
                </a:solidFill>
                <a:latin typeface="Calibri"/>
              </a:rPr>
              <a:t>Las faltas discipliarias aumentan 5,5 veces la probabilidad de tener un nivel elevado de absentismo. </a:t>
            </a:r>
            <a:endParaRPr b="0" lang="es-ES" sz="1800" spc="-1" strike="noStrike">
              <a:solidFill>
                <a:srgbClr val="000000"/>
              </a:solidFill>
              <a:latin typeface="Arial"/>
            </a:endParaRPr>
          </a:p>
        </p:txBody>
      </p:sp>
      <p:pic>
        <p:nvPicPr>
          <p:cNvPr id="80" name="" descr=""/>
          <p:cNvPicPr/>
          <p:nvPr/>
        </p:nvPicPr>
        <p:blipFill>
          <a:blip r:embed="rId3"/>
          <a:stretch/>
        </p:blipFill>
        <p:spPr>
          <a:xfrm>
            <a:off x="8820000" y="2052000"/>
            <a:ext cx="1259280" cy="125928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Text 5"/>
          <p:cNvSpPr/>
          <p:nvPr/>
        </p:nvSpPr>
        <p:spPr>
          <a:xfrm>
            <a:off x="1145520" y="540000"/>
            <a:ext cx="10922040" cy="593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1b2a38"/>
                </a:solidFill>
                <a:latin typeface="Calibri"/>
                <a:ea typeface="Cambria"/>
              </a:rPr>
              <a:t>Tres acciones preventivas para reducir el salto </a:t>
            </a:r>
            <a:endParaRPr b="0" lang="es-ES" sz="2800" spc="-1" strike="noStrike">
              <a:solidFill>
                <a:srgbClr val="000000"/>
              </a:solidFill>
              <a:latin typeface="Arial"/>
            </a:endParaRPr>
          </a:p>
          <a:p>
            <a:pPr defTabSz="914400">
              <a:lnSpc>
                <a:spcPct val="100000"/>
              </a:lnSpc>
              <a:tabLst>
                <a:tab algn="l" pos="0"/>
              </a:tabLst>
            </a:pPr>
            <a:r>
              <a:rPr b="1" lang="en-US" sz="2800" spc="-1" strike="noStrike">
                <a:solidFill>
                  <a:srgbClr val="1b2a38"/>
                </a:solidFill>
                <a:latin typeface="Calibri"/>
                <a:ea typeface="Cambria"/>
              </a:rPr>
              <a:t>a niveles altos de absentismo</a:t>
            </a:r>
            <a:endParaRPr b="0" lang="es-ES" sz="2800" spc="-1" strike="noStrike">
              <a:solidFill>
                <a:srgbClr val="000000"/>
              </a:solidFill>
              <a:latin typeface="Arial"/>
            </a:endParaRPr>
          </a:p>
        </p:txBody>
      </p:sp>
      <p:sp>
        <p:nvSpPr>
          <p:cNvPr id="82" name="Shape 2"/>
          <p:cNvSpPr/>
          <p:nvPr/>
        </p:nvSpPr>
        <p:spPr>
          <a:xfrm>
            <a:off x="675720" y="1924200"/>
            <a:ext cx="3427920" cy="3115440"/>
          </a:xfrm>
          <a:prstGeom prst="roundRect">
            <a:avLst>
              <a:gd name="adj" fmla="val 2133"/>
            </a:avLst>
          </a:prstGeom>
          <a:solidFill>
            <a:srgbClr val="ffffff"/>
          </a:solidFill>
          <a:ln w="12700">
            <a:solidFill>
              <a:srgbClr val="c9cdd3"/>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chemeClr val="dk1"/>
              </a:solidFill>
              <a:latin typeface="Calibri"/>
            </a:endParaRPr>
          </a:p>
        </p:txBody>
      </p:sp>
      <p:sp>
        <p:nvSpPr>
          <p:cNvPr id="83" name="Shape 3"/>
          <p:cNvSpPr/>
          <p:nvPr/>
        </p:nvSpPr>
        <p:spPr>
          <a:xfrm>
            <a:off x="1069920" y="2090880"/>
            <a:ext cx="565920" cy="565920"/>
          </a:xfrm>
          <a:prstGeom prst="ellipse">
            <a:avLst/>
          </a:prstGeom>
          <a:solidFill>
            <a:srgbClr val="e8622c"/>
          </a:solidFill>
          <a:ln w="12700">
            <a:solidFill>
              <a:srgbClr val="e8622c"/>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ffffff"/>
              </a:solidFill>
              <a:latin typeface="Arial"/>
            </a:endParaRPr>
          </a:p>
        </p:txBody>
      </p:sp>
      <p:sp>
        <p:nvSpPr>
          <p:cNvPr id="84" name="Text 7"/>
          <p:cNvSpPr/>
          <p:nvPr/>
        </p:nvSpPr>
        <p:spPr>
          <a:xfrm>
            <a:off x="1069920" y="2090880"/>
            <a:ext cx="565920" cy="565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pc="-1" strike="noStrike">
                <a:solidFill>
                  <a:srgbClr val="ffffff"/>
                </a:solidFill>
                <a:latin typeface="Cambria"/>
                <a:ea typeface="Cambria"/>
              </a:rPr>
              <a:t>1</a:t>
            </a:r>
            <a:endParaRPr b="0" lang="es-ES" sz="2400" spc="-1" strike="noStrike">
              <a:solidFill>
                <a:srgbClr val="000000"/>
              </a:solidFill>
              <a:latin typeface="Arial"/>
            </a:endParaRPr>
          </a:p>
        </p:txBody>
      </p:sp>
      <p:sp>
        <p:nvSpPr>
          <p:cNvPr id="85" name="Text 8"/>
          <p:cNvSpPr/>
          <p:nvPr/>
        </p:nvSpPr>
        <p:spPr>
          <a:xfrm>
            <a:off x="1051560" y="2766240"/>
            <a:ext cx="2879280" cy="593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pc="-1" strike="noStrike">
                <a:solidFill>
                  <a:srgbClr val="1b2a38"/>
                </a:solidFill>
                <a:latin typeface="Cambria"/>
                <a:ea typeface="Cambria"/>
              </a:rPr>
              <a:t>Detectar perfil de forma temprana</a:t>
            </a:r>
            <a:endParaRPr b="0" lang="es-ES" sz="1800" spc="-1" strike="noStrike">
              <a:solidFill>
                <a:srgbClr val="000000"/>
              </a:solidFill>
              <a:latin typeface="Arial"/>
            </a:endParaRPr>
          </a:p>
        </p:txBody>
      </p:sp>
      <p:sp>
        <p:nvSpPr>
          <p:cNvPr id="86" name="Text 9"/>
          <p:cNvSpPr/>
          <p:nvPr/>
        </p:nvSpPr>
        <p:spPr>
          <a:xfrm>
            <a:off x="1051560" y="3322800"/>
            <a:ext cx="3068640" cy="830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600" spc="-1" strike="noStrike">
                <a:solidFill>
                  <a:srgbClr val="3a3f4b"/>
                </a:solidFill>
                <a:latin typeface="Calibri"/>
                <a:ea typeface="Calibri"/>
              </a:rPr>
              <a:t>Aviso informático a RRHH cuando empleado supere umbral</a:t>
            </a:r>
            <a:endParaRPr b="0" lang="es-ES" sz="1600" spc="-1" strike="noStrike">
              <a:solidFill>
                <a:srgbClr val="000000"/>
              </a:solidFill>
              <a:latin typeface="Arial"/>
            </a:endParaRPr>
          </a:p>
        </p:txBody>
      </p:sp>
      <p:sp>
        <p:nvSpPr>
          <p:cNvPr id="87" name="Shape 7"/>
          <p:cNvSpPr/>
          <p:nvPr/>
        </p:nvSpPr>
        <p:spPr>
          <a:xfrm>
            <a:off x="1051560" y="4127760"/>
            <a:ext cx="2880360" cy="360"/>
          </a:xfrm>
          <a:prstGeom prst="line">
            <a:avLst/>
          </a:prstGeom>
          <a:ln w="12700">
            <a:solidFill>
              <a:srgbClr val="e4e7eb"/>
            </a:solidFill>
            <a:round/>
          </a:ln>
        </p:spPr>
        <p:style>
          <a:lnRef idx="0"/>
          <a:fillRef idx="0"/>
          <a:effectRef idx="0"/>
          <a:fontRef idx="minor"/>
        </p:style>
        <p:txBody>
          <a:bodyPr lIns="90000" rIns="90000" tIns="-44640" bIns="-44640" anchor="t" anchorCtr="1">
            <a:noAutofit/>
          </a:bodyPr>
          <a:p>
            <a:endParaRPr b="0" lang="es-ES" sz="1800" spc="-1" strike="noStrike">
              <a:solidFill>
                <a:srgbClr val="000000"/>
              </a:solidFill>
              <a:latin typeface="Arial"/>
            </a:endParaRPr>
          </a:p>
        </p:txBody>
      </p:sp>
      <p:sp>
        <p:nvSpPr>
          <p:cNvPr id="88" name="Shape 8"/>
          <p:cNvSpPr/>
          <p:nvPr/>
        </p:nvSpPr>
        <p:spPr>
          <a:xfrm>
            <a:off x="1771560" y="2204640"/>
            <a:ext cx="1233360" cy="327960"/>
          </a:xfrm>
          <a:prstGeom prst="roundRect">
            <a:avLst>
              <a:gd name="adj" fmla="val 50000"/>
            </a:avLst>
          </a:prstGeom>
          <a:solidFill>
            <a:srgbClr val="fdeee6"/>
          </a:solidFill>
          <a:ln w="9525">
            <a:solidFill>
              <a:srgbClr val="e8622c"/>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sp>
        <p:nvSpPr>
          <p:cNvPr id="89" name="Text 10"/>
          <p:cNvSpPr/>
          <p:nvPr/>
        </p:nvSpPr>
        <p:spPr>
          <a:xfrm>
            <a:off x="1800000" y="2191680"/>
            <a:ext cx="1233360" cy="327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50" spc="-1" strike="noStrike">
                <a:solidFill>
                  <a:srgbClr val="e8622c"/>
                </a:solidFill>
                <a:latin typeface="Calibri"/>
                <a:ea typeface="Calibri"/>
              </a:rPr>
              <a:t>Prioridad alta</a:t>
            </a:r>
            <a:endParaRPr b="0" lang="es-ES" sz="1050" spc="-1" strike="noStrike">
              <a:solidFill>
                <a:srgbClr val="000000"/>
              </a:solidFill>
              <a:latin typeface="Arial"/>
            </a:endParaRPr>
          </a:p>
        </p:txBody>
      </p:sp>
      <p:sp>
        <p:nvSpPr>
          <p:cNvPr id="90" name="Text 11"/>
          <p:cNvSpPr/>
          <p:nvPr/>
        </p:nvSpPr>
        <p:spPr>
          <a:xfrm>
            <a:off x="1051560" y="4317840"/>
            <a:ext cx="2879280" cy="492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1b2a38"/>
                </a:solidFill>
                <a:latin typeface="Calibri"/>
                <a:ea typeface="Calibri"/>
              </a:rPr>
              <a:t>Coste: </a:t>
            </a:r>
            <a:r>
              <a:rPr b="0" lang="en-US" sz="1400" spc="-1" strike="noStrike">
                <a:solidFill>
                  <a:srgbClr val="1b2a38"/>
                </a:solidFill>
                <a:latin typeface="Calibri"/>
                <a:ea typeface="Calibri"/>
              </a:rPr>
              <a:t>15–25h de analista (≈750-1.250€)</a:t>
            </a:r>
            <a:endParaRPr b="0" lang="es-ES" sz="1400" spc="-1" strike="noStrike">
              <a:solidFill>
                <a:srgbClr val="000000"/>
              </a:solidFill>
              <a:latin typeface="Arial"/>
            </a:endParaRPr>
          </a:p>
        </p:txBody>
      </p:sp>
      <p:sp>
        <p:nvSpPr>
          <p:cNvPr id="91" name="Shape 12"/>
          <p:cNvSpPr/>
          <p:nvPr/>
        </p:nvSpPr>
        <p:spPr>
          <a:xfrm>
            <a:off x="4432320" y="1937880"/>
            <a:ext cx="3552480" cy="3101760"/>
          </a:xfrm>
          <a:prstGeom prst="roundRect">
            <a:avLst>
              <a:gd name="adj" fmla="val 2133"/>
            </a:avLst>
          </a:prstGeom>
          <a:solidFill>
            <a:srgbClr val="ffffff"/>
          </a:solidFill>
          <a:ln w="12700">
            <a:solidFill>
              <a:srgbClr val="c9cdd3"/>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chemeClr val="dk1"/>
              </a:solidFill>
              <a:latin typeface="Calibri"/>
            </a:endParaRPr>
          </a:p>
        </p:txBody>
      </p:sp>
      <p:sp>
        <p:nvSpPr>
          <p:cNvPr id="92" name="Shape 13"/>
          <p:cNvSpPr/>
          <p:nvPr/>
        </p:nvSpPr>
        <p:spPr>
          <a:xfrm>
            <a:off x="4754880" y="2090880"/>
            <a:ext cx="565920" cy="565920"/>
          </a:xfrm>
          <a:prstGeom prst="ellipse">
            <a:avLst/>
          </a:prstGeom>
          <a:solidFill>
            <a:srgbClr val="e8622c"/>
          </a:solidFill>
          <a:ln w="12700">
            <a:solidFill>
              <a:srgbClr val="e8622c"/>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ffffff"/>
              </a:solidFill>
              <a:latin typeface="Arial"/>
            </a:endParaRPr>
          </a:p>
        </p:txBody>
      </p:sp>
      <p:sp>
        <p:nvSpPr>
          <p:cNvPr id="93" name="Text 14"/>
          <p:cNvSpPr/>
          <p:nvPr/>
        </p:nvSpPr>
        <p:spPr>
          <a:xfrm>
            <a:off x="4754880" y="2090880"/>
            <a:ext cx="565920" cy="565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pc="-1" strike="noStrike">
                <a:solidFill>
                  <a:srgbClr val="ffffff"/>
                </a:solidFill>
                <a:latin typeface="Cambria"/>
                <a:ea typeface="Cambria"/>
              </a:rPr>
              <a:t>2</a:t>
            </a:r>
            <a:endParaRPr b="0" lang="es-ES" sz="2400" spc="-1" strike="noStrike">
              <a:solidFill>
                <a:srgbClr val="000000"/>
              </a:solidFill>
              <a:latin typeface="Arial"/>
            </a:endParaRPr>
          </a:p>
        </p:txBody>
      </p:sp>
      <p:sp>
        <p:nvSpPr>
          <p:cNvPr id="94" name="Text 15"/>
          <p:cNvSpPr/>
          <p:nvPr/>
        </p:nvSpPr>
        <p:spPr>
          <a:xfrm>
            <a:off x="4701960" y="2766240"/>
            <a:ext cx="3135240" cy="565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pc="-1" strike="noStrike">
                <a:solidFill>
                  <a:srgbClr val="1b2a38"/>
                </a:solidFill>
                <a:latin typeface="Cambria"/>
                <a:ea typeface="Cambria"/>
              </a:rPr>
              <a:t>Comprender la causa subyacente de la falta</a:t>
            </a:r>
            <a:endParaRPr b="0" lang="es-ES" sz="1800" spc="-1" strike="noStrike">
              <a:solidFill>
                <a:srgbClr val="000000"/>
              </a:solidFill>
              <a:latin typeface="Arial"/>
            </a:endParaRPr>
          </a:p>
        </p:txBody>
      </p:sp>
      <p:sp>
        <p:nvSpPr>
          <p:cNvPr id="95" name="Text 16"/>
          <p:cNvSpPr/>
          <p:nvPr/>
        </p:nvSpPr>
        <p:spPr>
          <a:xfrm>
            <a:off x="4701960" y="3243600"/>
            <a:ext cx="2879280" cy="975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600" spc="-1" strike="noStrike">
                <a:solidFill>
                  <a:srgbClr val="3a3f4b"/>
                </a:solidFill>
                <a:latin typeface="Calibri"/>
                <a:ea typeface="Calibri"/>
              </a:rPr>
              <a:t>Entrevistas de RRHH con los empleados identificados.</a:t>
            </a:r>
            <a:endParaRPr b="0" lang="es-ES" sz="1600" spc="-1" strike="noStrike">
              <a:solidFill>
                <a:srgbClr val="000000"/>
              </a:solidFill>
              <a:latin typeface="Arial"/>
            </a:endParaRPr>
          </a:p>
        </p:txBody>
      </p:sp>
      <p:sp>
        <p:nvSpPr>
          <p:cNvPr id="96" name="Shape 17"/>
          <p:cNvSpPr/>
          <p:nvPr/>
        </p:nvSpPr>
        <p:spPr>
          <a:xfrm>
            <a:off x="4736520" y="4127760"/>
            <a:ext cx="2880360" cy="360"/>
          </a:xfrm>
          <a:prstGeom prst="line">
            <a:avLst/>
          </a:prstGeom>
          <a:ln w="12700">
            <a:solidFill>
              <a:srgbClr val="e4e7eb"/>
            </a:solidFill>
            <a:round/>
          </a:ln>
        </p:spPr>
        <p:style>
          <a:lnRef idx="0"/>
          <a:fillRef idx="0"/>
          <a:effectRef idx="0"/>
          <a:fontRef idx="minor"/>
        </p:style>
        <p:txBody>
          <a:bodyPr lIns="90000" rIns="90000" tIns="-44640" bIns="-44640" anchor="t" anchorCtr="1">
            <a:noAutofit/>
          </a:bodyPr>
          <a:p>
            <a:endParaRPr b="0" lang="es-ES" sz="1800" spc="-1" strike="noStrike">
              <a:solidFill>
                <a:srgbClr val="000000"/>
              </a:solidFill>
              <a:latin typeface="Arial"/>
            </a:endParaRPr>
          </a:p>
        </p:txBody>
      </p:sp>
      <p:sp>
        <p:nvSpPr>
          <p:cNvPr id="97" name="Shape 18"/>
          <p:cNvSpPr/>
          <p:nvPr/>
        </p:nvSpPr>
        <p:spPr>
          <a:xfrm>
            <a:off x="5420520" y="2204640"/>
            <a:ext cx="1233360" cy="327960"/>
          </a:xfrm>
          <a:prstGeom prst="roundRect">
            <a:avLst>
              <a:gd name="adj" fmla="val 50000"/>
            </a:avLst>
          </a:prstGeom>
          <a:solidFill>
            <a:srgbClr val="fdeee6"/>
          </a:solidFill>
          <a:ln w="9525">
            <a:solidFill>
              <a:srgbClr val="e8622c"/>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sp>
        <p:nvSpPr>
          <p:cNvPr id="98" name="Text 19"/>
          <p:cNvSpPr/>
          <p:nvPr/>
        </p:nvSpPr>
        <p:spPr>
          <a:xfrm>
            <a:off x="5420520" y="2204640"/>
            <a:ext cx="1233360" cy="327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50" spc="-1" strike="noStrike">
                <a:solidFill>
                  <a:srgbClr val="e8622c"/>
                </a:solidFill>
                <a:latin typeface="Calibri"/>
                <a:ea typeface="Calibri"/>
              </a:rPr>
              <a:t>Prioridad alta</a:t>
            </a:r>
            <a:endParaRPr b="0" lang="es-ES" sz="1050" spc="-1" strike="noStrike">
              <a:solidFill>
                <a:srgbClr val="000000"/>
              </a:solidFill>
              <a:latin typeface="Arial"/>
            </a:endParaRPr>
          </a:p>
        </p:txBody>
      </p:sp>
      <p:sp>
        <p:nvSpPr>
          <p:cNvPr id="99" name="Text 24"/>
          <p:cNvSpPr/>
          <p:nvPr/>
        </p:nvSpPr>
        <p:spPr>
          <a:xfrm>
            <a:off x="4736520" y="4281840"/>
            <a:ext cx="294588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1b2a38"/>
                </a:solidFill>
                <a:latin typeface="Calibri"/>
                <a:ea typeface="Calibri"/>
              </a:rPr>
              <a:t>Coste: </a:t>
            </a:r>
            <a:r>
              <a:rPr b="0" lang="en-US" sz="1400" spc="-1" strike="noStrike">
                <a:solidFill>
                  <a:srgbClr val="1b2a38"/>
                </a:solidFill>
                <a:latin typeface="Calibri"/>
                <a:ea typeface="Calibri"/>
              </a:rPr>
              <a:t>2h por empleado (≈20-30/año)</a:t>
            </a:r>
            <a:endParaRPr b="0" lang="es-ES" sz="1400" spc="-1" strike="noStrike">
              <a:solidFill>
                <a:srgbClr val="000000"/>
              </a:solidFill>
              <a:latin typeface="Arial"/>
            </a:endParaRPr>
          </a:p>
        </p:txBody>
      </p:sp>
      <p:sp>
        <p:nvSpPr>
          <p:cNvPr id="100" name="Shape 21"/>
          <p:cNvSpPr/>
          <p:nvPr/>
        </p:nvSpPr>
        <p:spPr>
          <a:xfrm>
            <a:off x="8239320" y="1928520"/>
            <a:ext cx="3552480" cy="3111120"/>
          </a:xfrm>
          <a:prstGeom prst="roundRect">
            <a:avLst>
              <a:gd name="adj" fmla="val 2133"/>
            </a:avLst>
          </a:prstGeom>
          <a:solidFill>
            <a:srgbClr val="ffffff"/>
          </a:solidFill>
          <a:ln w="12700">
            <a:solidFill>
              <a:srgbClr val="c9cdd3"/>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chemeClr val="dk1"/>
              </a:solidFill>
              <a:latin typeface="Calibri"/>
            </a:endParaRPr>
          </a:p>
        </p:txBody>
      </p:sp>
      <p:sp>
        <p:nvSpPr>
          <p:cNvPr id="101" name="Shape 22"/>
          <p:cNvSpPr/>
          <p:nvPr/>
        </p:nvSpPr>
        <p:spPr>
          <a:xfrm>
            <a:off x="8439840" y="2090880"/>
            <a:ext cx="565920" cy="565920"/>
          </a:xfrm>
          <a:prstGeom prst="ellipse">
            <a:avLst/>
          </a:prstGeom>
          <a:solidFill>
            <a:srgbClr val="d9a400"/>
          </a:solidFill>
          <a:ln w="12700">
            <a:solidFill>
              <a:srgbClr val="d9a400"/>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sp>
        <p:nvSpPr>
          <p:cNvPr id="102" name="Text 25"/>
          <p:cNvSpPr/>
          <p:nvPr/>
        </p:nvSpPr>
        <p:spPr>
          <a:xfrm>
            <a:off x="8439840" y="2090880"/>
            <a:ext cx="565920" cy="565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pc="-1" strike="noStrike">
                <a:solidFill>
                  <a:srgbClr val="ffffff"/>
                </a:solidFill>
                <a:latin typeface="Cambria"/>
                <a:ea typeface="Cambria"/>
              </a:rPr>
              <a:t>3</a:t>
            </a:r>
            <a:endParaRPr b="0" lang="es-ES" sz="2400" spc="-1" strike="noStrike">
              <a:solidFill>
                <a:srgbClr val="000000"/>
              </a:solidFill>
              <a:latin typeface="Arial"/>
            </a:endParaRPr>
          </a:p>
        </p:txBody>
      </p:sp>
      <p:sp>
        <p:nvSpPr>
          <p:cNvPr id="103" name="Text 26"/>
          <p:cNvSpPr/>
          <p:nvPr/>
        </p:nvSpPr>
        <p:spPr>
          <a:xfrm>
            <a:off x="8421480" y="2766240"/>
            <a:ext cx="3255120" cy="593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pc="-1" strike="noStrike">
                <a:solidFill>
                  <a:srgbClr val="1b2a38"/>
                </a:solidFill>
                <a:latin typeface="Cambria"/>
                <a:ea typeface="Cambria"/>
              </a:rPr>
              <a:t>Reforzar la intervención de los encargados</a:t>
            </a:r>
            <a:endParaRPr b="0" lang="es-ES" sz="1800" spc="-1" strike="noStrike">
              <a:solidFill>
                <a:srgbClr val="000000"/>
              </a:solidFill>
              <a:latin typeface="Arial"/>
            </a:endParaRPr>
          </a:p>
        </p:txBody>
      </p:sp>
      <p:sp>
        <p:nvSpPr>
          <p:cNvPr id="104" name="Text 29"/>
          <p:cNvSpPr/>
          <p:nvPr/>
        </p:nvSpPr>
        <p:spPr>
          <a:xfrm>
            <a:off x="8410320" y="3392280"/>
            <a:ext cx="3277800" cy="520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600" spc="-1" strike="noStrike">
                <a:solidFill>
                  <a:srgbClr val="3a3f4b"/>
                </a:solidFill>
                <a:latin typeface="Calibri"/>
                <a:ea typeface="Calibri"/>
              </a:rPr>
              <a:t>Formación en detección temprana y derivación a RRHH.</a:t>
            </a:r>
            <a:endParaRPr b="0" lang="es-ES" sz="1600" spc="-1" strike="noStrike">
              <a:solidFill>
                <a:srgbClr val="000000"/>
              </a:solidFill>
              <a:latin typeface="Arial"/>
            </a:endParaRPr>
          </a:p>
        </p:txBody>
      </p:sp>
      <p:sp>
        <p:nvSpPr>
          <p:cNvPr id="105" name="Shape 23"/>
          <p:cNvSpPr/>
          <p:nvPr/>
        </p:nvSpPr>
        <p:spPr>
          <a:xfrm>
            <a:off x="8421480" y="4127760"/>
            <a:ext cx="2880360" cy="360"/>
          </a:xfrm>
          <a:prstGeom prst="line">
            <a:avLst/>
          </a:prstGeom>
          <a:ln w="12700">
            <a:solidFill>
              <a:srgbClr val="e4e7eb"/>
            </a:solidFill>
            <a:round/>
          </a:ln>
        </p:spPr>
        <p:style>
          <a:lnRef idx="0"/>
          <a:fillRef idx="0"/>
          <a:effectRef idx="0"/>
          <a:fontRef idx="minor"/>
        </p:style>
        <p:txBody>
          <a:bodyPr lIns="90000" rIns="90000" tIns="-44640" bIns="-44640" anchor="t" anchorCtr="1">
            <a:noAutofit/>
          </a:bodyPr>
          <a:p>
            <a:endParaRPr b="0" lang="es-ES" sz="1800" spc="-1" strike="noStrike">
              <a:solidFill>
                <a:srgbClr val="000000"/>
              </a:solidFill>
              <a:latin typeface="Arial"/>
            </a:endParaRPr>
          </a:p>
        </p:txBody>
      </p:sp>
      <p:sp>
        <p:nvSpPr>
          <p:cNvPr id="106" name="Shape 24"/>
          <p:cNvSpPr/>
          <p:nvPr/>
        </p:nvSpPr>
        <p:spPr>
          <a:xfrm>
            <a:off x="9141480" y="2204640"/>
            <a:ext cx="1416240" cy="327960"/>
          </a:xfrm>
          <a:prstGeom prst="roundRect">
            <a:avLst>
              <a:gd name="adj" fmla="val 50000"/>
            </a:avLst>
          </a:prstGeom>
          <a:solidFill>
            <a:srgbClr val="fbf6e3"/>
          </a:solidFill>
          <a:ln w="9525">
            <a:solidFill>
              <a:srgbClr val="d9a400"/>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sp>
        <p:nvSpPr>
          <p:cNvPr id="107" name="Text 30"/>
          <p:cNvSpPr/>
          <p:nvPr/>
        </p:nvSpPr>
        <p:spPr>
          <a:xfrm>
            <a:off x="9141480" y="2204640"/>
            <a:ext cx="1416240" cy="327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50" spc="-1" strike="noStrike">
                <a:solidFill>
                  <a:srgbClr val="d9a400"/>
                </a:solidFill>
                <a:latin typeface="Calibri"/>
                <a:ea typeface="Calibri"/>
              </a:rPr>
              <a:t>Prioridad media</a:t>
            </a:r>
            <a:endParaRPr b="0" lang="es-ES" sz="1050" spc="-1" strike="noStrike">
              <a:solidFill>
                <a:srgbClr val="000000"/>
              </a:solidFill>
              <a:latin typeface="Arial"/>
            </a:endParaRPr>
          </a:p>
        </p:txBody>
      </p:sp>
      <p:sp>
        <p:nvSpPr>
          <p:cNvPr id="108" name="Text 31"/>
          <p:cNvSpPr/>
          <p:nvPr/>
        </p:nvSpPr>
        <p:spPr>
          <a:xfrm>
            <a:off x="8421480" y="4353840"/>
            <a:ext cx="310248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1b2a38"/>
                </a:solidFill>
                <a:latin typeface="Calibri"/>
                <a:ea typeface="Calibri"/>
              </a:rPr>
              <a:t>Coste: </a:t>
            </a:r>
            <a:r>
              <a:rPr b="0" lang="en-US" sz="1400" spc="-1" strike="noStrike">
                <a:solidFill>
                  <a:srgbClr val="1b2a38"/>
                </a:solidFill>
                <a:latin typeface="Calibri"/>
                <a:ea typeface="Calibri"/>
              </a:rPr>
              <a:t>3.000-6.000€ (formación in-company)</a:t>
            </a:r>
            <a:endParaRPr b="0" lang="es-ES" sz="1400" spc="-1" strike="noStrike">
              <a:solidFill>
                <a:srgbClr val="000000"/>
              </a:solidFill>
              <a:latin typeface="Arial"/>
            </a:endParaRPr>
          </a:p>
        </p:txBody>
      </p:sp>
      <p:sp>
        <p:nvSpPr>
          <p:cNvPr id="109" name="Text 38"/>
          <p:cNvSpPr/>
          <p:nvPr/>
        </p:nvSpPr>
        <p:spPr>
          <a:xfrm>
            <a:off x="8421480" y="4682520"/>
            <a:ext cx="2879280" cy="27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950" spc="-1" strike="noStrike">
                <a:solidFill>
                  <a:srgbClr val="8a8f98"/>
                </a:solidFill>
                <a:latin typeface="Calibri"/>
                <a:ea typeface="Calibri"/>
              </a:rPr>
              <a:t>o ~40h internas con recursos propios</a:t>
            </a:r>
            <a:endParaRPr b="0" lang="es-ES" sz="950" spc="-1" strike="noStrike">
              <a:solidFill>
                <a:srgbClr val="000000"/>
              </a:solidFill>
              <a:latin typeface="Arial"/>
            </a:endParaRPr>
          </a:p>
        </p:txBody>
      </p:sp>
      <p:sp>
        <p:nvSpPr>
          <p:cNvPr id="110" name="Google Shape;35;p 5"/>
          <p:cNvSpPr/>
          <p:nvPr/>
        </p:nvSpPr>
        <p:spPr>
          <a:xfrm>
            <a:off x="0" y="6519600"/>
            <a:ext cx="12182400" cy="347400"/>
          </a:xfrm>
          <a:prstGeom prst="rect">
            <a:avLst/>
          </a:prstGeom>
          <a:solidFill>
            <a:srgbClr val="ff8a00"/>
          </a:solidFill>
          <a:ln w="0">
            <a:noFill/>
          </a:ln>
        </p:spPr>
        <p:style>
          <a:lnRef idx="0"/>
          <a:fillRef idx="0"/>
          <a:effectRef idx="0"/>
          <a:fontRef idx="minor"/>
        </p:style>
        <p:txBody>
          <a:bodyPr lIns="90000" rIns="90000" tIns="45000" bIns="45000" anchor="t">
            <a:noAutofit/>
          </a:bodyPr>
          <a:p>
            <a:pPr>
              <a:lnSpc>
                <a:spcPct val="100000"/>
              </a:lnSpc>
            </a:pPr>
            <a:endParaRPr b="0" lang="es-ES" sz="1400" spc="-1" strike="noStrike">
              <a:solidFill>
                <a:srgbClr val="000000"/>
              </a:solidFill>
              <a:latin typeface="Arial"/>
            </a:endParaRPr>
          </a:p>
        </p:txBody>
      </p:sp>
      <p:sp>
        <p:nvSpPr>
          <p:cNvPr id="111" name="Google Shape;38;p 6"/>
          <p:cNvSpPr/>
          <p:nvPr/>
        </p:nvSpPr>
        <p:spPr>
          <a:xfrm>
            <a:off x="168120" y="6538320"/>
            <a:ext cx="299088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Dpt. Analistas de Datos de RRHH</a:t>
            </a:r>
            <a:endParaRPr b="0" lang="es-ES" sz="1200" spc="-1" strike="noStrike">
              <a:solidFill>
                <a:srgbClr val="000000"/>
              </a:solidFill>
              <a:latin typeface="Arial"/>
            </a:endParaRPr>
          </a:p>
        </p:txBody>
      </p:sp>
      <p:sp>
        <p:nvSpPr>
          <p:cNvPr id="112" name="Google Shape;39;p 5"/>
          <p:cNvSpPr/>
          <p:nvPr/>
        </p:nvSpPr>
        <p:spPr>
          <a:xfrm>
            <a:off x="2742840" y="6538320"/>
            <a:ext cx="138960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- 20 Julio 2026</a:t>
            </a:r>
            <a:endParaRPr b="0" lang="es-ES" sz="1200" spc="-1" strike="noStrike">
              <a:solidFill>
                <a:srgbClr val="000000"/>
              </a:solidFill>
              <a:latin typeface="Arial"/>
            </a:endParaRPr>
          </a:p>
        </p:txBody>
      </p:sp>
      <p:pic>
        <p:nvPicPr>
          <p:cNvPr id="113" name="Google Shape;92;g3f4b6d773eb_0_ 6" descr=""/>
          <p:cNvPicPr/>
          <p:nvPr/>
        </p:nvPicPr>
        <p:blipFill>
          <a:blip r:embed="rId1"/>
          <a:srcRect l="0" t="26214" r="0" b="23016"/>
          <a:stretch/>
        </p:blipFill>
        <p:spPr>
          <a:xfrm>
            <a:off x="10040040" y="288360"/>
            <a:ext cx="1940760" cy="53064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Google Shape;169;g3f53b788402_0_0"/>
          <p:cNvSpPr/>
          <p:nvPr/>
        </p:nvSpPr>
        <p:spPr>
          <a:xfrm>
            <a:off x="0" y="6510600"/>
            <a:ext cx="12182400" cy="356400"/>
          </a:xfrm>
          <a:prstGeom prst="rect">
            <a:avLst/>
          </a:prstGeom>
          <a:solidFill>
            <a:srgbClr val="ff8a00"/>
          </a:solidFill>
          <a:ln w="0">
            <a:noFill/>
          </a:ln>
        </p:spPr>
        <p:style>
          <a:lnRef idx="0"/>
          <a:fillRef idx="0"/>
          <a:effectRef idx="0"/>
          <a:fontRef idx="minor"/>
        </p:style>
        <p:txBody>
          <a:bodyPr lIns="90000" rIns="90000" tIns="45000" bIns="45000" anchor="t">
            <a:noAutofit/>
          </a:bodyPr>
          <a:p>
            <a:pPr>
              <a:lnSpc>
                <a:spcPct val="100000"/>
              </a:lnSpc>
            </a:pPr>
            <a:endParaRPr b="0" lang="es-ES" sz="1400" spc="-1" strike="noStrike">
              <a:solidFill>
                <a:srgbClr val="000000"/>
              </a:solidFill>
              <a:latin typeface="Arial"/>
            </a:endParaRPr>
          </a:p>
        </p:txBody>
      </p:sp>
      <p:pic>
        <p:nvPicPr>
          <p:cNvPr id="115" name="Google Shape;170;g3f53b788402_0_ 2" descr=""/>
          <p:cNvPicPr/>
          <p:nvPr/>
        </p:nvPicPr>
        <p:blipFill>
          <a:blip r:embed="rId1"/>
          <a:srcRect l="0" t="26227" r="0" b="23016"/>
          <a:stretch/>
        </p:blipFill>
        <p:spPr>
          <a:xfrm>
            <a:off x="10038240" y="288360"/>
            <a:ext cx="1940760" cy="530640"/>
          </a:xfrm>
          <a:prstGeom prst="rect">
            <a:avLst/>
          </a:prstGeom>
          <a:ln w="0">
            <a:noFill/>
          </a:ln>
        </p:spPr>
      </p:pic>
      <p:sp>
        <p:nvSpPr>
          <p:cNvPr id="116" name="Google Shape;171;g3f53b788402_0_ 2"/>
          <p:cNvSpPr/>
          <p:nvPr/>
        </p:nvSpPr>
        <p:spPr>
          <a:xfrm>
            <a:off x="168120" y="6538320"/>
            <a:ext cx="2990880" cy="31068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s-ES" sz="1200" spc="-1" strike="noStrike">
                <a:solidFill>
                  <a:srgbClr val="6b7280"/>
                </a:solidFill>
                <a:latin typeface="Arial"/>
                <a:ea typeface="Arial"/>
              </a:rPr>
              <a:t>Dpt. Analistas de Datos de RRHH</a:t>
            </a:r>
            <a:endParaRPr b="0" lang="es-ES" sz="1200" spc="-1" strike="noStrike">
              <a:solidFill>
                <a:srgbClr val="000000"/>
              </a:solidFill>
              <a:latin typeface="Arial"/>
            </a:endParaRPr>
          </a:p>
        </p:txBody>
      </p:sp>
      <p:sp>
        <p:nvSpPr>
          <p:cNvPr id="117" name="Google Shape;172;g3f53b788402_0_ 2"/>
          <p:cNvSpPr/>
          <p:nvPr/>
        </p:nvSpPr>
        <p:spPr>
          <a:xfrm>
            <a:off x="3132000" y="4204800"/>
            <a:ext cx="536040" cy="150120"/>
          </a:xfrm>
          <a:prstGeom prst="rect">
            <a:avLst/>
          </a:prstGeom>
          <a:solidFill>
            <a:srgbClr val="ffffff"/>
          </a:solidFill>
          <a:ln w="9525">
            <a:solidFill>
              <a:srgbClr val="ffffff"/>
            </a:solidFill>
            <a:round/>
          </a:ln>
        </p:spPr>
        <p:style>
          <a:lnRef idx="0"/>
          <a:fillRef idx="0"/>
          <a:effectRef idx="0"/>
          <a:fontRef idx="minor"/>
        </p:style>
        <p:txBody>
          <a:bodyPr lIns="90000" rIns="90000" tIns="45000" bIns="45000" anchor="ctr">
            <a:noAutofit/>
          </a:bodyPr>
          <a:p>
            <a:pPr>
              <a:lnSpc>
                <a:spcPct val="100000"/>
              </a:lnSpc>
            </a:pPr>
            <a:endParaRPr b="0" lang="es-ES" sz="1400" spc="-1" strike="noStrike">
              <a:solidFill>
                <a:srgbClr val="000000"/>
              </a:solidFill>
              <a:latin typeface="Arial"/>
            </a:endParaRPr>
          </a:p>
        </p:txBody>
      </p:sp>
      <p:sp>
        <p:nvSpPr>
          <p:cNvPr id="118" name="Google Shape;173;g3f53b788402_0_ 2"/>
          <p:cNvSpPr/>
          <p:nvPr/>
        </p:nvSpPr>
        <p:spPr>
          <a:xfrm>
            <a:off x="7885800" y="4737600"/>
            <a:ext cx="536040" cy="150120"/>
          </a:xfrm>
          <a:prstGeom prst="rect">
            <a:avLst/>
          </a:prstGeom>
          <a:solidFill>
            <a:srgbClr val="ffffff"/>
          </a:solidFill>
          <a:ln w="9525">
            <a:solidFill>
              <a:srgbClr val="ffffff"/>
            </a:solidFill>
            <a:round/>
          </a:ln>
        </p:spPr>
        <p:style>
          <a:lnRef idx="0"/>
          <a:fillRef idx="0"/>
          <a:effectRef idx="0"/>
          <a:fontRef idx="minor"/>
        </p:style>
        <p:txBody>
          <a:bodyPr lIns="90000" rIns="90000" tIns="45000" bIns="45000" anchor="ctr">
            <a:noAutofit/>
          </a:bodyPr>
          <a:p>
            <a:pPr>
              <a:lnSpc>
                <a:spcPct val="100000"/>
              </a:lnSpc>
            </a:pPr>
            <a:endParaRPr b="0" lang="es-ES" sz="1400" spc="-1" strike="noStrike">
              <a:solidFill>
                <a:srgbClr val="000000"/>
              </a:solidFill>
              <a:latin typeface="Arial"/>
            </a:endParaRPr>
          </a:p>
        </p:txBody>
      </p:sp>
      <p:sp>
        <p:nvSpPr>
          <p:cNvPr id="119" name="Google Shape;174;g3f53b788402_0_ 2"/>
          <p:cNvSpPr/>
          <p:nvPr/>
        </p:nvSpPr>
        <p:spPr>
          <a:xfrm>
            <a:off x="6408360" y="1953000"/>
            <a:ext cx="536040" cy="140040"/>
          </a:xfrm>
          <a:prstGeom prst="rect">
            <a:avLst/>
          </a:prstGeom>
          <a:solidFill>
            <a:srgbClr val="ffffff"/>
          </a:solidFill>
          <a:ln w="9525">
            <a:solidFill>
              <a:srgbClr val="ffffff"/>
            </a:solidFill>
            <a:round/>
          </a:ln>
        </p:spPr>
        <p:style>
          <a:lnRef idx="0"/>
          <a:fillRef idx="0"/>
          <a:effectRef idx="0"/>
          <a:fontRef idx="minor"/>
        </p:style>
        <p:txBody>
          <a:bodyPr lIns="90000" rIns="90000" tIns="45000" bIns="45000" anchor="ctr">
            <a:noAutofit/>
          </a:bodyPr>
          <a:p>
            <a:pPr>
              <a:lnSpc>
                <a:spcPct val="100000"/>
              </a:lnSpc>
            </a:pPr>
            <a:endParaRPr b="0" lang="es-ES" sz="1400" spc="-1" strike="noStrike">
              <a:solidFill>
                <a:srgbClr val="000000"/>
              </a:solidFill>
              <a:latin typeface="Arial"/>
            </a:endParaRPr>
          </a:p>
        </p:txBody>
      </p:sp>
      <p:sp>
        <p:nvSpPr>
          <p:cNvPr id="120" name="Google Shape;175;g3f53b788402_0_ 2"/>
          <p:cNvSpPr/>
          <p:nvPr/>
        </p:nvSpPr>
        <p:spPr>
          <a:xfrm>
            <a:off x="1222560" y="1384200"/>
            <a:ext cx="7018560" cy="3830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s-ES" sz="2400" spc="-1" strike="noStrike">
                <a:solidFill>
                  <a:srgbClr val="404040"/>
                </a:solidFill>
                <a:latin typeface="Calibri"/>
                <a:ea typeface="Calibri"/>
              </a:rPr>
              <a:t>¿Qué consideramos como rendimiento?</a:t>
            </a:r>
            <a:endParaRPr b="0" lang="es-ES" sz="2400" spc="-1" strike="noStrike">
              <a:solidFill>
                <a:srgbClr val="000000"/>
              </a:solidFill>
              <a:latin typeface="Arial"/>
            </a:endParaRPr>
          </a:p>
          <a:p>
            <a:pPr>
              <a:lnSpc>
                <a:spcPct val="100000"/>
              </a:lnSpc>
              <a:spcBef>
                <a:spcPts val="2183"/>
              </a:spcBef>
              <a:tabLst>
                <a:tab algn="l" pos="0"/>
              </a:tabLst>
            </a:pPr>
            <a:endParaRPr b="0" lang="es-ES" sz="2400" spc="-1" strike="noStrike">
              <a:solidFill>
                <a:srgbClr val="000000"/>
              </a:solidFill>
              <a:latin typeface="Arial"/>
            </a:endParaRPr>
          </a:p>
          <a:p>
            <a:pPr>
              <a:lnSpc>
                <a:spcPct val="100000"/>
              </a:lnSpc>
              <a:spcBef>
                <a:spcPts val="2183"/>
              </a:spcBef>
              <a:tabLst>
                <a:tab algn="l" pos="0"/>
              </a:tabLst>
            </a:pPr>
            <a:endParaRPr b="0" lang="es-ES" sz="1400" spc="-1" strike="noStrike">
              <a:solidFill>
                <a:srgbClr val="000000"/>
              </a:solidFill>
              <a:latin typeface="Arial"/>
            </a:endParaRPr>
          </a:p>
        </p:txBody>
      </p:sp>
      <p:pic>
        <p:nvPicPr>
          <p:cNvPr id="121" name="Google Shape;176;g3f53b788402_0_ 2" descr=""/>
          <p:cNvPicPr/>
          <p:nvPr/>
        </p:nvPicPr>
        <p:blipFill>
          <a:blip r:embed="rId2"/>
          <a:stretch/>
        </p:blipFill>
        <p:spPr>
          <a:xfrm>
            <a:off x="-216720" y="582480"/>
            <a:ext cx="2295360" cy="2295360"/>
          </a:xfrm>
          <a:prstGeom prst="rect">
            <a:avLst/>
          </a:prstGeom>
          <a:ln w="0">
            <a:noFill/>
          </a:ln>
        </p:spPr>
      </p:pic>
      <p:sp>
        <p:nvSpPr>
          <p:cNvPr id="122" name="Google Shape;177;g3f53b788402_0_ 2"/>
          <p:cNvSpPr/>
          <p:nvPr/>
        </p:nvSpPr>
        <p:spPr>
          <a:xfrm>
            <a:off x="452160" y="360000"/>
            <a:ext cx="9585360" cy="9428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s-ES" sz="2400" spc="-1" strike="noStrike">
                <a:solidFill>
                  <a:srgbClr val="142346"/>
                </a:solidFill>
                <a:latin typeface="Calibri"/>
                <a:ea typeface="Calibri"/>
              </a:rPr>
              <a:t>¿Influyen la antigüedad, la carga laboral diaria o la distancia hasta el lugar de trabajo en el </a:t>
            </a:r>
            <a:r>
              <a:rPr b="1" lang="es-ES" sz="2400" spc="-1" strike="noStrike">
                <a:solidFill>
                  <a:srgbClr val="142346"/>
                </a:solidFill>
                <a:latin typeface="Calibri"/>
                <a:ea typeface="Calibri"/>
              </a:rPr>
              <a:t>rendimiento</a:t>
            </a:r>
            <a:r>
              <a:rPr b="0" lang="es-ES" sz="2400" spc="-1" strike="noStrike">
                <a:solidFill>
                  <a:srgbClr val="142346"/>
                </a:solidFill>
                <a:latin typeface="Calibri"/>
                <a:ea typeface="Calibri"/>
              </a:rPr>
              <a:t> de nuestros colaboradores?</a:t>
            </a:r>
            <a:endParaRPr b="0" lang="es-ES" sz="2400" spc="-1" strike="noStrike">
              <a:solidFill>
                <a:srgbClr val="000000"/>
              </a:solidFill>
              <a:latin typeface="Arial"/>
            </a:endParaRPr>
          </a:p>
        </p:txBody>
      </p:sp>
      <p:sp>
        <p:nvSpPr>
          <p:cNvPr id="123" name="Google Shape;178;g3f53b788402_0_ 2"/>
          <p:cNvSpPr/>
          <p:nvPr/>
        </p:nvSpPr>
        <p:spPr>
          <a:xfrm>
            <a:off x="1286280" y="1798560"/>
            <a:ext cx="7910640" cy="7837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s-ES" sz="1800" spc="-1" strike="noStrike">
                <a:solidFill>
                  <a:srgbClr val="000000"/>
                </a:solidFill>
                <a:latin typeface="Arial"/>
                <a:ea typeface="Arial"/>
              </a:rPr>
              <a:t>KPI rendimento = 80% Hit Target + 20% Boolean Disciplinary Failure</a:t>
            </a:r>
            <a:endParaRPr b="0" lang="es-ES" sz="1800" spc="-1" strike="noStrike">
              <a:solidFill>
                <a:srgbClr val="000000"/>
              </a:solidFill>
              <a:latin typeface="Arial"/>
            </a:endParaRPr>
          </a:p>
        </p:txBody>
      </p:sp>
      <p:pic>
        <p:nvPicPr>
          <p:cNvPr id="124" name="" descr=""/>
          <p:cNvPicPr/>
          <p:nvPr/>
        </p:nvPicPr>
        <p:blipFill>
          <a:blip r:embed="rId3"/>
          <a:stretch/>
        </p:blipFill>
        <p:spPr>
          <a:xfrm>
            <a:off x="6000120" y="2533320"/>
            <a:ext cx="6096240" cy="3702960"/>
          </a:xfrm>
          <a:prstGeom prst="rect">
            <a:avLst/>
          </a:prstGeom>
          <a:ln w="0">
            <a:noFill/>
          </a:ln>
        </p:spPr>
      </p:pic>
      <p:pic>
        <p:nvPicPr>
          <p:cNvPr id="125" name="" descr=""/>
          <p:cNvPicPr/>
          <p:nvPr/>
        </p:nvPicPr>
        <p:blipFill>
          <a:blip r:embed="rId4"/>
          <a:stretch/>
        </p:blipFill>
        <p:spPr>
          <a:xfrm>
            <a:off x="217440" y="2520000"/>
            <a:ext cx="6031800" cy="3671640"/>
          </a:xfrm>
          <a:prstGeom prst="rect">
            <a:avLst/>
          </a:prstGeom>
          <a:ln w="0">
            <a:noFill/>
          </a:ln>
        </p:spPr>
      </p:pic>
      <p:sp>
        <p:nvSpPr>
          <p:cNvPr id="126" name="Google Shape;39;p 7"/>
          <p:cNvSpPr/>
          <p:nvPr/>
        </p:nvSpPr>
        <p:spPr>
          <a:xfrm>
            <a:off x="2742840" y="6538320"/>
            <a:ext cx="138960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- 20 Julio 2026</a:t>
            </a:r>
            <a:endParaRPr b="0" lang="es-E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7" name="Google Shape;185;g3f53b788402_0_42"/>
          <p:cNvSpPr/>
          <p:nvPr/>
        </p:nvSpPr>
        <p:spPr>
          <a:xfrm>
            <a:off x="0" y="6510600"/>
            <a:ext cx="12182400" cy="356400"/>
          </a:xfrm>
          <a:prstGeom prst="rect">
            <a:avLst/>
          </a:prstGeom>
          <a:solidFill>
            <a:srgbClr val="ff8a00"/>
          </a:solidFill>
          <a:ln w="0">
            <a:noFill/>
          </a:ln>
        </p:spPr>
        <p:style>
          <a:lnRef idx="0"/>
          <a:fillRef idx="0"/>
          <a:effectRef idx="0"/>
          <a:fontRef idx="minor"/>
        </p:style>
        <p:txBody>
          <a:bodyPr lIns="90000" rIns="90000" tIns="45000" bIns="45000" anchor="t">
            <a:noAutofit/>
          </a:bodyPr>
          <a:p>
            <a:pPr>
              <a:lnSpc>
                <a:spcPct val="100000"/>
              </a:lnSpc>
            </a:pPr>
            <a:endParaRPr b="0" lang="es-ES" sz="1400" spc="-1" strike="noStrike">
              <a:solidFill>
                <a:srgbClr val="000000"/>
              </a:solidFill>
              <a:latin typeface="Arial"/>
            </a:endParaRPr>
          </a:p>
        </p:txBody>
      </p:sp>
      <p:pic>
        <p:nvPicPr>
          <p:cNvPr id="128" name="Google Shape;186;g3f53b788402_0_ 2" descr=""/>
          <p:cNvPicPr/>
          <p:nvPr/>
        </p:nvPicPr>
        <p:blipFill>
          <a:blip r:embed="rId1"/>
          <a:srcRect l="0" t="26227" r="0" b="23016"/>
          <a:stretch/>
        </p:blipFill>
        <p:spPr>
          <a:xfrm>
            <a:off x="10038240" y="288360"/>
            <a:ext cx="1940760" cy="530640"/>
          </a:xfrm>
          <a:prstGeom prst="rect">
            <a:avLst/>
          </a:prstGeom>
          <a:ln w="0">
            <a:noFill/>
          </a:ln>
        </p:spPr>
      </p:pic>
      <p:sp>
        <p:nvSpPr>
          <p:cNvPr id="129" name="Google Shape;187;g3f53b788402_0_ 2"/>
          <p:cNvSpPr/>
          <p:nvPr/>
        </p:nvSpPr>
        <p:spPr>
          <a:xfrm>
            <a:off x="168120" y="6538320"/>
            <a:ext cx="2990880" cy="31068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s-ES" sz="1200" spc="-1" strike="noStrike">
                <a:solidFill>
                  <a:srgbClr val="6b7280"/>
                </a:solidFill>
                <a:latin typeface="Arial"/>
                <a:ea typeface="Arial"/>
              </a:rPr>
              <a:t>Dpt. Analistas de Datos de RRHH</a:t>
            </a:r>
            <a:endParaRPr b="0" lang="es-ES" sz="1200" spc="-1" strike="noStrike">
              <a:solidFill>
                <a:srgbClr val="000000"/>
              </a:solidFill>
              <a:latin typeface="Arial"/>
            </a:endParaRPr>
          </a:p>
        </p:txBody>
      </p:sp>
      <p:sp>
        <p:nvSpPr>
          <p:cNvPr id="130" name="Google Shape;188;g3f53b788402_0_ 2"/>
          <p:cNvSpPr/>
          <p:nvPr/>
        </p:nvSpPr>
        <p:spPr>
          <a:xfrm>
            <a:off x="3132000" y="4204800"/>
            <a:ext cx="536040" cy="150120"/>
          </a:xfrm>
          <a:prstGeom prst="rect">
            <a:avLst/>
          </a:prstGeom>
          <a:solidFill>
            <a:srgbClr val="ffffff"/>
          </a:solidFill>
          <a:ln w="9525">
            <a:solidFill>
              <a:srgbClr val="ffffff"/>
            </a:solidFill>
            <a:round/>
          </a:ln>
        </p:spPr>
        <p:style>
          <a:lnRef idx="0"/>
          <a:fillRef idx="0"/>
          <a:effectRef idx="0"/>
          <a:fontRef idx="minor"/>
        </p:style>
        <p:txBody>
          <a:bodyPr lIns="90000" rIns="90000" tIns="45000" bIns="45000" anchor="ctr">
            <a:noAutofit/>
          </a:bodyPr>
          <a:p>
            <a:pPr>
              <a:lnSpc>
                <a:spcPct val="100000"/>
              </a:lnSpc>
            </a:pPr>
            <a:endParaRPr b="0" lang="es-ES" sz="1400" spc="-1" strike="noStrike">
              <a:solidFill>
                <a:srgbClr val="000000"/>
              </a:solidFill>
              <a:latin typeface="Arial"/>
            </a:endParaRPr>
          </a:p>
        </p:txBody>
      </p:sp>
      <p:sp>
        <p:nvSpPr>
          <p:cNvPr id="131" name="Google Shape;189;g3f53b788402_0_ 2"/>
          <p:cNvSpPr/>
          <p:nvPr/>
        </p:nvSpPr>
        <p:spPr>
          <a:xfrm>
            <a:off x="7885800" y="4737600"/>
            <a:ext cx="536040" cy="150120"/>
          </a:xfrm>
          <a:prstGeom prst="rect">
            <a:avLst/>
          </a:prstGeom>
          <a:solidFill>
            <a:srgbClr val="ffffff"/>
          </a:solidFill>
          <a:ln w="9525">
            <a:solidFill>
              <a:srgbClr val="ffffff"/>
            </a:solidFill>
            <a:round/>
          </a:ln>
        </p:spPr>
        <p:style>
          <a:lnRef idx="0"/>
          <a:fillRef idx="0"/>
          <a:effectRef idx="0"/>
          <a:fontRef idx="minor"/>
        </p:style>
        <p:txBody>
          <a:bodyPr lIns="90000" rIns="90000" tIns="45000" bIns="45000" anchor="ctr">
            <a:noAutofit/>
          </a:bodyPr>
          <a:p>
            <a:pPr>
              <a:lnSpc>
                <a:spcPct val="100000"/>
              </a:lnSpc>
            </a:pPr>
            <a:endParaRPr b="0" lang="es-ES" sz="1400" spc="-1" strike="noStrike">
              <a:solidFill>
                <a:srgbClr val="000000"/>
              </a:solidFill>
              <a:latin typeface="Arial"/>
            </a:endParaRPr>
          </a:p>
        </p:txBody>
      </p:sp>
      <p:sp>
        <p:nvSpPr>
          <p:cNvPr id="132" name="Google Shape;190;g3f53b788402_0_ 2"/>
          <p:cNvSpPr/>
          <p:nvPr/>
        </p:nvSpPr>
        <p:spPr>
          <a:xfrm>
            <a:off x="6408360" y="2286360"/>
            <a:ext cx="536040" cy="140040"/>
          </a:xfrm>
          <a:prstGeom prst="rect">
            <a:avLst/>
          </a:prstGeom>
          <a:solidFill>
            <a:srgbClr val="ffffff"/>
          </a:solidFill>
          <a:ln w="9525">
            <a:solidFill>
              <a:srgbClr val="ffffff"/>
            </a:solidFill>
            <a:round/>
          </a:ln>
        </p:spPr>
        <p:style>
          <a:lnRef idx="0"/>
          <a:fillRef idx="0"/>
          <a:effectRef idx="0"/>
          <a:fontRef idx="minor"/>
        </p:style>
        <p:txBody>
          <a:bodyPr lIns="90000" rIns="90000" tIns="45000" bIns="45000" anchor="ctr">
            <a:noAutofit/>
          </a:bodyPr>
          <a:p>
            <a:pPr>
              <a:lnSpc>
                <a:spcPct val="100000"/>
              </a:lnSpc>
            </a:pPr>
            <a:endParaRPr b="0" lang="es-ES" sz="1400" spc="-1" strike="noStrike">
              <a:solidFill>
                <a:srgbClr val="000000"/>
              </a:solidFill>
              <a:latin typeface="Arial"/>
            </a:endParaRPr>
          </a:p>
        </p:txBody>
      </p:sp>
      <p:sp>
        <p:nvSpPr>
          <p:cNvPr id="133" name="Google Shape;191;g3f53b788402_0_ 2"/>
          <p:cNvSpPr/>
          <p:nvPr/>
        </p:nvSpPr>
        <p:spPr>
          <a:xfrm>
            <a:off x="1222560" y="1371240"/>
            <a:ext cx="7018560" cy="3830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s-ES" sz="2400" spc="-1" strike="noStrike">
                <a:solidFill>
                  <a:srgbClr val="404040"/>
                </a:solidFill>
                <a:latin typeface="Calibri"/>
                <a:ea typeface="Calibri"/>
              </a:rPr>
              <a:t>¿Por qué Spearman y no Pearson?</a:t>
            </a:r>
            <a:endParaRPr b="0" lang="es-ES" sz="2400" spc="-1" strike="noStrike">
              <a:solidFill>
                <a:srgbClr val="000000"/>
              </a:solidFill>
              <a:latin typeface="Arial"/>
            </a:endParaRPr>
          </a:p>
          <a:p>
            <a:pPr>
              <a:lnSpc>
                <a:spcPct val="100000"/>
              </a:lnSpc>
              <a:spcBef>
                <a:spcPts val="2183"/>
              </a:spcBef>
              <a:tabLst>
                <a:tab algn="l" pos="0"/>
              </a:tabLst>
            </a:pPr>
            <a:endParaRPr b="0" lang="es-ES" sz="2400" spc="-1" strike="noStrike">
              <a:solidFill>
                <a:srgbClr val="000000"/>
              </a:solidFill>
              <a:latin typeface="Arial"/>
            </a:endParaRPr>
          </a:p>
          <a:p>
            <a:pPr>
              <a:lnSpc>
                <a:spcPct val="100000"/>
              </a:lnSpc>
              <a:spcBef>
                <a:spcPts val="2183"/>
              </a:spcBef>
              <a:tabLst>
                <a:tab algn="l" pos="0"/>
              </a:tabLst>
            </a:pPr>
            <a:endParaRPr b="0" lang="es-ES" sz="1400" spc="-1" strike="noStrike">
              <a:solidFill>
                <a:srgbClr val="000000"/>
              </a:solidFill>
              <a:latin typeface="Arial"/>
            </a:endParaRPr>
          </a:p>
        </p:txBody>
      </p:sp>
      <p:sp>
        <p:nvSpPr>
          <p:cNvPr id="134" name="Google Shape;194;g3f53b788402_0_ 2"/>
          <p:cNvSpPr/>
          <p:nvPr/>
        </p:nvSpPr>
        <p:spPr>
          <a:xfrm>
            <a:off x="1582560" y="5715360"/>
            <a:ext cx="9246960" cy="530640"/>
          </a:xfrm>
          <a:prstGeom prst="rect">
            <a:avLst/>
          </a:prstGeom>
          <a:noFill/>
          <a:ln w="0">
            <a:noFill/>
          </a:ln>
        </p:spPr>
        <p:style>
          <a:lnRef idx="0"/>
          <a:fillRef idx="0"/>
          <a:effectRef idx="0"/>
          <a:fontRef idx="minor"/>
        </p:style>
        <p:txBody>
          <a:bodyPr lIns="90000" rIns="90000" tIns="91440" bIns="91440" anchor="t">
            <a:noAutofit/>
          </a:bodyPr>
          <a:p>
            <a:pPr marL="457200" indent="-343080">
              <a:lnSpc>
                <a:spcPct val="100000"/>
              </a:lnSpc>
              <a:buClr>
                <a:srgbClr val="000000"/>
              </a:buClr>
              <a:buFont typeface="Arial"/>
              <a:buChar char="●"/>
            </a:pPr>
            <a:r>
              <a:rPr b="0" lang="es-ES" sz="1800" spc="-1" strike="noStrike">
                <a:solidFill>
                  <a:srgbClr val="000000"/>
                </a:solidFill>
                <a:latin typeface="Arial"/>
                <a:ea typeface="Arial"/>
              </a:rPr>
              <a:t>KPI con distribución no normal (Shapiro-Wilk, p&lt;0,001) </a:t>
            </a:r>
            <a:endParaRPr b="0" lang="es-ES" sz="1800" spc="-1" strike="noStrike">
              <a:solidFill>
                <a:srgbClr val="000000"/>
              </a:solidFill>
              <a:latin typeface="Arial"/>
            </a:endParaRPr>
          </a:p>
        </p:txBody>
      </p:sp>
      <p:sp>
        <p:nvSpPr>
          <p:cNvPr id="135" name="Google Shape;195;g3f53b788402_0_ 2"/>
          <p:cNvSpPr/>
          <p:nvPr/>
        </p:nvSpPr>
        <p:spPr>
          <a:xfrm>
            <a:off x="1589040" y="5174640"/>
            <a:ext cx="9570600" cy="530640"/>
          </a:xfrm>
          <a:prstGeom prst="rect">
            <a:avLst/>
          </a:prstGeom>
          <a:noFill/>
          <a:ln w="0">
            <a:noFill/>
          </a:ln>
        </p:spPr>
        <p:style>
          <a:lnRef idx="0"/>
          <a:fillRef idx="0"/>
          <a:effectRef idx="0"/>
          <a:fontRef idx="minor"/>
        </p:style>
        <p:txBody>
          <a:bodyPr lIns="90000" rIns="90000" tIns="91440" bIns="91440" anchor="t">
            <a:noAutofit/>
          </a:bodyPr>
          <a:p>
            <a:pPr marL="457200" indent="-343080">
              <a:lnSpc>
                <a:spcPct val="100000"/>
              </a:lnSpc>
              <a:buClr>
                <a:srgbClr val="000000"/>
              </a:buClr>
              <a:buFont typeface="Arial"/>
              <a:buChar char="●"/>
            </a:pPr>
            <a:r>
              <a:rPr b="0" lang="es-ES" sz="1800" spc="-1" strike="noStrike">
                <a:solidFill>
                  <a:schemeClr val="dk1"/>
                </a:solidFill>
                <a:latin typeface="Arial"/>
                <a:ea typeface="Arial"/>
              </a:rPr>
              <a:t>Relaciones débiles y no claramente lineales, con presencia de valores atípicos (outliers)</a:t>
            </a:r>
            <a:endParaRPr b="0" lang="es-ES" sz="1800" spc="-1" strike="noStrike">
              <a:solidFill>
                <a:srgbClr val="000000"/>
              </a:solidFill>
              <a:latin typeface="Arial"/>
            </a:endParaRPr>
          </a:p>
        </p:txBody>
      </p:sp>
      <p:sp>
        <p:nvSpPr>
          <p:cNvPr id="136" name="Google Shape;177;g3f53b788402_0_ 1"/>
          <p:cNvSpPr/>
          <p:nvPr/>
        </p:nvSpPr>
        <p:spPr>
          <a:xfrm>
            <a:off x="452160" y="360000"/>
            <a:ext cx="9585360" cy="9428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s-ES" sz="2400" spc="-1" strike="noStrike">
                <a:solidFill>
                  <a:srgbClr val="142346"/>
                </a:solidFill>
                <a:latin typeface="Calibri"/>
                <a:ea typeface="Calibri"/>
              </a:rPr>
              <a:t>¿Influyen la antigüedad, la carga laboral diaria o la distancia hasta el lugar de trabajo en el </a:t>
            </a:r>
            <a:r>
              <a:rPr b="1" lang="es-ES" sz="2400" spc="-1" strike="noStrike">
                <a:solidFill>
                  <a:srgbClr val="142346"/>
                </a:solidFill>
                <a:latin typeface="Calibri"/>
                <a:ea typeface="Calibri"/>
              </a:rPr>
              <a:t>rendimiento</a:t>
            </a:r>
            <a:r>
              <a:rPr b="0" lang="es-ES" sz="2400" spc="-1" strike="noStrike">
                <a:solidFill>
                  <a:srgbClr val="142346"/>
                </a:solidFill>
                <a:latin typeface="Calibri"/>
                <a:ea typeface="Calibri"/>
              </a:rPr>
              <a:t> de nuestros colaboradores?</a:t>
            </a:r>
            <a:endParaRPr b="0" lang="es-ES" sz="2400" spc="-1" strike="noStrike">
              <a:solidFill>
                <a:srgbClr val="000000"/>
              </a:solidFill>
              <a:latin typeface="Arial"/>
            </a:endParaRPr>
          </a:p>
        </p:txBody>
      </p:sp>
      <p:pic>
        <p:nvPicPr>
          <p:cNvPr id="137" name="" descr=""/>
          <p:cNvPicPr/>
          <p:nvPr/>
        </p:nvPicPr>
        <p:blipFill>
          <a:blip r:embed="rId2"/>
          <a:stretch/>
        </p:blipFill>
        <p:spPr>
          <a:xfrm>
            <a:off x="1116000" y="2196000"/>
            <a:ext cx="10257840" cy="2879640"/>
          </a:xfrm>
          <a:prstGeom prst="rect">
            <a:avLst/>
          </a:prstGeom>
          <a:ln w="0">
            <a:noFill/>
          </a:ln>
        </p:spPr>
      </p:pic>
      <p:pic>
        <p:nvPicPr>
          <p:cNvPr id="138" name="Google Shape;176;g3f53b788402_0_ 1" descr=""/>
          <p:cNvPicPr/>
          <p:nvPr/>
        </p:nvPicPr>
        <p:blipFill>
          <a:blip r:embed="rId3"/>
          <a:stretch/>
        </p:blipFill>
        <p:spPr>
          <a:xfrm>
            <a:off x="-216360" y="582840"/>
            <a:ext cx="2295360" cy="2295360"/>
          </a:xfrm>
          <a:prstGeom prst="rect">
            <a:avLst/>
          </a:prstGeom>
          <a:ln w="0">
            <a:noFill/>
          </a:ln>
        </p:spPr>
      </p:pic>
      <p:pic>
        <p:nvPicPr>
          <p:cNvPr id="139" name="Google Shape;176;g3f53b788402_0_ 3" descr=""/>
          <p:cNvPicPr/>
          <p:nvPr/>
        </p:nvPicPr>
        <p:blipFill>
          <a:blip r:embed="rId4"/>
          <a:stretch/>
        </p:blipFill>
        <p:spPr>
          <a:xfrm>
            <a:off x="-216360" y="582840"/>
            <a:ext cx="2295360" cy="2295360"/>
          </a:xfrm>
          <a:prstGeom prst="rect">
            <a:avLst/>
          </a:prstGeom>
          <a:ln w="0">
            <a:noFill/>
          </a:ln>
        </p:spPr>
      </p:pic>
      <p:sp>
        <p:nvSpPr>
          <p:cNvPr id="140" name="Google Shape;39;p 8"/>
          <p:cNvSpPr/>
          <p:nvPr/>
        </p:nvSpPr>
        <p:spPr>
          <a:xfrm>
            <a:off x="2742840" y="6538320"/>
            <a:ext cx="138960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- 20 Julio 2026</a:t>
            </a:r>
            <a:endParaRPr b="0" lang="es-E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 name="Google Shape;201;g3f53b788402_0_19"/>
          <p:cNvSpPr/>
          <p:nvPr/>
        </p:nvSpPr>
        <p:spPr>
          <a:xfrm>
            <a:off x="0" y="6510600"/>
            <a:ext cx="12182400" cy="356400"/>
          </a:xfrm>
          <a:prstGeom prst="rect">
            <a:avLst/>
          </a:prstGeom>
          <a:solidFill>
            <a:srgbClr val="ff8a00"/>
          </a:solidFill>
          <a:ln w="0">
            <a:noFill/>
          </a:ln>
        </p:spPr>
        <p:style>
          <a:lnRef idx="0"/>
          <a:fillRef idx="0"/>
          <a:effectRef idx="0"/>
          <a:fontRef idx="minor"/>
        </p:style>
        <p:txBody>
          <a:bodyPr lIns="90000" rIns="90000" tIns="45000" bIns="45000" anchor="t">
            <a:noAutofit/>
          </a:bodyPr>
          <a:p>
            <a:pPr>
              <a:lnSpc>
                <a:spcPct val="100000"/>
              </a:lnSpc>
            </a:pPr>
            <a:endParaRPr b="0" lang="es-ES" sz="1400" spc="-1" strike="noStrike">
              <a:solidFill>
                <a:srgbClr val="000000"/>
              </a:solidFill>
              <a:latin typeface="Arial"/>
            </a:endParaRPr>
          </a:p>
        </p:txBody>
      </p:sp>
      <p:pic>
        <p:nvPicPr>
          <p:cNvPr id="142" name="Google Shape;202;g3f53b788402_0_ 2" descr=""/>
          <p:cNvPicPr/>
          <p:nvPr/>
        </p:nvPicPr>
        <p:blipFill>
          <a:blip r:embed="rId1"/>
          <a:srcRect l="0" t="26227" r="0" b="23016"/>
          <a:stretch/>
        </p:blipFill>
        <p:spPr>
          <a:xfrm>
            <a:off x="10038240" y="288360"/>
            <a:ext cx="1940760" cy="530640"/>
          </a:xfrm>
          <a:prstGeom prst="rect">
            <a:avLst/>
          </a:prstGeom>
          <a:ln w="0">
            <a:noFill/>
          </a:ln>
        </p:spPr>
      </p:pic>
      <p:sp>
        <p:nvSpPr>
          <p:cNvPr id="143" name="Google Shape;203;g3f53b788402_0_ 2"/>
          <p:cNvSpPr/>
          <p:nvPr/>
        </p:nvSpPr>
        <p:spPr>
          <a:xfrm>
            <a:off x="168120" y="6538320"/>
            <a:ext cx="2990880" cy="31068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s-ES" sz="1200" spc="-1" strike="noStrike">
                <a:solidFill>
                  <a:srgbClr val="6b7280"/>
                </a:solidFill>
                <a:latin typeface="Arial"/>
                <a:ea typeface="Arial"/>
              </a:rPr>
              <a:t>Dpt. Analistas de Datos de RRHH</a:t>
            </a:r>
            <a:endParaRPr b="0" lang="es-ES" sz="1200" spc="-1" strike="noStrike">
              <a:solidFill>
                <a:srgbClr val="000000"/>
              </a:solidFill>
              <a:latin typeface="Arial"/>
            </a:endParaRPr>
          </a:p>
        </p:txBody>
      </p:sp>
      <p:sp>
        <p:nvSpPr>
          <p:cNvPr id="144" name="Google Shape;204;g3f53b788402_0_ 2"/>
          <p:cNvSpPr/>
          <p:nvPr/>
        </p:nvSpPr>
        <p:spPr>
          <a:xfrm>
            <a:off x="3132000" y="4204800"/>
            <a:ext cx="536040" cy="150120"/>
          </a:xfrm>
          <a:prstGeom prst="rect">
            <a:avLst/>
          </a:prstGeom>
          <a:solidFill>
            <a:srgbClr val="ffffff"/>
          </a:solidFill>
          <a:ln w="9525">
            <a:solidFill>
              <a:srgbClr val="ffffff"/>
            </a:solidFill>
            <a:round/>
          </a:ln>
        </p:spPr>
        <p:style>
          <a:lnRef idx="0"/>
          <a:fillRef idx="0"/>
          <a:effectRef idx="0"/>
          <a:fontRef idx="minor"/>
        </p:style>
        <p:txBody>
          <a:bodyPr lIns="90000" rIns="90000" tIns="45000" bIns="45000" anchor="ctr">
            <a:noAutofit/>
          </a:bodyPr>
          <a:p>
            <a:pPr>
              <a:lnSpc>
                <a:spcPct val="100000"/>
              </a:lnSpc>
            </a:pPr>
            <a:endParaRPr b="0" lang="es-ES" sz="1400" spc="-1" strike="noStrike">
              <a:solidFill>
                <a:srgbClr val="000000"/>
              </a:solidFill>
              <a:latin typeface="Arial"/>
            </a:endParaRPr>
          </a:p>
        </p:txBody>
      </p:sp>
      <p:sp>
        <p:nvSpPr>
          <p:cNvPr id="145" name="Google Shape;205;g3f53b788402_0_ 2"/>
          <p:cNvSpPr/>
          <p:nvPr/>
        </p:nvSpPr>
        <p:spPr>
          <a:xfrm>
            <a:off x="7885800" y="4737600"/>
            <a:ext cx="536040" cy="150120"/>
          </a:xfrm>
          <a:prstGeom prst="rect">
            <a:avLst/>
          </a:prstGeom>
          <a:solidFill>
            <a:srgbClr val="ffffff"/>
          </a:solidFill>
          <a:ln w="9525">
            <a:solidFill>
              <a:srgbClr val="ffffff"/>
            </a:solidFill>
            <a:round/>
          </a:ln>
        </p:spPr>
        <p:style>
          <a:lnRef idx="0"/>
          <a:fillRef idx="0"/>
          <a:effectRef idx="0"/>
          <a:fontRef idx="minor"/>
        </p:style>
        <p:txBody>
          <a:bodyPr lIns="90000" rIns="90000" tIns="45000" bIns="45000" anchor="ctr">
            <a:noAutofit/>
          </a:bodyPr>
          <a:p>
            <a:pPr>
              <a:lnSpc>
                <a:spcPct val="100000"/>
              </a:lnSpc>
            </a:pPr>
            <a:endParaRPr b="0" lang="es-ES" sz="1400" spc="-1" strike="noStrike">
              <a:solidFill>
                <a:srgbClr val="000000"/>
              </a:solidFill>
              <a:latin typeface="Arial"/>
            </a:endParaRPr>
          </a:p>
        </p:txBody>
      </p:sp>
      <p:sp>
        <p:nvSpPr>
          <p:cNvPr id="146" name="Google Shape;177;g3f53b788402_0_ 3"/>
          <p:cNvSpPr/>
          <p:nvPr/>
        </p:nvSpPr>
        <p:spPr>
          <a:xfrm>
            <a:off x="452160" y="360000"/>
            <a:ext cx="9585360" cy="9428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s-ES" sz="2400" spc="-1" strike="noStrike">
                <a:solidFill>
                  <a:srgbClr val="142346"/>
                </a:solidFill>
                <a:latin typeface="Calibri"/>
                <a:ea typeface="Calibri"/>
              </a:rPr>
              <a:t>¿Influyen la antigüedad, la carga laboral diaria o la distancia hasta el lugar de trabajo en el </a:t>
            </a:r>
            <a:r>
              <a:rPr b="1" lang="es-ES" sz="2400" spc="-1" strike="noStrike">
                <a:solidFill>
                  <a:srgbClr val="142346"/>
                </a:solidFill>
                <a:latin typeface="Calibri"/>
                <a:ea typeface="Calibri"/>
              </a:rPr>
              <a:t>rendimiento</a:t>
            </a:r>
            <a:r>
              <a:rPr b="0" lang="es-ES" sz="2400" spc="-1" strike="noStrike">
                <a:solidFill>
                  <a:srgbClr val="142346"/>
                </a:solidFill>
                <a:latin typeface="Calibri"/>
                <a:ea typeface="Calibri"/>
              </a:rPr>
              <a:t> de nuestros colaboradores?</a:t>
            </a:r>
            <a:endParaRPr b="0" lang="es-ES" sz="2400" spc="-1" strike="noStrike">
              <a:solidFill>
                <a:srgbClr val="000000"/>
              </a:solidFill>
              <a:latin typeface="Arial"/>
            </a:endParaRPr>
          </a:p>
        </p:txBody>
      </p:sp>
      <p:pic>
        <p:nvPicPr>
          <p:cNvPr id="147" name="" descr=""/>
          <p:cNvPicPr/>
          <p:nvPr/>
        </p:nvPicPr>
        <p:blipFill>
          <a:blip r:embed="rId2"/>
          <a:stretch/>
        </p:blipFill>
        <p:spPr>
          <a:xfrm>
            <a:off x="1815480" y="2016000"/>
            <a:ext cx="8876160" cy="3239640"/>
          </a:xfrm>
          <a:prstGeom prst="rect">
            <a:avLst/>
          </a:prstGeom>
          <a:ln w="0">
            <a:noFill/>
          </a:ln>
        </p:spPr>
      </p:pic>
      <p:sp>
        <p:nvSpPr>
          <p:cNvPr id="148" name="Google Shape;39;p 9"/>
          <p:cNvSpPr/>
          <p:nvPr/>
        </p:nvSpPr>
        <p:spPr>
          <a:xfrm>
            <a:off x="2742840" y="6538320"/>
            <a:ext cx="138960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- 20 Julio 2026</a:t>
            </a:r>
            <a:endParaRPr b="0" lang="es-E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9" name="Google Shape;50;p3"/>
          <p:cNvSpPr/>
          <p:nvPr/>
        </p:nvSpPr>
        <p:spPr>
          <a:xfrm>
            <a:off x="0" y="6510600"/>
            <a:ext cx="12182400" cy="356400"/>
          </a:xfrm>
          <a:prstGeom prst="rect">
            <a:avLst/>
          </a:prstGeom>
          <a:solidFill>
            <a:srgbClr val="ff8a0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s-ES" sz="1400" spc="-1" strike="noStrike">
              <a:solidFill>
                <a:srgbClr val="000000"/>
              </a:solidFill>
              <a:latin typeface="Arial"/>
            </a:endParaRPr>
          </a:p>
        </p:txBody>
      </p:sp>
      <p:pic>
        <p:nvPicPr>
          <p:cNvPr id="150" name="Google Shape;52;p3" descr=""/>
          <p:cNvPicPr/>
          <p:nvPr/>
        </p:nvPicPr>
        <p:blipFill>
          <a:blip r:embed="rId1"/>
          <a:srcRect l="0" t="26241" r="0" b="23016"/>
          <a:stretch/>
        </p:blipFill>
        <p:spPr>
          <a:xfrm>
            <a:off x="10038240" y="288360"/>
            <a:ext cx="1940760" cy="530640"/>
          </a:xfrm>
          <a:prstGeom prst="rect">
            <a:avLst/>
          </a:prstGeom>
          <a:ln w="0">
            <a:noFill/>
          </a:ln>
        </p:spPr>
      </p:pic>
      <p:sp>
        <p:nvSpPr>
          <p:cNvPr id="151" name="Google Shape;53;p3"/>
          <p:cNvSpPr/>
          <p:nvPr/>
        </p:nvSpPr>
        <p:spPr>
          <a:xfrm>
            <a:off x="168120" y="6538320"/>
            <a:ext cx="299088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Dpt. Analistas de Datos de RRHH</a:t>
            </a:r>
            <a:endParaRPr b="0" lang="es-ES" sz="1200" spc="-1" strike="noStrike">
              <a:solidFill>
                <a:srgbClr val="000000"/>
              </a:solidFill>
              <a:latin typeface="Arial"/>
            </a:endParaRPr>
          </a:p>
        </p:txBody>
      </p:sp>
      <p:sp>
        <p:nvSpPr>
          <p:cNvPr id="152" name="Google Shape;58;p3"/>
          <p:cNvSpPr/>
          <p:nvPr/>
        </p:nvSpPr>
        <p:spPr>
          <a:xfrm>
            <a:off x="3132000" y="4896000"/>
            <a:ext cx="536040" cy="140040"/>
          </a:xfrm>
          <a:prstGeom prst="rect">
            <a:avLst/>
          </a:prstGeom>
          <a:solidFill>
            <a:srgbClr val="ffffff"/>
          </a:solidFill>
          <a:ln w="9525">
            <a:solidFill>
              <a:srgbClr val="ffffff"/>
            </a:solidFill>
            <a:round/>
          </a:ln>
        </p:spPr>
        <p:style>
          <a:lnRef idx="0"/>
          <a:fillRef idx="0"/>
          <a:effectRef idx="0"/>
          <a:fontRef idx="minor"/>
        </p:style>
        <p:txBody>
          <a:bodyPr lIns="90000" rIns="90000" tIns="45000" bIns="45000" anchor="ctr">
            <a:noAutofit/>
          </a:bodyPr>
          <a:p>
            <a:pPr defTabSz="914400">
              <a:lnSpc>
                <a:spcPct val="100000"/>
              </a:lnSpc>
              <a:tabLst>
                <a:tab algn="l" pos="0"/>
              </a:tabLst>
            </a:pPr>
            <a:endParaRPr b="0" lang="es-ES" sz="1400" spc="-1" strike="noStrike">
              <a:solidFill>
                <a:srgbClr val="000000"/>
              </a:solidFill>
              <a:latin typeface="Arial"/>
            </a:endParaRPr>
          </a:p>
        </p:txBody>
      </p:sp>
      <p:sp>
        <p:nvSpPr>
          <p:cNvPr id="153" name="Google Shape;59;p3"/>
          <p:cNvSpPr/>
          <p:nvPr/>
        </p:nvSpPr>
        <p:spPr>
          <a:xfrm>
            <a:off x="7885800" y="4788000"/>
            <a:ext cx="536040" cy="140040"/>
          </a:xfrm>
          <a:prstGeom prst="rect">
            <a:avLst/>
          </a:prstGeom>
          <a:solidFill>
            <a:srgbClr val="ffffff"/>
          </a:solidFill>
          <a:ln w="9525">
            <a:solidFill>
              <a:srgbClr val="ffffff"/>
            </a:solidFill>
            <a:round/>
          </a:ln>
        </p:spPr>
        <p:style>
          <a:lnRef idx="0"/>
          <a:fillRef idx="0"/>
          <a:effectRef idx="0"/>
          <a:fontRef idx="minor"/>
        </p:style>
        <p:txBody>
          <a:bodyPr lIns="90000" rIns="90000" tIns="45000" bIns="45000" anchor="ctr">
            <a:noAutofit/>
          </a:bodyPr>
          <a:p>
            <a:pPr defTabSz="914400">
              <a:lnSpc>
                <a:spcPct val="100000"/>
              </a:lnSpc>
              <a:tabLst>
                <a:tab algn="l" pos="0"/>
              </a:tabLst>
            </a:pPr>
            <a:endParaRPr b="0" lang="es-ES" sz="1400" spc="-1" strike="noStrike">
              <a:solidFill>
                <a:srgbClr val="000000"/>
              </a:solidFill>
              <a:latin typeface="Arial"/>
            </a:endParaRPr>
          </a:p>
        </p:txBody>
      </p:sp>
      <p:sp>
        <p:nvSpPr>
          <p:cNvPr id="154" name="Google Shape;60;p3"/>
          <p:cNvSpPr/>
          <p:nvPr/>
        </p:nvSpPr>
        <p:spPr>
          <a:xfrm>
            <a:off x="7885800" y="2628000"/>
            <a:ext cx="536040" cy="140040"/>
          </a:xfrm>
          <a:prstGeom prst="rect">
            <a:avLst/>
          </a:prstGeom>
          <a:solidFill>
            <a:srgbClr val="ffffff"/>
          </a:solidFill>
          <a:ln w="9525">
            <a:solidFill>
              <a:srgbClr val="ffffff"/>
            </a:solidFill>
            <a:round/>
          </a:ln>
        </p:spPr>
        <p:style>
          <a:lnRef idx="0"/>
          <a:fillRef idx="0"/>
          <a:effectRef idx="0"/>
          <a:fontRef idx="minor"/>
        </p:style>
        <p:txBody>
          <a:bodyPr lIns="90000" rIns="90000" tIns="45000" bIns="45000" anchor="ctr">
            <a:noAutofit/>
          </a:bodyPr>
          <a:p>
            <a:pPr defTabSz="914400">
              <a:lnSpc>
                <a:spcPct val="100000"/>
              </a:lnSpc>
              <a:tabLst>
                <a:tab algn="l" pos="0"/>
              </a:tabLst>
            </a:pPr>
            <a:endParaRPr b="0" lang="es-ES" sz="1400" spc="-1" strike="noStrike">
              <a:solidFill>
                <a:srgbClr val="000000"/>
              </a:solidFill>
              <a:latin typeface="Arial"/>
            </a:endParaRPr>
          </a:p>
        </p:txBody>
      </p:sp>
      <p:sp>
        <p:nvSpPr>
          <p:cNvPr id="155" name="Google Shape;57;p 16"/>
          <p:cNvSpPr/>
          <p:nvPr/>
        </p:nvSpPr>
        <p:spPr>
          <a:xfrm>
            <a:off x="3060000" y="2700000"/>
            <a:ext cx="7018560" cy="38304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spcBef>
                <a:spcPts val="1191"/>
              </a:spcBef>
              <a:spcAft>
                <a:spcPts val="992"/>
              </a:spcAft>
              <a:tabLst>
                <a:tab algn="l" pos="0"/>
              </a:tabLst>
            </a:pPr>
            <a:r>
              <a:rPr b="0" lang="es-ES" sz="2400" spc="-1" strike="noStrike">
                <a:solidFill>
                  <a:srgbClr val="404040"/>
                </a:solidFill>
                <a:latin typeface="Calibri"/>
                <a:ea typeface="Arial"/>
              </a:rPr>
              <a:t>¿Qué consideramos como bajo rendimiento?</a:t>
            </a:r>
            <a:endParaRPr b="0" lang="es-ES" sz="2400" spc="-1" strike="noStrike">
              <a:solidFill>
                <a:srgbClr val="000000"/>
              </a:solidFill>
              <a:latin typeface="Arial"/>
            </a:endParaRPr>
          </a:p>
          <a:p>
            <a:pPr defTabSz="914400">
              <a:lnSpc>
                <a:spcPct val="100000"/>
              </a:lnSpc>
              <a:spcBef>
                <a:spcPts val="1191"/>
              </a:spcBef>
              <a:spcAft>
                <a:spcPts val="992"/>
              </a:spcAft>
              <a:tabLst>
                <a:tab algn="l" pos="0"/>
              </a:tabLst>
            </a:pPr>
            <a:r>
              <a:rPr b="0" lang="es-ES" sz="2400" spc="-1" strike="noStrike">
                <a:solidFill>
                  <a:srgbClr val="404040"/>
                </a:solidFill>
                <a:latin typeface="Calibri"/>
                <a:ea typeface="Arial"/>
              </a:rPr>
              <a:t>¿Qué variables utilizamos para definir los perfiles?</a:t>
            </a:r>
            <a:endParaRPr b="0" lang="es-ES" sz="2400" spc="-1" strike="noStrike">
              <a:solidFill>
                <a:srgbClr val="000000"/>
              </a:solidFill>
              <a:latin typeface="Arial"/>
            </a:endParaRPr>
          </a:p>
          <a:p>
            <a:pPr defTabSz="914400">
              <a:lnSpc>
                <a:spcPct val="100000"/>
              </a:lnSpc>
              <a:spcBef>
                <a:spcPts val="1191"/>
              </a:spcBef>
              <a:spcAft>
                <a:spcPts val="992"/>
              </a:spcAft>
              <a:tabLst>
                <a:tab algn="l" pos="0"/>
              </a:tabLst>
            </a:pPr>
            <a:endParaRPr b="0" lang="es-ES" sz="2400" spc="-1" strike="noStrike">
              <a:solidFill>
                <a:srgbClr val="000000"/>
              </a:solidFill>
              <a:latin typeface="Arial"/>
            </a:endParaRPr>
          </a:p>
          <a:p>
            <a:pPr defTabSz="914400">
              <a:lnSpc>
                <a:spcPct val="100000"/>
              </a:lnSpc>
              <a:spcBef>
                <a:spcPts val="1191"/>
              </a:spcBef>
              <a:spcAft>
                <a:spcPts val="992"/>
              </a:spcAft>
              <a:tabLst>
                <a:tab algn="l" pos="0"/>
              </a:tabLst>
            </a:pPr>
            <a:endParaRPr b="0" lang="es-ES" sz="1400" spc="-1" strike="noStrike">
              <a:solidFill>
                <a:srgbClr val="000000"/>
              </a:solidFill>
              <a:latin typeface="Arial"/>
            </a:endParaRPr>
          </a:p>
        </p:txBody>
      </p:sp>
      <p:pic>
        <p:nvPicPr>
          <p:cNvPr id="156" name="" descr=""/>
          <p:cNvPicPr/>
          <p:nvPr/>
        </p:nvPicPr>
        <p:blipFill>
          <a:blip r:embed="rId2"/>
          <a:stretch/>
        </p:blipFill>
        <p:spPr>
          <a:xfrm>
            <a:off x="36000" y="1053360"/>
            <a:ext cx="4499280" cy="4499280"/>
          </a:xfrm>
          <a:prstGeom prst="rect">
            <a:avLst/>
          </a:prstGeom>
          <a:ln w="0">
            <a:noFill/>
          </a:ln>
        </p:spPr>
      </p:pic>
      <p:sp>
        <p:nvSpPr>
          <p:cNvPr id="157" name="Google Shape;57;p 19"/>
          <p:cNvSpPr/>
          <p:nvPr/>
        </p:nvSpPr>
        <p:spPr>
          <a:xfrm>
            <a:off x="3060000" y="3755520"/>
            <a:ext cx="6838560" cy="38304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spcBef>
                <a:spcPts val="1191"/>
              </a:spcBef>
              <a:spcAft>
                <a:spcPts val="992"/>
              </a:spcAft>
              <a:tabLst>
                <a:tab algn="l" pos="0"/>
              </a:tabLst>
            </a:pPr>
            <a:endParaRPr b="0" lang="es-ES" sz="2200" spc="-1" strike="noStrike">
              <a:solidFill>
                <a:srgbClr val="000000"/>
              </a:solidFill>
              <a:latin typeface="Arial"/>
            </a:endParaRPr>
          </a:p>
          <a:p>
            <a:pPr defTabSz="914400">
              <a:lnSpc>
                <a:spcPct val="100000"/>
              </a:lnSpc>
              <a:spcBef>
                <a:spcPts val="1191"/>
              </a:spcBef>
              <a:spcAft>
                <a:spcPts val="992"/>
              </a:spcAft>
              <a:tabLst>
                <a:tab algn="l" pos="0"/>
              </a:tabLst>
            </a:pPr>
            <a:endParaRPr b="0" lang="es-ES" sz="1400" spc="-1" strike="noStrike">
              <a:solidFill>
                <a:srgbClr val="000000"/>
              </a:solidFill>
              <a:latin typeface="Arial"/>
            </a:endParaRPr>
          </a:p>
        </p:txBody>
      </p:sp>
      <p:sp>
        <p:nvSpPr>
          <p:cNvPr id="158" name="TextBox 2"/>
          <p:cNvSpPr/>
          <p:nvPr/>
        </p:nvSpPr>
        <p:spPr>
          <a:xfrm>
            <a:off x="1178640" y="360000"/>
            <a:ext cx="7144920" cy="943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800" spc="-1" strike="noStrike">
                <a:solidFill>
                  <a:srgbClr val="142346"/>
                </a:solidFill>
                <a:latin typeface="Calibri"/>
              </a:rPr>
              <a:t>¿Podemos identificar perfiles con mayor riesgo </a:t>
            </a:r>
            <a:endParaRPr b="0" lang="es-ES" sz="2800" spc="-1" strike="noStrike">
              <a:solidFill>
                <a:srgbClr val="000000"/>
              </a:solidFill>
              <a:latin typeface="Arial"/>
            </a:endParaRPr>
          </a:p>
          <a:p>
            <a:pPr defTabSz="914400">
              <a:lnSpc>
                <a:spcPct val="100000"/>
              </a:lnSpc>
            </a:pPr>
            <a:r>
              <a:rPr b="1" lang="es-ES" sz="2800" spc="-1" strike="noStrike">
                <a:solidFill>
                  <a:srgbClr val="142346"/>
                </a:solidFill>
                <a:latin typeface="Calibri"/>
              </a:rPr>
              <a:t>de bajo rendimiento?</a:t>
            </a:r>
            <a:endParaRPr b="0" lang="es-ES" sz="2800" spc="-1" strike="noStrike">
              <a:solidFill>
                <a:srgbClr val="000000"/>
              </a:solidFill>
              <a:latin typeface="Arial"/>
            </a:endParaRPr>
          </a:p>
        </p:txBody>
      </p:sp>
      <p:sp>
        <p:nvSpPr>
          <p:cNvPr id="159" name="Google Shape;39;p 10"/>
          <p:cNvSpPr/>
          <p:nvPr/>
        </p:nvSpPr>
        <p:spPr>
          <a:xfrm>
            <a:off x="2742840" y="6538320"/>
            <a:ext cx="138960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- 20 Julio 2026</a:t>
            </a:r>
            <a:endParaRPr b="0" lang="es-E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0" name="Google Shape;76;g3f4b6d773eb_0_0"/>
          <p:cNvSpPr/>
          <p:nvPr/>
        </p:nvSpPr>
        <p:spPr>
          <a:xfrm>
            <a:off x="0" y="6510600"/>
            <a:ext cx="12182400" cy="356400"/>
          </a:xfrm>
          <a:prstGeom prst="rect">
            <a:avLst/>
          </a:prstGeom>
          <a:solidFill>
            <a:srgbClr val="ff8a0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s-ES" sz="1400" spc="-1" strike="noStrike">
              <a:solidFill>
                <a:srgbClr val="000000"/>
              </a:solidFill>
              <a:latin typeface="Arial"/>
            </a:endParaRPr>
          </a:p>
        </p:txBody>
      </p:sp>
      <p:sp>
        <p:nvSpPr>
          <p:cNvPr id="161" name="Shape 5"/>
          <p:cNvSpPr/>
          <p:nvPr/>
        </p:nvSpPr>
        <p:spPr>
          <a:xfrm>
            <a:off x="5508000" y="3744000"/>
            <a:ext cx="3419280" cy="1079280"/>
          </a:xfrm>
          <a:prstGeom prst="roundRect">
            <a:avLst>
              <a:gd name="adj" fmla="val 2133"/>
            </a:avLst>
          </a:prstGeom>
          <a:solidFill>
            <a:srgbClr val="ffffff"/>
          </a:solidFill>
          <a:ln w="36000">
            <a:solidFill>
              <a:srgbClr val="c9cdd3"/>
            </a:solidFill>
            <a:round/>
          </a:ln>
        </p:spPr>
        <p:style>
          <a:lnRef idx="0"/>
          <a:fillRef idx="0"/>
          <a:effectRef idx="0"/>
          <a:fontRef idx="minor"/>
        </p:style>
        <p:txBody>
          <a:bodyPr lIns="101520" rIns="101520" tIns="56520" bIns="56520" anchor="t">
            <a:noAutofit/>
          </a:bodyPr>
          <a:p>
            <a:pPr>
              <a:lnSpc>
                <a:spcPct val="100000"/>
              </a:lnSpc>
            </a:pPr>
            <a:endParaRPr b="0" lang="es-ES" sz="1800" spc="-1" strike="noStrike">
              <a:solidFill>
                <a:schemeClr val="dk1"/>
              </a:solidFill>
              <a:latin typeface="Calibri"/>
            </a:endParaRPr>
          </a:p>
        </p:txBody>
      </p:sp>
      <p:pic>
        <p:nvPicPr>
          <p:cNvPr id="162" name="Google Shape;78;g3f4b6d773eb_0_0" descr=""/>
          <p:cNvPicPr/>
          <p:nvPr/>
        </p:nvPicPr>
        <p:blipFill>
          <a:blip r:embed="rId1"/>
          <a:srcRect l="0" t="26214" r="0" b="23016"/>
          <a:stretch/>
        </p:blipFill>
        <p:spPr>
          <a:xfrm>
            <a:off x="10038240" y="288360"/>
            <a:ext cx="1940760" cy="530640"/>
          </a:xfrm>
          <a:prstGeom prst="rect">
            <a:avLst/>
          </a:prstGeom>
          <a:ln w="0">
            <a:noFill/>
          </a:ln>
        </p:spPr>
      </p:pic>
      <p:sp>
        <p:nvSpPr>
          <p:cNvPr id="163" name="Google Shape;79;g3f4b6d773eb_0_0"/>
          <p:cNvSpPr/>
          <p:nvPr/>
        </p:nvSpPr>
        <p:spPr>
          <a:xfrm>
            <a:off x="168120" y="6538320"/>
            <a:ext cx="299088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Dpt. Analistas de Datos de RRHH</a:t>
            </a:r>
            <a:endParaRPr b="0" lang="es-ES" sz="1200" spc="-1" strike="noStrike">
              <a:solidFill>
                <a:srgbClr val="000000"/>
              </a:solidFill>
              <a:latin typeface="Arial"/>
            </a:endParaRPr>
          </a:p>
        </p:txBody>
      </p:sp>
      <p:sp>
        <p:nvSpPr>
          <p:cNvPr id="164" name=""/>
          <p:cNvSpPr/>
          <p:nvPr/>
        </p:nvSpPr>
        <p:spPr>
          <a:xfrm>
            <a:off x="5616000" y="3600000"/>
            <a:ext cx="4680000" cy="360"/>
          </a:xfrm>
          <a:prstGeom prst="line">
            <a:avLst/>
          </a:prstGeom>
          <a:ln w="36000">
            <a:solidFill>
              <a:srgbClr val="006400"/>
            </a:solidFill>
            <a:round/>
          </a:ln>
        </p:spPr>
        <p:style>
          <a:lnRef idx="0"/>
          <a:fillRef idx="0"/>
          <a:effectRef idx="0"/>
          <a:fontRef idx="minor"/>
        </p:style>
        <p:txBody>
          <a:bodyPr lIns="108000" rIns="108000" tIns="-63000" bIns="-63000" anchor="ctr">
            <a:noAutofit/>
          </a:bodyPr>
          <a:p>
            <a:endParaRPr b="0" lang="es-ES" sz="1800" spc="-1" strike="noStrike">
              <a:solidFill>
                <a:srgbClr val="000000"/>
              </a:solidFill>
              <a:latin typeface="Arial"/>
            </a:endParaRPr>
          </a:p>
        </p:txBody>
      </p:sp>
      <p:sp>
        <p:nvSpPr>
          <p:cNvPr id="165" name=""/>
          <p:cNvSpPr/>
          <p:nvPr/>
        </p:nvSpPr>
        <p:spPr>
          <a:xfrm flipH="1" flipV="1">
            <a:off x="2556000" y="3564000"/>
            <a:ext cx="2880000" cy="36000"/>
          </a:xfrm>
          <a:prstGeom prst="line">
            <a:avLst/>
          </a:prstGeom>
          <a:ln w="36000">
            <a:solidFill>
              <a:srgbClr val="ba203f"/>
            </a:solidFill>
            <a:round/>
          </a:ln>
        </p:spPr>
        <p:style>
          <a:lnRef idx="0"/>
          <a:fillRef idx="0"/>
          <a:effectRef idx="0"/>
          <a:fontRef idx="minor"/>
        </p:style>
        <p:txBody>
          <a:bodyPr lIns="108000" rIns="108000" tIns="-63000" bIns="-63000" anchor="ctr">
            <a:noAutofit/>
          </a:bodyPr>
          <a:p>
            <a:endParaRPr b="0" lang="es-ES" sz="1800" spc="-1" strike="noStrike">
              <a:solidFill>
                <a:srgbClr val="000000"/>
              </a:solidFill>
              <a:latin typeface="Arial"/>
            </a:endParaRPr>
          </a:p>
        </p:txBody>
      </p:sp>
      <p:sp>
        <p:nvSpPr>
          <p:cNvPr id="166" name=""/>
          <p:cNvSpPr/>
          <p:nvPr/>
        </p:nvSpPr>
        <p:spPr>
          <a:xfrm>
            <a:off x="2484000" y="3204000"/>
            <a:ext cx="2879280" cy="539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800" spc="-1" strike="noStrike">
                <a:solidFill>
                  <a:srgbClr val="000000"/>
                </a:solidFill>
                <a:latin typeface="Arial"/>
              </a:rPr>
              <a:t>Bajo Rendimiento</a:t>
            </a:r>
            <a:endParaRPr b="0" lang="es-ES" sz="1800" spc="-1" strike="noStrike">
              <a:solidFill>
                <a:srgbClr val="000000"/>
              </a:solidFill>
              <a:latin typeface="Arial"/>
            </a:endParaRPr>
          </a:p>
        </p:txBody>
      </p:sp>
      <p:pic>
        <p:nvPicPr>
          <p:cNvPr id="167" name="" descr=""/>
          <p:cNvPicPr/>
          <p:nvPr/>
        </p:nvPicPr>
        <p:blipFill>
          <a:blip r:embed="rId2"/>
          <a:stretch/>
        </p:blipFill>
        <p:spPr>
          <a:xfrm>
            <a:off x="3600000" y="1548000"/>
            <a:ext cx="3779280" cy="3779280"/>
          </a:xfrm>
          <a:prstGeom prst="rect">
            <a:avLst/>
          </a:prstGeom>
          <a:ln w="0">
            <a:noFill/>
          </a:ln>
        </p:spPr>
      </p:pic>
      <p:sp>
        <p:nvSpPr>
          <p:cNvPr id="168" name=""/>
          <p:cNvSpPr/>
          <p:nvPr/>
        </p:nvSpPr>
        <p:spPr>
          <a:xfrm>
            <a:off x="1215000" y="466200"/>
            <a:ext cx="7144560" cy="444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2800" spc="-1" strike="noStrike">
                <a:solidFill>
                  <a:srgbClr val="142346"/>
                </a:solidFill>
                <a:latin typeface="Calibri"/>
              </a:rPr>
              <a:t>Definición de bajo rendimiento</a:t>
            </a:r>
            <a:endParaRPr b="0" lang="es-ES" sz="2800" spc="-1" strike="noStrike">
              <a:solidFill>
                <a:srgbClr val="000000"/>
              </a:solidFill>
              <a:latin typeface="Arial"/>
            </a:endParaRPr>
          </a:p>
        </p:txBody>
      </p:sp>
      <p:sp>
        <p:nvSpPr>
          <p:cNvPr id="169" name="TextBox 7"/>
          <p:cNvSpPr/>
          <p:nvPr/>
        </p:nvSpPr>
        <p:spPr>
          <a:xfrm>
            <a:off x="9124560" y="6120000"/>
            <a:ext cx="3067560" cy="303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s-ES" sz="1400" spc="-1" strike="noStrike">
                <a:solidFill>
                  <a:srgbClr val="787878"/>
                </a:solidFill>
                <a:latin typeface="Calibri"/>
              </a:rPr>
              <a:t>Nota: Criterios establecidos por negocio</a:t>
            </a:r>
            <a:endParaRPr b="0" lang="es-ES" sz="1400" spc="-1" strike="noStrike">
              <a:solidFill>
                <a:srgbClr val="000000"/>
              </a:solidFill>
              <a:latin typeface="Arial"/>
            </a:endParaRPr>
          </a:p>
        </p:txBody>
      </p:sp>
      <p:sp>
        <p:nvSpPr>
          <p:cNvPr id="170" name=""/>
          <p:cNvSpPr/>
          <p:nvPr/>
        </p:nvSpPr>
        <p:spPr>
          <a:xfrm>
            <a:off x="5580000" y="3564000"/>
            <a:ext cx="3959280" cy="179856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283"/>
              </a:spcBef>
              <a:spcAft>
                <a:spcPts val="283"/>
              </a:spcAft>
            </a:pPr>
            <a:endParaRPr b="0" lang="es-ES" sz="1800" spc="-1" strike="noStrike">
              <a:solidFill>
                <a:srgbClr val="000000"/>
              </a:solidFill>
              <a:latin typeface="Arial"/>
            </a:endParaRPr>
          </a:p>
          <a:p>
            <a:pPr marL="216000" indent="-216000">
              <a:lnSpc>
                <a:spcPct val="100000"/>
              </a:lnSpc>
              <a:spcBef>
                <a:spcPts val="283"/>
              </a:spcBef>
              <a:spcAft>
                <a:spcPts val="283"/>
              </a:spcAft>
              <a:buClr>
                <a:srgbClr val="000000"/>
              </a:buClr>
              <a:buSzPct val="45000"/>
              <a:buFont typeface="Wingdings" charset="2"/>
              <a:buChar char=""/>
            </a:pPr>
            <a:r>
              <a:rPr b="0" lang="es-ES" sz="1800" spc="-1" strike="noStrike">
                <a:solidFill>
                  <a:srgbClr val="000000"/>
                </a:solidFill>
                <a:latin typeface="Calibri"/>
              </a:rPr>
              <a:t>90 de Cumplimiento Objetivos</a:t>
            </a:r>
            <a:endParaRPr b="0" lang="es-ES" sz="1800" spc="-1" strike="noStrike">
              <a:solidFill>
                <a:srgbClr val="000000"/>
              </a:solidFill>
              <a:latin typeface="Arial"/>
            </a:endParaRPr>
          </a:p>
          <a:p>
            <a:pPr marL="216000" indent="-216000">
              <a:lnSpc>
                <a:spcPct val="100000"/>
              </a:lnSpc>
              <a:spcBef>
                <a:spcPts val="283"/>
              </a:spcBef>
              <a:spcAft>
                <a:spcPts val="283"/>
              </a:spcAft>
              <a:buClr>
                <a:srgbClr val="000000"/>
              </a:buClr>
              <a:buSzPct val="45000"/>
              <a:buFont typeface="Wingdings" charset="2"/>
              <a:buChar char=""/>
            </a:pPr>
            <a:r>
              <a:rPr b="0" lang="es-ES" sz="1800" spc="-1" strike="noStrike">
                <a:solidFill>
                  <a:srgbClr val="000000"/>
                </a:solidFill>
                <a:latin typeface="Calibri"/>
              </a:rPr>
              <a:t>0 fallos disciplinarios </a:t>
            </a:r>
            <a:endParaRPr b="0" lang="es-ES" sz="1800" spc="-1" strike="noStrike">
              <a:solidFill>
                <a:srgbClr val="000000"/>
              </a:solidFill>
              <a:latin typeface="Arial"/>
            </a:endParaRPr>
          </a:p>
        </p:txBody>
      </p:sp>
      <p:sp>
        <p:nvSpPr>
          <p:cNvPr id="171" name="Google Shape;39;p 11"/>
          <p:cNvSpPr/>
          <p:nvPr/>
        </p:nvSpPr>
        <p:spPr>
          <a:xfrm>
            <a:off x="2742840" y="6538320"/>
            <a:ext cx="138960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- 20 Julio 2026</a:t>
            </a:r>
            <a:endParaRPr b="0" lang="es-E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2" name="Google Shape;91;g3f4b6d773eb_0_26"/>
          <p:cNvSpPr/>
          <p:nvPr/>
        </p:nvSpPr>
        <p:spPr>
          <a:xfrm>
            <a:off x="0" y="6510600"/>
            <a:ext cx="12182400" cy="356400"/>
          </a:xfrm>
          <a:prstGeom prst="rect">
            <a:avLst/>
          </a:prstGeom>
          <a:solidFill>
            <a:srgbClr val="ff8a0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s-ES" sz="1400" spc="-1" strike="noStrike">
              <a:solidFill>
                <a:srgbClr val="000000"/>
              </a:solidFill>
              <a:latin typeface="Arial"/>
            </a:endParaRPr>
          </a:p>
        </p:txBody>
      </p:sp>
      <p:pic>
        <p:nvPicPr>
          <p:cNvPr id="173" name="Google Shape;92;g3f4b6d773eb_0_26" descr=""/>
          <p:cNvPicPr/>
          <p:nvPr/>
        </p:nvPicPr>
        <p:blipFill>
          <a:blip r:embed="rId1"/>
          <a:srcRect l="0" t="26214" r="0" b="23016"/>
          <a:stretch/>
        </p:blipFill>
        <p:spPr>
          <a:xfrm>
            <a:off x="10038240" y="288360"/>
            <a:ext cx="1940760" cy="530640"/>
          </a:xfrm>
          <a:prstGeom prst="rect">
            <a:avLst/>
          </a:prstGeom>
          <a:ln w="0">
            <a:noFill/>
          </a:ln>
        </p:spPr>
      </p:pic>
      <p:sp>
        <p:nvSpPr>
          <p:cNvPr id="174" name="Google Shape;93;g3f4b6d773eb_0_26"/>
          <p:cNvSpPr/>
          <p:nvPr/>
        </p:nvSpPr>
        <p:spPr>
          <a:xfrm>
            <a:off x="168120" y="6538320"/>
            <a:ext cx="299088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Dpt. Analistas de Datos de RRHH</a:t>
            </a:r>
            <a:endParaRPr b="0" lang="es-ES" sz="1200" spc="-1" strike="noStrike">
              <a:solidFill>
                <a:srgbClr val="000000"/>
              </a:solidFill>
              <a:latin typeface="Arial"/>
            </a:endParaRPr>
          </a:p>
        </p:txBody>
      </p:sp>
      <p:sp>
        <p:nvSpPr>
          <p:cNvPr id="175" name="Google Shape;57;p 1"/>
          <p:cNvSpPr/>
          <p:nvPr/>
        </p:nvSpPr>
        <p:spPr>
          <a:xfrm>
            <a:off x="7380000" y="6155280"/>
            <a:ext cx="5147280" cy="5400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400" spc="-1" strike="noStrike">
                <a:solidFill>
                  <a:srgbClr val="808080"/>
                </a:solidFill>
                <a:latin typeface="Calibri"/>
                <a:ea typeface="Arial"/>
              </a:rPr>
              <a:t>Nota: variables seleccionadas y umbrales definidos por negocio</a:t>
            </a:r>
            <a:endParaRPr b="0" lang="es-ES" sz="1400" spc="-1" strike="noStrike">
              <a:solidFill>
                <a:srgbClr val="000000"/>
              </a:solidFill>
              <a:latin typeface="Arial"/>
            </a:endParaRPr>
          </a:p>
        </p:txBody>
      </p:sp>
      <p:graphicFrame>
        <p:nvGraphicFramePr>
          <p:cNvPr id="176" name=""/>
          <p:cNvGraphicFramePr/>
          <p:nvPr/>
        </p:nvGraphicFramePr>
        <p:xfrm>
          <a:off x="1692000" y="1764000"/>
          <a:ext cx="8639640" cy="3798000"/>
        </p:xfrm>
        <a:graphic>
          <a:graphicData uri="http://schemas.openxmlformats.org/drawingml/2006/table">
            <a:tbl>
              <a:tblPr/>
              <a:tblGrid>
                <a:gridCol w="2159280"/>
                <a:gridCol w="2159280"/>
                <a:gridCol w="2159280"/>
                <a:gridCol w="2162160"/>
              </a:tblGrid>
              <a:tr h="948960">
                <a:tc>
                  <a:txBody>
                    <a:bodyPr lIns="36000" rIns="36000" anchor="ctr">
                      <a:noAutofit/>
                    </a:bodyPr>
                    <a:p>
                      <a:endParaRPr b="0" lang="es-ES" sz="1800" spc="-1" strike="noStrike">
                        <a:solidFill>
                          <a:srgbClr val="000000"/>
                        </a:solidFill>
                        <a:latin typeface="Arial"/>
                      </a:endParaRPr>
                    </a:p>
                  </a:txBody>
                  <a:tcPr anchor="ctr" marL="36000" marR="36000">
                    <a:lnL w="12240">
                      <a:noFill/>
                      <a:prstDash val="solid"/>
                    </a:lnL>
                    <a:lnR w="12240">
                      <a:noFill/>
                      <a:prstDash val="solid"/>
                    </a:lnR>
                    <a:lnT w="12240">
                      <a:noFill/>
                      <a:prstDash val="solid"/>
                    </a:lnT>
                    <a:lnB w="12240">
                      <a:noFill/>
                      <a:prstDash val="solid"/>
                    </a:lnB>
                    <a:noFill/>
                  </a:tcPr>
                </a:tc>
                <a:tc>
                  <a:txBody>
                    <a:bodyPr lIns="36000" rIns="36000" anchor="b">
                      <a:noAutofit/>
                    </a:bodyPr>
                    <a:p>
                      <a:pPr algn="ctr">
                        <a:lnSpc>
                          <a:spcPct val="100000"/>
                        </a:lnSpc>
                      </a:pPr>
                      <a:r>
                        <a:rPr b="0" lang="es-ES" sz="1600" spc="-1" strike="noStrike">
                          <a:solidFill>
                            <a:srgbClr val="000000"/>
                          </a:solidFill>
                          <a:latin typeface="Arial"/>
                        </a:rPr>
                        <a:t>Nivel bajo</a:t>
                      </a:r>
                      <a:endParaRPr b="0" lang="es-ES" sz="1600" spc="-1" strike="noStrike">
                        <a:solidFill>
                          <a:srgbClr val="000000"/>
                        </a:solidFill>
                        <a:latin typeface="Arial"/>
                      </a:endParaRPr>
                    </a:p>
                    <a:p>
                      <a:pPr algn="ctr">
                        <a:lnSpc>
                          <a:spcPct val="100000"/>
                        </a:lnSpc>
                      </a:pPr>
                      <a:endParaRPr b="0" lang="es-ES" sz="1600" spc="-1" strike="noStrike">
                        <a:solidFill>
                          <a:srgbClr val="000000"/>
                        </a:solidFill>
                        <a:latin typeface="Arial"/>
                      </a:endParaRPr>
                    </a:p>
                  </a:txBody>
                  <a:tcPr anchor="b" marL="36000" marR="36000">
                    <a:lnL w="12240">
                      <a:noFill/>
                      <a:prstDash val="solid"/>
                    </a:lnL>
                    <a:lnR w="12240">
                      <a:noFill/>
                      <a:prstDash val="solid"/>
                    </a:lnR>
                    <a:lnT w="12240">
                      <a:noFill/>
                      <a:prstDash val="solid"/>
                    </a:lnT>
                    <a:lnB w="12240">
                      <a:noFill/>
                      <a:prstDash val="solid"/>
                    </a:lnB>
                    <a:noFill/>
                  </a:tcPr>
                </a:tc>
                <a:tc>
                  <a:txBody>
                    <a:bodyPr lIns="36000" rIns="36000" anchor="b">
                      <a:noAutofit/>
                    </a:bodyPr>
                    <a:p>
                      <a:pPr algn="ctr">
                        <a:lnSpc>
                          <a:spcPct val="100000"/>
                        </a:lnSpc>
                      </a:pPr>
                      <a:r>
                        <a:rPr b="0" lang="es-ES" sz="1600" spc="-1" strike="noStrike">
                          <a:solidFill>
                            <a:srgbClr val="000000"/>
                          </a:solidFill>
                          <a:latin typeface="Arial"/>
                        </a:rPr>
                        <a:t>Nivel medio</a:t>
                      </a:r>
                      <a:endParaRPr b="0" lang="es-ES" sz="1600" spc="-1" strike="noStrike">
                        <a:solidFill>
                          <a:srgbClr val="000000"/>
                        </a:solidFill>
                        <a:latin typeface="Arial"/>
                      </a:endParaRPr>
                    </a:p>
                    <a:p>
                      <a:pPr algn="ctr">
                        <a:lnSpc>
                          <a:spcPct val="100000"/>
                        </a:lnSpc>
                      </a:pPr>
                      <a:endParaRPr b="0" lang="es-ES" sz="1600" spc="-1" strike="noStrike">
                        <a:solidFill>
                          <a:srgbClr val="000000"/>
                        </a:solidFill>
                        <a:latin typeface="Arial"/>
                      </a:endParaRPr>
                    </a:p>
                  </a:txBody>
                  <a:tcPr anchor="b" marL="36000" marR="36000">
                    <a:lnL w="12240">
                      <a:noFill/>
                      <a:prstDash val="solid"/>
                    </a:lnL>
                    <a:lnR w="12240">
                      <a:noFill/>
                      <a:prstDash val="solid"/>
                    </a:lnR>
                    <a:lnT w="12240">
                      <a:noFill/>
                      <a:prstDash val="solid"/>
                    </a:lnT>
                    <a:lnB w="12240">
                      <a:noFill/>
                      <a:prstDash val="solid"/>
                    </a:lnB>
                    <a:noFill/>
                  </a:tcPr>
                </a:tc>
                <a:tc>
                  <a:txBody>
                    <a:bodyPr lIns="36000" rIns="36000" anchor="b">
                      <a:noAutofit/>
                    </a:bodyPr>
                    <a:p>
                      <a:pPr algn="ctr">
                        <a:lnSpc>
                          <a:spcPct val="100000"/>
                        </a:lnSpc>
                      </a:pPr>
                      <a:r>
                        <a:rPr b="0" lang="es-ES" sz="1600" spc="-1" strike="noStrike">
                          <a:solidFill>
                            <a:srgbClr val="000000"/>
                          </a:solidFill>
                          <a:latin typeface="Arial"/>
                        </a:rPr>
                        <a:t>Nivel alto</a:t>
                      </a:r>
                      <a:endParaRPr b="0" lang="es-ES" sz="1600" spc="-1" strike="noStrike">
                        <a:solidFill>
                          <a:srgbClr val="000000"/>
                        </a:solidFill>
                        <a:latin typeface="Arial"/>
                      </a:endParaRPr>
                    </a:p>
                    <a:p>
                      <a:pPr algn="ctr">
                        <a:lnSpc>
                          <a:spcPct val="100000"/>
                        </a:lnSpc>
                      </a:pPr>
                      <a:endParaRPr b="0" lang="es-ES" sz="1600" spc="-1" strike="noStrike">
                        <a:solidFill>
                          <a:srgbClr val="000000"/>
                        </a:solidFill>
                        <a:latin typeface="Arial"/>
                      </a:endParaRPr>
                    </a:p>
                  </a:txBody>
                  <a:tcPr anchor="b" marL="36000" marR="36000">
                    <a:lnL w="12240">
                      <a:noFill/>
                      <a:prstDash val="solid"/>
                    </a:lnL>
                    <a:lnR w="12240">
                      <a:noFill/>
                      <a:prstDash val="solid"/>
                    </a:lnR>
                    <a:lnT w="12240">
                      <a:noFill/>
                      <a:prstDash val="solid"/>
                    </a:lnT>
                    <a:lnB w="12240">
                      <a:noFill/>
                      <a:prstDash val="solid"/>
                    </a:lnB>
                    <a:noFill/>
                  </a:tcPr>
                </a:tc>
              </a:tr>
              <a:tr h="948960">
                <a:tc>
                  <a:txBody>
                    <a:bodyPr lIns="36000" rIns="36000" anchor="ctr">
                      <a:noAutofit/>
                    </a:bodyPr>
                    <a:p>
                      <a:pPr>
                        <a:lnSpc>
                          <a:spcPct val="100000"/>
                        </a:lnSpc>
                      </a:pPr>
                      <a:r>
                        <a:rPr b="0" lang="es-ES" sz="1800" spc="-1" strike="noStrike">
                          <a:solidFill>
                            <a:srgbClr val="000000"/>
                          </a:solidFill>
                          <a:latin typeface="Arial"/>
                        </a:rPr>
                        <a:t>Antigüedad</a:t>
                      </a:r>
                      <a:endParaRPr b="0" lang="es-ES" sz="1800" spc="-1" strike="noStrike">
                        <a:solidFill>
                          <a:srgbClr val="000000"/>
                        </a:solidFill>
                        <a:latin typeface="Arial"/>
                      </a:endParaRPr>
                    </a:p>
                  </a:txBody>
                  <a:tcPr anchor="ctr" marL="36000" marR="36000">
                    <a:lnL w="12240">
                      <a:noFill/>
                      <a:prstDash val="solid"/>
                    </a:lnL>
                    <a:lnR w="12240">
                      <a:noFill/>
                      <a:prstDash val="solid"/>
                    </a:lnR>
                    <a:lnT w="12240">
                      <a:noFill/>
                      <a:prstDash val="solid"/>
                    </a:lnT>
                    <a:lnB w="12240">
                      <a:noFill/>
                      <a:prstDash val="solid"/>
                    </a:lnB>
                    <a:noFill/>
                  </a:tcPr>
                </a:tc>
                <a:tc>
                  <a:txBody>
                    <a:bodyPr lIns="36000" rIns="36000" anchor="ctr">
                      <a:noAutofit/>
                    </a:bodyPr>
                    <a:p>
                      <a:pPr algn="ctr">
                        <a:lnSpc>
                          <a:spcPct val="100000"/>
                        </a:lnSpc>
                      </a:pPr>
                      <a:r>
                        <a:rPr b="0" lang="es-ES" sz="1800" spc="-1" strike="noStrike">
                          <a:solidFill>
                            <a:srgbClr val="000000"/>
                          </a:solidFill>
                          <a:latin typeface="Arial"/>
                        </a:rPr>
                        <a:t>5 años</a:t>
                      </a:r>
                      <a:endParaRPr b="0" lang="es-ES" sz="1800" spc="-1" strike="noStrike">
                        <a:solidFill>
                          <a:srgbClr val="000000"/>
                        </a:solidFill>
                        <a:latin typeface="Arial"/>
                      </a:endParaRPr>
                    </a:p>
                  </a:txBody>
                  <a:tcPr anchor="ctr" marL="36000" marR="36000">
                    <a:lnL w="12240">
                      <a:noFill/>
                      <a:prstDash val="solid"/>
                    </a:lnL>
                    <a:lnR w="12240">
                      <a:noFill/>
                      <a:prstDash val="solid"/>
                    </a:lnR>
                    <a:lnT w="12240">
                      <a:noFill/>
                      <a:prstDash val="solid"/>
                    </a:lnT>
                    <a:lnB w="12240">
                      <a:noFill/>
                      <a:prstDash val="solid"/>
                    </a:lnB>
                    <a:noFill/>
                  </a:tcPr>
                </a:tc>
                <a:tc>
                  <a:txBody>
                    <a:bodyPr lIns="36000" rIns="36000" anchor="ctr">
                      <a:noAutofit/>
                    </a:bodyPr>
                    <a:p>
                      <a:pPr algn="ctr">
                        <a:lnSpc>
                          <a:spcPct val="100000"/>
                        </a:lnSpc>
                      </a:pPr>
                      <a:r>
                        <a:rPr b="0" lang="es-ES" sz="1800" spc="-1" strike="noStrike">
                          <a:solidFill>
                            <a:srgbClr val="000000"/>
                          </a:solidFill>
                          <a:latin typeface="Arial"/>
                        </a:rPr>
                        <a:t>12 años</a:t>
                      </a:r>
                      <a:endParaRPr b="0" lang="es-ES" sz="1800" spc="-1" strike="noStrike">
                        <a:solidFill>
                          <a:srgbClr val="000000"/>
                        </a:solidFill>
                        <a:latin typeface="Arial"/>
                      </a:endParaRPr>
                    </a:p>
                  </a:txBody>
                  <a:tcPr anchor="ctr" marL="36000" marR="36000">
                    <a:lnL w="12240">
                      <a:noFill/>
                      <a:prstDash val="solid"/>
                    </a:lnL>
                    <a:lnR w="12240">
                      <a:noFill/>
                      <a:prstDash val="solid"/>
                    </a:lnR>
                    <a:lnT w="12240">
                      <a:noFill/>
                      <a:prstDash val="solid"/>
                    </a:lnT>
                    <a:lnB w="12240">
                      <a:noFill/>
                      <a:prstDash val="solid"/>
                    </a:lnB>
                    <a:noFill/>
                  </a:tcPr>
                </a:tc>
                <a:tc>
                  <a:txBody>
                    <a:bodyPr lIns="36000" rIns="36000" anchor="ctr">
                      <a:noAutofit/>
                    </a:bodyPr>
                    <a:p>
                      <a:pPr algn="ctr">
                        <a:lnSpc>
                          <a:spcPct val="100000"/>
                        </a:lnSpc>
                      </a:pPr>
                      <a:r>
                        <a:rPr b="0" lang="es-ES" sz="1800" spc="-1" strike="noStrike">
                          <a:solidFill>
                            <a:srgbClr val="000000"/>
                          </a:solidFill>
                          <a:latin typeface="Arial"/>
                        </a:rPr>
                        <a:t>20 años</a:t>
                      </a:r>
                      <a:endParaRPr b="0" lang="es-ES" sz="1800" spc="-1" strike="noStrike">
                        <a:solidFill>
                          <a:srgbClr val="000000"/>
                        </a:solidFill>
                        <a:latin typeface="Arial"/>
                      </a:endParaRPr>
                    </a:p>
                  </a:txBody>
                  <a:tcPr anchor="ctr" marL="36000" marR="36000">
                    <a:lnL w="12240">
                      <a:noFill/>
                      <a:prstDash val="solid"/>
                    </a:lnL>
                    <a:lnR w="12240">
                      <a:noFill/>
                      <a:prstDash val="solid"/>
                    </a:lnR>
                    <a:lnT w="12240">
                      <a:noFill/>
                      <a:prstDash val="solid"/>
                    </a:lnT>
                    <a:lnB w="12240">
                      <a:noFill/>
                      <a:prstDash val="solid"/>
                    </a:lnB>
                    <a:noFill/>
                  </a:tcPr>
                </a:tc>
              </a:tr>
              <a:tr h="948960">
                <a:tc>
                  <a:txBody>
                    <a:bodyPr lIns="36000" rIns="36000" anchor="ctr">
                      <a:noAutofit/>
                    </a:bodyPr>
                    <a:p>
                      <a:pPr>
                        <a:lnSpc>
                          <a:spcPct val="100000"/>
                        </a:lnSpc>
                      </a:pPr>
                      <a:r>
                        <a:rPr b="0" lang="es-ES" sz="1800" spc="-1" strike="noStrike">
                          <a:solidFill>
                            <a:srgbClr val="000000"/>
                          </a:solidFill>
                          <a:latin typeface="Arial"/>
                        </a:rPr>
                        <a:t>Carga laboral</a:t>
                      </a:r>
                      <a:endParaRPr b="0" lang="es-ES" sz="1800" spc="-1" strike="noStrike">
                        <a:solidFill>
                          <a:srgbClr val="000000"/>
                        </a:solidFill>
                        <a:latin typeface="Arial"/>
                      </a:endParaRPr>
                    </a:p>
                  </a:txBody>
                  <a:tcPr anchor="ctr" marL="36000" marR="36000">
                    <a:lnL w="12240">
                      <a:noFill/>
                      <a:prstDash val="solid"/>
                    </a:lnL>
                    <a:lnR w="12240">
                      <a:noFill/>
                      <a:prstDash val="solid"/>
                    </a:lnR>
                    <a:lnT w="12240">
                      <a:noFill/>
                      <a:prstDash val="solid"/>
                    </a:lnT>
                    <a:lnB w="12240">
                      <a:noFill/>
                      <a:prstDash val="solid"/>
                    </a:lnB>
                    <a:noFill/>
                  </a:tcPr>
                </a:tc>
                <a:tc>
                  <a:txBody>
                    <a:bodyPr lIns="36000" rIns="36000" anchor="ctr">
                      <a:noAutofit/>
                    </a:bodyPr>
                    <a:p>
                      <a:pPr algn="ctr">
                        <a:lnSpc>
                          <a:spcPct val="100000"/>
                        </a:lnSpc>
                      </a:pPr>
                      <a:r>
                        <a:rPr b="0" lang="es-ES" sz="1800" spc="-1" strike="noStrike">
                          <a:solidFill>
                            <a:srgbClr val="000000"/>
                          </a:solidFill>
                          <a:latin typeface="Arial"/>
                        </a:rPr>
                        <a:t>230</a:t>
                      </a:r>
                      <a:endParaRPr b="0" lang="es-ES" sz="1800" spc="-1" strike="noStrike">
                        <a:solidFill>
                          <a:srgbClr val="000000"/>
                        </a:solidFill>
                        <a:latin typeface="Arial"/>
                      </a:endParaRPr>
                    </a:p>
                  </a:txBody>
                  <a:tcPr anchor="ctr" marL="36000" marR="36000">
                    <a:lnL w="12240">
                      <a:noFill/>
                      <a:prstDash val="solid"/>
                    </a:lnL>
                    <a:lnR w="12240">
                      <a:noFill/>
                      <a:prstDash val="solid"/>
                    </a:lnR>
                    <a:lnT w="12240">
                      <a:noFill/>
                      <a:prstDash val="solid"/>
                    </a:lnT>
                    <a:lnB w="12240">
                      <a:noFill/>
                      <a:prstDash val="solid"/>
                    </a:lnB>
                    <a:noFill/>
                  </a:tcPr>
                </a:tc>
                <a:tc>
                  <a:txBody>
                    <a:bodyPr lIns="36000" rIns="36000" anchor="ctr">
                      <a:noAutofit/>
                    </a:bodyPr>
                    <a:p>
                      <a:pPr algn="ctr">
                        <a:lnSpc>
                          <a:spcPct val="100000"/>
                        </a:lnSpc>
                      </a:pPr>
                      <a:r>
                        <a:rPr b="0" lang="es-ES" sz="1800" spc="-1" strike="noStrike">
                          <a:solidFill>
                            <a:srgbClr val="000000"/>
                          </a:solidFill>
                          <a:latin typeface="Arial"/>
                        </a:rPr>
                        <a:t>270</a:t>
                      </a:r>
                      <a:endParaRPr b="0" lang="es-ES" sz="1800" spc="-1" strike="noStrike">
                        <a:solidFill>
                          <a:srgbClr val="000000"/>
                        </a:solidFill>
                        <a:latin typeface="Arial"/>
                      </a:endParaRPr>
                    </a:p>
                  </a:txBody>
                  <a:tcPr anchor="ctr" marL="36000" marR="36000">
                    <a:lnL w="12240">
                      <a:noFill/>
                      <a:prstDash val="solid"/>
                    </a:lnL>
                    <a:lnR w="12240">
                      <a:noFill/>
                      <a:prstDash val="solid"/>
                    </a:lnR>
                    <a:lnT w="12240">
                      <a:noFill/>
                      <a:prstDash val="solid"/>
                    </a:lnT>
                    <a:lnB w="12240">
                      <a:noFill/>
                      <a:prstDash val="solid"/>
                    </a:lnB>
                    <a:noFill/>
                  </a:tcPr>
                </a:tc>
                <a:tc>
                  <a:txBody>
                    <a:bodyPr lIns="36000" rIns="36000" anchor="ctr">
                      <a:noAutofit/>
                    </a:bodyPr>
                    <a:p>
                      <a:pPr algn="ctr">
                        <a:lnSpc>
                          <a:spcPct val="100000"/>
                        </a:lnSpc>
                      </a:pPr>
                      <a:r>
                        <a:rPr b="0" lang="es-ES" sz="1800" spc="-1" strike="noStrike">
                          <a:solidFill>
                            <a:srgbClr val="000000"/>
                          </a:solidFill>
                          <a:latin typeface="Arial"/>
                        </a:rPr>
                        <a:t>320</a:t>
                      </a:r>
                      <a:endParaRPr b="0" lang="es-ES" sz="1800" spc="-1" strike="noStrike">
                        <a:solidFill>
                          <a:srgbClr val="000000"/>
                        </a:solidFill>
                        <a:latin typeface="Arial"/>
                      </a:endParaRPr>
                    </a:p>
                  </a:txBody>
                  <a:tcPr anchor="ctr" marL="36000" marR="36000">
                    <a:lnL w="12240">
                      <a:noFill/>
                      <a:prstDash val="solid"/>
                    </a:lnL>
                    <a:lnR w="12240">
                      <a:noFill/>
                      <a:prstDash val="solid"/>
                    </a:lnR>
                    <a:lnT w="12240">
                      <a:noFill/>
                      <a:prstDash val="solid"/>
                    </a:lnT>
                    <a:lnB w="12240">
                      <a:noFill/>
                      <a:prstDash val="solid"/>
                    </a:lnB>
                    <a:noFill/>
                  </a:tcPr>
                </a:tc>
              </a:tr>
              <a:tr h="951120">
                <a:tc>
                  <a:txBody>
                    <a:bodyPr lIns="36000" rIns="36000" anchor="ctr">
                      <a:noAutofit/>
                    </a:bodyPr>
                    <a:p>
                      <a:pPr>
                        <a:lnSpc>
                          <a:spcPct val="100000"/>
                        </a:lnSpc>
                      </a:pPr>
                      <a:r>
                        <a:rPr b="0" lang="es-ES" sz="1800" spc="-1" strike="noStrike">
                          <a:solidFill>
                            <a:srgbClr val="000000"/>
                          </a:solidFill>
                          <a:latin typeface="Arial"/>
                        </a:rPr>
                        <a:t>Distacia al trabajo</a:t>
                      </a:r>
                      <a:endParaRPr b="0" lang="es-ES" sz="1800" spc="-1" strike="noStrike">
                        <a:solidFill>
                          <a:srgbClr val="000000"/>
                        </a:solidFill>
                        <a:latin typeface="Arial"/>
                      </a:endParaRPr>
                    </a:p>
                  </a:txBody>
                  <a:tcPr anchor="ctr" marL="36000" marR="36000">
                    <a:lnL w="12240">
                      <a:noFill/>
                      <a:prstDash val="solid"/>
                    </a:lnL>
                    <a:lnR w="12240">
                      <a:noFill/>
                      <a:prstDash val="solid"/>
                    </a:lnR>
                    <a:lnT w="12240">
                      <a:noFill/>
                      <a:prstDash val="solid"/>
                    </a:lnT>
                    <a:lnB w="12240">
                      <a:noFill/>
                      <a:prstDash val="solid"/>
                    </a:lnB>
                    <a:noFill/>
                  </a:tcPr>
                </a:tc>
                <a:tc>
                  <a:txBody>
                    <a:bodyPr lIns="36000" rIns="36000" anchor="ctr">
                      <a:noAutofit/>
                    </a:bodyPr>
                    <a:p>
                      <a:pPr algn="ctr">
                        <a:lnSpc>
                          <a:spcPct val="100000"/>
                        </a:lnSpc>
                      </a:pPr>
                      <a:r>
                        <a:rPr b="0" lang="es-ES" sz="1800" spc="-1" strike="noStrike">
                          <a:solidFill>
                            <a:srgbClr val="000000"/>
                          </a:solidFill>
                          <a:latin typeface="Arial"/>
                        </a:rPr>
                        <a:t>10 Km</a:t>
                      </a:r>
                      <a:endParaRPr b="0" lang="es-ES" sz="1800" spc="-1" strike="noStrike">
                        <a:solidFill>
                          <a:srgbClr val="000000"/>
                        </a:solidFill>
                        <a:latin typeface="Arial"/>
                      </a:endParaRPr>
                    </a:p>
                  </a:txBody>
                  <a:tcPr anchor="ctr" marL="36000" marR="36000">
                    <a:lnL w="12240">
                      <a:noFill/>
                      <a:prstDash val="solid"/>
                    </a:lnL>
                    <a:lnR w="12240">
                      <a:noFill/>
                      <a:prstDash val="solid"/>
                    </a:lnR>
                    <a:lnT w="12240">
                      <a:noFill/>
                      <a:prstDash val="solid"/>
                    </a:lnT>
                    <a:lnB w="12240">
                      <a:noFill/>
                      <a:prstDash val="solid"/>
                    </a:lnB>
                    <a:noFill/>
                  </a:tcPr>
                </a:tc>
                <a:tc>
                  <a:txBody>
                    <a:bodyPr lIns="36000" rIns="36000" anchor="ctr">
                      <a:noAutofit/>
                    </a:bodyPr>
                    <a:p>
                      <a:pPr algn="ctr">
                        <a:lnSpc>
                          <a:spcPct val="100000"/>
                        </a:lnSpc>
                      </a:pPr>
                      <a:r>
                        <a:rPr b="0" lang="es-ES" sz="1800" spc="-1" strike="noStrike">
                          <a:solidFill>
                            <a:srgbClr val="000000"/>
                          </a:solidFill>
                          <a:latin typeface="Arial"/>
                        </a:rPr>
                        <a:t>25 km</a:t>
                      </a:r>
                      <a:endParaRPr b="0" lang="es-ES" sz="1800" spc="-1" strike="noStrike">
                        <a:solidFill>
                          <a:srgbClr val="000000"/>
                        </a:solidFill>
                        <a:latin typeface="Arial"/>
                      </a:endParaRPr>
                    </a:p>
                  </a:txBody>
                  <a:tcPr anchor="ctr" marL="36000" marR="36000">
                    <a:lnL w="12240">
                      <a:noFill/>
                      <a:prstDash val="solid"/>
                    </a:lnL>
                    <a:lnR w="12240">
                      <a:noFill/>
                      <a:prstDash val="solid"/>
                    </a:lnR>
                    <a:lnT w="12240">
                      <a:noFill/>
                      <a:prstDash val="solid"/>
                    </a:lnT>
                    <a:lnB w="12240">
                      <a:noFill/>
                      <a:prstDash val="solid"/>
                    </a:lnB>
                    <a:noFill/>
                  </a:tcPr>
                </a:tc>
                <a:tc>
                  <a:txBody>
                    <a:bodyPr lIns="36000" rIns="36000" anchor="ctr">
                      <a:noAutofit/>
                    </a:bodyPr>
                    <a:p>
                      <a:pPr algn="ctr">
                        <a:lnSpc>
                          <a:spcPct val="100000"/>
                        </a:lnSpc>
                      </a:pPr>
                      <a:r>
                        <a:rPr b="0" lang="es-ES" sz="1800" spc="-1" strike="noStrike">
                          <a:solidFill>
                            <a:srgbClr val="000000"/>
                          </a:solidFill>
                          <a:latin typeface="Arial"/>
                        </a:rPr>
                        <a:t>45 km</a:t>
                      </a:r>
                      <a:endParaRPr b="0" lang="es-ES" sz="1800" spc="-1" strike="noStrike">
                        <a:solidFill>
                          <a:srgbClr val="000000"/>
                        </a:solidFill>
                        <a:latin typeface="Arial"/>
                      </a:endParaRPr>
                    </a:p>
                  </a:txBody>
                  <a:tcPr anchor="ctr" marL="36000" marR="36000">
                    <a:lnL w="12240">
                      <a:noFill/>
                      <a:prstDash val="solid"/>
                    </a:lnL>
                    <a:lnR w="12240">
                      <a:noFill/>
                      <a:prstDash val="solid"/>
                    </a:lnR>
                    <a:lnT w="12240">
                      <a:noFill/>
                      <a:prstDash val="solid"/>
                    </a:lnT>
                    <a:lnB w="12240">
                      <a:noFill/>
                      <a:prstDash val="solid"/>
                    </a:lnB>
                    <a:noFill/>
                  </a:tcPr>
                </a:tc>
              </a:tr>
            </a:tbl>
          </a:graphicData>
        </a:graphic>
      </p:graphicFrame>
      <p:pic>
        <p:nvPicPr>
          <p:cNvPr id="177" name="" descr=""/>
          <p:cNvPicPr/>
          <p:nvPr/>
        </p:nvPicPr>
        <p:blipFill>
          <a:blip r:embed="rId2"/>
          <a:stretch/>
        </p:blipFill>
        <p:spPr>
          <a:xfrm>
            <a:off x="900000" y="2556000"/>
            <a:ext cx="1186560" cy="1186560"/>
          </a:xfrm>
          <a:prstGeom prst="rect">
            <a:avLst/>
          </a:prstGeom>
          <a:ln w="0">
            <a:noFill/>
          </a:ln>
        </p:spPr>
      </p:pic>
      <p:pic>
        <p:nvPicPr>
          <p:cNvPr id="178" name="" descr=""/>
          <p:cNvPicPr/>
          <p:nvPr/>
        </p:nvPicPr>
        <p:blipFill>
          <a:blip r:embed="rId3"/>
          <a:stretch/>
        </p:blipFill>
        <p:spPr>
          <a:xfrm>
            <a:off x="972000" y="3600000"/>
            <a:ext cx="1078560" cy="1078560"/>
          </a:xfrm>
          <a:prstGeom prst="rect">
            <a:avLst/>
          </a:prstGeom>
          <a:ln w="0">
            <a:noFill/>
          </a:ln>
        </p:spPr>
      </p:pic>
      <p:pic>
        <p:nvPicPr>
          <p:cNvPr id="179" name="" descr=""/>
          <p:cNvPicPr/>
          <p:nvPr/>
        </p:nvPicPr>
        <p:blipFill>
          <a:blip r:embed="rId4"/>
          <a:stretch/>
        </p:blipFill>
        <p:spPr>
          <a:xfrm>
            <a:off x="792000" y="4320000"/>
            <a:ext cx="1366920" cy="1366920"/>
          </a:xfrm>
          <a:prstGeom prst="rect">
            <a:avLst/>
          </a:prstGeom>
          <a:ln w="0">
            <a:noFill/>
          </a:ln>
        </p:spPr>
      </p:pic>
      <p:sp>
        <p:nvSpPr>
          <p:cNvPr id="180" name=""/>
          <p:cNvSpPr/>
          <p:nvPr/>
        </p:nvSpPr>
        <p:spPr>
          <a:xfrm>
            <a:off x="4140000" y="2520000"/>
            <a:ext cx="6120000" cy="360"/>
          </a:xfrm>
          <a:prstGeom prst="line">
            <a:avLst/>
          </a:prstGeom>
          <a:ln w="36000">
            <a:solidFill>
              <a:srgbClr val="c21875"/>
            </a:solidFill>
            <a:round/>
          </a:ln>
        </p:spPr>
        <p:style>
          <a:lnRef idx="0"/>
          <a:fillRef idx="0"/>
          <a:effectRef idx="0"/>
          <a:fontRef idx="minor"/>
        </p:style>
        <p:txBody>
          <a:bodyPr lIns="108000" rIns="108000" tIns="-63000" bIns="-63000" anchor="ctr">
            <a:noAutofit/>
          </a:bodyPr>
          <a:p>
            <a:endParaRPr b="0" lang="es-ES" sz="1800" spc="-1" strike="noStrike">
              <a:solidFill>
                <a:srgbClr val="000000"/>
              </a:solidFill>
              <a:latin typeface="Arial"/>
            </a:endParaRPr>
          </a:p>
        </p:txBody>
      </p:sp>
      <p:sp>
        <p:nvSpPr>
          <p:cNvPr id="181" name=""/>
          <p:cNvSpPr/>
          <p:nvPr/>
        </p:nvSpPr>
        <p:spPr>
          <a:xfrm>
            <a:off x="1224000" y="459720"/>
            <a:ext cx="7144560" cy="444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2800" spc="-1" strike="noStrike">
                <a:solidFill>
                  <a:srgbClr val="142346"/>
                </a:solidFill>
                <a:latin typeface="Calibri"/>
              </a:rPr>
              <a:t>De los perfiles a escenarios comparables</a:t>
            </a:r>
            <a:endParaRPr b="0" lang="es-ES" sz="2800" spc="-1" strike="noStrike">
              <a:solidFill>
                <a:srgbClr val="000000"/>
              </a:solidFill>
              <a:latin typeface="Arial"/>
            </a:endParaRPr>
          </a:p>
        </p:txBody>
      </p:sp>
      <p:sp>
        <p:nvSpPr>
          <p:cNvPr id="182" name="Google Shape;39;p 12"/>
          <p:cNvSpPr/>
          <p:nvPr/>
        </p:nvSpPr>
        <p:spPr>
          <a:xfrm>
            <a:off x="2742840" y="6538320"/>
            <a:ext cx="138960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- 20 Julio 2026</a:t>
            </a:r>
            <a:endParaRPr b="0" lang="es-E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3" name="Google Shape;76;g3f4b6d773eb_0_ 1"/>
          <p:cNvSpPr/>
          <p:nvPr/>
        </p:nvSpPr>
        <p:spPr>
          <a:xfrm>
            <a:off x="0" y="6510600"/>
            <a:ext cx="12182400" cy="356400"/>
          </a:xfrm>
          <a:prstGeom prst="rect">
            <a:avLst/>
          </a:prstGeom>
          <a:solidFill>
            <a:srgbClr val="ff8a00"/>
          </a:solidFill>
          <a:ln w="0">
            <a:noFill/>
          </a:ln>
        </p:spPr>
        <p:style>
          <a:lnRef idx="0"/>
          <a:fillRef idx="0"/>
          <a:effectRef idx="0"/>
          <a:fontRef idx="minor"/>
        </p:style>
        <p:txBody>
          <a:bodyPr lIns="90000" rIns="90000" tIns="45000" bIns="45000" anchor="t">
            <a:noAutofit/>
          </a:bodyPr>
          <a:p>
            <a:pPr>
              <a:lnSpc>
                <a:spcPct val="100000"/>
              </a:lnSpc>
            </a:pPr>
            <a:endParaRPr b="0" lang="es-ES" sz="1400" spc="-1" strike="noStrike">
              <a:solidFill>
                <a:srgbClr val="000000"/>
              </a:solidFill>
              <a:latin typeface="Arial"/>
            </a:endParaRPr>
          </a:p>
        </p:txBody>
      </p:sp>
      <p:pic>
        <p:nvPicPr>
          <p:cNvPr id="184" name="Google Shape;78;g3f4b6d773eb_0_ 1" descr=""/>
          <p:cNvPicPr/>
          <p:nvPr/>
        </p:nvPicPr>
        <p:blipFill>
          <a:blip r:embed="rId1"/>
          <a:srcRect l="0" t="26214" r="0" b="23016"/>
          <a:stretch/>
        </p:blipFill>
        <p:spPr>
          <a:xfrm>
            <a:off x="10038240" y="288360"/>
            <a:ext cx="1940760" cy="530640"/>
          </a:xfrm>
          <a:prstGeom prst="rect">
            <a:avLst/>
          </a:prstGeom>
          <a:ln w="0">
            <a:noFill/>
          </a:ln>
        </p:spPr>
      </p:pic>
      <p:sp>
        <p:nvSpPr>
          <p:cNvPr id="185" name="Google Shape;79;g3f4b6d773eb_0_ 1"/>
          <p:cNvSpPr/>
          <p:nvPr/>
        </p:nvSpPr>
        <p:spPr>
          <a:xfrm>
            <a:off x="168120" y="6538320"/>
            <a:ext cx="299088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Dpt. Analistas de Datos de RRHH</a:t>
            </a:r>
            <a:endParaRPr b="0" lang="es-ES" sz="1200" spc="-1" strike="noStrike">
              <a:solidFill>
                <a:srgbClr val="000000"/>
              </a:solidFill>
              <a:latin typeface="Arial"/>
            </a:endParaRPr>
          </a:p>
        </p:txBody>
      </p:sp>
      <p:pic>
        <p:nvPicPr>
          <p:cNvPr id="186" name="" descr=""/>
          <p:cNvPicPr/>
          <p:nvPr/>
        </p:nvPicPr>
        <p:blipFill>
          <a:blip r:embed="rId2"/>
          <a:stretch/>
        </p:blipFill>
        <p:spPr>
          <a:xfrm>
            <a:off x="1837080" y="2449080"/>
            <a:ext cx="1078560" cy="1078560"/>
          </a:xfrm>
          <a:prstGeom prst="rect">
            <a:avLst/>
          </a:prstGeom>
          <a:ln w="0">
            <a:noFill/>
          </a:ln>
        </p:spPr>
      </p:pic>
      <p:sp>
        <p:nvSpPr>
          <p:cNvPr id="187" name=""/>
          <p:cNvSpPr/>
          <p:nvPr/>
        </p:nvSpPr>
        <p:spPr>
          <a:xfrm>
            <a:off x="2520000" y="2700000"/>
            <a:ext cx="1798560" cy="358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400" spc="-1" strike="noStrike">
                <a:solidFill>
                  <a:srgbClr val="000000"/>
                </a:solidFill>
                <a:latin typeface="Calibri"/>
              </a:rPr>
              <a:t>12 años de </a:t>
            </a:r>
            <a:endParaRPr b="0" lang="es-ES" sz="1400" spc="-1" strike="noStrike">
              <a:solidFill>
                <a:srgbClr val="000000"/>
              </a:solidFill>
              <a:latin typeface="Arial"/>
            </a:endParaRPr>
          </a:p>
          <a:p>
            <a:pPr>
              <a:lnSpc>
                <a:spcPct val="100000"/>
              </a:lnSpc>
            </a:pPr>
            <a:r>
              <a:rPr b="0" lang="es-ES" sz="1400" spc="-1" strike="noStrike">
                <a:solidFill>
                  <a:srgbClr val="000000"/>
                </a:solidFill>
                <a:latin typeface="Calibri"/>
              </a:rPr>
              <a:t>antigüedad</a:t>
            </a:r>
            <a:endParaRPr b="0" lang="es-ES" sz="1400" spc="-1" strike="noStrike">
              <a:solidFill>
                <a:srgbClr val="000000"/>
              </a:solidFill>
              <a:latin typeface="Arial"/>
            </a:endParaRPr>
          </a:p>
        </p:txBody>
      </p:sp>
      <p:pic>
        <p:nvPicPr>
          <p:cNvPr id="188" name="" descr=""/>
          <p:cNvPicPr/>
          <p:nvPr/>
        </p:nvPicPr>
        <p:blipFill>
          <a:blip r:embed="rId3"/>
          <a:stretch/>
        </p:blipFill>
        <p:spPr>
          <a:xfrm>
            <a:off x="3744000" y="1780560"/>
            <a:ext cx="7019640" cy="4427280"/>
          </a:xfrm>
          <a:prstGeom prst="rect">
            <a:avLst/>
          </a:prstGeom>
          <a:ln w="0">
            <a:noFill/>
          </a:ln>
        </p:spPr>
      </p:pic>
      <p:pic>
        <p:nvPicPr>
          <p:cNvPr id="189" name="" descr=""/>
          <p:cNvPicPr/>
          <p:nvPr/>
        </p:nvPicPr>
        <p:blipFill>
          <a:blip r:embed="rId4"/>
          <a:stretch/>
        </p:blipFill>
        <p:spPr>
          <a:xfrm>
            <a:off x="3268800" y="964800"/>
            <a:ext cx="1266840" cy="1266840"/>
          </a:xfrm>
          <a:prstGeom prst="rect">
            <a:avLst/>
          </a:prstGeom>
          <a:ln w="0">
            <a:noFill/>
          </a:ln>
        </p:spPr>
      </p:pic>
      <p:sp>
        <p:nvSpPr>
          <p:cNvPr id="190" name=""/>
          <p:cNvSpPr/>
          <p:nvPr/>
        </p:nvSpPr>
        <p:spPr>
          <a:xfrm>
            <a:off x="360000" y="3349080"/>
            <a:ext cx="1907640" cy="57456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s-ES" sz="1400" spc="-1" strike="noStrike">
                <a:solidFill>
                  <a:srgbClr val="000000"/>
                </a:solidFill>
                <a:latin typeface="Calibri"/>
              </a:rPr>
              <a:t>270</a:t>
            </a:r>
            <a:endParaRPr b="0" lang="es-ES" sz="1400" spc="-1" strike="noStrike">
              <a:solidFill>
                <a:srgbClr val="000000"/>
              </a:solidFill>
              <a:latin typeface="Arial"/>
            </a:endParaRPr>
          </a:p>
          <a:p>
            <a:pPr algn="ctr">
              <a:lnSpc>
                <a:spcPct val="100000"/>
              </a:lnSpc>
            </a:pPr>
            <a:endParaRPr b="0" lang="es-ES" sz="1400" spc="-1" strike="noStrike">
              <a:solidFill>
                <a:srgbClr val="000000"/>
              </a:solidFill>
              <a:latin typeface="Arial"/>
            </a:endParaRPr>
          </a:p>
          <a:p>
            <a:pPr algn="ctr">
              <a:lnSpc>
                <a:spcPct val="100000"/>
              </a:lnSpc>
            </a:pPr>
            <a:r>
              <a:rPr b="0" lang="es-ES" sz="1400" spc="-1" strike="noStrike">
                <a:solidFill>
                  <a:srgbClr val="000000"/>
                </a:solidFill>
                <a:latin typeface="Calibri"/>
              </a:rPr>
              <a:t> </a:t>
            </a:r>
            <a:endParaRPr b="0" lang="es-ES" sz="1400" spc="-1" strike="noStrike">
              <a:solidFill>
                <a:srgbClr val="000000"/>
              </a:solidFill>
              <a:latin typeface="Arial"/>
            </a:endParaRPr>
          </a:p>
          <a:p>
            <a:pPr algn="ctr">
              <a:lnSpc>
                <a:spcPct val="100000"/>
              </a:lnSpc>
            </a:pPr>
            <a:r>
              <a:rPr b="0" lang="es-ES" sz="1400" spc="-1" strike="noStrike">
                <a:solidFill>
                  <a:srgbClr val="000000"/>
                </a:solidFill>
                <a:latin typeface="Calibri"/>
              </a:rPr>
              <a:t>carga de trabajo</a:t>
            </a:r>
            <a:endParaRPr b="0" lang="es-ES" sz="1400" spc="-1" strike="noStrike">
              <a:solidFill>
                <a:srgbClr val="000000"/>
              </a:solidFill>
              <a:latin typeface="Arial"/>
            </a:endParaRPr>
          </a:p>
        </p:txBody>
      </p:sp>
      <p:pic>
        <p:nvPicPr>
          <p:cNvPr id="191" name="" descr=""/>
          <p:cNvPicPr/>
          <p:nvPr/>
        </p:nvPicPr>
        <p:blipFill>
          <a:blip r:embed="rId5"/>
          <a:stretch/>
        </p:blipFill>
        <p:spPr>
          <a:xfrm>
            <a:off x="826560" y="3349080"/>
            <a:ext cx="973080" cy="973080"/>
          </a:xfrm>
          <a:prstGeom prst="rect">
            <a:avLst/>
          </a:prstGeom>
          <a:ln w="0">
            <a:noFill/>
          </a:ln>
        </p:spPr>
      </p:pic>
      <p:sp>
        <p:nvSpPr>
          <p:cNvPr id="192" name=""/>
          <p:cNvSpPr/>
          <p:nvPr/>
        </p:nvSpPr>
        <p:spPr>
          <a:xfrm>
            <a:off x="1945080" y="1548000"/>
            <a:ext cx="1870560" cy="358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400" spc="-1" strike="noStrike">
                <a:solidFill>
                  <a:srgbClr val="000000"/>
                </a:solidFill>
                <a:latin typeface="Arial"/>
                <a:ea typeface="Microsoft YaHei"/>
              </a:rPr>
              <a:t>Distancia al trabajo</a:t>
            </a:r>
            <a:endParaRPr b="0" lang="es-ES" sz="1400" spc="-1" strike="noStrike">
              <a:solidFill>
                <a:srgbClr val="000000"/>
              </a:solidFill>
              <a:latin typeface="Arial"/>
            </a:endParaRPr>
          </a:p>
        </p:txBody>
      </p:sp>
      <p:sp>
        <p:nvSpPr>
          <p:cNvPr id="193" name=""/>
          <p:cNvSpPr/>
          <p:nvPr/>
        </p:nvSpPr>
        <p:spPr>
          <a:xfrm>
            <a:off x="1224000" y="454320"/>
            <a:ext cx="7144560" cy="444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2800" spc="-1" strike="noStrike">
                <a:solidFill>
                  <a:srgbClr val="142346"/>
                </a:solidFill>
                <a:latin typeface="Calibri"/>
              </a:rPr>
              <a:t>Escenarios de riesgo</a:t>
            </a:r>
            <a:endParaRPr b="0" lang="es-ES" sz="2800" spc="-1" strike="noStrike">
              <a:solidFill>
                <a:srgbClr val="000000"/>
              </a:solidFill>
              <a:latin typeface="Arial"/>
            </a:endParaRPr>
          </a:p>
        </p:txBody>
      </p:sp>
      <p:sp>
        <p:nvSpPr>
          <p:cNvPr id="194" name="Shape 6"/>
          <p:cNvSpPr/>
          <p:nvPr/>
        </p:nvSpPr>
        <p:spPr>
          <a:xfrm>
            <a:off x="9000000" y="4032000"/>
            <a:ext cx="2879280" cy="1907280"/>
          </a:xfrm>
          <a:prstGeom prst="roundRect">
            <a:avLst>
              <a:gd name="adj" fmla="val 2133"/>
            </a:avLst>
          </a:prstGeom>
          <a:solidFill>
            <a:srgbClr val="ffffff"/>
          </a:solidFill>
          <a:ln w="36000">
            <a:solidFill>
              <a:srgbClr val="c9cdd3"/>
            </a:solidFill>
            <a:round/>
          </a:ln>
        </p:spPr>
        <p:style>
          <a:lnRef idx="0"/>
          <a:fillRef idx="0"/>
          <a:effectRef idx="0"/>
          <a:fontRef idx="minor"/>
        </p:style>
        <p:txBody>
          <a:bodyPr lIns="101520" rIns="101520" tIns="56520" bIns="56520" anchor="t">
            <a:noAutofit/>
          </a:bodyPr>
          <a:p>
            <a:pPr>
              <a:lnSpc>
                <a:spcPct val="100000"/>
              </a:lnSpc>
            </a:pPr>
            <a:endParaRPr b="0" lang="es-ES" sz="1800" spc="-1" strike="noStrike">
              <a:solidFill>
                <a:schemeClr val="dk1"/>
              </a:solidFill>
              <a:latin typeface="Calibri"/>
            </a:endParaRPr>
          </a:p>
        </p:txBody>
      </p:sp>
      <p:sp>
        <p:nvSpPr>
          <p:cNvPr id="195" name="CuadroTexto 1"/>
          <p:cNvSpPr/>
          <p:nvPr/>
        </p:nvSpPr>
        <p:spPr>
          <a:xfrm>
            <a:off x="9180000" y="4500360"/>
            <a:ext cx="2699280" cy="1186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spcBef>
                <a:spcPts val="1701"/>
              </a:spcBef>
              <a:spcAft>
                <a:spcPts val="1701"/>
              </a:spcAft>
            </a:pPr>
            <a:r>
              <a:rPr b="0" lang="es-ES" sz="1800" spc="-1" strike="noStrike">
                <a:solidFill>
                  <a:schemeClr val="dk1"/>
                </a:solidFill>
                <a:latin typeface="Calibri"/>
              </a:rPr>
              <a:t>Las demás combinaciones de variables estan por debajo del 11% de probabilidad</a:t>
            </a:r>
            <a:endParaRPr b="0" lang="es-ES" sz="1800" spc="-1" strike="noStrike">
              <a:solidFill>
                <a:srgbClr val="000000"/>
              </a:solidFill>
              <a:latin typeface="Arial"/>
            </a:endParaRPr>
          </a:p>
        </p:txBody>
      </p:sp>
      <p:pic>
        <p:nvPicPr>
          <p:cNvPr id="196" name="" descr=""/>
          <p:cNvPicPr/>
          <p:nvPr/>
        </p:nvPicPr>
        <p:blipFill>
          <a:blip r:embed="rId6"/>
          <a:stretch/>
        </p:blipFill>
        <p:spPr>
          <a:xfrm>
            <a:off x="8604000" y="3672000"/>
            <a:ext cx="1259280" cy="1259280"/>
          </a:xfrm>
          <a:prstGeom prst="rect">
            <a:avLst/>
          </a:prstGeom>
          <a:ln w="0">
            <a:noFill/>
          </a:ln>
        </p:spPr>
      </p:pic>
      <p:pic>
        <p:nvPicPr>
          <p:cNvPr id="197" name="" descr=""/>
          <p:cNvPicPr/>
          <p:nvPr/>
        </p:nvPicPr>
        <p:blipFill>
          <a:blip r:embed="rId7"/>
          <a:stretch/>
        </p:blipFill>
        <p:spPr>
          <a:xfrm>
            <a:off x="1836000" y="4536000"/>
            <a:ext cx="1078560" cy="1078560"/>
          </a:xfrm>
          <a:prstGeom prst="rect">
            <a:avLst/>
          </a:prstGeom>
          <a:ln w="0">
            <a:noFill/>
          </a:ln>
        </p:spPr>
      </p:pic>
      <p:sp>
        <p:nvSpPr>
          <p:cNvPr id="198" name=""/>
          <p:cNvSpPr/>
          <p:nvPr/>
        </p:nvSpPr>
        <p:spPr>
          <a:xfrm>
            <a:off x="2518920" y="4788000"/>
            <a:ext cx="1798560" cy="358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400" spc="-1" strike="noStrike">
                <a:solidFill>
                  <a:srgbClr val="000000"/>
                </a:solidFill>
                <a:latin typeface="Calibri"/>
              </a:rPr>
              <a:t>5 años de </a:t>
            </a:r>
            <a:endParaRPr b="0" lang="es-ES" sz="1400" spc="-1" strike="noStrike">
              <a:solidFill>
                <a:srgbClr val="000000"/>
              </a:solidFill>
              <a:latin typeface="Arial"/>
            </a:endParaRPr>
          </a:p>
          <a:p>
            <a:pPr>
              <a:lnSpc>
                <a:spcPct val="100000"/>
              </a:lnSpc>
            </a:pPr>
            <a:r>
              <a:rPr b="0" lang="es-ES" sz="1400" spc="-1" strike="noStrike">
                <a:solidFill>
                  <a:srgbClr val="000000"/>
                </a:solidFill>
                <a:latin typeface="Calibri"/>
              </a:rPr>
              <a:t>antigüedad</a:t>
            </a:r>
            <a:endParaRPr b="0" lang="es-ES" sz="1400" spc="-1" strike="noStrike">
              <a:solidFill>
                <a:srgbClr val="000000"/>
              </a:solidFill>
              <a:latin typeface="Arial"/>
            </a:endParaRPr>
          </a:p>
        </p:txBody>
      </p:sp>
      <p:sp>
        <p:nvSpPr>
          <p:cNvPr id="199" name=""/>
          <p:cNvSpPr/>
          <p:nvPr/>
        </p:nvSpPr>
        <p:spPr>
          <a:xfrm>
            <a:off x="3600000" y="1980000"/>
            <a:ext cx="360" cy="1980000"/>
          </a:xfrm>
          <a:prstGeom prst="line">
            <a:avLst/>
          </a:prstGeom>
          <a:ln w="0">
            <a:solidFill>
              <a:srgbClr val="3465a4"/>
            </a:solidFill>
          </a:ln>
        </p:spPr>
        <p:style>
          <a:lnRef idx="0"/>
          <a:fillRef idx="0"/>
          <a:effectRef idx="0"/>
          <a:fontRef idx="minor"/>
        </p:style>
        <p:txBody>
          <a:bodyPr lIns="90000" rIns="90000" tIns="45000" bIns="45000" anchor="ctr">
            <a:noAutofit/>
          </a:bodyPr>
          <a:p>
            <a:endParaRPr b="0" lang="es-ES" sz="1800" spc="-1" strike="noStrike">
              <a:solidFill>
                <a:srgbClr val="000000"/>
              </a:solidFill>
              <a:latin typeface="Arial"/>
            </a:endParaRPr>
          </a:p>
        </p:txBody>
      </p:sp>
      <p:sp>
        <p:nvSpPr>
          <p:cNvPr id="200" name=""/>
          <p:cNvSpPr/>
          <p:nvPr/>
        </p:nvSpPr>
        <p:spPr>
          <a:xfrm>
            <a:off x="3600000" y="4104000"/>
            <a:ext cx="360" cy="1980000"/>
          </a:xfrm>
          <a:prstGeom prst="line">
            <a:avLst/>
          </a:prstGeom>
          <a:ln w="0">
            <a:solidFill>
              <a:srgbClr val="3465a4"/>
            </a:solidFill>
          </a:ln>
        </p:spPr>
        <p:style>
          <a:lnRef idx="0"/>
          <a:fillRef idx="0"/>
          <a:effectRef idx="0"/>
          <a:fontRef idx="minor"/>
        </p:style>
        <p:txBody>
          <a:bodyPr lIns="90000" rIns="90000" tIns="45000" bIns="45000" anchor="ctr">
            <a:noAutofit/>
          </a:bodyPr>
          <a:p>
            <a:endParaRPr b="0" lang="es-ES" sz="1800" spc="-1" strike="noStrike">
              <a:solidFill>
                <a:srgbClr val="000000"/>
              </a:solidFill>
              <a:latin typeface="Arial"/>
            </a:endParaRPr>
          </a:p>
        </p:txBody>
      </p:sp>
      <p:sp>
        <p:nvSpPr>
          <p:cNvPr id="201" name=""/>
          <p:cNvSpPr/>
          <p:nvPr/>
        </p:nvSpPr>
        <p:spPr>
          <a:xfrm>
            <a:off x="2016000" y="1980000"/>
            <a:ext cx="360" cy="4140000"/>
          </a:xfrm>
          <a:prstGeom prst="line">
            <a:avLst/>
          </a:prstGeom>
          <a:ln w="0">
            <a:solidFill>
              <a:srgbClr val="3465a4"/>
            </a:solidFill>
          </a:ln>
        </p:spPr>
        <p:style>
          <a:lnRef idx="0"/>
          <a:fillRef idx="0"/>
          <a:effectRef idx="0"/>
          <a:fontRef idx="minor"/>
        </p:style>
        <p:txBody>
          <a:bodyPr lIns="90000" rIns="90000" tIns="45000" bIns="45000" anchor="ctr">
            <a:noAutofit/>
          </a:bodyPr>
          <a:p>
            <a:endParaRPr b="0" lang="es-ES" sz="1800" spc="-1" strike="noStrike">
              <a:solidFill>
                <a:srgbClr val="000000"/>
              </a:solidFill>
              <a:latin typeface="Arial"/>
            </a:endParaRPr>
          </a:p>
        </p:txBody>
      </p:sp>
      <p:sp>
        <p:nvSpPr>
          <p:cNvPr id="202" name="Google Shape;39;p 13"/>
          <p:cNvSpPr/>
          <p:nvPr/>
        </p:nvSpPr>
        <p:spPr>
          <a:xfrm>
            <a:off x="2742840" y="6538320"/>
            <a:ext cx="138960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- 20 Julio 2026</a:t>
            </a:r>
            <a:endParaRPr b="0" lang="es-E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3" name="Google Shape;76;g3f4b6d773eb_0_ 2"/>
          <p:cNvSpPr/>
          <p:nvPr/>
        </p:nvSpPr>
        <p:spPr>
          <a:xfrm>
            <a:off x="0" y="6510600"/>
            <a:ext cx="12182400" cy="356400"/>
          </a:xfrm>
          <a:prstGeom prst="rect">
            <a:avLst/>
          </a:prstGeom>
          <a:solidFill>
            <a:srgbClr val="ff8a00"/>
          </a:solidFill>
          <a:ln w="0">
            <a:noFill/>
          </a:ln>
        </p:spPr>
        <p:style>
          <a:lnRef idx="0"/>
          <a:fillRef idx="0"/>
          <a:effectRef idx="0"/>
          <a:fontRef idx="minor"/>
        </p:style>
        <p:txBody>
          <a:bodyPr lIns="90000" rIns="90000" tIns="45000" bIns="45000" anchor="t">
            <a:noAutofit/>
          </a:bodyPr>
          <a:p>
            <a:pPr>
              <a:lnSpc>
                <a:spcPct val="100000"/>
              </a:lnSpc>
            </a:pPr>
            <a:endParaRPr b="0" lang="es-ES" sz="1400" spc="-1" strike="noStrike">
              <a:solidFill>
                <a:srgbClr val="000000"/>
              </a:solidFill>
              <a:latin typeface="Arial"/>
            </a:endParaRPr>
          </a:p>
        </p:txBody>
      </p:sp>
      <p:pic>
        <p:nvPicPr>
          <p:cNvPr id="204" name="Google Shape;78;g3f4b6d773eb_0_ 3" descr=""/>
          <p:cNvPicPr/>
          <p:nvPr/>
        </p:nvPicPr>
        <p:blipFill>
          <a:blip r:embed="rId1"/>
          <a:srcRect l="0" t="26214" r="0" b="23016"/>
          <a:stretch/>
        </p:blipFill>
        <p:spPr>
          <a:xfrm>
            <a:off x="10038240" y="288360"/>
            <a:ext cx="1940760" cy="530640"/>
          </a:xfrm>
          <a:prstGeom prst="rect">
            <a:avLst/>
          </a:prstGeom>
          <a:ln w="0">
            <a:noFill/>
          </a:ln>
        </p:spPr>
      </p:pic>
      <p:sp>
        <p:nvSpPr>
          <p:cNvPr id="205" name="Google Shape;79;g3f4b6d773eb_0_ 3"/>
          <p:cNvSpPr/>
          <p:nvPr/>
        </p:nvSpPr>
        <p:spPr>
          <a:xfrm>
            <a:off x="168120" y="6538320"/>
            <a:ext cx="299088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Dpt. Analistas de Datos de RRHH</a:t>
            </a:r>
            <a:endParaRPr b="0" lang="es-ES" sz="1200" spc="-1" strike="noStrike">
              <a:solidFill>
                <a:srgbClr val="000000"/>
              </a:solidFill>
              <a:latin typeface="Arial"/>
            </a:endParaRPr>
          </a:p>
        </p:txBody>
      </p:sp>
      <p:sp>
        <p:nvSpPr>
          <p:cNvPr id="206" name="Google Shape;57;p 5"/>
          <p:cNvSpPr/>
          <p:nvPr/>
        </p:nvSpPr>
        <p:spPr>
          <a:xfrm>
            <a:off x="1266120" y="948960"/>
            <a:ext cx="6994440" cy="5400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1" lang="es-ES" sz="1400" spc="-1" strike="noStrike">
                <a:solidFill>
                  <a:srgbClr val="808080"/>
                </a:solidFill>
                <a:latin typeface="Arial"/>
                <a:ea typeface="Arial"/>
              </a:rPr>
              <a:t>Reducir la probabilidad de bajo rendimiento en los escenarios de riesgo</a:t>
            </a:r>
            <a:endParaRPr b="0" lang="es-ES" sz="1400" spc="-1" strike="noStrike">
              <a:solidFill>
                <a:srgbClr val="000000"/>
              </a:solidFill>
              <a:latin typeface="Arial"/>
            </a:endParaRPr>
          </a:p>
        </p:txBody>
      </p:sp>
      <p:sp>
        <p:nvSpPr>
          <p:cNvPr id="207" name=""/>
          <p:cNvSpPr/>
          <p:nvPr/>
        </p:nvSpPr>
        <p:spPr>
          <a:xfrm>
            <a:off x="1243080" y="468000"/>
            <a:ext cx="7144560" cy="444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2800" spc="-1" strike="noStrike">
                <a:solidFill>
                  <a:srgbClr val="142346"/>
                </a:solidFill>
                <a:latin typeface="Calibri"/>
              </a:rPr>
              <a:t>Propuestas organizativas de mejora</a:t>
            </a:r>
            <a:endParaRPr b="0" lang="es-ES" sz="2800" spc="-1" strike="noStrike">
              <a:solidFill>
                <a:srgbClr val="000000"/>
              </a:solidFill>
              <a:latin typeface="Arial"/>
            </a:endParaRPr>
          </a:p>
        </p:txBody>
      </p:sp>
      <p:sp>
        <p:nvSpPr>
          <p:cNvPr id="208" name="Shape 9"/>
          <p:cNvSpPr/>
          <p:nvPr/>
        </p:nvSpPr>
        <p:spPr>
          <a:xfrm>
            <a:off x="675720" y="1924200"/>
            <a:ext cx="3427920" cy="3115440"/>
          </a:xfrm>
          <a:prstGeom prst="roundRect">
            <a:avLst>
              <a:gd name="adj" fmla="val 2133"/>
            </a:avLst>
          </a:prstGeom>
          <a:solidFill>
            <a:srgbClr val="ffffff"/>
          </a:solidFill>
          <a:ln w="12700">
            <a:solidFill>
              <a:srgbClr val="c9cdd3"/>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chemeClr val="dk1"/>
              </a:solidFill>
              <a:latin typeface="Calibri"/>
            </a:endParaRPr>
          </a:p>
        </p:txBody>
      </p:sp>
      <p:sp>
        <p:nvSpPr>
          <p:cNvPr id="209" name="Shape 10"/>
          <p:cNvSpPr/>
          <p:nvPr/>
        </p:nvSpPr>
        <p:spPr>
          <a:xfrm>
            <a:off x="1069920" y="2090880"/>
            <a:ext cx="565920" cy="565920"/>
          </a:xfrm>
          <a:prstGeom prst="ellipse">
            <a:avLst/>
          </a:prstGeom>
          <a:solidFill>
            <a:srgbClr val="e8622c"/>
          </a:solidFill>
          <a:ln w="12700">
            <a:solidFill>
              <a:srgbClr val="e8622c"/>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ffffff"/>
              </a:solidFill>
              <a:latin typeface="Arial"/>
            </a:endParaRPr>
          </a:p>
        </p:txBody>
      </p:sp>
      <p:sp>
        <p:nvSpPr>
          <p:cNvPr id="210" name="Text 17"/>
          <p:cNvSpPr/>
          <p:nvPr/>
        </p:nvSpPr>
        <p:spPr>
          <a:xfrm>
            <a:off x="1069920" y="2090880"/>
            <a:ext cx="565920" cy="565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pc="-1" strike="noStrike">
                <a:solidFill>
                  <a:srgbClr val="ffffff"/>
                </a:solidFill>
                <a:latin typeface="Cambria"/>
                <a:ea typeface="Cambria"/>
              </a:rPr>
              <a:t>1</a:t>
            </a:r>
            <a:endParaRPr b="0" lang="es-ES" sz="2400" spc="-1" strike="noStrike">
              <a:solidFill>
                <a:srgbClr val="000000"/>
              </a:solidFill>
              <a:latin typeface="Arial"/>
            </a:endParaRPr>
          </a:p>
        </p:txBody>
      </p:sp>
      <p:sp>
        <p:nvSpPr>
          <p:cNvPr id="211" name="Text 18"/>
          <p:cNvSpPr/>
          <p:nvPr/>
        </p:nvSpPr>
        <p:spPr>
          <a:xfrm>
            <a:off x="1051560" y="2874240"/>
            <a:ext cx="2879280" cy="593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pc="-1" strike="noStrike">
                <a:solidFill>
                  <a:srgbClr val="1b2a38"/>
                </a:solidFill>
                <a:latin typeface="Cambria"/>
                <a:ea typeface="Cambria"/>
              </a:rPr>
              <a:t>Análisis de procesos productivos</a:t>
            </a:r>
            <a:endParaRPr b="0" lang="es-ES" sz="1800" spc="-1" strike="noStrike">
              <a:solidFill>
                <a:srgbClr val="000000"/>
              </a:solidFill>
              <a:latin typeface="Arial"/>
            </a:endParaRPr>
          </a:p>
          <a:p>
            <a:pPr defTabSz="914400">
              <a:lnSpc>
                <a:spcPct val="100000"/>
              </a:lnSpc>
              <a:tabLst>
                <a:tab algn="l" pos="0"/>
              </a:tabLst>
            </a:pPr>
            <a:endParaRPr b="0" lang="es-ES" sz="1800" spc="-1" strike="noStrike">
              <a:solidFill>
                <a:srgbClr val="000000"/>
              </a:solidFill>
              <a:latin typeface="Arial"/>
            </a:endParaRPr>
          </a:p>
        </p:txBody>
      </p:sp>
      <p:sp>
        <p:nvSpPr>
          <p:cNvPr id="212" name="Text 22"/>
          <p:cNvSpPr/>
          <p:nvPr/>
        </p:nvSpPr>
        <p:spPr>
          <a:xfrm>
            <a:off x="1051560" y="3358800"/>
            <a:ext cx="3068640" cy="830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600" spc="-1" strike="noStrike">
                <a:solidFill>
                  <a:srgbClr val="3a3f4b"/>
                </a:solidFill>
                <a:latin typeface="Calibri"/>
                <a:ea typeface="Calibri"/>
              </a:rPr>
              <a:t>Encontrar tareas ineficientes o de alto costo para simplificarlas, automatizarlas o redistruibuirlas.</a:t>
            </a:r>
            <a:endParaRPr b="0" lang="es-ES" sz="1600" spc="-1" strike="noStrike">
              <a:solidFill>
                <a:srgbClr val="000000"/>
              </a:solidFill>
              <a:latin typeface="Arial"/>
            </a:endParaRPr>
          </a:p>
        </p:txBody>
      </p:sp>
      <p:sp>
        <p:nvSpPr>
          <p:cNvPr id="213" name="Shape 11"/>
          <p:cNvSpPr/>
          <p:nvPr/>
        </p:nvSpPr>
        <p:spPr>
          <a:xfrm>
            <a:off x="1051560" y="4235760"/>
            <a:ext cx="2880360" cy="360"/>
          </a:xfrm>
          <a:prstGeom prst="line">
            <a:avLst/>
          </a:prstGeom>
          <a:ln w="12700">
            <a:solidFill>
              <a:srgbClr val="e4e7eb"/>
            </a:solidFill>
            <a:round/>
          </a:ln>
        </p:spPr>
        <p:style>
          <a:lnRef idx="0"/>
          <a:fillRef idx="0"/>
          <a:effectRef idx="0"/>
          <a:fontRef idx="minor"/>
        </p:style>
        <p:txBody>
          <a:bodyPr lIns="90000" rIns="90000" tIns="-44640" bIns="-44640" anchor="t" anchorCtr="1">
            <a:noAutofit/>
          </a:bodyPr>
          <a:p>
            <a:endParaRPr b="0" lang="es-ES" sz="1800" spc="-1" strike="noStrike">
              <a:solidFill>
                <a:srgbClr val="000000"/>
              </a:solidFill>
              <a:latin typeface="Arial"/>
            </a:endParaRPr>
          </a:p>
        </p:txBody>
      </p:sp>
      <p:sp>
        <p:nvSpPr>
          <p:cNvPr id="214" name="Shape 14"/>
          <p:cNvSpPr/>
          <p:nvPr/>
        </p:nvSpPr>
        <p:spPr>
          <a:xfrm>
            <a:off x="1771560" y="2204640"/>
            <a:ext cx="1233360" cy="327960"/>
          </a:xfrm>
          <a:prstGeom prst="roundRect">
            <a:avLst>
              <a:gd name="adj" fmla="val 50000"/>
            </a:avLst>
          </a:prstGeom>
          <a:solidFill>
            <a:srgbClr val="fdeee6"/>
          </a:solidFill>
          <a:ln w="9525">
            <a:solidFill>
              <a:srgbClr val="e8622c"/>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sp>
        <p:nvSpPr>
          <p:cNvPr id="215" name="Text 23"/>
          <p:cNvSpPr/>
          <p:nvPr/>
        </p:nvSpPr>
        <p:spPr>
          <a:xfrm>
            <a:off x="1800000" y="2191680"/>
            <a:ext cx="1233360" cy="327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50" spc="-1" strike="noStrike">
                <a:solidFill>
                  <a:srgbClr val="e8622c"/>
                </a:solidFill>
                <a:latin typeface="Calibri"/>
                <a:ea typeface="Calibri"/>
              </a:rPr>
              <a:t>Prioridad alta</a:t>
            </a:r>
            <a:endParaRPr b="0" lang="es-ES" sz="1050" spc="-1" strike="noStrike">
              <a:solidFill>
                <a:srgbClr val="000000"/>
              </a:solidFill>
              <a:latin typeface="Arial"/>
            </a:endParaRPr>
          </a:p>
        </p:txBody>
      </p:sp>
      <p:sp>
        <p:nvSpPr>
          <p:cNvPr id="216" name="Text 27"/>
          <p:cNvSpPr/>
          <p:nvPr/>
        </p:nvSpPr>
        <p:spPr>
          <a:xfrm>
            <a:off x="1051560" y="4281840"/>
            <a:ext cx="2879280" cy="492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1b2a38"/>
                </a:solidFill>
                <a:latin typeface="Calibri"/>
                <a:ea typeface="Calibri"/>
              </a:rPr>
              <a:t>Coste: </a:t>
            </a:r>
            <a:r>
              <a:rPr b="0" lang="en-US" sz="1400" spc="-1" strike="noStrike">
                <a:solidFill>
                  <a:srgbClr val="1b2a38"/>
                </a:solidFill>
                <a:latin typeface="Calibri"/>
                <a:ea typeface="Calibri"/>
              </a:rPr>
              <a:t>50.000€</a:t>
            </a:r>
            <a:endParaRPr b="0" lang="es-ES" sz="1400" spc="-1" strike="noStrike">
              <a:solidFill>
                <a:srgbClr val="000000"/>
              </a:solidFill>
              <a:latin typeface="Arial"/>
            </a:endParaRPr>
          </a:p>
        </p:txBody>
      </p:sp>
      <p:sp>
        <p:nvSpPr>
          <p:cNvPr id="217" name="Shape 15"/>
          <p:cNvSpPr/>
          <p:nvPr/>
        </p:nvSpPr>
        <p:spPr>
          <a:xfrm>
            <a:off x="4432320" y="1937880"/>
            <a:ext cx="3552480" cy="3101760"/>
          </a:xfrm>
          <a:prstGeom prst="roundRect">
            <a:avLst>
              <a:gd name="adj" fmla="val 2133"/>
            </a:avLst>
          </a:prstGeom>
          <a:solidFill>
            <a:srgbClr val="ffffff"/>
          </a:solidFill>
          <a:ln w="12700">
            <a:solidFill>
              <a:srgbClr val="c9cdd3"/>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chemeClr val="dk1"/>
              </a:solidFill>
              <a:latin typeface="Calibri"/>
            </a:endParaRPr>
          </a:p>
        </p:txBody>
      </p:sp>
      <p:sp>
        <p:nvSpPr>
          <p:cNvPr id="218" name="Shape 16"/>
          <p:cNvSpPr/>
          <p:nvPr/>
        </p:nvSpPr>
        <p:spPr>
          <a:xfrm>
            <a:off x="4754880" y="2090880"/>
            <a:ext cx="565920" cy="565920"/>
          </a:xfrm>
          <a:prstGeom prst="ellipse">
            <a:avLst/>
          </a:prstGeom>
          <a:solidFill>
            <a:srgbClr val="e8622c"/>
          </a:solidFill>
          <a:ln w="12700">
            <a:solidFill>
              <a:srgbClr val="e8622c"/>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ffffff"/>
              </a:solidFill>
              <a:latin typeface="Arial"/>
            </a:endParaRPr>
          </a:p>
        </p:txBody>
      </p:sp>
      <p:sp>
        <p:nvSpPr>
          <p:cNvPr id="219" name="Text 28"/>
          <p:cNvSpPr/>
          <p:nvPr/>
        </p:nvSpPr>
        <p:spPr>
          <a:xfrm>
            <a:off x="4754880" y="2090880"/>
            <a:ext cx="565920" cy="565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pc="-1" strike="noStrike">
                <a:solidFill>
                  <a:srgbClr val="ffffff"/>
                </a:solidFill>
                <a:latin typeface="Cambria"/>
                <a:ea typeface="Cambria"/>
              </a:rPr>
              <a:t>2</a:t>
            </a:r>
            <a:endParaRPr b="0" lang="es-ES" sz="2400" spc="-1" strike="noStrike">
              <a:solidFill>
                <a:srgbClr val="000000"/>
              </a:solidFill>
              <a:latin typeface="Arial"/>
            </a:endParaRPr>
          </a:p>
        </p:txBody>
      </p:sp>
      <p:sp>
        <p:nvSpPr>
          <p:cNvPr id="220" name="Text 32"/>
          <p:cNvSpPr/>
          <p:nvPr/>
        </p:nvSpPr>
        <p:spPr>
          <a:xfrm>
            <a:off x="4773960" y="2658240"/>
            <a:ext cx="3135240" cy="565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pc="-1" strike="noStrike">
                <a:solidFill>
                  <a:srgbClr val="1b2a38"/>
                </a:solidFill>
                <a:latin typeface="Cambria"/>
                <a:ea typeface="Cambria"/>
              </a:rPr>
              <a:t>Coaching laboral</a:t>
            </a:r>
            <a:endParaRPr b="0" lang="es-ES" sz="1800" spc="-1" strike="noStrike">
              <a:solidFill>
                <a:srgbClr val="000000"/>
              </a:solidFill>
              <a:latin typeface="Arial"/>
            </a:endParaRPr>
          </a:p>
        </p:txBody>
      </p:sp>
      <p:sp>
        <p:nvSpPr>
          <p:cNvPr id="221" name="Text 33"/>
          <p:cNvSpPr/>
          <p:nvPr/>
        </p:nvSpPr>
        <p:spPr>
          <a:xfrm>
            <a:off x="4701960" y="3279600"/>
            <a:ext cx="2879280" cy="975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600" spc="-1" strike="noStrike">
                <a:solidFill>
                  <a:srgbClr val="3a3f4b"/>
                </a:solidFill>
                <a:latin typeface="Calibri"/>
                <a:ea typeface="Calibri"/>
              </a:rPr>
              <a:t>Talleres formativos para potenciar las capacidades laborales</a:t>
            </a:r>
            <a:endParaRPr b="0" lang="es-ES" sz="1600" spc="-1" strike="noStrike">
              <a:solidFill>
                <a:srgbClr val="000000"/>
              </a:solidFill>
              <a:latin typeface="Arial"/>
            </a:endParaRPr>
          </a:p>
        </p:txBody>
      </p:sp>
      <p:sp>
        <p:nvSpPr>
          <p:cNvPr id="222" name="Shape 19"/>
          <p:cNvSpPr/>
          <p:nvPr/>
        </p:nvSpPr>
        <p:spPr>
          <a:xfrm>
            <a:off x="4736520" y="4235760"/>
            <a:ext cx="2880360" cy="360"/>
          </a:xfrm>
          <a:prstGeom prst="line">
            <a:avLst/>
          </a:prstGeom>
          <a:ln w="12700">
            <a:solidFill>
              <a:srgbClr val="e4e7eb"/>
            </a:solidFill>
            <a:round/>
          </a:ln>
        </p:spPr>
        <p:style>
          <a:lnRef idx="0"/>
          <a:fillRef idx="0"/>
          <a:effectRef idx="0"/>
          <a:fontRef idx="minor"/>
        </p:style>
        <p:txBody>
          <a:bodyPr lIns="90000" rIns="90000" tIns="-44640" bIns="-44640" anchor="t" anchorCtr="1">
            <a:noAutofit/>
          </a:bodyPr>
          <a:p>
            <a:endParaRPr b="0" lang="es-ES" sz="1800" spc="-1" strike="noStrike">
              <a:solidFill>
                <a:srgbClr val="000000"/>
              </a:solidFill>
              <a:latin typeface="Arial"/>
            </a:endParaRPr>
          </a:p>
        </p:txBody>
      </p:sp>
      <p:sp>
        <p:nvSpPr>
          <p:cNvPr id="223" name="Shape 25"/>
          <p:cNvSpPr/>
          <p:nvPr/>
        </p:nvSpPr>
        <p:spPr>
          <a:xfrm>
            <a:off x="5420520" y="2204640"/>
            <a:ext cx="1233360" cy="327960"/>
          </a:xfrm>
          <a:prstGeom prst="roundRect">
            <a:avLst>
              <a:gd name="adj" fmla="val 50000"/>
            </a:avLst>
          </a:prstGeom>
          <a:solidFill>
            <a:srgbClr val="fdeee6"/>
          </a:solidFill>
          <a:ln w="9525">
            <a:solidFill>
              <a:srgbClr val="e8622c"/>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sp>
        <p:nvSpPr>
          <p:cNvPr id="224" name="Text 34"/>
          <p:cNvSpPr/>
          <p:nvPr/>
        </p:nvSpPr>
        <p:spPr>
          <a:xfrm>
            <a:off x="5420520" y="2204640"/>
            <a:ext cx="1233360" cy="327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50" spc="-1" strike="noStrike">
                <a:solidFill>
                  <a:srgbClr val="e8622c"/>
                </a:solidFill>
                <a:latin typeface="Calibri"/>
                <a:ea typeface="Calibri"/>
              </a:rPr>
              <a:t>Prioridad alta</a:t>
            </a:r>
            <a:endParaRPr b="0" lang="es-ES" sz="1050" spc="-1" strike="noStrike">
              <a:solidFill>
                <a:srgbClr val="000000"/>
              </a:solidFill>
              <a:latin typeface="Arial"/>
            </a:endParaRPr>
          </a:p>
        </p:txBody>
      </p:sp>
      <p:sp>
        <p:nvSpPr>
          <p:cNvPr id="225" name="Text 35"/>
          <p:cNvSpPr/>
          <p:nvPr/>
        </p:nvSpPr>
        <p:spPr>
          <a:xfrm>
            <a:off x="4736520" y="4353840"/>
            <a:ext cx="294588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1b2a38"/>
                </a:solidFill>
                <a:latin typeface="Calibri"/>
                <a:ea typeface="Calibri"/>
              </a:rPr>
              <a:t>Coste: </a:t>
            </a:r>
            <a:r>
              <a:rPr b="0" lang="en-US" sz="1400" spc="-1" strike="noStrike">
                <a:solidFill>
                  <a:srgbClr val="1b2a38"/>
                </a:solidFill>
                <a:latin typeface="Calibri"/>
                <a:ea typeface="Calibri"/>
              </a:rPr>
              <a:t>1.500€ por taller</a:t>
            </a:r>
            <a:endParaRPr b="0" lang="es-ES" sz="1400" spc="-1" strike="noStrike">
              <a:solidFill>
                <a:srgbClr val="000000"/>
              </a:solidFill>
              <a:latin typeface="Arial"/>
            </a:endParaRPr>
          </a:p>
        </p:txBody>
      </p:sp>
      <p:sp>
        <p:nvSpPr>
          <p:cNvPr id="226" name="Shape 26"/>
          <p:cNvSpPr/>
          <p:nvPr/>
        </p:nvSpPr>
        <p:spPr>
          <a:xfrm>
            <a:off x="8239320" y="1928520"/>
            <a:ext cx="3552480" cy="3111120"/>
          </a:xfrm>
          <a:prstGeom prst="roundRect">
            <a:avLst>
              <a:gd name="adj" fmla="val 2133"/>
            </a:avLst>
          </a:prstGeom>
          <a:solidFill>
            <a:srgbClr val="ffffff"/>
          </a:solidFill>
          <a:ln w="12700">
            <a:solidFill>
              <a:srgbClr val="c9cdd3"/>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chemeClr val="dk1"/>
              </a:solidFill>
              <a:latin typeface="Calibri"/>
            </a:endParaRPr>
          </a:p>
        </p:txBody>
      </p:sp>
      <p:sp>
        <p:nvSpPr>
          <p:cNvPr id="227" name="Shape 27"/>
          <p:cNvSpPr/>
          <p:nvPr/>
        </p:nvSpPr>
        <p:spPr>
          <a:xfrm>
            <a:off x="8439840" y="2090880"/>
            <a:ext cx="565920" cy="565920"/>
          </a:xfrm>
          <a:prstGeom prst="ellipse">
            <a:avLst/>
          </a:prstGeom>
          <a:solidFill>
            <a:srgbClr val="d9a400"/>
          </a:solidFill>
          <a:ln w="12700">
            <a:solidFill>
              <a:srgbClr val="d9a400"/>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sp>
        <p:nvSpPr>
          <p:cNvPr id="228" name="Text 36"/>
          <p:cNvSpPr/>
          <p:nvPr/>
        </p:nvSpPr>
        <p:spPr>
          <a:xfrm>
            <a:off x="8439840" y="2090880"/>
            <a:ext cx="565920" cy="565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pc="-1" strike="noStrike">
                <a:solidFill>
                  <a:srgbClr val="ffffff"/>
                </a:solidFill>
                <a:latin typeface="Cambria"/>
                <a:ea typeface="Cambria"/>
              </a:rPr>
              <a:t>3</a:t>
            </a:r>
            <a:endParaRPr b="0" lang="es-ES" sz="2400" spc="-1" strike="noStrike">
              <a:solidFill>
                <a:srgbClr val="000000"/>
              </a:solidFill>
              <a:latin typeface="Arial"/>
            </a:endParaRPr>
          </a:p>
        </p:txBody>
      </p:sp>
      <p:sp>
        <p:nvSpPr>
          <p:cNvPr id="229" name="Text 37"/>
          <p:cNvSpPr/>
          <p:nvPr/>
        </p:nvSpPr>
        <p:spPr>
          <a:xfrm>
            <a:off x="8421480" y="2622240"/>
            <a:ext cx="3255120" cy="593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endParaRPr b="0" lang="es-ES" sz="1800" spc="-1" strike="noStrike">
              <a:solidFill>
                <a:srgbClr val="000000"/>
              </a:solidFill>
              <a:latin typeface="Arial"/>
            </a:endParaRPr>
          </a:p>
        </p:txBody>
      </p:sp>
      <p:sp>
        <p:nvSpPr>
          <p:cNvPr id="230" name="Text 39"/>
          <p:cNvSpPr/>
          <p:nvPr/>
        </p:nvSpPr>
        <p:spPr>
          <a:xfrm>
            <a:off x="8410320" y="3644280"/>
            <a:ext cx="3277800" cy="520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600" spc="-1" strike="noStrike">
                <a:solidFill>
                  <a:srgbClr val="3a3f4b"/>
                </a:solidFill>
                <a:latin typeface="Calibri"/>
                <a:ea typeface="Calibri"/>
              </a:rPr>
              <a:t>Cuandrantes  con antelación.</a:t>
            </a:r>
            <a:endParaRPr b="0" lang="es-ES" sz="1600" spc="-1" strike="noStrike">
              <a:solidFill>
                <a:srgbClr val="000000"/>
              </a:solidFill>
              <a:latin typeface="Arial"/>
            </a:endParaRPr>
          </a:p>
          <a:p>
            <a:pPr defTabSz="914400">
              <a:lnSpc>
                <a:spcPct val="100000"/>
              </a:lnSpc>
              <a:tabLst>
                <a:tab algn="l" pos="0"/>
              </a:tabLst>
            </a:pPr>
            <a:r>
              <a:rPr b="0" lang="en-US" sz="1600" spc="-1" strike="noStrike">
                <a:solidFill>
                  <a:srgbClr val="3a3f4b"/>
                </a:solidFill>
                <a:latin typeface="Calibri"/>
                <a:ea typeface="Calibri"/>
              </a:rPr>
              <a:t>Asignación al centro o ruta más cercana.</a:t>
            </a:r>
            <a:endParaRPr b="0" lang="es-ES" sz="1600" spc="-1" strike="noStrike">
              <a:solidFill>
                <a:srgbClr val="000000"/>
              </a:solidFill>
              <a:latin typeface="Arial"/>
            </a:endParaRPr>
          </a:p>
          <a:p>
            <a:pPr defTabSz="914400">
              <a:lnSpc>
                <a:spcPct val="100000"/>
              </a:lnSpc>
              <a:tabLst>
                <a:tab algn="l" pos="0"/>
              </a:tabLst>
            </a:pPr>
            <a:endParaRPr b="0" lang="es-ES" sz="1600" spc="-1" strike="noStrike">
              <a:solidFill>
                <a:srgbClr val="000000"/>
              </a:solidFill>
              <a:latin typeface="Arial"/>
            </a:endParaRPr>
          </a:p>
        </p:txBody>
      </p:sp>
      <p:sp>
        <p:nvSpPr>
          <p:cNvPr id="231" name="Shape 28"/>
          <p:cNvSpPr/>
          <p:nvPr/>
        </p:nvSpPr>
        <p:spPr>
          <a:xfrm>
            <a:off x="8421480" y="4235760"/>
            <a:ext cx="2880360" cy="360"/>
          </a:xfrm>
          <a:prstGeom prst="line">
            <a:avLst/>
          </a:prstGeom>
          <a:ln w="12700">
            <a:solidFill>
              <a:srgbClr val="e4e7eb"/>
            </a:solidFill>
            <a:round/>
          </a:ln>
        </p:spPr>
        <p:style>
          <a:lnRef idx="0"/>
          <a:fillRef idx="0"/>
          <a:effectRef idx="0"/>
          <a:fontRef idx="minor"/>
        </p:style>
        <p:txBody>
          <a:bodyPr lIns="90000" rIns="90000" tIns="-44640" bIns="-44640" anchor="t" anchorCtr="1">
            <a:noAutofit/>
          </a:bodyPr>
          <a:p>
            <a:endParaRPr b="0" lang="es-ES" sz="1800" spc="-1" strike="noStrike">
              <a:solidFill>
                <a:srgbClr val="000000"/>
              </a:solidFill>
              <a:latin typeface="Arial"/>
            </a:endParaRPr>
          </a:p>
        </p:txBody>
      </p:sp>
      <p:sp>
        <p:nvSpPr>
          <p:cNvPr id="232" name="Shape 29"/>
          <p:cNvSpPr/>
          <p:nvPr/>
        </p:nvSpPr>
        <p:spPr>
          <a:xfrm>
            <a:off x="9141480" y="2204640"/>
            <a:ext cx="1416240" cy="327960"/>
          </a:xfrm>
          <a:prstGeom prst="roundRect">
            <a:avLst>
              <a:gd name="adj" fmla="val 50000"/>
            </a:avLst>
          </a:prstGeom>
          <a:solidFill>
            <a:srgbClr val="fbf6e3"/>
          </a:solidFill>
          <a:ln w="9525">
            <a:solidFill>
              <a:srgbClr val="d9a400"/>
            </a:solidFill>
            <a:round/>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sp>
        <p:nvSpPr>
          <p:cNvPr id="233" name="Text 40"/>
          <p:cNvSpPr/>
          <p:nvPr/>
        </p:nvSpPr>
        <p:spPr>
          <a:xfrm>
            <a:off x="9141480" y="2204640"/>
            <a:ext cx="1416240" cy="327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50" spc="-1" strike="noStrike">
                <a:solidFill>
                  <a:srgbClr val="d9a400"/>
                </a:solidFill>
                <a:latin typeface="Calibri"/>
                <a:ea typeface="Calibri"/>
              </a:rPr>
              <a:t>Prioridad media</a:t>
            </a:r>
            <a:endParaRPr b="0" lang="es-ES" sz="1050" spc="-1" strike="noStrike">
              <a:solidFill>
                <a:srgbClr val="000000"/>
              </a:solidFill>
              <a:latin typeface="Arial"/>
            </a:endParaRPr>
          </a:p>
        </p:txBody>
      </p:sp>
      <p:sp>
        <p:nvSpPr>
          <p:cNvPr id="234" name="Text 41"/>
          <p:cNvSpPr/>
          <p:nvPr/>
        </p:nvSpPr>
        <p:spPr>
          <a:xfrm>
            <a:off x="8421480" y="4353840"/>
            <a:ext cx="310248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1b2a38"/>
                </a:solidFill>
                <a:latin typeface="Calibri"/>
                <a:ea typeface="Calibri"/>
              </a:rPr>
              <a:t>Coste: </a:t>
            </a:r>
            <a:r>
              <a:rPr b="0" lang="en-US" sz="1400" spc="-1" strike="noStrike">
                <a:solidFill>
                  <a:srgbClr val="1b2a38"/>
                </a:solidFill>
                <a:latin typeface="Calibri"/>
                <a:ea typeface="Calibri"/>
              </a:rPr>
              <a:t>5.000€ </a:t>
            </a:r>
            <a:endParaRPr b="0" lang="es-ES" sz="1400" spc="-1" strike="noStrike">
              <a:solidFill>
                <a:srgbClr val="000000"/>
              </a:solidFill>
              <a:latin typeface="Arial"/>
            </a:endParaRPr>
          </a:p>
        </p:txBody>
      </p:sp>
      <p:sp>
        <p:nvSpPr>
          <p:cNvPr id="235" name="Text 42"/>
          <p:cNvSpPr/>
          <p:nvPr/>
        </p:nvSpPr>
        <p:spPr>
          <a:xfrm>
            <a:off x="8409960" y="2658240"/>
            <a:ext cx="3135240" cy="565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pc="-1" strike="noStrike">
                <a:solidFill>
                  <a:srgbClr val="1b2a38"/>
                </a:solidFill>
                <a:latin typeface="Cambria"/>
                <a:ea typeface="Cambria"/>
              </a:rPr>
              <a:t>Flexibilidad y conciliación</a:t>
            </a:r>
            <a:endParaRPr b="0" lang="es-ES" sz="1800" spc="-1" strike="noStrike">
              <a:solidFill>
                <a:srgbClr val="000000"/>
              </a:solidFill>
              <a:latin typeface="Arial"/>
            </a:endParaRPr>
          </a:p>
        </p:txBody>
      </p:sp>
      <p:sp>
        <p:nvSpPr>
          <p:cNvPr id="236" name="Google Shape;39;p 14"/>
          <p:cNvSpPr/>
          <p:nvPr/>
        </p:nvSpPr>
        <p:spPr>
          <a:xfrm>
            <a:off x="2742840" y="6538320"/>
            <a:ext cx="1389600" cy="310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es-ES" sz="1200" spc="-1" strike="noStrike">
                <a:solidFill>
                  <a:srgbClr val="6b7280"/>
                </a:solidFill>
                <a:latin typeface="Arial"/>
                <a:ea typeface="Arial"/>
              </a:rPr>
              <a:t>- 20 Julio 2026</a:t>
            </a:r>
            <a:endParaRPr b="0" lang="es-E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37" name="Imagen 258" descr=""/>
          <p:cNvPicPr/>
          <p:nvPr/>
        </p:nvPicPr>
        <p:blipFill>
          <a:blip r:embed="rId1"/>
          <a:stretch/>
        </p:blipFill>
        <p:spPr>
          <a:xfrm>
            <a:off x="5580000" y="-13680"/>
            <a:ext cx="6610320" cy="6526800"/>
          </a:xfrm>
          <a:prstGeom prst="rect">
            <a:avLst/>
          </a:prstGeom>
          <a:ln w="0">
            <a:noFill/>
          </a:ln>
        </p:spPr>
      </p:pic>
      <p:sp>
        <p:nvSpPr>
          <p:cNvPr id="238" name="Shape 20"/>
          <p:cNvSpPr/>
          <p:nvPr/>
        </p:nvSpPr>
        <p:spPr>
          <a:xfrm>
            <a:off x="0" y="6519600"/>
            <a:ext cx="12184920" cy="349920"/>
          </a:xfrm>
          <a:prstGeom prst="rect">
            <a:avLst/>
          </a:prstGeom>
          <a:solidFill>
            <a:srgbClr val="ff8a00"/>
          </a:solidFill>
          <a:ln w="0">
            <a:noFill/>
          </a:ln>
        </p:spPr>
        <p:style>
          <a:lnRef idx="0"/>
          <a:fillRef idx="0"/>
          <a:effectRef idx="0"/>
          <a:fontRef idx="minor"/>
        </p:style>
        <p:txBody>
          <a:bodyPr lIns="90000" rIns="90000" tIns="45000" bIns="45000" anchor="t">
            <a:noAutofit/>
          </a:bodyPr>
          <a:p>
            <a:pPr defTabSz="914400">
              <a:lnSpc>
                <a:spcPct val="100000"/>
              </a:lnSpc>
            </a:pPr>
            <a:endParaRPr b="0" lang="es-ES" sz="1800" spc="-1" strike="noStrike">
              <a:solidFill>
                <a:srgbClr val="000000"/>
              </a:solidFill>
              <a:latin typeface="Arial"/>
              <a:ea typeface="DejaVu Sans"/>
            </a:endParaRPr>
          </a:p>
        </p:txBody>
      </p:sp>
      <p:sp>
        <p:nvSpPr>
          <p:cNvPr id="239" name="Text 20"/>
          <p:cNvSpPr/>
          <p:nvPr/>
        </p:nvSpPr>
        <p:spPr>
          <a:xfrm>
            <a:off x="1116000" y="3744000"/>
            <a:ext cx="1973520" cy="8532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s-ES" sz="1400" spc="-1" strike="noStrike">
                <a:solidFill>
                  <a:srgbClr val="6b7280"/>
                </a:solidFill>
                <a:latin typeface="Aptos"/>
                <a:ea typeface="DejaVu Sans"/>
              </a:rPr>
              <a:t>Julio 2026</a:t>
            </a:r>
            <a:endParaRPr b="0" lang="es-ES" sz="1400" spc="-1" strike="noStrike">
              <a:solidFill>
                <a:srgbClr val="000000"/>
              </a:solidFill>
              <a:latin typeface="Arial"/>
            </a:endParaRPr>
          </a:p>
        </p:txBody>
      </p:sp>
      <p:pic>
        <p:nvPicPr>
          <p:cNvPr id="240" name="Imagen 262" descr=""/>
          <p:cNvPicPr/>
          <p:nvPr/>
        </p:nvPicPr>
        <p:blipFill>
          <a:blip r:embed="rId2"/>
          <a:srcRect l="0" t="26241" r="0" b="23016"/>
          <a:stretch/>
        </p:blipFill>
        <p:spPr>
          <a:xfrm>
            <a:off x="216000" y="360360"/>
            <a:ext cx="1943280" cy="533160"/>
          </a:xfrm>
          <a:prstGeom prst="rect">
            <a:avLst/>
          </a:prstGeom>
          <a:ln w="0">
            <a:noFill/>
          </a:ln>
        </p:spPr>
      </p:pic>
      <p:sp>
        <p:nvSpPr>
          <p:cNvPr id="241" name="Text 21"/>
          <p:cNvSpPr/>
          <p:nvPr/>
        </p:nvSpPr>
        <p:spPr>
          <a:xfrm>
            <a:off x="1104120" y="3420000"/>
            <a:ext cx="3353400" cy="53352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s-ES" sz="1500" spc="-1" strike="noStrike">
                <a:solidFill>
                  <a:srgbClr val="6b7280"/>
                </a:solidFill>
                <a:latin typeface="Aptos"/>
                <a:ea typeface="DejaVu Sans"/>
              </a:rPr>
              <a:t>Dpt. Analistas de Datos de RRHH</a:t>
            </a:r>
            <a:endParaRPr b="0" lang="es-E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461</TotalTime>
  <Application>LibreOffice/24.2.3.2$Windows_X86_64 LibreOffice_project/433d9c2ded56988e8a90e6b2e771ee4e6a5ab2ba</Application>
  <AppVersion>15.0000</AppVersion>
  <Words>1830</Words>
  <Paragraphs>314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2026-07-04T17:08:40Z</dcterms:created>
  <dc:creator/>
  <dc:description/>
  <dc:language>es-ES</dc:language>
  <cp:lastModifiedBy/>
  <dcterms:modified xsi:type="dcterms:W3CDTF">2026-07-16T16:26:16Z</dcterms:modified>
  <cp:revision>59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6</vt:i4>
  </property>
  <property fmtid="{D5CDD505-2E9C-101B-9397-08002B2CF9AE}" pid="3" name="Notes">
    <vt:i4>3</vt:i4>
  </property>
  <property fmtid="{D5CDD505-2E9C-101B-9397-08002B2CF9AE}" pid="4" name="PresentationFormat">
    <vt:lpwstr>Panorámica</vt:lpwstr>
  </property>
  <property fmtid="{D5CDD505-2E9C-101B-9397-08002B2CF9AE}" pid="5" name="Slides">
    <vt:i4>19</vt:i4>
  </property>
</Properties>
</file>