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1B70EF6-D4E1-48BE-A98D-51A514D36E2F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Por que hemos elegido p75 para el corte considerado alto absentismo? Y no un número fijo tipo los que faltan más de 1 semana (+40h)?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88FCAA-3CDE-4C51-9B7A-863B87348111}" type="slidenum">
              <a:rPr b="0" lang="es-E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6796e6"/>
                </a:solidFill>
                <a:latin typeface="Consolas"/>
              </a:rPr>
              <a:t>-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Con los datos disponibles no se puede identificar un perfil de riesgo significativo a nivel estadístico. 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6796e6"/>
                </a:solidFill>
                <a:latin typeface="Consolas"/>
              </a:rPr>
              <a:t>-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El modelo de regresión logística muestra 1 sola variable con asociación significativa (p &lt; 0.05): 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`distance_residence_work`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El modelo de regresión logística permite identificar qué características están asociadas con una mayor probabilidad de pertenecer al grupo de absentismo elevado, controlando el efecto del resto de variables.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br>
              <a:rPr sz="2000"/>
            </a:b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Las variables con OR más alejado de 1 son las que presentan mayor asociación con el absentismo alto. Sin embargo, dado el tamaño muestral (136 empleados), ninguna variable alcanza significación estadística (p &lt; 0.05), lo que indica que el modelo no puede hacer afirmaciones concluyentes con los datos disponibles.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br>
              <a:rPr sz="2000"/>
            </a:b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Como </a:t>
            </a:r>
            <a:r>
              <a:rPr b="1" lang="es-ES" sz="2000" spc="-1" strike="noStrike">
                <a:solidFill>
                  <a:srgbClr val="569cd6"/>
                </a:solidFill>
                <a:latin typeface="Consolas"/>
              </a:rPr>
              <a:t>**tendencias**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(no conclusiones definitivas), las variables que muestran mayor OR positivo —es decir, mayor asociación con el absentismo elevado— son el número de hijos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`Son`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), ser fumador social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`Social_Smoker`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), ser bebedor social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`Social_Drinker`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 y la edad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`Age`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). Por el contrario, variables como 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`Hit_Target`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o 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`Distance_Residence_Work`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muestran OR cercano a 1, lo que indica escasa asociación con el absentismo en este dataset.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br>
              <a:rPr sz="2000"/>
            </a:br>
            <a:r>
              <a:rPr b="1" lang="es-ES" sz="2000" spc="-1" strike="noStrike">
                <a:solidFill>
                  <a:srgbClr val="569cd6"/>
                </a:solidFill>
                <a:latin typeface="Consolas"/>
              </a:rPr>
              <a:t>**Importante:**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estas asociaciones no implican causalidad. Un OR &gt; 1 no significa que esa característica </a:t>
            </a:r>
            <a:r>
              <a:rPr b="0" i="1" lang="es-ES" sz="2000" spc="-1" strike="noStrike">
                <a:solidFill>
                  <a:srgbClr val="c586c0"/>
                </a:solidFill>
                <a:latin typeface="Consolas"/>
              </a:rPr>
              <a:t>*cause*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el absentismo, sino que los empleados con esa característica tienen, en promedio, mayor probabilidad de pertenecer al cuartil superior de ausencias.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1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BF58D9-C5D5-49CF-A357-D9697495520F}" type="slidenum">
              <a:rPr b="0" lang="es-E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6796e6"/>
                </a:solidFill>
                <a:latin typeface="Consolas"/>
              </a:rPr>
              <a:t>-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Con los datos disponibles no se puede identificar un perfil de riesgo significativo a nivel estadístico. 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6796e6"/>
                </a:solidFill>
                <a:latin typeface="Consolas"/>
              </a:rPr>
              <a:t>-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El modelo de regresión logística muestra 1 sola variable con asociación significativa (p &lt; 0.05): 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`distance_residence_work`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El modelo de regresión logística permite identificar qué características están asociadas con una mayor probabilidad de pertenecer al grupo de absentismo elevado, controlando el efecto del resto de variables.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br>
              <a:rPr sz="2000"/>
            </a:b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Las variables con OR más alejado de 1 son las que presentan mayor asociación con el absentismo alto. Sin embargo, dado el tamaño muestral (136 empleados), ninguna variable alcanza significación estadística (p &lt; 0.05), lo que indica que el modelo no puede hacer afirmaciones concluyentes con los datos disponibles.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br>
              <a:rPr sz="2000"/>
            </a:b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Como </a:t>
            </a:r>
            <a:r>
              <a:rPr b="1" lang="es-ES" sz="2000" spc="-1" strike="noStrike">
                <a:solidFill>
                  <a:srgbClr val="569cd6"/>
                </a:solidFill>
                <a:latin typeface="Consolas"/>
              </a:rPr>
              <a:t>**tendencias**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(no conclusiones definitivas), las variables que muestran mayor OR positivo —es decir, mayor asociación con el absentismo elevado— son el número de hijos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`Son`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), ser fumador social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`Social_Smoker`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), ser bebedor social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`Social_Drinker`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 y la edad (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`Age`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). Por el contrario, variables como 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`Hit_Target`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o </a:t>
            </a:r>
            <a:r>
              <a:rPr b="0" lang="es-ES" sz="2000" spc="-1" strike="noStrike">
                <a:solidFill>
                  <a:srgbClr val="ce9178"/>
                </a:solidFill>
                <a:latin typeface="Consolas"/>
              </a:rPr>
              <a:t>`Distance_Residence_Work`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muestran OR cercano a 1, lo que indica escasa asociación con el absentismo en este dataset.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br>
              <a:rPr sz="2000"/>
            </a:br>
            <a:r>
              <a:rPr b="1" lang="es-ES" sz="2000" spc="-1" strike="noStrike">
                <a:solidFill>
                  <a:srgbClr val="569cd6"/>
                </a:solidFill>
                <a:latin typeface="Consolas"/>
              </a:rPr>
              <a:t>**Importante:**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estas asociaciones no implican causalidad. Un OR &gt; 1 no significa que esa característica </a:t>
            </a:r>
            <a:r>
              <a:rPr b="0" i="1" lang="es-ES" sz="2000" spc="-1" strike="noStrike">
                <a:solidFill>
                  <a:srgbClr val="c586c0"/>
                </a:solidFill>
                <a:latin typeface="Consolas"/>
              </a:rPr>
              <a:t>*cause*</a:t>
            </a:r>
            <a:r>
              <a:rPr b="0" lang="es-ES" sz="2000" spc="-1" strike="noStrike">
                <a:solidFill>
                  <a:srgbClr val="d4d4d4"/>
                </a:solidFill>
                <a:latin typeface="Consolas"/>
              </a:rPr>
              <a:t> el absentismo, sino que los empleados con esa característica tienen, en promedio, mayor probabilidad de pertenecer al cuartil superior de ausencias.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E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920942-FE2C-4578-85BF-D7A9E749866E}" type="slidenum">
              <a:rPr b="0" lang="es-E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63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369E20-6945-4C81-97AD-3633C273CF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63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9CAD52-69E3-4784-9130-08EC44FEC5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63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C601DA-CA27-485A-BE5C-EBD4225743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63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CA5C3B-1139-4C10-A3F3-F6D24B28E8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63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8816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144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B7CA41-B61D-4AC0-923D-90C39CCF1F80}" type="slidenum"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144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1800"/>
            <a:ext cx="1096632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8816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144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BFF968-FCCC-4187-942C-DD138CDB87FB}" type="slidenum">
              <a:rPr b="0" lang="es-E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1440" cy="38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6.xml"/><Relationship Id="rId3" Type="http://schemas.openxmlformats.org/officeDocument/2006/relationships/hyperlink" Target="file:///C:/ppt/slides/slide7.xml" TargetMode="External"/><Relationship Id="rId4" Type="http://schemas.openxmlformats.org/officeDocument/2006/relationships/hyperlink" Target="file:///C:/ppt/slides/slide8.xml" TargetMode="External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file:///C:/ppt/slides/slide5.xml" TargetMode="External"/><Relationship Id="rId3" Type="http://schemas.openxmlformats.org/officeDocument/2006/relationships/slide" Target="slide7.xml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file:///C:/ppt/slides/slide5.xml" TargetMode="External"/><Relationship Id="rId3" Type="http://schemas.openxmlformats.org/officeDocument/2006/relationships/slide" Target="slide8.xml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file:///C:/ppt/slides/slide5.xml" TargetMode="External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6.xml"/><Relationship Id="rId3" Type="http://schemas.openxmlformats.org/officeDocument/2006/relationships/slide" Target="slide6.xml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file:///C:/ppt/slides/slide5.xml" TargetMode="External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16.xml"/><Relationship Id="rId3" Type="http://schemas.openxmlformats.org/officeDocument/2006/relationships/hyperlink" Target="file:///C:/ppt/slides/slide7.xml" TargetMode="External"/><Relationship Id="rId4" Type="http://schemas.openxmlformats.org/officeDocument/2006/relationships/hyperlink" Target="file:///C:/ppt/slides/slide8.xml" TargetMode="External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6.xml"/><Relationship Id="rId3" Type="http://schemas.openxmlformats.org/officeDocument/2006/relationships/slide" Target="slide17.xml"/><Relationship Id="rId4" Type="http://schemas.openxmlformats.org/officeDocument/2006/relationships/hyperlink" Target="file:///C:/ppt/slides/slide8.xml" TargetMode="External"/><Relationship Id="rId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6.xml"/><Relationship Id="rId3" Type="http://schemas.openxmlformats.org/officeDocument/2006/relationships/hyperlink" Target="file:///C:/ppt/slides/slide7.xml" TargetMode="External"/><Relationship Id="rId4" Type="http://schemas.openxmlformats.org/officeDocument/2006/relationships/slide" Target="slide18.xml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6.xml"/><Relationship Id="rId3" Type="http://schemas.openxmlformats.org/officeDocument/2006/relationships/hyperlink" Target="file:///C:/ppt/slides/slide7.xml" TargetMode="External"/><Relationship Id="rId4" Type="http://schemas.openxmlformats.org/officeDocument/2006/relationships/hyperlink" Target="file:///C:/ppt/slides/slide8.xml" TargetMode="External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1;p1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29960" cy="6348600"/>
          </a:xfrm>
          <a:prstGeom prst="rect">
            <a:avLst/>
          </a:prstGeom>
          <a:ln w="0">
            <a:noFill/>
          </a:ln>
        </p:spPr>
      </p:pic>
      <p:sp>
        <p:nvSpPr>
          <p:cNvPr id="25" name="Google Shape;22;p1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Google Shape;23;p1"/>
          <p:cNvSpPr/>
          <p:nvPr/>
        </p:nvSpPr>
        <p:spPr>
          <a:xfrm>
            <a:off x="0" y="6519600"/>
            <a:ext cx="12184560" cy="349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Google Shape;24;p1"/>
          <p:cNvSpPr/>
          <p:nvPr/>
        </p:nvSpPr>
        <p:spPr>
          <a:xfrm>
            <a:off x="396000" y="2011680"/>
            <a:ext cx="5898960" cy="10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3600" spc="-1" strike="noStrike">
                <a:solidFill>
                  <a:srgbClr val="1f2937"/>
                </a:solidFill>
                <a:latin typeface="Arial"/>
                <a:ea typeface="Arial"/>
              </a:rPr>
              <a:t>Análisis de absentismo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3600" spc="-1" strike="noStrike">
                <a:solidFill>
                  <a:srgbClr val="1f2937"/>
                </a:solidFill>
                <a:latin typeface="Arial"/>
                <a:ea typeface="Arial"/>
              </a:rPr>
              <a:t>y perfil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Google Shape;25;p1"/>
          <p:cNvSpPr/>
          <p:nvPr/>
        </p:nvSpPr>
        <p:spPr>
          <a:xfrm>
            <a:off x="432000" y="3744000"/>
            <a:ext cx="197316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6b7280"/>
                </a:solidFill>
                <a:latin typeface="Arial"/>
                <a:ea typeface="Arial"/>
              </a:rPr>
              <a:t>13 de Julio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oogle Shape;26;p1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30" name="Google Shape;27;p1"/>
          <p:cNvSpPr/>
          <p:nvPr/>
        </p:nvSpPr>
        <p:spPr>
          <a:xfrm>
            <a:off x="420120" y="3420000"/>
            <a:ext cx="33530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5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2;p2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29960" cy="634860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33;p2"/>
          <p:cNvSpPr/>
          <p:nvPr/>
        </p:nvSpPr>
        <p:spPr>
          <a:xfrm>
            <a:off x="516600" y="3488760"/>
            <a:ext cx="5232240" cy="619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34;p2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Google Shape;35;p2"/>
          <p:cNvSpPr/>
          <p:nvPr/>
        </p:nvSpPr>
        <p:spPr>
          <a:xfrm>
            <a:off x="0" y="6519600"/>
            <a:ext cx="12184560" cy="349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Google Shape;36;p2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36" name="Google Shape;37;p2"/>
          <p:cNvSpPr/>
          <p:nvPr/>
        </p:nvSpPr>
        <p:spPr>
          <a:xfrm>
            <a:off x="516600" y="1944000"/>
            <a:ext cx="5232240" cy="25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c218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38;p2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39;p2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40;p2"/>
          <p:cNvSpPr/>
          <p:nvPr/>
        </p:nvSpPr>
        <p:spPr>
          <a:xfrm>
            <a:off x="468000" y="966240"/>
            <a:ext cx="26946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Indice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41;p2"/>
          <p:cNvSpPr/>
          <p:nvPr/>
        </p:nvSpPr>
        <p:spPr>
          <a:xfrm>
            <a:off x="525960" y="1944000"/>
            <a:ext cx="563760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808080"/>
                </a:solidFill>
                <a:latin typeface="Arial"/>
                <a:ea typeface="Arial"/>
              </a:rPr>
              <a:t>Indicadores clave y su evolución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42;p2"/>
          <p:cNvSpPr/>
          <p:nvPr/>
        </p:nvSpPr>
        <p:spPr>
          <a:xfrm>
            <a:off x="516600" y="2546640"/>
            <a:ext cx="5232240" cy="619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800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43;p2"/>
          <p:cNvSpPr/>
          <p:nvPr/>
        </p:nvSpPr>
        <p:spPr>
          <a:xfrm>
            <a:off x="525960" y="2582640"/>
            <a:ext cx="563760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808080"/>
                </a:solidFill>
                <a:latin typeface="Arial"/>
                <a:ea typeface="Arial"/>
              </a:rPr>
              <a:t>Optimización del Talento: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82"/>
              </a:spcBef>
              <a:tabLst>
                <a:tab algn="l" pos="0"/>
              </a:tabLst>
            </a:pPr>
            <a:r>
              <a:rPr b="1" lang="es-ES" sz="1200" spc="-1" strike="noStrike">
                <a:solidFill>
                  <a:srgbClr val="808080"/>
                </a:solidFill>
                <a:latin typeface="Arial"/>
                <a:ea typeface="Arial"/>
              </a:rPr>
              <a:t>Factores clave para mejorar la selección, capacitación y retención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44;p2"/>
          <p:cNvSpPr/>
          <p:nvPr/>
        </p:nvSpPr>
        <p:spPr>
          <a:xfrm>
            <a:off x="480600" y="3524760"/>
            <a:ext cx="5637600" cy="54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200" spc="-1" strike="noStrike">
                <a:solidFill>
                  <a:srgbClr val="808080"/>
                </a:solidFill>
                <a:latin typeface="Arial"/>
                <a:ea typeface="Arial"/>
              </a:rPr>
              <a:t>Gestión del Absentismo: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82"/>
              </a:spcBef>
              <a:tabLst>
                <a:tab algn="l" pos="0"/>
              </a:tabLst>
            </a:pPr>
            <a:r>
              <a:rPr b="1" lang="es-ES" sz="1200" spc="-1" strike="noStrike">
                <a:solidFill>
                  <a:srgbClr val="808080"/>
                </a:solidFill>
                <a:latin typeface="Arial"/>
                <a:ea typeface="Arial"/>
              </a:rPr>
              <a:t>Identificación de perfiles de riesgo y políticas de prevención proactiva. 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9;p3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Google Shape;50;p3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51;p3"/>
          <p:cNvSpPr/>
          <p:nvPr/>
        </p:nvSpPr>
        <p:spPr>
          <a:xfrm>
            <a:off x="540000" y="388800"/>
            <a:ext cx="671364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Indicadores clave y su evolución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Google Shape;52;p3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48" name="Google Shape;53;p3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54;p3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55;p3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56;p3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Google Shape;57;p3"/>
          <p:cNvSpPr/>
          <p:nvPr/>
        </p:nvSpPr>
        <p:spPr>
          <a:xfrm>
            <a:off x="563400" y="863280"/>
            <a:ext cx="563832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Materialización de ausencias, concentración mensual de carga,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82"/>
              </a:spcBef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motivo modal de ausencia y eficacia relativa frente a la carga laboral.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58;p3"/>
          <p:cNvSpPr/>
          <p:nvPr/>
        </p:nvSpPr>
        <p:spPr>
          <a:xfrm>
            <a:off x="3132000" y="4896000"/>
            <a:ext cx="538200" cy="142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59;p3"/>
          <p:cNvSpPr/>
          <p:nvPr/>
        </p:nvSpPr>
        <p:spPr>
          <a:xfrm>
            <a:off x="7885800" y="4788000"/>
            <a:ext cx="538200" cy="142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60;p3"/>
          <p:cNvSpPr/>
          <p:nvPr/>
        </p:nvSpPr>
        <p:spPr>
          <a:xfrm>
            <a:off x="7885800" y="2628000"/>
            <a:ext cx="538200" cy="142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oogle Shape;61;p3" descr=""/>
          <p:cNvPicPr/>
          <p:nvPr/>
        </p:nvPicPr>
        <p:blipFill>
          <a:blip r:embed="rId2"/>
          <a:stretch/>
        </p:blipFill>
        <p:spPr>
          <a:xfrm>
            <a:off x="972000" y="3780000"/>
            <a:ext cx="2446200" cy="129888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62;p3" descr=""/>
          <p:cNvPicPr/>
          <p:nvPr/>
        </p:nvPicPr>
        <p:blipFill>
          <a:blip r:embed="rId3"/>
          <a:stretch/>
        </p:blipFill>
        <p:spPr>
          <a:xfrm>
            <a:off x="6339600" y="1800000"/>
            <a:ext cx="2372400" cy="1294200"/>
          </a:xfrm>
          <a:prstGeom prst="rect">
            <a:avLst/>
          </a:prstGeom>
          <a:ln w="0">
            <a:noFill/>
          </a:ln>
        </p:spPr>
      </p:pic>
      <p:pic>
        <p:nvPicPr>
          <p:cNvPr id="58" name="Google Shape;63;p3" descr=""/>
          <p:cNvPicPr/>
          <p:nvPr/>
        </p:nvPicPr>
        <p:blipFill>
          <a:blip r:embed="rId4"/>
          <a:stretch/>
        </p:blipFill>
        <p:spPr>
          <a:xfrm>
            <a:off x="1009440" y="1800000"/>
            <a:ext cx="2475720" cy="129420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64;p3" descr=""/>
          <p:cNvPicPr/>
          <p:nvPr/>
        </p:nvPicPr>
        <p:blipFill>
          <a:blip r:embed="rId5"/>
          <a:stretch/>
        </p:blipFill>
        <p:spPr>
          <a:xfrm>
            <a:off x="6265800" y="3780000"/>
            <a:ext cx="2552400" cy="1334160"/>
          </a:xfrm>
          <a:prstGeom prst="rect">
            <a:avLst/>
          </a:prstGeom>
          <a:ln w="0">
            <a:noFill/>
          </a:ln>
        </p:spPr>
      </p:pic>
      <p:sp>
        <p:nvSpPr>
          <p:cNvPr id="60" name="Google Shape;65;p3"/>
          <p:cNvSpPr/>
          <p:nvPr/>
        </p:nvSpPr>
        <p:spPr>
          <a:xfrm>
            <a:off x="3602520" y="1800000"/>
            <a:ext cx="197568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a9a9a9"/>
                </a:solidFill>
                <a:latin typeface="Arial"/>
                <a:ea typeface="Arial"/>
              </a:rPr>
              <a:t>No se presenta un grupo atípico en la plantilla respecto al patrón de solicitud / ejecución.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66;p3"/>
          <p:cNvSpPr/>
          <p:nvPr/>
        </p:nvSpPr>
        <p:spPr>
          <a:xfrm>
            <a:off x="9180000" y="3780000"/>
            <a:ext cx="197568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a9a9a9"/>
                </a:solidFill>
                <a:latin typeface="Arial"/>
                <a:ea typeface="Arial"/>
              </a:rPr>
              <a:t>Casi el 35% de la carga de trabajo se está traduciendo en objetivos alcanzados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67;p3"/>
          <p:cNvSpPr/>
          <p:nvPr/>
        </p:nvSpPr>
        <p:spPr>
          <a:xfrm>
            <a:off x="9182520" y="1800000"/>
            <a:ext cx="197568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a9a9a9"/>
                </a:solidFill>
                <a:latin typeface="Arial"/>
                <a:ea typeface="Arial"/>
              </a:rPr>
              <a:t>Consulta médica.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a9a9a9"/>
                </a:solidFill>
                <a:latin typeface="Arial"/>
                <a:ea typeface="Arial"/>
              </a:rPr>
              <a:t>Se reafirma como causa estructural del absentismo.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oogle Shape;68;p3"/>
          <p:cNvSpPr/>
          <p:nvPr/>
        </p:nvSpPr>
        <p:spPr>
          <a:xfrm>
            <a:off x="3602520" y="3780000"/>
            <a:ext cx="1975680" cy="12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a9a9a9"/>
                </a:solidFill>
                <a:latin typeface="Arial"/>
                <a:ea typeface="Arial"/>
              </a:rPr>
              <a:t>Se confirma un patrón estacional en Marzo.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73;g3f4b6d773eb_0_0"/>
          <p:cNvSpPr/>
          <p:nvPr/>
        </p:nvSpPr>
        <p:spPr>
          <a:xfrm>
            <a:off x="1688400" y="4107960"/>
            <a:ext cx="8348760" cy="1976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74;g3f4b6d773eb_0_0"/>
          <p:cNvSpPr/>
          <p:nvPr/>
        </p:nvSpPr>
        <p:spPr>
          <a:xfrm>
            <a:off x="859680" y="1273680"/>
            <a:ext cx="10771560" cy="2502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c218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75;g3f4b6d773eb_0_0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76;g3f4b6d773eb_0_0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78;g3f4b6d773eb_0_0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79;g3f4b6d773eb_0_0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80;g3f4b6d773eb_0_0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81;g3f4b6d773eb_0_0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82;g3f4b6d773eb_0_0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83;g3f4b6d773eb_0_0"/>
          <p:cNvSpPr/>
          <p:nvPr/>
        </p:nvSpPr>
        <p:spPr>
          <a:xfrm>
            <a:off x="1541880" y="1452960"/>
            <a:ext cx="3789000" cy="16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Análisis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❌ </a:t>
            </a:r>
            <a:r>
              <a:rPr b="0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OLS simple múltiple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❌ </a:t>
            </a:r>
            <a:r>
              <a:rPr b="0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Beta múltiple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❌ </a:t>
            </a:r>
            <a:r>
              <a:rPr b="0" lang="es-ES" sz="2600" spc="-1" strike="noStrike">
                <a:solidFill>
                  <a:srgbClr val="000000"/>
                </a:solidFill>
                <a:latin typeface="Arial"/>
                <a:ea typeface="Arial"/>
              </a:rPr>
              <a:t>Gamma múltiple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84;g3f4b6d773eb_0_0"/>
          <p:cNvSpPr/>
          <p:nvPr/>
        </p:nvSpPr>
        <p:spPr>
          <a:xfrm>
            <a:off x="5860800" y="1478880"/>
            <a:ext cx="5481720" cy="19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Buenas prácticas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✅ </a:t>
            </a: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Hit_target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✅ </a:t>
            </a: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Eficiencia Relativa - KPI’s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✅ </a:t>
            </a: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Arial"/>
              </a:rPr>
              <a:t>Agrupación por Empleado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85;g3f4b6d773eb_0_0"/>
          <p:cNvSpPr/>
          <p:nvPr/>
        </p:nvSpPr>
        <p:spPr>
          <a:xfrm>
            <a:off x="1094400" y="4182840"/>
            <a:ext cx="95803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300" spc="-1" strike="noStrike">
                <a:solidFill>
                  <a:srgbClr val="000000"/>
                </a:solidFill>
                <a:latin typeface="Arial"/>
                <a:ea typeface="Arial"/>
              </a:rPr>
              <a:t>💡 </a:t>
            </a:r>
            <a:r>
              <a:rPr b="1" lang="es-ES" sz="2300" spc="-1" strike="noStrike">
                <a:solidFill>
                  <a:srgbClr val="000000"/>
                </a:solidFill>
                <a:latin typeface="Arial"/>
                <a:ea typeface="Arial"/>
              </a:rPr>
              <a:t>Conclusiones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  <a:p>
            <a:pPr marL="457200" indent="-374760" algn="ctr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2300" spc="-1" strike="noStrike">
                <a:solidFill>
                  <a:srgbClr val="000000"/>
                </a:solidFill>
                <a:latin typeface="Arial"/>
                <a:ea typeface="Arial"/>
              </a:rPr>
              <a:t>No existe correlación a nivel de atributos de empleado.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  <a:p>
            <a:pPr marL="457200" indent="-374760" algn="ctr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s-ES" sz="2300" spc="-1" strike="noStrike">
                <a:solidFill>
                  <a:srgbClr val="000000"/>
                </a:solidFill>
                <a:latin typeface="Arial"/>
                <a:ea typeface="Arial"/>
              </a:rPr>
              <a:t>Existe solamente relación con la gestión de la carga.</a:t>
            </a: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s-E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51;p 1"/>
          <p:cNvSpPr/>
          <p:nvPr/>
        </p:nvSpPr>
        <p:spPr>
          <a:xfrm>
            <a:off x="540000" y="388800"/>
            <a:ext cx="671364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Análisis del perfil de desempeño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90;g3f4b6d773eb_0_26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91;g3f4b6d773eb_0_26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Google Shape;92;g3f4b6d773eb_0_26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93;g3f4b6d773eb_0_26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94;g3f4b6d773eb_0_26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95;g3f4b6d773eb_0_26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96;g3f4b6d773eb_0_26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98;g3f4b6d773eb_0_26">
            <a:hlinkClick r:id="rId2" action="ppaction://hlinksldjump"/>
          </p:cNvPr>
          <p:cNvSpPr/>
          <p:nvPr/>
        </p:nvSpPr>
        <p:spPr>
          <a:xfrm>
            <a:off x="445320" y="2015280"/>
            <a:ext cx="357588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🎯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Estrategias de selección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Google Shape;99;g3f4b6d773eb_0_26">
            <a:hlinkClick r:id="rId3"/>
          </p:cNvPr>
          <p:cNvSpPr/>
          <p:nvPr/>
        </p:nvSpPr>
        <p:spPr>
          <a:xfrm>
            <a:off x="441756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📚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Capacitación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100;g3f4b6d773eb_0_26">
            <a:hlinkClick r:id="rId4"/>
          </p:cNvPr>
          <p:cNvSpPr/>
          <p:nvPr/>
        </p:nvSpPr>
        <p:spPr>
          <a:xfrm>
            <a:off x="83264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🤝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Retención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51;p 2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Optimización del talento: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57;p 1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Cubriendo los tres factores clave: Selección, Capacitación y Retención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05;g3f4b6d773eb_0_46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06;g3f4b6d773eb_0_46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Google Shape;107;g3f4b6d773eb_0_46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08;g3f4b6d773eb_0_46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09;g3f4b6d773eb_0_46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10;g3f4b6d773eb_0_46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1;g3f4b6d773eb_0_46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13;g3f4b6d773eb_0_46">
            <a:hlinkClick r:id="rId2"/>
          </p:cNvPr>
          <p:cNvSpPr/>
          <p:nvPr/>
        </p:nvSpPr>
        <p:spPr>
          <a:xfrm>
            <a:off x="5090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1905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chemeClr val="dk1"/>
                </a:solidFill>
                <a:latin typeface="Arial"/>
                <a:ea typeface="Arial"/>
              </a:rPr>
              <a:t>🎯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chemeClr val="dk1"/>
                </a:solidFill>
                <a:latin typeface="Arial"/>
                <a:ea typeface="Arial"/>
              </a:rPr>
              <a:t>Estrategias de selección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Arial"/>
              </a:rPr>
              <a:t>Implementar casos prácticos en el proceso de entrevista para evaluar la resiliencia y la gestión del tiempo de los candidatos.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14;g3f4b6d773eb_0_46">
            <a:hlinkClick r:id="rId3" action="ppaction://hlinksldjump"/>
          </p:cNvPr>
          <p:cNvSpPr/>
          <p:nvPr/>
        </p:nvSpPr>
        <p:spPr>
          <a:xfrm>
            <a:off x="44168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📚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Capacitación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15;g3f4b6d773eb_0_46"/>
          <p:cNvSpPr/>
          <p:nvPr/>
        </p:nvSpPr>
        <p:spPr>
          <a:xfrm>
            <a:off x="832500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🤝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Retención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51;p 3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Optimización del talento: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57;p 2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Cubriendo los tres factores clave: Selección, Capacitación y Retención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20;g3f4b6d773eb_0_60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21;g3f4b6d773eb_0_60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Google Shape;122;g3f4b6d773eb_0_60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104" name="Google Shape;123;g3f4b6d773eb_0_60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24;g3f4b6d773eb_0_60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25;g3f4b6d773eb_0_60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26;g3f4b6d773eb_0_60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28;g3f4b6d773eb_0_60"/>
          <p:cNvSpPr/>
          <p:nvPr/>
        </p:nvSpPr>
        <p:spPr>
          <a:xfrm>
            <a:off x="5090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🎯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Estrategias de selección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29;g3f4b6d773eb_0_60">
            <a:hlinkClick r:id="rId2"/>
          </p:cNvPr>
          <p:cNvSpPr/>
          <p:nvPr/>
        </p:nvSpPr>
        <p:spPr>
          <a:xfrm>
            <a:off x="440352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1905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chemeClr val="dk1"/>
                </a:solidFill>
                <a:latin typeface="Arial"/>
                <a:ea typeface="Arial"/>
              </a:rPr>
              <a:t>📚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chemeClr val="dk1"/>
                </a:solidFill>
                <a:latin typeface="Arial"/>
                <a:ea typeface="Arial"/>
              </a:rPr>
              <a:t>Capacitación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Arial"/>
              </a:rPr>
              <a:t>Formar a los mandos en planificación y distribución equitativa de la carga, e impulsar la polivalencia (cross-training) para permitir la redistribución del trabajo dinámicamente dentro del equipo.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30;g3f4b6d773eb_0_60">
            <a:hlinkClick r:id="rId3" action="ppaction://hlinksldjump"/>
          </p:cNvPr>
          <p:cNvSpPr/>
          <p:nvPr/>
        </p:nvSpPr>
        <p:spPr>
          <a:xfrm>
            <a:off x="833400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🤝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Retención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57;p 3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Cubriendo los tres factores clave: Selección, Capacitación y Retención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51;p 4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Optimización del talento: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35;g3f4b6d773eb_0_74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36;g3f4b6d773eb_0_74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Google Shape;137;g3f4b6d773eb_0_74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38;g3f4b6d773eb_0_74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39;g3f4b6d773eb_0_74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40;g3f4b6d773eb_0_74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41;g3f4b6d773eb_0_74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43;g3f4b6d773eb_0_74"/>
          <p:cNvSpPr/>
          <p:nvPr/>
        </p:nvSpPr>
        <p:spPr>
          <a:xfrm>
            <a:off x="5090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🎯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Estrategias de selección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44;g3f4b6d773eb_0_74"/>
          <p:cNvSpPr/>
          <p:nvPr/>
        </p:nvSpPr>
        <p:spPr>
          <a:xfrm>
            <a:off x="44168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📚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rgbClr val="000000"/>
                </a:solidFill>
                <a:latin typeface="Arial"/>
                <a:ea typeface="Arial"/>
              </a:rPr>
              <a:t>Capacitación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45;g3f4b6d773eb_0_74">
            <a:hlinkClick r:id="rId2"/>
          </p:cNvPr>
          <p:cNvSpPr/>
          <p:nvPr/>
        </p:nvSpPr>
        <p:spPr>
          <a:xfrm>
            <a:off x="832500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1905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chemeClr val="dk1"/>
                </a:solidFill>
                <a:latin typeface="Arial"/>
                <a:ea typeface="Arial"/>
              </a:rPr>
              <a:t>🤝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200" spc="-1" strike="noStrike">
                <a:solidFill>
                  <a:schemeClr val="dk1"/>
                </a:solidFill>
                <a:latin typeface="Arial"/>
                <a:ea typeface="Arial"/>
              </a:rPr>
              <a:t>Retención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Arial"/>
              </a:rPr>
              <a:t>Implantar un sistema permanente de equidad de carga con umbrales por empleado y reasignación automática, complementado con encuestas de clima para capturar los factores de contexto aún no medidos.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57;p 4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Cubriendo los tres factores clave: Selección, Capacitación y Retención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51;p 5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Optimización del talento: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7"/>
          <p:cNvSpPr/>
          <p:nvPr/>
        </p:nvSpPr>
        <p:spPr>
          <a:xfrm>
            <a:off x="0" y="0"/>
            <a:ext cx="12186720" cy="1594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0" y="6510600"/>
            <a:ext cx="12186720" cy="3607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2432880" y="641880"/>
            <a:ext cx="612720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4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28" name="Imagen 2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5080" cy="534960"/>
          </a:xfrm>
          <a:prstGeom prst="rect">
            <a:avLst/>
          </a:prstGeom>
          <a:ln w="0">
            <a:noFill/>
          </a:ln>
        </p:spPr>
      </p:pic>
      <p:sp>
        <p:nvSpPr>
          <p:cNvPr id="129" name="Text 11"/>
          <p:cNvSpPr/>
          <p:nvPr/>
        </p:nvSpPr>
        <p:spPr>
          <a:xfrm>
            <a:off x="168120" y="6538320"/>
            <a:ext cx="299520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4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98;g3f4b6d773eb_0_ 2">
            <a:hlinkClick r:id="rId2" action="ppaction://hlinksldjump"/>
          </p:cNvPr>
          <p:cNvSpPr/>
          <p:nvPr/>
        </p:nvSpPr>
        <p:spPr>
          <a:xfrm>
            <a:off x="2160000" y="2048400"/>
            <a:ext cx="7200000" cy="10116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2800" spc="-1" strike="noStrike">
                <a:solidFill>
                  <a:srgbClr val="c21875"/>
                </a:solidFill>
                <a:latin typeface="Calibri"/>
                <a:ea typeface="DejaVu Sans"/>
              </a:rPr>
              <a:t>Atributos</a:t>
            </a: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 personales y laborales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rgbClr val="1f2937"/>
                </a:solidFill>
                <a:latin typeface="Arial"/>
                <a:ea typeface="DejaVu Sans"/>
              </a:rPr>
              <a:t>que están más asociados a alto absentismo.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51;p 7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Gestión de absentismo: cuestiones a resolver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57;p 6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Identificación de perfiles de riesgo y políticas de prevención proactiva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98;g3f4b6d773eb_0_ 3">
            <a:hlinkClick r:id="rId3" action="ppaction://hlinksldjump"/>
          </p:cNvPr>
          <p:cNvSpPr/>
          <p:nvPr/>
        </p:nvSpPr>
        <p:spPr>
          <a:xfrm>
            <a:off x="2160000" y="3555000"/>
            <a:ext cx="7200000" cy="9810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2800" spc="-1" strike="noStrike">
                <a:solidFill>
                  <a:srgbClr val="c21875"/>
                </a:solidFill>
                <a:latin typeface="Calibri"/>
                <a:ea typeface="DejaVu Sans"/>
              </a:rPr>
              <a:t>Cambios</a:t>
            </a: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DejaVu Sans"/>
              </a:rPr>
              <a:t> en la política interna 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" sz="1400" spc="-1" strike="noStrike">
                <a:solidFill>
                  <a:srgbClr val="1f2937"/>
                </a:solidFill>
                <a:latin typeface="Arial"/>
                <a:ea typeface="DejaVu Sans"/>
              </a:rPr>
              <a:t>para reducir el absentismo en los perfiles de riesgo alto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3"/>
          <p:cNvSpPr/>
          <p:nvPr/>
        </p:nvSpPr>
        <p:spPr>
          <a:xfrm>
            <a:off x="0" y="0"/>
            <a:ext cx="12186720" cy="1594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0" y="6510600"/>
            <a:ext cx="12186720" cy="3607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9" name="Text 23"/>
          <p:cNvSpPr/>
          <p:nvPr/>
        </p:nvSpPr>
        <p:spPr>
          <a:xfrm>
            <a:off x="2432880" y="641880"/>
            <a:ext cx="612720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4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40" name="Imagen 4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5080" cy="534960"/>
          </a:xfrm>
          <a:prstGeom prst="rect">
            <a:avLst/>
          </a:prstGeom>
          <a:ln w="0">
            <a:noFill/>
          </a:ln>
        </p:spPr>
      </p:pic>
      <p:sp>
        <p:nvSpPr>
          <p:cNvPr id="141" name="Text 24"/>
          <p:cNvSpPr/>
          <p:nvPr/>
        </p:nvSpPr>
        <p:spPr>
          <a:xfrm>
            <a:off x="168120" y="6538320"/>
            <a:ext cx="299520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6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7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8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Flecha: hacia abajo 2"/>
          <p:cNvSpPr/>
          <p:nvPr/>
        </p:nvSpPr>
        <p:spPr>
          <a:xfrm>
            <a:off x="1645920" y="3267360"/>
            <a:ext cx="545040" cy="598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s-E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46" name="Google Shape;51;p 8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¿Qué consideremos </a:t>
            </a:r>
            <a:r>
              <a:rPr b="1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alto absentismo</a:t>
            </a: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43;g3f4b6d773eb_0_ 1"/>
          <p:cNvSpPr/>
          <p:nvPr/>
        </p:nvSpPr>
        <p:spPr>
          <a:xfrm>
            <a:off x="756000" y="1836000"/>
            <a:ext cx="2432160" cy="128016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Empleados con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&gt; 21 horas</a:t>
            </a:r>
            <a:r>
              <a:rPr b="0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 de ausencia acumuladas al año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143;g3f4b6d773eb_0_ 2"/>
          <p:cNvSpPr/>
          <p:nvPr/>
        </p:nvSpPr>
        <p:spPr>
          <a:xfrm>
            <a:off x="756000" y="4070520"/>
            <a:ext cx="2432160" cy="96948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34</a:t>
            </a:r>
            <a:r>
              <a:rPr b="0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 de 136 empleados con ausencias( 2025)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57;p 7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Definición del umbral de alto absentismo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3329640" y="1472400"/>
            <a:ext cx="8502480" cy="389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90;g3f4b6d773eb_0_ 1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91;g3f4b6d773eb_0_ 1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Google Shape;92;g3f4b6d773eb_0_ 1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154" name="Google Shape;93;g3f4b6d773eb_0_ 1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94;g3f4b6d773eb_0_ 1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95;g3f4b6d773eb_0_ 1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96;g3f4b6d773eb_0_ 1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51;p 6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Atributos personales y laborales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57;p 5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Variables de estudio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900000" y="1491120"/>
            <a:ext cx="4901760" cy="4609800"/>
          </a:xfrm>
          <a:prstGeom prst="roundRect">
            <a:avLst>
              <a:gd name="adj" fmla="val 5565"/>
            </a:avLst>
          </a:prstGeom>
          <a:solidFill>
            <a:srgbClr val="d47cab"/>
          </a:solidFill>
          <a:ln w="72000">
            <a:solidFill>
              <a:srgbClr val="ff8a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1320" rIns="121320" tIns="76320" bIns="7632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6258240" y="1491120"/>
            <a:ext cx="4901760" cy="4609800"/>
          </a:xfrm>
          <a:prstGeom prst="roundRect">
            <a:avLst>
              <a:gd name="adj" fmla="val 5565"/>
            </a:avLst>
          </a:prstGeom>
          <a:solidFill>
            <a:srgbClr val="f6ba72"/>
          </a:solidFill>
          <a:ln w="72000">
            <a:solidFill>
              <a:srgbClr val="c218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1320" rIns="121320" tIns="76320" bIns="7632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6480000" y="1620000"/>
            <a:ext cx="6117120" cy="34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2600" defTabSz="914400">
              <a:lnSpc>
                <a:spcPct val="99000"/>
              </a:lnSpc>
              <a:spcBef>
                <a:spcPts val="136"/>
              </a:spcBef>
            </a:pPr>
            <a:r>
              <a:rPr b="1" lang="es-ES" sz="2800" spc="-1" strike="noStrike">
                <a:solidFill>
                  <a:srgbClr val="1f2937"/>
                </a:solidFill>
                <a:latin typeface="Arial"/>
                <a:ea typeface="DejaVu Sans"/>
              </a:rPr>
              <a:t>Laborales </a:t>
            </a:r>
            <a:br>
              <a:rPr sz="2800"/>
            </a:b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chemeClr val="dk1"/>
                </a:solidFill>
                <a:latin typeface="Arial"/>
                <a:ea typeface="DejaVu Sans"/>
              </a:rPr>
              <a:t>🏢</a:t>
            </a:r>
            <a:r>
              <a:rPr b="0" lang="es-ES" sz="21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b="0" lang="es-ES" sz="2100" spc="-1" strike="noStrike">
                <a:solidFill>
                  <a:srgbClr val="000000"/>
                </a:solidFill>
                <a:latin typeface="Arial"/>
                <a:ea typeface="Microsoft YaHei"/>
              </a:rPr>
              <a:t>Antigüedad</a:t>
            </a:r>
            <a:endParaRPr b="0" lang="es-ES" sz="2100" spc="-1" strike="noStrike">
              <a:solidFill>
                <a:srgbClr val="000000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000000"/>
                </a:solidFill>
                <a:latin typeface="Arial"/>
                <a:ea typeface="DejaVu Sans"/>
              </a:rPr>
              <a:t>💶 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Gasto en transporte</a:t>
            </a:r>
            <a:endParaRPr b="0" lang="es-ES" sz="2100" spc="-1" strike="noStrike">
              <a:solidFill>
                <a:srgbClr val="000000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000000"/>
                </a:solidFill>
                <a:latin typeface="Arial"/>
                <a:ea typeface="DejaVu Sans"/>
              </a:rPr>
              <a:t>📍   </a:t>
            </a:r>
            <a:r>
              <a:rPr b="0" lang="es-ES" sz="2100" spc="-1" strike="noStrike">
                <a:solidFill>
                  <a:srgbClr val="000000"/>
                </a:solidFill>
                <a:latin typeface="Arial"/>
                <a:ea typeface="DejaVu Sans"/>
              </a:rPr>
              <a:t>D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istancia al trabajo</a:t>
            </a:r>
            <a:endParaRPr b="0" lang="es-ES" sz="2100" spc="-1" strike="noStrike">
              <a:solidFill>
                <a:srgbClr val="000000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📦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  <a:ea typeface="Microsoft YaHei"/>
              </a:rPr>
              <a:t>Carga de trabajo</a:t>
            </a:r>
            <a:endParaRPr b="0" lang="es-ES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  <a:p>
            <a:pPr defTabSz="9144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000000"/>
                </a:solidFill>
                <a:latin typeface="Arial"/>
                <a:ea typeface="DejaVu Sans"/>
              </a:rPr>
              <a:t>🎯 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Desempeño</a:t>
            </a:r>
            <a:endParaRPr b="0" lang="es-ES" sz="21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080000" y="1656000"/>
            <a:ext cx="5663880" cy="37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2600" defTabSz="914400">
              <a:lnSpc>
                <a:spcPct val="99000"/>
              </a:lnSpc>
              <a:spcBef>
                <a:spcPts val="136"/>
              </a:spcBef>
            </a:pPr>
            <a:r>
              <a:rPr b="1" lang="es-ES" sz="2800" spc="-1" strike="noStrike">
                <a:solidFill>
                  <a:srgbClr val="1f2937"/>
                </a:solidFill>
                <a:latin typeface="Arial"/>
                <a:ea typeface="DejaVu Sans"/>
              </a:rPr>
              <a:t>Personales </a:t>
            </a:r>
            <a:br>
              <a:rPr sz="2800"/>
            </a:br>
            <a:endParaRPr b="0" lang="es-ES" sz="2800" spc="-1" strike="noStrike">
              <a:solidFill>
                <a:srgbClr val="1f2937"/>
              </a:solidFill>
              <a:latin typeface="Arial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👤 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Edad </a:t>
            </a:r>
            <a:endParaRPr b="0" lang="es-ES" sz="2100" spc="-1" strike="noStrike">
              <a:solidFill>
                <a:srgbClr val="1f2937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🎓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Educación</a:t>
            </a:r>
            <a:endParaRPr b="0" lang="es-ES" sz="2100" spc="-1" strike="noStrike">
              <a:solidFill>
                <a:srgbClr val="1f2937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👶 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Nº Hijos / 🐾mascotas </a:t>
            </a:r>
            <a:endParaRPr b="0" lang="es-ES" sz="2100" spc="-1" strike="noStrike">
              <a:solidFill>
                <a:srgbClr val="1f2937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chemeClr val="dk1"/>
                </a:solidFill>
                <a:latin typeface="Arial"/>
                <a:ea typeface="DejaVu Sans"/>
              </a:rPr>
              <a:t>🚬 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Microsoft YaHei"/>
              </a:rPr>
              <a:t>Fumar</a:t>
            </a:r>
            <a:endParaRPr b="0" lang="es-ES" sz="2100" spc="-1" strike="noStrike">
              <a:solidFill>
                <a:srgbClr val="1f2937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🍷  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Beber alcohol</a:t>
            </a:r>
            <a:endParaRPr b="0" lang="es-ES" sz="2100" spc="-1" strike="noStrike">
              <a:solidFill>
                <a:srgbClr val="1f2937"/>
              </a:solidFill>
              <a:latin typeface="Arial"/>
              <a:ea typeface="Microsoft YaHei"/>
            </a:endParaRPr>
          </a:p>
          <a:p>
            <a:pPr marL="12600" defTabSz="914400">
              <a:lnSpc>
                <a:spcPct val="99000"/>
              </a:lnSpc>
              <a:spcBef>
                <a:spcPts val="703"/>
              </a:spcBef>
              <a:spcAft>
                <a:spcPts val="567"/>
              </a:spcAft>
            </a:pP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⚖️</a:t>
            </a:r>
            <a:r>
              <a:rPr b="0" lang="es-ES" sz="2100" spc="-1" strike="noStrike">
                <a:solidFill>
                  <a:srgbClr val="1f2937"/>
                </a:solidFill>
                <a:latin typeface="Arial"/>
                <a:ea typeface="DejaVu Sans"/>
              </a:rPr>
              <a:t>Índice Masa corporal</a:t>
            </a:r>
            <a:endParaRPr b="0" lang="es-ES" sz="2100" spc="-1" strike="noStrike">
              <a:solidFill>
                <a:srgbClr val="1f2937"/>
              </a:solidFill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8"/>
          <p:cNvSpPr/>
          <p:nvPr/>
        </p:nvSpPr>
        <p:spPr>
          <a:xfrm>
            <a:off x="0" y="0"/>
            <a:ext cx="12186720" cy="1594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0" y="6510600"/>
            <a:ext cx="12186720" cy="3607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168120" y="6538320"/>
            <a:ext cx="299520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ángulo 1"/>
          <p:cNvSpPr/>
          <p:nvPr/>
        </p:nvSpPr>
        <p:spPr>
          <a:xfrm>
            <a:off x="1586520" y="5402520"/>
            <a:ext cx="2335320" cy="7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Conector recto 1"/>
          <p:cNvSpPr/>
          <p:nvPr/>
        </p:nvSpPr>
        <p:spPr>
          <a:xfrm>
            <a:off x="8965440" y="6681240"/>
            <a:ext cx="36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n 1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600" y="288360"/>
            <a:ext cx="1945080" cy="534960"/>
          </a:xfrm>
          <a:prstGeom prst="rect">
            <a:avLst/>
          </a:prstGeom>
          <a:ln w="0">
            <a:noFill/>
          </a:ln>
        </p:spPr>
      </p:pic>
      <p:sp>
        <p:nvSpPr>
          <p:cNvPr id="171" name="Google Shape;51;p 9"/>
          <p:cNvSpPr/>
          <p:nvPr/>
        </p:nvSpPr>
        <p:spPr>
          <a:xfrm>
            <a:off x="540000" y="388800"/>
            <a:ext cx="846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¿Qué distingue a los empleados con mayor absentismo  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57;p 8"/>
          <p:cNvSpPr/>
          <p:nvPr/>
        </p:nvSpPr>
        <p:spPr>
          <a:xfrm>
            <a:off x="563400" y="948960"/>
            <a:ext cx="771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Atributos destacables entre empleados y empleadas con perfil de absentismo alto (P75)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n 5" descr=""/>
          <p:cNvPicPr/>
          <p:nvPr/>
        </p:nvPicPr>
        <p:blipFill>
          <a:blip r:embed="rId2"/>
          <a:srcRect l="0" t="9564" r="0" b="0"/>
          <a:stretch/>
        </p:blipFill>
        <p:spPr>
          <a:xfrm>
            <a:off x="3600000" y="1368000"/>
            <a:ext cx="7796520" cy="468000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143;g3f4b6d773eb_0_ 3"/>
          <p:cNvSpPr/>
          <p:nvPr/>
        </p:nvSpPr>
        <p:spPr>
          <a:xfrm>
            <a:off x="756000" y="2376000"/>
            <a:ext cx="2432160" cy="2484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Única asociación observada, sin ser determinante: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Distancia al lugar de trabajo.</a:t>
            </a:r>
            <a:r>
              <a:rPr b="0" lang="es-ES" sz="1800" spc="-1" strike="noStrike">
                <a:solidFill>
                  <a:schemeClr val="dk1"/>
                </a:solidFill>
                <a:latin typeface="Arial"/>
                <a:ea typeface="DejaVu Sans"/>
              </a:rPr>
              <a:t>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ángulo 2"/>
          <p:cNvSpPr/>
          <p:nvPr/>
        </p:nvSpPr>
        <p:spPr>
          <a:xfrm>
            <a:off x="8100000" y="6175080"/>
            <a:ext cx="372420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i="1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Modelo multivariante de regresión logística.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5"/>
          <p:cNvSpPr/>
          <p:nvPr/>
        </p:nvSpPr>
        <p:spPr>
          <a:xfrm>
            <a:off x="0" y="0"/>
            <a:ext cx="12186720" cy="1594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0" y="6510600"/>
            <a:ext cx="12186720" cy="3607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8" name="Text 3"/>
          <p:cNvSpPr/>
          <p:nvPr/>
        </p:nvSpPr>
        <p:spPr>
          <a:xfrm>
            <a:off x="168120" y="6538320"/>
            <a:ext cx="299520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ángulo 3"/>
          <p:cNvSpPr/>
          <p:nvPr/>
        </p:nvSpPr>
        <p:spPr>
          <a:xfrm>
            <a:off x="1586520" y="5402520"/>
            <a:ext cx="2335320" cy="7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0" name="Conector recto 2"/>
          <p:cNvSpPr/>
          <p:nvPr/>
        </p:nvSpPr>
        <p:spPr>
          <a:xfrm>
            <a:off x="8965440" y="6681240"/>
            <a:ext cx="360000" cy="360"/>
          </a:xfrm>
          <a:prstGeom prst="line">
            <a:avLst/>
          </a:prstGeom>
          <a:ln w="36000">
            <a:solidFill>
              <a:srgbClr val="ff8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Imagen 3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600" y="288360"/>
            <a:ext cx="1945080" cy="534960"/>
          </a:xfrm>
          <a:prstGeom prst="rect">
            <a:avLst/>
          </a:prstGeom>
          <a:ln w="0">
            <a:noFill/>
          </a:ln>
        </p:spPr>
      </p:pic>
      <p:sp>
        <p:nvSpPr>
          <p:cNvPr id="183" name="Google Shape;51;p 10"/>
          <p:cNvSpPr/>
          <p:nvPr/>
        </p:nvSpPr>
        <p:spPr>
          <a:xfrm>
            <a:off x="540000" y="388800"/>
            <a:ext cx="846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¿Qué distingue a los empleados con mayor absentismo  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57;p 9"/>
          <p:cNvSpPr/>
          <p:nvPr/>
        </p:nvSpPr>
        <p:spPr>
          <a:xfrm>
            <a:off x="563400" y="948960"/>
            <a:ext cx="771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Atributos destacables entre empleados y empleadas con perfil de absentismo alto (P75)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5" name="Tabla 1"/>
          <p:cNvGraphicFramePr/>
          <p:nvPr/>
        </p:nvGraphicFramePr>
        <p:xfrm>
          <a:off x="578520" y="1544040"/>
          <a:ext cx="10980360" cy="4626000"/>
        </p:xfrm>
        <a:graphic>
          <a:graphicData uri="http://schemas.openxmlformats.org/drawingml/2006/table">
            <a:tbl>
              <a:tblPr/>
              <a:tblGrid>
                <a:gridCol w="2827440"/>
                <a:gridCol w="4547160"/>
                <a:gridCol w="1208880"/>
                <a:gridCol w="1171080"/>
                <a:gridCol w="1225080"/>
              </a:tblGrid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endParaRPr b="0" lang="es-ES" sz="1200" spc="-1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endParaRPr b="0" lang="es-ES" sz="1200" spc="-1" strike="noStrike">
                        <a:solidFill>
                          <a:schemeClr val="dk1"/>
                        </a:solidFill>
                        <a:latin typeface="Arial"/>
                        <a:ea typeface="DejaVu Sans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r / H / U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p-value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Test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9384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🚌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Gasto en transporte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🟢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Asociación significativa débil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0.27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 u="sng">
                          <a:solidFill>
                            <a:schemeClr val="accent1">
                              <a:lumMod val="75000"/>
                            </a:schemeClr>
                          </a:solidFill>
                          <a:uFillTx/>
                          <a:latin typeface="Arial"/>
                          <a:ea typeface="DejaVu Sans"/>
                        </a:rPr>
                        <a:t>0.001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</a:tr>
              <a:tr h="393840">
                <a:tc>
                  <a:txBody>
                    <a:bodyPr lIns="59040" rIns="59040" tIns="29520" bIns="29520" anchor="ctr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chemeClr val="dk1"/>
                          </a:solidFill>
                          <a:latin typeface="Arial"/>
                          <a:ea typeface="Calibri"/>
                        </a:rPr>
                        <a:t>📦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Carga de trabajo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🟢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Asociación significativa débil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0.21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 u="sng">
                          <a:solidFill>
                            <a:schemeClr val="accent1">
                              <a:lumMod val="75000"/>
                            </a:schemeClr>
                          </a:solidFill>
                          <a:uFillTx/>
                          <a:latin typeface="Arial"/>
                          <a:ea typeface="DejaVu Sans"/>
                        </a:rPr>
                        <a:t>0.014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</a:tr>
              <a:tr h="393840">
                <a:tc>
                  <a:txBody>
                    <a:bodyPr lIns="59040" rIns="59040" tIns="29520" bIns="29520" anchor="ctr">
                      <a:noAutofit/>
                    </a:bodyPr>
                    <a:p>
                      <a:r>
                        <a:rPr b="0" lang="es-ES" sz="21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👶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Nº de hijos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🟢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Asociación significativa débil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0.19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 u="sng">
                          <a:solidFill>
                            <a:schemeClr val="accent1">
                              <a:lumMod val="75000"/>
                            </a:schemeClr>
                          </a:solidFill>
                          <a:uFillTx/>
                          <a:latin typeface="Arial"/>
                          <a:ea typeface="DejaVu Sans"/>
                        </a:rPr>
                        <a:t>0.026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6ba72"/>
                    </a:solidFill>
                  </a:tcPr>
                </a:tc>
              </a:tr>
              <a:tr h="39384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📍  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Distancia al trabajo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🟢 </a:t>
                      </a:r>
                      <a:r>
                        <a:rPr b="1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Asociación en modelo logístico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OR=0.53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s-ES" sz="1800" spc="-1" strike="noStrike" u="sng">
                          <a:solidFill>
                            <a:schemeClr val="accent1">
                              <a:lumMod val="75000"/>
                            </a:schemeClr>
                          </a:solidFill>
                          <a:uFillTx/>
                          <a:latin typeface="Arial"/>
                          <a:ea typeface="DejaVu Sans"/>
                        </a:rPr>
                        <a:t>0.042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Logística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👤 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Edad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−</a:t>
                      </a: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0.06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0.496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⚖️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IMC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−</a:t>
                      </a: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0.14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0.099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🚬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Fumador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U=814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0.514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Mann-Whitney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🍷  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Bebedor social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U=2351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0.726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Mann-Whitney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🎓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Educación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H=3.21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0.361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Kruskal-Wallis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🐾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Mascotas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0.05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0.553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🏢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Antigüedad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−</a:t>
                      </a: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0.05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0.580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38760"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🎯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Desempeño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⚪ </a:t>
                      </a:r>
                      <a:r>
                        <a:rPr b="0" lang="es-ES" sz="18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Sin evidencia</a:t>
                      </a:r>
                      <a:endParaRPr b="0" lang="es-E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−</a:t>
                      </a: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0.09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rgbClr val="ff0000"/>
                          </a:solidFill>
                          <a:latin typeface="Arial"/>
                          <a:ea typeface="DejaVu Sans"/>
                        </a:rPr>
                        <a:t>0.302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9040" rIns="59040" tIns="29520" bIns="29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s-ES" sz="1000" spc="-1" strike="noStrike">
                          <a:solidFill>
                            <a:schemeClr val="dk1"/>
                          </a:solidFill>
                          <a:latin typeface="Arial"/>
                          <a:ea typeface="DejaVu Sans"/>
                        </a:rPr>
                        <a:t>Spearman</a:t>
                      </a:r>
                      <a:endParaRPr b="0" lang="es-ES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59040" marR="590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7"/>
          <p:cNvSpPr/>
          <p:nvPr/>
        </p:nvSpPr>
        <p:spPr>
          <a:xfrm>
            <a:off x="0" y="0"/>
            <a:ext cx="12186720" cy="15948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0" y="6510600"/>
            <a:ext cx="12186720" cy="36072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" name="Text 7"/>
          <p:cNvSpPr/>
          <p:nvPr/>
        </p:nvSpPr>
        <p:spPr>
          <a:xfrm>
            <a:off x="1043640" y="1289160"/>
            <a:ext cx="327312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4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89" name="Imagen 6" descr=""/>
          <p:cNvPicPr/>
          <p:nvPr/>
        </p:nvPicPr>
        <p:blipFill>
          <a:blip r:embed="rId1"/>
          <a:srcRect l="0" t="26241" r="0" b="23016"/>
          <a:stretch/>
        </p:blipFill>
        <p:spPr>
          <a:xfrm>
            <a:off x="10038240" y="288360"/>
            <a:ext cx="1945080" cy="534960"/>
          </a:xfrm>
          <a:prstGeom prst="rect">
            <a:avLst/>
          </a:prstGeom>
          <a:ln w="0">
            <a:noFill/>
          </a:ln>
        </p:spPr>
      </p:pic>
      <p:sp>
        <p:nvSpPr>
          <p:cNvPr id="190" name="Text 8"/>
          <p:cNvSpPr/>
          <p:nvPr/>
        </p:nvSpPr>
        <p:spPr>
          <a:xfrm>
            <a:off x="168120" y="6538320"/>
            <a:ext cx="299520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2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2742840" y="6538320"/>
            <a:ext cx="1393920" cy="3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pc="-1" strike="noStrike">
                <a:solidFill>
                  <a:srgbClr val="6b7280"/>
                </a:solidFill>
                <a:latin typeface="Aptos"/>
                <a:ea typeface="DejaVu Sans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51;p 11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¿Qué podemos concluir del análisis?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57;p 10"/>
          <p:cNvSpPr/>
          <p:nvPr/>
        </p:nvSpPr>
        <p:spPr>
          <a:xfrm>
            <a:off x="563400" y="948960"/>
            <a:ext cx="69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Atributos personales y laborales que están más asociados a alto absentismo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146120" y="6259680"/>
            <a:ext cx="8046000" cy="250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260" spc="-1" strike="noStrike">
                <a:solidFill>
                  <a:srgbClr val="664d03"/>
                </a:solidFill>
                <a:latin typeface="Calibri"/>
                <a:ea typeface="Calibri"/>
              </a:rPr>
              <a:t>⚠️  </a:t>
            </a:r>
            <a:r>
              <a:rPr b="0" i="1" lang="en-US" sz="1260" spc="-1" strike="noStrike">
                <a:solidFill>
                  <a:srgbClr val="664d03"/>
                </a:solidFill>
                <a:latin typeface="Calibri"/>
                <a:ea typeface="Calibri"/>
              </a:rPr>
              <a:t>Las asociaciones encontradas no implican causalidad. Los resultados son exploratorios y orientativos, no concluyentes.</a:t>
            </a:r>
            <a:endParaRPr b="0" lang="es-E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2"/>
          <p:cNvSpPr/>
          <p:nvPr/>
        </p:nvSpPr>
        <p:spPr>
          <a:xfrm>
            <a:off x="1043640" y="1292760"/>
            <a:ext cx="3273840" cy="10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4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8" name="Shape 18"/>
          <p:cNvSpPr/>
          <p:nvPr/>
        </p:nvSpPr>
        <p:spPr>
          <a:xfrm>
            <a:off x="720000" y="1504440"/>
            <a:ext cx="4038480" cy="1401840"/>
          </a:xfrm>
          <a:prstGeom prst="roundRect">
            <a:avLst>
              <a:gd name="adj" fmla="val 6087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5"/>
          <p:cNvSpPr/>
          <p:nvPr/>
        </p:nvSpPr>
        <p:spPr>
          <a:xfrm>
            <a:off x="792000" y="15400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2660" spc="-1" strike="noStrike">
                <a:solidFill>
                  <a:srgbClr val="000000"/>
                </a:solidFill>
                <a:latin typeface="Arial"/>
                <a:ea typeface="DejaVu Sans"/>
              </a:rPr>
              <a:t>📊</a:t>
            </a:r>
            <a:endParaRPr b="0" lang="es-ES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9"/>
          <p:cNvSpPr/>
          <p:nvPr/>
        </p:nvSpPr>
        <p:spPr>
          <a:xfrm>
            <a:off x="1323360" y="1662840"/>
            <a:ext cx="3549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212529"/>
                </a:solidFill>
                <a:latin typeface="Arial"/>
                <a:ea typeface="Calibri"/>
              </a:rPr>
              <a:t>Muestra limitada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3"/>
          <p:cNvSpPr/>
          <p:nvPr/>
        </p:nvSpPr>
        <p:spPr>
          <a:xfrm>
            <a:off x="1143360" y="2077200"/>
            <a:ext cx="35499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130" spc="-1" strike="noStrike">
                <a:solidFill>
                  <a:srgbClr val="6c757d"/>
                </a:solidFill>
                <a:latin typeface="Calibri"/>
                <a:ea typeface="Calibri"/>
              </a:rPr>
              <a:t>136 empleados y 13 predictores está en el límite estadístico recomendado (~10 obs./predictor). El modelo tiene poca potencia para detectar efectos moderados.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720000" y="3089160"/>
            <a:ext cx="4038480" cy="1401840"/>
          </a:xfrm>
          <a:prstGeom prst="roundRect">
            <a:avLst>
              <a:gd name="adj" fmla="val 6087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43"/>
          <p:cNvSpPr/>
          <p:nvPr/>
        </p:nvSpPr>
        <p:spPr>
          <a:xfrm>
            <a:off x="779400" y="3196080"/>
            <a:ext cx="4806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2660" spc="-1" strike="noStrike">
                <a:solidFill>
                  <a:srgbClr val="000000"/>
                </a:solidFill>
                <a:latin typeface="Arial"/>
                <a:ea typeface="DejaVu Sans"/>
              </a:rPr>
              <a:t>📏</a:t>
            </a:r>
            <a:endParaRPr b="0" lang="es-ES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44"/>
          <p:cNvSpPr/>
          <p:nvPr/>
        </p:nvSpPr>
        <p:spPr>
          <a:xfrm>
            <a:off x="1323360" y="3247920"/>
            <a:ext cx="3549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400" spc="-1" strike="noStrike">
                <a:solidFill>
                  <a:srgbClr val="212529"/>
                </a:solidFill>
                <a:latin typeface="Arial"/>
                <a:ea typeface="Calibri"/>
              </a:rPr>
              <a:t>El alto absentismo se define de forma metodológica </a:t>
            </a:r>
            <a:r>
              <a:rPr b="1" lang="en-US" sz="1340" spc="-1" strike="noStrike">
                <a:solidFill>
                  <a:srgbClr val="212529"/>
                </a:solidFill>
                <a:latin typeface="Calibri"/>
                <a:ea typeface="Calibri"/>
              </a:rPr>
              <a:t>Umbral P75 = 21,75 h</a:t>
            </a:r>
            <a:endParaRPr b="0" lang="es-ES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5"/>
          <p:cNvSpPr/>
          <p:nvPr/>
        </p:nvSpPr>
        <p:spPr>
          <a:xfrm>
            <a:off x="1143360" y="3662280"/>
            <a:ext cx="35499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130" spc="-1" strike="noStrike">
                <a:solidFill>
                  <a:srgbClr val="6c757d"/>
                </a:solidFill>
                <a:latin typeface="Calibri"/>
                <a:ea typeface="Calibri"/>
              </a:rPr>
              <a:t>El corte en el percentil 75 es interno, no un estándar externo validado. Otro umbral podría cambiar la composición de los grupos y los resultados.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720000" y="4674240"/>
            <a:ext cx="4038480" cy="1401840"/>
          </a:xfrm>
          <a:prstGeom prst="roundRect">
            <a:avLst>
              <a:gd name="adj" fmla="val 6087"/>
            </a:avLst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  <p:sp>
        <p:nvSpPr>
          <p:cNvPr id="207" name="Text 46"/>
          <p:cNvSpPr/>
          <p:nvPr/>
        </p:nvSpPr>
        <p:spPr>
          <a:xfrm>
            <a:off x="783720" y="4996080"/>
            <a:ext cx="5482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2660" spc="-1" strike="noStrike">
                <a:solidFill>
                  <a:srgbClr val="000000"/>
                </a:solidFill>
                <a:latin typeface="Arial"/>
                <a:ea typeface="DejaVu Sans"/>
              </a:rPr>
              <a:t>🏢</a:t>
            </a:r>
            <a:endParaRPr b="0" lang="es-ES" sz="26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7"/>
          <p:cNvSpPr/>
          <p:nvPr/>
        </p:nvSpPr>
        <p:spPr>
          <a:xfrm>
            <a:off x="1359360" y="4832640"/>
            <a:ext cx="3549960" cy="3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212529"/>
                </a:solidFill>
                <a:latin typeface="Arial"/>
                <a:ea typeface="Calibri"/>
              </a:rPr>
              <a:t>Variables organizativas no disponibles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48"/>
          <p:cNvSpPr/>
          <p:nvPr/>
        </p:nvSpPr>
        <p:spPr>
          <a:xfrm>
            <a:off x="1143360" y="5247360"/>
            <a:ext cx="35499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130" spc="-1" strike="noStrike">
                <a:solidFill>
                  <a:srgbClr val="6c757d"/>
                </a:solidFill>
                <a:latin typeface="Calibri"/>
                <a:ea typeface="Calibri"/>
              </a:rPr>
              <a:t>Puesto, equipo, turno y supervisor probablemente tienen mayor poder explicativo que las variables personales analizadas. Su ausencia limita la interpretación.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145;g3f4b6d773eb_0_ 1">
            <a:hlinkClick r:id="rId2"/>
          </p:cNvPr>
          <p:cNvSpPr/>
          <p:nvPr/>
        </p:nvSpPr>
        <p:spPr>
          <a:xfrm>
            <a:off x="5400000" y="1899000"/>
            <a:ext cx="6120000" cy="368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ff95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ES" sz="2400" spc="-1" strike="noStrike">
                <a:solidFill>
                  <a:srgbClr val="c21875"/>
                </a:solidFill>
                <a:latin typeface="Arial"/>
                <a:ea typeface="DejaVu Sans"/>
              </a:rPr>
              <a:t>No se identifica un perfil de riesgo concluyente</a:t>
            </a:r>
            <a:r>
              <a:rPr b="0" lang="es-ES" sz="2400" spc="-1" strike="noStrike">
                <a:solidFill>
                  <a:srgbClr val="000000"/>
                </a:solidFill>
                <a:latin typeface="Arial"/>
                <a:ea typeface="DejaVu Sans"/>
              </a:rPr>
              <a:t>, ni por atributos individuales ni por la combinación de los atributos analizados. 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90;g3f4b6d773eb_0_ 2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Google Shape;91;g3f4b6d773eb_0_ 2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Google Shape;92;g3f4b6d773eb_0_ 2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214" name="Google Shape;93;g3f4b6d773eb_0_ 2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94;g3f4b6d773eb_0_ 2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95;g3f4b6d773eb_0_ 2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96;g3f4b6d773eb_0_ 2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98;g3f4b6d773eb_0_ 1">
            <a:hlinkClick r:id="rId2" action="ppaction://hlinksldjump"/>
          </p:cNvPr>
          <p:cNvSpPr/>
          <p:nvPr/>
        </p:nvSpPr>
        <p:spPr>
          <a:xfrm>
            <a:off x="445320" y="2015280"/>
            <a:ext cx="357588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🚌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Gasto en transporte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Google Shape;99;g3f4b6d773eb_0_ 1">
            <a:hlinkClick r:id="rId3"/>
          </p:cNvPr>
          <p:cNvSpPr/>
          <p:nvPr/>
        </p:nvSpPr>
        <p:spPr>
          <a:xfrm>
            <a:off x="441756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📦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Carga de trabajo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100;g3f4b6d773eb_0_ 1">
            <a:hlinkClick r:id="rId4"/>
          </p:cNvPr>
          <p:cNvSpPr/>
          <p:nvPr/>
        </p:nvSpPr>
        <p:spPr>
          <a:xfrm>
            <a:off x="83264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👶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Nº de hijos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51;p 13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Gestión del absentismo: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57;p 12"/>
          <p:cNvSpPr/>
          <p:nvPr/>
        </p:nvSpPr>
        <p:spPr>
          <a:xfrm>
            <a:off x="563400" y="948960"/>
            <a:ext cx="78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Cambios en la política interna para reducir el absentismo en los perfiles de alto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90;g3f4b6d773eb_0_ 3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Google Shape;91;g3f4b6d773eb_0_ 3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Google Shape;92;g3f4b6d773eb_0_ 3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226" name="Google Shape;93;g3f4b6d773eb_0_ 3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94;g3f4b6d773eb_0_ 3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95;g3f4b6d773eb_0_ 3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96;g3f4b6d773eb_0_ 3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98;g3f4b6d773eb_0_ 4">
            <a:hlinkClick r:id="rId2" action="ppaction://hlinksldjump"/>
          </p:cNvPr>
          <p:cNvSpPr/>
          <p:nvPr/>
        </p:nvSpPr>
        <p:spPr>
          <a:xfrm>
            <a:off x="445320" y="2015280"/>
            <a:ext cx="3575880" cy="36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🚌  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Gasto en transporte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Encuesta de transporte para conocer hábitos. Posibles medidas: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Retribución flexible (tickets transporte, pre-IRPF)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Parking de bicicletas cubierto (~1.500€)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Car sharing corporativo (Tribbu / HYBO, 2-5€/mes)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Google Shape;99;g3f4b6d773eb_0_ 2">
            <a:hlinkClick r:id="rId3" action="ppaction://hlinksldjump"/>
          </p:cNvPr>
          <p:cNvSpPr/>
          <p:nvPr/>
        </p:nvSpPr>
        <p:spPr>
          <a:xfrm>
            <a:off x="441756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📦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Carga de trabajo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100;g3f4b6d773eb_0_ 2">
            <a:hlinkClick r:id="rId4"/>
          </p:cNvPr>
          <p:cNvSpPr/>
          <p:nvPr/>
        </p:nvSpPr>
        <p:spPr>
          <a:xfrm>
            <a:off x="83264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👶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Nº de hijos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51;p 14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Gestión del absentismo: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57;p 13"/>
          <p:cNvSpPr/>
          <p:nvPr/>
        </p:nvSpPr>
        <p:spPr>
          <a:xfrm>
            <a:off x="563400" y="948960"/>
            <a:ext cx="78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Cambios en la política interna para reducir el absentismo en los perfiles de alto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90;g3f4b6d773eb_0_ 4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Google Shape;91;g3f4b6d773eb_0_ 4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Google Shape;92;g3f4b6d773eb_0_ 4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238" name="Google Shape;93;g3f4b6d773eb_0_ 4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94;g3f4b6d773eb_0_ 4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95;g3f4b6d773eb_0_ 4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96;g3f4b6d773eb_0_ 4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98;g3f4b6d773eb_0_ 5">
            <a:hlinkClick r:id="rId2" action="ppaction://hlinksldjump"/>
          </p:cNvPr>
          <p:cNvSpPr/>
          <p:nvPr/>
        </p:nvSpPr>
        <p:spPr>
          <a:xfrm>
            <a:off x="445320" y="2015280"/>
            <a:ext cx="357588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🚌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Gasto en transporte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99;g3f4b6d773eb_0_ 3">
            <a:hlinkClick r:id="rId3"/>
          </p:cNvPr>
          <p:cNvSpPr/>
          <p:nvPr/>
        </p:nvSpPr>
        <p:spPr>
          <a:xfrm>
            <a:off x="441756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📦  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Carga de trabajo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Revisión de distribución en meses críticos (marzo y julio):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Límites de carga máxima por turno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Protocolo de detección temprana de fatiga laboral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Google Shape;100;g3f4b6d773eb_0_ 3">
            <a:hlinkClick r:id="rId4" action="ppaction://hlinksldjump"/>
          </p:cNvPr>
          <p:cNvSpPr/>
          <p:nvPr/>
        </p:nvSpPr>
        <p:spPr>
          <a:xfrm>
            <a:off x="83264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👶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Nº de hijos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51;p 15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Gestión del absentismo: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57;p 14"/>
          <p:cNvSpPr/>
          <p:nvPr/>
        </p:nvSpPr>
        <p:spPr>
          <a:xfrm>
            <a:off x="563400" y="948960"/>
            <a:ext cx="78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Cambios en la política interna para reducir el absentismo en los perfiles de alto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90;g3f4b6d773eb_0_ 5"/>
          <p:cNvSpPr/>
          <p:nvPr/>
        </p:nvSpPr>
        <p:spPr>
          <a:xfrm>
            <a:off x="0" y="0"/>
            <a:ext cx="12184560" cy="15732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91;g3f4b6d773eb_0_ 5"/>
          <p:cNvSpPr/>
          <p:nvPr/>
        </p:nvSpPr>
        <p:spPr>
          <a:xfrm>
            <a:off x="0" y="6510600"/>
            <a:ext cx="12184560" cy="35856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Google Shape;92;g3f4b6d773eb_0_ 5" descr=""/>
          <p:cNvPicPr/>
          <p:nvPr/>
        </p:nvPicPr>
        <p:blipFill>
          <a:blip r:embed="rId1"/>
          <a:srcRect l="0" t="26220" r="0" b="23016"/>
          <a:stretch/>
        </p:blipFill>
        <p:spPr>
          <a:xfrm>
            <a:off x="10038240" y="288360"/>
            <a:ext cx="1942920" cy="532800"/>
          </a:xfrm>
          <a:prstGeom prst="rect">
            <a:avLst/>
          </a:prstGeom>
          <a:ln w="0">
            <a:noFill/>
          </a:ln>
        </p:spPr>
      </p:pic>
      <p:sp>
        <p:nvSpPr>
          <p:cNvPr id="250" name="Google Shape;93;g3f4b6d773eb_0_ 5"/>
          <p:cNvSpPr/>
          <p:nvPr/>
        </p:nvSpPr>
        <p:spPr>
          <a:xfrm>
            <a:off x="168120" y="6538320"/>
            <a:ext cx="29930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Dpt. Analistas de Datos de RRHH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94;g3f4b6d773eb_0_ 5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95;g3f4b6d773eb_0_ 5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96;g3f4b6d773eb_0_ 5"/>
          <p:cNvSpPr/>
          <p:nvPr/>
        </p:nvSpPr>
        <p:spPr>
          <a:xfrm>
            <a:off x="2742840" y="6538320"/>
            <a:ext cx="139176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200" spc="-1" strike="noStrike">
                <a:solidFill>
                  <a:srgbClr val="6b7280"/>
                </a:solidFill>
                <a:latin typeface="Arial"/>
                <a:ea typeface="Arial"/>
              </a:rPr>
              <a:t>- 13 Junio 2026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98;g3f4b6d773eb_0_ 6">
            <a:hlinkClick r:id="rId2" action="ppaction://hlinksldjump"/>
          </p:cNvPr>
          <p:cNvSpPr/>
          <p:nvPr/>
        </p:nvSpPr>
        <p:spPr>
          <a:xfrm>
            <a:off x="445320" y="2015280"/>
            <a:ext cx="357588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🚌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Gasto en transporte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99;g3f4b6d773eb_0_ 4">
            <a:hlinkClick r:id="rId3"/>
          </p:cNvPr>
          <p:cNvSpPr/>
          <p:nvPr/>
        </p:nvSpPr>
        <p:spPr>
          <a:xfrm>
            <a:off x="441756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950e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📦  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Carga de trabajo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100;g3f4b6d773eb_0_ 4">
            <a:hlinkClick r:id="rId4"/>
          </p:cNvPr>
          <p:cNvSpPr/>
          <p:nvPr/>
        </p:nvSpPr>
        <p:spPr>
          <a:xfrm>
            <a:off x="8326440" y="2015280"/>
            <a:ext cx="3512160" cy="36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19050">
            <a:solidFill>
              <a:srgbClr val="ff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b4332"/>
                </a:solidFill>
                <a:latin typeface="Arial"/>
                <a:ea typeface="Calibri"/>
              </a:rPr>
              <a:t>👶  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Calibri"/>
              </a:rPr>
              <a:t>Nº de hijos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Entrevista individual de conciliación para empleados con hijos: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Flexibilidad horaria y bolsa de horas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Calibri"/>
              </a:rPr>
              <a:t>Permisos adicionales por cuidado de hijos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Google Shape;51;p 16"/>
          <p:cNvSpPr/>
          <p:nvPr/>
        </p:nvSpPr>
        <p:spPr>
          <a:xfrm>
            <a:off x="540000" y="388800"/>
            <a:ext cx="738000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2800" spc="-1" strike="noStrike">
                <a:solidFill>
                  <a:srgbClr val="1f2937"/>
                </a:solidFill>
                <a:latin typeface="Calibri"/>
                <a:ea typeface="Calibri"/>
              </a:rPr>
              <a:t>Gestión del absentismo: propuestas de negocio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57;p 15"/>
          <p:cNvSpPr/>
          <p:nvPr/>
        </p:nvSpPr>
        <p:spPr>
          <a:xfrm>
            <a:off x="563400" y="948960"/>
            <a:ext cx="7896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1400" spc="-1" strike="noStrike">
                <a:solidFill>
                  <a:srgbClr val="808080"/>
                </a:solidFill>
                <a:latin typeface="Arial"/>
                <a:ea typeface="Arial"/>
              </a:rPr>
              <a:t>Cambios en la política interna para reducir el absentismo en los perfiles de alto 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5760000" y="164160"/>
            <a:ext cx="6432480" cy="6351120"/>
          </a:xfrm>
          <a:prstGeom prst="rect">
            <a:avLst/>
          </a:prstGeom>
          <a:ln w="0">
            <a:noFill/>
          </a:ln>
        </p:spPr>
      </p:pic>
      <p:sp>
        <p:nvSpPr>
          <p:cNvPr id="260" name="Shape 19"/>
          <p:cNvSpPr/>
          <p:nvPr/>
        </p:nvSpPr>
        <p:spPr>
          <a:xfrm>
            <a:off x="0" y="0"/>
            <a:ext cx="12187080" cy="159840"/>
          </a:xfrm>
          <a:prstGeom prst="rect">
            <a:avLst/>
          </a:prstGeom>
          <a:solidFill>
            <a:srgbClr val="c218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1" name="Shape 20"/>
          <p:cNvSpPr/>
          <p:nvPr/>
        </p:nvSpPr>
        <p:spPr>
          <a:xfrm>
            <a:off x="0" y="6519600"/>
            <a:ext cx="12187080" cy="352080"/>
          </a:xfrm>
          <a:prstGeom prst="rect">
            <a:avLst/>
          </a:prstGeom>
          <a:solidFill>
            <a:srgbClr val="ff8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2" name="Text 20"/>
          <p:cNvSpPr/>
          <p:nvPr/>
        </p:nvSpPr>
        <p:spPr>
          <a:xfrm>
            <a:off x="1116000" y="3744000"/>
            <a:ext cx="1975680" cy="8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6b7280"/>
                </a:solidFill>
                <a:latin typeface="Aptos"/>
                <a:ea typeface="DejaVu Sans"/>
              </a:rPr>
              <a:t>Julio 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" descr=""/>
          <p:cNvPicPr/>
          <p:nvPr/>
        </p:nvPicPr>
        <p:blipFill>
          <a:blip r:embed="rId2"/>
          <a:srcRect l="0" t="26241" r="0" b="23016"/>
          <a:stretch/>
        </p:blipFill>
        <p:spPr>
          <a:xfrm>
            <a:off x="216000" y="360360"/>
            <a:ext cx="1945440" cy="535320"/>
          </a:xfrm>
          <a:prstGeom prst="rect">
            <a:avLst/>
          </a:prstGeom>
          <a:ln w="0">
            <a:noFill/>
          </a:ln>
        </p:spPr>
      </p:pic>
      <p:sp>
        <p:nvSpPr>
          <p:cNvPr id="264" name="Text 21"/>
          <p:cNvSpPr/>
          <p:nvPr/>
        </p:nvSpPr>
        <p:spPr>
          <a:xfrm>
            <a:off x="1104120" y="3420000"/>
            <a:ext cx="335556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500" spc="-1" strike="noStrike">
                <a:solidFill>
                  <a:srgbClr val="6b7280"/>
                </a:solidFill>
                <a:latin typeface="Aptos"/>
                <a:ea typeface="DejaVu Sans"/>
              </a:rPr>
              <a:t>Dpt. Analistas de Datos de RRHH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Application>LibreOffice/24.2.3.2$Windows_X86_64 LibreOffice_project/433d9c2ded56988e8a90e6b2e771ee4e6a5ab2ba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2026-07-04T17:08:40Z</dcterms:created>
  <dc:creator/>
  <dc:description/>
  <dc:language>es-ES</dc:language>
  <cp:lastModifiedBy/>
  <dcterms:modified xsi:type="dcterms:W3CDTF">2026-07-12T18:09:38Z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11</vt:i4>
  </property>
</Properties>
</file>