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</p:sldMasterIdLst>
  <p:notesMasterIdLst>
    <p:notesMasterId r:id="rId2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7559675" cy="10691813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5" autoAdjust="0"/>
    <p:restoredTop sz="95260" autoAdjust="0"/>
  </p:normalViewPr>
  <p:slideViewPr>
    <p:cSldViewPr snapToGrid="0">
      <p:cViewPr>
        <p:scale>
          <a:sx n="93" d="100"/>
          <a:sy n="93" d="100"/>
        </p:scale>
        <p:origin x="264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s-ES" sz="4400" b="0" strike="noStrike" spc="-1">
                <a:solidFill>
                  <a:srgbClr val="000000"/>
                </a:solidFill>
                <a:latin typeface="Arial"/>
              </a:rPr>
              <a:t>Pulse para desplazar la diapositiva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Pulse para editar el formato de las notas</a:t>
            </a:r>
          </a:p>
        </p:txBody>
      </p:sp>
      <p:sp>
        <p:nvSpPr>
          <p:cNvPr id="2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&lt;cabecera&gt;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&lt;fecha/hora&gt;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23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1B70EF6-D4E1-48BE-A98D-51A514D36E2F}" type="slidenum"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‹Nº›</a:t>
            </a:fld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73120" y="1336680"/>
            <a:ext cx="6413040" cy="360792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8000" cy="420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Por que hemos elegido p75 para el corte considerado alto absentismo? Y no un número fijo tipo los que faltan más de 1 semana (+40h)?</a:t>
            </a:r>
          </a:p>
        </p:txBody>
      </p:sp>
      <p:sp>
        <p:nvSpPr>
          <p:cNvPr id="267" name="PlaceHolder 3"/>
          <p:cNvSpPr>
            <a:spLocks noGrp="1"/>
          </p:cNvSpPr>
          <p:nvPr>
            <p:ph type="sldNum" idx="10"/>
          </p:nvPr>
        </p:nvSpPr>
        <p:spPr>
          <a:xfrm>
            <a:off x="4281480" y="10155240"/>
            <a:ext cx="3276360" cy="53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488FCAA-3CDE-4C51-9B7A-863B87348111}" type="slidenum">
              <a:rPr lang="es-ES" sz="1200" b="0" strike="noStrike" spc="-1">
                <a:solidFill>
                  <a:srgbClr val="000000"/>
                </a:solidFill>
                <a:latin typeface="Times New Roman"/>
              </a:rPr>
              <a:t>10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8000" cy="420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s-ES" sz="2000" b="0" strike="noStrike" spc="-1" dirty="0">
                <a:solidFill>
                  <a:srgbClr val="6796E6"/>
                </a:solidFill>
                <a:latin typeface="Consolas"/>
              </a:rPr>
              <a:t>-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 Con los datos disponibles no se puede identificar un perfil de riesgo significativo a nivel estadístico. </a:t>
            </a: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s-ES" sz="2000" b="0" strike="noStrike" spc="-1" dirty="0">
                <a:solidFill>
                  <a:srgbClr val="6796E6"/>
                </a:solidFill>
                <a:latin typeface="Consolas"/>
              </a:rPr>
              <a:t>-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 El modelo de regresión logística muestra 1 sola variable con asociación significativa (p &lt; 0.05): 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 err="1">
                <a:solidFill>
                  <a:srgbClr val="CE9178"/>
                </a:solidFill>
                <a:latin typeface="Consolas"/>
              </a:rPr>
              <a:t>distance_residence_work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El modelo de regresión logística permite identificar qué características están asociadas con una mayor probabilidad de pertenecer al grupo de absentismo elevado, controlando el efecto del resto de variables.</a:t>
            </a: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br>
              <a:rPr sz="2000" dirty="0"/>
            </a:b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Las variables con OR más alejado de 1 son las que presentan mayor asociación con el absentismo alto. Sin embargo, dado el tamaño muestral (136 empleados), ninguna variable alcanza significación estadística (p &lt; 0.05), lo que indica que el modelo no puede hacer afirmaciones concluyentes con los datos disponibles.</a:t>
            </a: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br>
              <a:rPr sz="2000" dirty="0"/>
            </a:b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Como </a:t>
            </a:r>
            <a:r>
              <a:rPr lang="es-ES" sz="2000" b="1" strike="noStrike" spc="-1" dirty="0">
                <a:solidFill>
                  <a:srgbClr val="569CD6"/>
                </a:solidFill>
                <a:latin typeface="Consolas"/>
              </a:rPr>
              <a:t>**tendencias**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 (no conclusiones definitivas), las variables que muestran mayor OR positivo —es decir, mayor asociación con el absentismo elevado— son el número de hijos (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`Son`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), ser fumador social (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 err="1">
                <a:solidFill>
                  <a:srgbClr val="CE9178"/>
                </a:solidFill>
                <a:latin typeface="Consolas"/>
              </a:rPr>
              <a:t>Social_Smoker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), ser bebedor social (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 err="1">
                <a:solidFill>
                  <a:srgbClr val="CE9178"/>
                </a:solidFill>
                <a:latin typeface="Consolas"/>
              </a:rPr>
              <a:t>Social_Drinker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) y la edad (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`Age`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). Por el contrario, variables como 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 err="1">
                <a:solidFill>
                  <a:srgbClr val="CE9178"/>
                </a:solidFill>
                <a:latin typeface="Consolas"/>
              </a:rPr>
              <a:t>Hit_Target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 o 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 err="1">
                <a:solidFill>
                  <a:srgbClr val="CE9178"/>
                </a:solidFill>
                <a:latin typeface="Consolas"/>
              </a:rPr>
              <a:t>Distance_Residence_Work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 muestran OR cercano a 1, lo que indica escasa asociación con el absentismo en este </a:t>
            </a:r>
            <a:r>
              <a:rPr lang="es-ES" sz="2000" b="0" strike="noStrike" spc="-1" dirty="0" err="1">
                <a:solidFill>
                  <a:srgbClr val="D4D4D4"/>
                </a:solidFill>
                <a:latin typeface="Consolas"/>
              </a:rPr>
              <a:t>dataset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.</a:t>
            </a: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br>
              <a:rPr sz="2000" dirty="0"/>
            </a:br>
            <a:r>
              <a:rPr lang="es-ES" sz="2000" b="1" strike="noStrike" spc="-1" dirty="0">
                <a:solidFill>
                  <a:srgbClr val="569CD6"/>
                </a:solidFill>
                <a:latin typeface="Consolas"/>
              </a:rPr>
              <a:t>**Importante:**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 estas asociaciones no implican causalidad. Un OR &gt; 1 no significa que esa característica </a:t>
            </a:r>
            <a:r>
              <a:rPr lang="es-ES" sz="2000" b="0" i="1" strike="noStrike" spc="-1" dirty="0">
                <a:solidFill>
                  <a:srgbClr val="C586C0"/>
                </a:solidFill>
                <a:latin typeface="Consolas"/>
              </a:rPr>
              <a:t>*cause*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 el absentismo, sino que los empleados con esa característica tienen, en promedio, mayor probabilidad de pertenecer al cuartil superior de ausencias.</a:t>
            </a: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11"/>
          </p:nvPr>
        </p:nvSpPr>
        <p:spPr>
          <a:xfrm>
            <a:off x="4281480" y="10155240"/>
            <a:ext cx="3276360" cy="53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8BF58D9-C5D5-49CF-A357-D9697495520F}" type="slidenum">
              <a:rPr lang="es-ES" sz="1200" b="0" strike="noStrike" spc="-1">
                <a:solidFill>
                  <a:srgbClr val="000000"/>
                </a:solidFill>
                <a:latin typeface="Times New Roman"/>
              </a:rPr>
              <a:t>12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8000" cy="420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s-ES" sz="2000" b="0" strike="noStrike" spc="-1" dirty="0">
                <a:solidFill>
                  <a:srgbClr val="6796E6"/>
                </a:solidFill>
                <a:latin typeface="Consolas"/>
              </a:rPr>
              <a:t>-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 Con los datos disponibles no se puede identificar un perfil de riesgo significativo a nivel estadístico. </a:t>
            </a: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s-ES" sz="2000" b="0" strike="noStrike" spc="-1" dirty="0">
                <a:solidFill>
                  <a:srgbClr val="6796E6"/>
                </a:solidFill>
                <a:latin typeface="Consolas"/>
              </a:rPr>
              <a:t>-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 El modelo de regresión logística muestra 1 sola variable con asociación significativa (p &lt; 0.05): 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 err="1">
                <a:solidFill>
                  <a:srgbClr val="CE9178"/>
                </a:solidFill>
                <a:latin typeface="Consolas"/>
              </a:rPr>
              <a:t>distance_residence_work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El modelo de regresión logística permite identificar qué características están asociadas con una mayor probabilidad de pertenecer al grupo de absentismo elevado, controlando el efecto del resto de variables.</a:t>
            </a: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br>
              <a:rPr sz="2000" dirty="0"/>
            </a:b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Las variables con OR más alejado de 1 son las que presentan mayor asociación con el absentismo alto. Sin embargo, dado el tamaño muestral (136 empleados), ninguna variable alcanza significación estadística (p &lt; 0.05), lo que indica que el modelo no puede hacer afirmaciones concluyentes con los datos disponibles.</a:t>
            </a: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br>
              <a:rPr sz="2000" dirty="0"/>
            </a:b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Como </a:t>
            </a:r>
            <a:r>
              <a:rPr lang="es-ES" sz="2000" b="1" strike="noStrike" spc="-1" dirty="0">
                <a:solidFill>
                  <a:srgbClr val="569CD6"/>
                </a:solidFill>
                <a:latin typeface="Consolas"/>
              </a:rPr>
              <a:t>**tendencias**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 (no conclusiones definitivas), las variables que muestran mayor OR positivo —es decir, mayor asociación con el absentismo elevado— son el número de hijos (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`Son`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), ser fumador social (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 err="1">
                <a:solidFill>
                  <a:srgbClr val="CE9178"/>
                </a:solidFill>
                <a:latin typeface="Consolas"/>
              </a:rPr>
              <a:t>Social_Smoker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), ser bebedor social (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 err="1">
                <a:solidFill>
                  <a:srgbClr val="CE9178"/>
                </a:solidFill>
                <a:latin typeface="Consolas"/>
              </a:rPr>
              <a:t>Social_Drinker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) y la edad (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`Age`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). Por el contrario, variables como 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 err="1">
                <a:solidFill>
                  <a:srgbClr val="CE9178"/>
                </a:solidFill>
                <a:latin typeface="Consolas"/>
              </a:rPr>
              <a:t>Hit_Target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 o 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 err="1">
                <a:solidFill>
                  <a:srgbClr val="CE9178"/>
                </a:solidFill>
                <a:latin typeface="Consolas"/>
              </a:rPr>
              <a:t>Distance_Residence_Work</a:t>
            </a:r>
            <a:r>
              <a:rPr lang="es-ES" sz="2000" b="0" strike="noStrike" spc="-1" dirty="0">
                <a:solidFill>
                  <a:srgbClr val="CE9178"/>
                </a:solidFill>
                <a:latin typeface="Consolas"/>
              </a:rPr>
              <a:t>`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 muestran OR cercano a 1, lo que indica escasa asociación con el absentismo en este </a:t>
            </a:r>
            <a:r>
              <a:rPr lang="es-ES" sz="2000" b="0" strike="noStrike" spc="-1" dirty="0" err="1">
                <a:solidFill>
                  <a:srgbClr val="D4D4D4"/>
                </a:solidFill>
                <a:latin typeface="Consolas"/>
              </a:rPr>
              <a:t>dataset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.</a:t>
            </a: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br>
              <a:rPr sz="2000" dirty="0"/>
            </a:br>
            <a:r>
              <a:rPr lang="es-ES" sz="2000" b="1" strike="noStrike" spc="-1" dirty="0">
                <a:solidFill>
                  <a:srgbClr val="569CD6"/>
                </a:solidFill>
                <a:latin typeface="Consolas"/>
              </a:rPr>
              <a:t>**Importante:**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 estas asociaciones no implican causalidad. Un OR &gt; 1 no significa que esa característica </a:t>
            </a:r>
            <a:r>
              <a:rPr lang="es-ES" sz="2000" b="0" i="1" strike="noStrike" spc="-1" dirty="0">
                <a:solidFill>
                  <a:srgbClr val="C586C0"/>
                </a:solidFill>
                <a:latin typeface="Consolas"/>
              </a:rPr>
              <a:t>*cause*</a:t>
            </a:r>
            <a:r>
              <a:rPr lang="es-ES" sz="2000" b="0" strike="noStrike" spc="-1" dirty="0">
                <a:solidFill>
                  <a:srgbClr val="D4D4D4"/>
                </a:solidFill>
                <a:latin typeface="Consolas"/>
              </a:rPr>
              <a:t> el absentismo, sino que los empleados con esa característica tienen, en promedio, mayor probabilidad de pertenecer al cuartil superior de ausencias.</a:t>
            </a: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12"/>
          </p:nvPr>
        </p:nvSpPr>
        <p:spPr>
          <a:xfrm>
            <a:off x="4281480" y="10155240"/>
            <a:ext cx="3276360" cy="53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2920942-FE2C-4578-85BF-D7A9E749866E}" type="slidenum">
              <a:rPr lang="es-ES" sz="1200" b="0" strike="noStrike" spc="-1">
                <a:solidFill>
                  <a:srgbClr val="000000"/>
                </a:solidFill>
                <a:latin typeface="Times New Roman"/>
              </a:rPr>
              <a:t>13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1800"/>
            <a:ext cx="1096632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s-E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03369E20-6945-4C81-97AD-3633C273CFED}" type="slidenum">
              <a:t>‹Nº›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1800"/>
            <a:ext cx="1096632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s-E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19CAD52-69E3-4784-9130-08EC44FEC578}" type="slidenum">
              <a:t>‹Nº›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redetermin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1800"/>
            <a:ext cx="1096632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s-E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73C601DA-CA27-485A-BE5C-EBD422574341}" type="slidenum">
              <a:t>‹Nº›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redetermin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71800"/>
            <a:ext cx="1096632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s-E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DCA5C3B-1139-4C10-A3F3-F6D24B28E873}" type="slidenum">
              <a:t>‹Nº›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1800"/>
            <a:ext cx="1096632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</a:rPr>
              <a:t>Pulse para editar el formato del texto de título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88160" cy="38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1440" cy="38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0B7CA41-B61D-4AC0-923D-90C39CCF1F80}" type="slidenum">
              <a: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‹Nº›</a:t>
            </a:fld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1440" cy="38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&lt;fecha/hora&gt;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strike="noStrike" spc="-1">
                <a:solidFill>
                  <a:srgbClr val="000000"/>
                </a:solidFill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800" b="0" strike="noStrike" spc="-1">
                <a:solidFill>
                  <a:srgbClr val="000000"/>
                </a:solidFill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400" b="0" strike="noStrike" spc="-1">
                <a:solidFill>
                  <a:srgbClr val="000000"/>
                </a:solidFill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1800"/>
            <a:ext cx="1096632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</a:rPr>
              <a:t>Pulse para editar el formato del texto de título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</a:rPr>
              <a:t>Séptimo nivel del esquema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88160" cy="38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12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1440" cy="38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BBFF968-FCCC-4187-942C-DD138CDB87FB}" type="slidenum">
              <a: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‹Nº›</a:t>
            </a:fld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1440" cy="38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&lt;fecha/hora&gt;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ppt\slides\slide8.xml" TargetMode="External"/><Relationship Id="rId4" Type="http://schemas.openxmlformats.org/officeDocument/2006/relationships/hyperlink" Target="file:///C:\ppt\slides\slide7.xml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file:///C:\ppt\slides\slide5.x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slide" Target="slide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file:///C:\ppt\slides\slide5.x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slide" Target="slide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ppt\slides\slide5.x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file:///C:\ppt\slides\slide5.x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6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ppt\slides\slide8.xml" TargetMode="External"/><Relationship Id="rId4" Type="http://schemas.openxmlformats.org/officeDocument/2006/relationships/hyperlink" Target="file:///C:\ppt\slides\slide7.xm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ppt\slides\slide8.xml" TargetMode="External"/><Relationship Id="rId4" Type="http://schemas.openxmlformats.org/officeDocument/2006/relationships/slide" Target="slide1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slide" Target="slide18.xml"/><Relationship Id="rId4" Type="http://schemas.openxmlformats.org/officeDocument/2006/relationships/hyperlink" Target="file:///C:\ppt\slides\slide7.xml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ppt\slides\slide8.xml" TargetMode="External"/><Relationship Id="rId4" Type="http://schemas.openxmlformats.org/officeDocument/2006/relationships/hyperlink" Target="file:///C:\ppt\slides\slide7.xml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1;p1"/>
          <p:cNvPicPr/>
          <p:nvPr/>
        </p:nvPicPr>
        <p:blipFill>
          <a:blip r:embed="rId2"/>
          <a:stretch/>
        </p:blipFill>
        <p:spPr>
          <a:xfrm>
            <a:off x="5760000" y="164160"/>
            <a:ext cx="6429960" cy="6348600"/>
          </a:xfrm>
          <a:prstGeom prst="rect">
            <a:avLst/>
          </a:prstGeom>
          <a:ln w="0">
            <a:noFill/>
          </a:ln>
        </p:spPr>
      </p:pic>
      <p:sp>
        <p:nvSpPr>
          <p:cNvPr id="25" name="Google Shape;22;p1"/>
          <p:cNvSpPr/>
          <p:nvPr/>
        </p:nvSpPr>
        <p:spPr>
          <a:xfrm>
            <a:off x="0" y="0"/>
            <a:ext cx="12184560" cy="15732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Google Shape;23;p1"/>
          <p:cNvSpPr/>
          <p:nvPr/>
        </p:nvSpPr>
        <p:spPr>
          <a:xfrm>
            <a:off x="0" y="6519600"/>
            <a:ext cx="12184560" cy="34956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Google Shape;24;p1"/>
          <p:cNvSpPr/>
          <p:nvPr/>
        </p:nvSpPr>
        <p:spPr>
          <a:xfrm>
            <a:off x="396000" y="2011680"/>
            <a:ext cx="5898960" cy="104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3600" b="0" strike="noStrike" spc="-1">
                <a:solidFill>
                  <a:srgbClr val="1F2937"/>
                </a:solidFill>
                <a:latin typeface="Arial"/>
                <a:ea typeface="Arial"/>
              </a:rPr>
              <a:t>Análisis de absentismo</a:t>
            </a:r>
            <a:endParaRPr lang="es-ES" sz="3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3600" b="0" strike="noStrike" spc="-1">
                <a:solidFill>
                  <a:srgbClr val="1F2937"/>
                </a:solidFill>
                <a:latin typeface="Arial"/>
                <a:ea typeface="Arial"/>
              </a:rPr>
              <a:t>y perfil</a:t>
            </a:r>
            <a:endParaRPr lang="es-E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Google Shape;25;p1"/>
          <p:cNvSpPr/>
          <p:nvPr/>
        </p:nvSpPr>
        <p:spPr>
          <a:xfrm>
            <a:off x="432000" y="3744000"/>
            <a:ext cx="1973160" cy="85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400" b="0" strike="noStrike" spc="-1">
                <a:solidFill>
                  <a:srgbClr val="6B7280"/>
                </a:solidFill>
                <a:latin typeface="Arial"/>
                <a:ea typeface="Arial"/>
              </a:rPr>
              <a:t>13 de Julio 2026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" name="Google Shape;26;p1"/>
          <p:cNvPicPr/>
          <p:nvPr/>
        </p:nvPicPr>
        <p:blipFill>
          <a:blip r:embed="rId3"/>
          <a:srcRect t="26241" b="23016"/>
          <a:stretch/>
        </p:blipFill>
        <p:spPr>
          <a:xfrm>
            <a:off x="216000" y="360360"/>
            <a:ext cx="1942920" cy="532800"/>
          </a:xfrm>
          <a:prstGeom prst="rect">
            <a:avLst/>
          </a:prstGeom>
          <a:ln w="0">
            <a:noFill/>
          </a:ln>
        </p:spPr>
      </p:pic>
      <p:sp>
        <p:nvSpPr>
          <p:cNvPr id="30" name="Google Shape;27;p1"/>
          <p:cNvSpPr/>
          <p:nvPr/>
        </p:nvSpPr>
        <p:spPr>
          <a:xfrm>
            <a:off x="420120" y="3420000"/>
            <a:ext cx="3353040" cy="53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500" b="0" strike="noStrike" spc="-1" dirty="0" err="1">
                <a:solidFill>
                  <a:srgbClr val="6B7280"/>
                </a:solidFill>
                <a:latin typeface="Arial"/>
                <a:ea typeface="Arial"/>
              </a:rPr>
              <a:t>Dpt</a:t>
            </a:r>
            <a:r>
              <a:rPr lang="es-ES" sz="1500" b="0" strike="noStrike" spc="-1" dirty="0">
                <a:solidFill>
                  <a:srgbClr val="6B7280"/>
                </a:solidFill>
                <a:latin typeface="Arial"/>
                <a:ea typeface="Arial"/>
              </a:rPr>
              <a:t>. Analistas de Datos de RRHH</a:t>
            </a:r>
            <a:endParaRPr lang="es-ES" sz="15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2;p2"/>
          <p:cNvPicPr/>
          <p:nvPr/>
        </p:nvPicPr>
        <p:blipFill>
          <a:blip r:embed="rId2"/>
          <a:stretch/>
        </p:blipFill>
        <p:spPr>
          <a:xfrm>
            <a:off x="5760000" y="164160"/>
            <a:ext cx="6429960" cy="6348600"/>
          </a:xfrm>
          <a:prstGeom prst="rect">
            <a:avLst/>
          </a:prstGeom>
          <a:ln w="0">
            <a:noFill/>
          </a:ln>
        </p:spPr>
      </p:pic>
      <p:sp>
        <p:nvSpPr>
          <p:cNvPr id="32" name="Google Shape;33;p2"/>
          <p:cNvSpPr/>
          <p:nvPr/>
        </p:nvSpPr>
        <p:spPr>
          <a:xfrm>
            <a:off x="516600" y="3663418"/>
            <a:ext cx="5232240" cy="10164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4320" tIns="49320" rIns="94320" bIns="4932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Google Shape;34;p2"/>
          <p:cNvSpPr/>
          <p:nvPr/>
        </p:nvSpPr>
        <p:spPr>
          <a:xfrm>
            <a:off x="0" y="0"/>
            <a:ext cx="12184560" cy="15732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Google Shape;35;p2"/>
          <p:cNvSpPr/>
          <p:nvPr/>
        </p:nvSpPr>
        <p:spPr>
          <a:xfrm>
            <a:off x="0" y="6519600"/>
            <a:ext cx="12184560" cy="34956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" name="Google Shape;36;p2"/>
          <p:cNvPicPr/>
          <p:nvPr/>
        </p:nvPicPr>
        <p:blipFill>
          <a:blip r:embed="rId3"/>
          <a:srcRect t="26241" b="23016"/>
          <a:stretch/>
        </p:blipFill>
        <p:spPr>
          <a:xfrm>
            <a:off x="216000" y="360360"/>
            <a:ext cx="1942920" cy="532800"/>
          </a:xfrm>
          <a:prstGeom prst="rect">
            <a:avLst/>
          </a:prstGeom>
          <a:ln w="0">
            <a:noFill/>
          </a:ln>
        </p:spPr>
      </p:pic>
      <p:sp>
        <p:nvSpPr>
          <p:cNvPr id="36" name="Google Shape;37;p2"/>
          <p:cNvSpPr/>
          <p:nvPr/>
        </p:nvSpPr>
        <p:spPr>
          <a:xfrm>
            <a:off x="516600" y="1943999"/>
            <a:ext cx="5232240" cy="367685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C2187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4320" tIns="49320" rIns="94320" bIns="4932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24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8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lang="es-E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Google Shape;38;p2"/>
          <p:cNvSpPr/>
          <p:nvPr/>
        </p:nvSpPr>
        <p:spPr>
          <a:xfrm>
            <a:off x="168120" y="6538320"/>
            <a:ext cx="299304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Google Shape;39;p2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Google Shape;40;p2"/>
          <p:cNvSpPr/>
          <p:nvPr/>
        </p:nvSpPr>
        <p:spPr>
          <a:xfrm>
            <a:off x="468000" y="966240"/>
            <a:ext cx="2694600" cy="68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Calibri"/>
              </a:rPr>
              <a:t>Indice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Google Shape;41;p2"/>
          <p:cNvSpPr/>
          <p:nvPr/>
        </p:nvSpPr>
        <p:spPr>
          <a:xfrm>
            <a:off x="525960" y="1944000"/>
            <a:ext cx="5637600" cy="54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b="1" strike="noStrike" spc="-1" dirty="0">
                <a:latin typeface="Arial"/>
                <a:ea typeface="Arial"/>
              </a:rPr>
              <a:t>Indicadores clave </a:t>
            </a:r>
            <a:r>
              <a:rPr lang="es-ES" sz="1600" b="1" strike="noStrike" spc="-1" dirty="0">
                <a:solidFill>
                  <a:srgbClr val="808080"/>
                </a:solidFill>
                <a:latin typeface="Arial"/>
                <a:ea typeface="Arial"/>
              </a:rPr>
              <a:t>y su evolución</a:t>
            </a:r>
            <a:endParaRPr lang="es-E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Google Shape;42;p2"/>
          <p:cNvSpPr/>
          <p:nvPr/>
        </p:nvSpPr>
        <p:spPr>
          <a:xfrm>
            <a:off x="516600" y="2546640"/>
            <a:ext cx="5232240" cy="90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4320" tIns="49320" rIns="94320" bIns="4932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Google Shape;43;p2"/>
          <p:cNvSpPr/>
          <p:nvPr/>
        </p:nvSpPr>
        <p:spPr>
          <a:xfrm>
            <a:off x="525960" y="2582640"/>
            <a:ext cx="5232240" cy="854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s-ES" sz="1600" b="1" spc="-1" dirty="0">
                <a:latin typeface="Arial"/>
              </a:rPr>
              <a:t>Optimización del Talento:</a:t>
            </a:r>
          </a:p>
          <a:p>
            <a:pPr>
              <a:spcBef>
                <a:spcPts val="482"/>
              </a:spcBef>
              <a:tabLst>
                <a:tab pos="0" algn="l"/>
              </a:tabLst>
            </a:pPr>
            <a:r>
              <a:rPr lang="es-ES" sz="1600" b="1" spc="-1" dirty="0">
                <a:solidFill>
                  <a:srgbClr val="808080"/>
                </a:solidFill>
                <a:latin typeface="Arial"/>
              </a:rPr>
              <a:t>Factores clave para mejorar la selección, capacitación y retención</a:t>
            </a:r>
          </a:p>
        </p:txBody>
      </p:sp>
      <p:sp>
        <p:nvSpPr>
          <p:cNvPr id="43" name="Google Shape;44;p2"/>
          <p:cNvSpPr/>
          <p:nvPr/>
        </p:nvSpPr>
        <p:spPr>
          <a:xfrm>
            <a:off x="480600" y="3730239"/>
            <a:ext cx="5057171" cy="8160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b="1" strike="noStrike" spc="-1" dirty="0">
                <a:latin typeface="Arial"/>
                <a:ea typeface="Arial"/>
              </a:rPr>
              <a:t>Gestión del Absentismo:</a:t>
            </a:r>
            <a:endParaRPr lang="es-ES" sz="16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82"/>
              </a:spcBef>
              <a:tabLst>
                <a:tab pos="0" algn="l"/>
              </a:tabLst>
            </a:pPr>
            <a:r>
              <a:rPr lang="es-ES" sz="1600" b="1" strike="noStrike" spc="-1" dirty="0">
                <a:solidFill>
                  <a:srgbClr val="808080"/>
                </a:solidFill>
                <a:latin typeface="Arial"/>
                <a:ea typeface="Arial"/>
              </a:rPr>
              <a:t>Identificación de perfiles de riesgo y políticas de prevención proactiva</a:t>
            </a:r>
            <a:r>
              <a:rPr lang="es-ES" sz="1200" b="1" strike="noStrike" spc="-1" dirty="0">
                <a:solidFill>
                  <a:srgbClr val="808080"/>
                </a:solidFill>
                <a:latin typeface="Arial"/>
                <a:ea typeface="Arial"/>
              </a:rPr>
              <a:t>. </a:t>
            </a:r>
            <a:endParaRPr lang="es-ES" sz="1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9;p3"/>
          <p:cNvSpPr/>
          <p:nvPr/>
        </p:nvSpPr>
        <p:spPr>
          <a:xfrm>
            <a:off x="0" y="0"/>
            <a:ext cx="12184560" cy="15732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Google Shape;50;p3"/>
          <p:cNvSpPr/>
          <p:nvPr/>
        </p:nvSpPr>
        <p:spPr>
          <a:xfrm>
            <a:off x="0" y="6510600"/>
            <a:ext cx="12184560" cy="35856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Google Shape;51;p3"/>
          <p:cNvSpPr/>
          <p:nvPr/>
        </p:nvSpPr>
        <p:spPr>
          <a:xfrm>
            <a:off x="540000" y="388800"/>
            <a:ext cx="671364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Calibri"/>
              </a:rPr>
              <a:t>Indicadores clave y su evolución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" name="Google Shape;52;p3"/>
          <p:cNvPicPr/>
          <p:nvPr/>
        </p:nvPicPr>
        <p:blipFill>
          <a:blip r:embed="rId2"/>
          <a:srcRect t="26241" b="23016"/>
          <a:stretch/>
        </p:blipFill>
        <p:spPr>
          <a:xfrm>
            <a:off x="10038240" y="288360"/>
            <a:ext cx="1942920" cy="532800"/>
          </a:xfrm>
          <a:prstGeom prst="rect">
            <a:avLst/>
          </a:prstGeom>
          <a:ln w="0">
            <a:noFill/>
          </a:ln>
        </p:spPr>
      </p:pic>
      <p:sp>
        <p:nvSpPr>
          <p:cNvPr id="48" name="Google Shape;53;p3"/>
          <p:cNvSpPr/>
          <p:nvPr/>
        </p:nvSpPr>
        <p:spPr>
          <a:xfrm>
            <a:off x="168120" y="6538320"/>
            <a:ext cx="299304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Google Shape;54;p3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Google Shape;55;p3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Google Shape;56;p3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Google Shape;57;p3"/>
          <p:cNvSpPr/>
          <p:nvPr/>
        </p:nvSpPr>
        <p:spPr>
          <a:xfrm>
            <a:off x="563400" y="863280"/>
            <a:ext cx="5638320" cy="54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400" b="1" strike="noStrike" spc="-1" dirty="0">
                <a:solidFill>
                  <a:srgbClr val="808080"/>
                </a:solidFill>
                <a:latin typeface="Arial"/>
                <a:ea typeface="Arial"/>
              </a:rPr>
              <a:t>Materialización de ausencias, concentración mensual de carga, </a:t>
            </a:r>
            <a:endParaRPr lang="es-ES" sz="14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82"/>
              </a:spcBef>
              <a:tabLst>
                <a:tab pos="0" algn="l"/>
              </a:tabLst>
            </a:pPr>
            <a:r>
              <a:rPr lang="es-ES" sz="1400" b="1" strike="noStrike" spc="-1" dirty="0">
                <a:solidFill>
                  <a:srgbClr val="808080"/>
                </a:solidFill>
                <a:latin typeface="Arial"/>
                <a:ea typeface="Arial"/>
              </a:rPr>
              <a:t>motivo modal de ausencia y eficacia relativa frente a la carga laboral. </a:t>
            </a:r>
            <a:endParaRPr lang="es-E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Google Shape;58;p3"/>
          <p:cNvSpPr/>
          <p:nvPr/>
        </p:nvSpPr>
        <p:spPr>
          <a:xfrm>
            <a:off x="3132000" y="4896000"/>
            <a:ext cx="538200" cy="1422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Google Shape;59;p3"/>
          <p:cNvSpPr/>
          <p:nvPr/>
        </p:nvSpPr>
        <p:spPr>
          <a:xfrm>
            <a:off x="7885800" y="4788000"/>
            <a:ext cx="538200" cy="1422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Google Shape;60;p3"/>
          <p:cNvSpPr/>
          <p:nvPr/>
        </p:nvSpPr>
        <p:spPr>
          <a:xfrm>
            <a:off x="7885800" y="2628000"/>
            <a:ext cx="538200" cy="1422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6" name="Google Shape;61;p3"/>
          <p:cNvPicPr/>
          <p:nvPr/>
        </p:nvPicPr>
        <p:blipFill>
          <a:blip r:embed="rId3"/>
          <a:stretch/>
        </p:blipFill>
        <p:spPr>
          <a:xfrm>
            <a:off x="972000" y="3780000"/>
            <a:ext cx="2446200" cy="1298880"/>
          </a:xfrm>
          <a:prstGeom prst="rect">
            <a:avLst/>
          </a:prstGeom>
          <a:ln w="0">
            <a:noFill/>
          </a:ln>
        </p:spPr>
      </p:pic>
      <p:pic>
        <p:nvPicPr>
          <p:cNvPr id="57" name="Google Shape;62;p3"/>
          <p:cNvPicPr/>
          <p:nvPr/>
        </p:nvPicPr>
        <p:blipFill>
          <a:blip r:embed="rId4"/>
          <a:stretch/>
        </p:blipFill>
        <p:spPr>
          <a:xfrm>
            <a:off x="6339600" y="1800000"/>
            <a:ext cx="2372400" cy="1294200"/>
          </a:xfrm>
          <a:prstGeom prst="rect">
            <a:avLst/>
          </a:prstGeom>
          <a:ln w="0">
            <a:noFill/>
          </a:ln>
        </p:spPr>
      </p:pic>
      <p:pic>
        <p:nvPicPr>
          <p:cNvPr id="58" name="Google Shape;63;p3"/>
          <p:cNvPicPr/>
          <p:nvPr/>
        </p:nvPicPr>
        <p:blipFill>
          <a:blip r:embed="rId5"/>
          <a:stretch/>
        </p:blipFill>
        <p:spPr>
          <a:xfrm>
            <a:off x="1009440" y="1800000"/>
            <a:ext cx="2475720" cy="1294200"/>
          </a:xfrm>
          <a:prstGeom prst="rect">
            <a:avLst/>
          </a:prstGeom>
          <a:ln w="0">
            <a:noFill/>
          </a:ln>
        </p:spPr>
      </p:pic>
      <p:pic>
        <p:nvPicPr>
          <p:cNvPr id="59" name="Google Shape;64;p3"/>
          <p:cNvPicPr/>
          <p:nvPr/>
        </p:nvPicPr>
        <p:blipFill>
          <a:blip r:embed="rId6"/>
          <a:stretch/>
        </p:blipFill>
        <p:spPr>
          <a:xfrm>
            <a:off x="6265800" y="3780000"/>
            <a:ext cx="2552400" cy="1334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73;g3f4b6d773eb_0_0"/>
          <p:cNvSpPr/>
          <p:nvPr/>
        </p:nvSpPr>
        <p:spPr>
          <a:xfrm>
            <a:off x="1688400" y="4107960"/>
            <a:ext cx="8348760" cy="19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19050">
            <a:solidFill>
              <a:srgbClr val="FF95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Google Shape;74;g3f4b6d773eb_0_0"/>
          <p:cNvSpPr/>
          <p:nvPr/>
        </p:nvSpPr>
        <p:spPr>
          <a:xfrm>
            <a:off x="859680" y="1273680"/>
            <a:ext cx="10771560" cy="25020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19050">
            <a:solidFill>
              <a:srgbClr val="C2187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Google Shape;75;g3f4b6d773eb_0_0"/>
          <p:cNvSpPr/>
          <p:nvPr/>
        </p:nvSpPr>
        <p:spPr>
          <a:xfrm>
            <a:off x="0" y="0"/>
            <a:ext cx="12184560" cy="15732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Google Shape;76;g3f4b6d773eb_0_0"/>
          <p:cNvSpPr/>
          <p:nvPr/>
        </p:nvSpPr>
        <p:spPr>
          <a:xfrm>
            <a:off x="0" y="6510600"/>
            <a:ext cx="12184560" cy="35856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" name="Google Shape;78;g3f4b6d773eb_0_0"/>
          <p:cNvPicPr/>
          <p:nvPr/>
        </p:nvPicPr>
        <p:blipFill>
          <a:blip r:embed="rId2"/>
          <a:srcRect t="26220" b="23016"/>
          <a:stretch/>
        </p:blipFill>
        <p:spPr>
          <a:xfrm>
            <a:off x="10038240" y="288360"/>
            <a:ext cx="1942920" cy="532800"/>
          </a:xfrm>
          <a:prstGeom prst="rect">
            <a:avLst/>
          </a:prstGeom>
          <a:ln w="0">
            <a:noFill/>
          </a:ln>
        </p:spPr>
      </p:pic>
      <p:sp>
        <p:nvSpPr>
          <p:cNvPr id="69" name="Google Shape;79;g3f4b6d773eb_0_0"/>
          <p:cNvSpPr/>
          <p:nvPr/>
        </p:nvSpPr>
        <p:spPr>
          <a:xfrm>
            <a:off x="168120" y="6538320"/>
            <a:ext cx="299304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Google Shape;80;g3f4b6d773eb_0_0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Google Shape;81;g3f4b6d773eb_0_0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Google Shape;82;g3f4b6d773eb_0_0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Google Shape;83;g3f4b6d773eb_0_0"/>
          <p:cNvSpPr/>
          <p:nvPr/>
        </p:nvSpPr>
        <p:spPr>
          <a:xfrm>
            <a:off x="1541879" y="1452960"/>
            <a:ext cx="4119181" cy="16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600" b="1" strike="noStrike" spc="-1" dirty="0">
                <a:solidFill>
                  <a:srgbClr val="000000"/>
                </a:solidFill>
                <a:latin typeface="Arial"/>
                <a:ea typeface="Arial"/>
              </a:rPr>
              <a:t>Análisis</a:t>
            </a:r>
            <a:endParaRPr lang="es-ES" sz="26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26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6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❌ OLS simple y múltiple</a:t>
            </a:r>
            <a:endParaRPr lang="es-ES" sz="26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6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❌ Beta múltiple</a:t>
            </a:r>
            <a:endParaRPr lang="es-ES" sz="26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6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❌ Gamma múltiple</a:t>
            </a:r>
            <a:endParaRPr lang="es-ES" sz="2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Google Shape;84;g3f4b6d773eb_0_0"/>
          <p:cNvSpPr/>
          <p:nvPr/>
        </p:nvSpPr>
        <p:spPr>
          <a:xfrm>
            <a:off x="5860800" y="1478880"/>
            <a:ext cx="5481720" cy="1976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400" b="1" strike="noStrike" spc="-1">
                <a:solidFill>
                  <a:srgbClr val="000000"/>
                </a:solidFill>
                <a:latin typeface="Arial"/>
                <a:ea typeface="Arial"/>
              </a:rPr>
              <a:t>Buenas prácticas</a:t>
            </a:r>
            <a:endParaRPr lang="es-ES" sz="24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24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400" b="0" strike="noStrike" spc="-1">
                <a:solidFill>
                  <a:srgbClr val="000000"/>
                </a:solidFill>
                <a:latin typeface="Arial"/>
                <a:ea typeface="Arial"/>
              </a:rPr>
              <a:t>✅ Hit_target</a:t>
            </a:r>
            <a:endParaRPr lang="es-ES" sz="24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400" b="0" strike="noStrike" spc="-1">
                <a:solidFill>
                  <a:srgbClr val="000000"/>
                </a:solidFill>
                <a:latin typeface="Arial"/>
                <a:ea typeface="Arial"/>
              </a:rPr>
              <a:t>✅ Índice de Eficiencia Relativa - KPI’s</a:t>
            </a:r>
            <a:endParaRPr lang="es-ES" sz="24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400" b="0" strike="noStrike" spc="-1">
                <a:solidFill>
                  <a:srgbClr val="000000"/>
                </a:solidFill>
                <a:latin typeface="Arial"/>
                <a:ea typeface="Arial"/>
              </a:rPr>
              <a:t>✅ Agrupación por Empleado</a:t>
            </a:r>
            <a:endParaRPr lang="es-E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Google Shape;85;g3f4b6d773eb_0_0"/>
          <p:cNvSpPr/>
          <p:nvPr/>
        </p:nvSpPr>
        <p:spPr>
          <a:xfrm>
            <a:off x="1094400" y="4182840"/>
            <a:ext cx="9580320" cy="144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300" b="1" strike="noStrike" spc="-1">
                <a:solidFill>
                  <a:srgbClr val="000000"/>
                </a:solidFill>
                <a:latin typeface="Arial"/>
                <a:ea typeface="Arial"/>
              </a:rPr>
              <a:t>💡 Conclusiones</a:t>
            </a:r>
            <a:endParaRPr lang="es-ES" sz="23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s-ES" sz="23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374760" algn="ctr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s-ES" sz="2300" b="0" strike="noStrike" spc="-1">
                <a:solidFill>
                  <a:srgbClr val="000000"/>
                </a:solidFill>
                <a:latin typeface="Arial"/>
                <a:ea typeface="Arial"/>
              </a:rPr>
              <a:t>No existe correlación a nivel de atributos de empleado.</a:t>
            </a:r>
            <a:endParaRPr lang="es-ES" sz="23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374760" algn="ctr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s-ES" sz="2300" b="0" strike="noStrike" spc="-1">
                <a:solidFill>
                  <a:srgbClr val="000000"/>
                </a:solidFill>
                <a:latin typeface="Arial"/>
                <a:ea typeface="Arial"/>
              </a:rPr>
              <a:t>Existe solamente relación con la gestión de la carga.</a:t>
            </a:r>
            <a:endParaRPr lang="es-ES" sz="2300" b="0" strike="noStrike" spc="-1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tabLst>
                <a:tab pos="0" algn="l"/>
              </a:tabLst>
            </a:pPr>
            <a:endParaRPr lang="es-ES" sz="2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Google Shape;51;p 1"/>
          <p:cNvSpPr/>
          <p:nvPr/>
        </p:nvSpPr>
        <p:spPr>
          <a:xfrm>
            <a:off x="540000" y="388800"/>
            <a:ext cx="671364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Calibri"/>
              </a:rPr>
              <a:t>Análisis del perfil de desempeño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90;g3f4b6d773eb_0_26"/>
          <p:cNvSpPr/>
          <p:nvPr/>
        </p:nvSpPr>
        <p:spPr>
          <a:xfrm>
            <a:off x="0" y="0"/>
            <a:ext cx="12184560" cy="15732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Google Shape;91;g3f4b6d773eb_0_26"/>
          <p:cNvSpPr/>
          <p:nvPr/>
        </p:nvSpPr>
        <p:spPr>
          <a:xfrm>
            <a:off x="0" y="6510600"/>
            <a:ext cx="12184560" cy="35856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9" name="Google Shape;92;g3f4b6d773eb_0_26"/>
          <p:cNvPicPr/>
          <p:nvPr/>
        </p:nvPicPr>
        <p:blipFill>
          <a:blip r:embed="rId2"/>
          <a:srcRect t="26220" b="23016"/>
          <a:stretch/>
        </p:blipFill>
        <p:spPr>
          <a:xfrm>
            <a:off x="10038240" y="288360"/>
            <a:ext cx="1942920" cy="532800"/>
          </a:xfrm>
          <a:prstGeom prst="rect">
            <a:avLst/>
          </a:prstGeom>
          <a:ln w="0">
            <a:noFill/>
          </a:ln>
        </p:spPr>
      </p:pic>
      <p:sp>
        <p:nvSpPr>
          <p:cNvPr id="80" name="Google Shape;93;g3f4b6d773eb_0_26"/>
          <p:cNvSpPr/>
          <p:nvPr/>
        </p:nvSpPr>
        <p:spPr>
          <a:xfrm>
            <a:off x="168120" y="6538320"/>
            <a:ext cx="299304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Google Shape;94;g3f4b6d773eb_0_26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Google Shape;95;g3f4b6d773eb_0_26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Google Shape;96;g3f4b6d773eb_0_26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Google Shape;98;g3f4b6d773eb_0_26">
            <a:hlinkClick r:id="rId3" action="ppaction://hlinksldjump"/>
          </p:cNvPr>
          <p:cNvSpPr/>
          <p:nvPr/>
        </p:nvSpPr>
        <p:spPr>
          <a:xfrm>
            <a:off x="445320" y="2015280"/>
            <a:ext cx="357588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🎯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Estrategias de selección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Google Shape;99;g3f4b6d773eb_0_26">
            <a:hlinkClick r:id="rId4"/>
          </p:cNvPr>
          <p:cNvSpPr/>
          <p:nvPr/>
        </p:nvSpPr>
        <p:spPr>
          <a:xfrm>
            <a:off x="441756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📚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Capacitación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Google Shape;100;g3f4b6d773eb_0_26">
            <a:hlinkClick r:id="rId5"/>
          </p:cNvPr>
          <p:cNvSpPr/>
          <p:nvPr/>
        </p:nvSpPr>
        <p:spPr>
          <a:xfrm>
            <a:off x="832644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🤝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Retención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Google Shape;51;p 2"/>
          <p:cNvSpPr/>
          <p:nvPr/>
        </p:nvSpPr>
        <p:spPr>
          <a:xfrm>
            <a:off x="540000" y="388800"/>
            <a:ext cx="738000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Calibri"/>
              </a:rPr>
              <a:t>Optimización del talento: propuestas de negocio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Google Shape;57;p 1"/>
          <p:cNvSpPr/>
          <p:nvPr/>
        </p:nvSpPr>
        <p:spPr>
          <a:xfrm>
            <a:off x="563400" y="948960"/>
            <a:ext cx="6996600" cy="54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400" b="1" strike="noStrike" spc="-1">
                <a:solidFill>
                  <a:srgbClr val="808080"/>
                </a:solidFill>
                <a:latin typeface="Arial"/>
                <a:ea typeface="Arial"/>
              </a:rPr>
              <a:t>Cubriendo los tres factores clave: Selección, Capacitación y Retención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105;g3f4b6d773eb_0_46"/>
          <p:cNvSpPr/>
          <p:nvPr/>
        </p:nvSpPr>
        <p:spPr>
          <a:xfrm>
            <a:off x="0" y="0"/>
            <a:ext cx="12184560" cy="15732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Google Shape;106;g3f4b6d773eb_0_46"/>
          <p:cNvSpPr/>
          <p:nvPr/>
        </p:nvSpPr>
        <p:spPr>
          <a:xfrm>
            <a:off x="0" y="6510600"/>
            <a:ext cx="12184560" cy="35856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" name="Google Shape;107;g3f4b6d773eb_0_46"/>
          <p:cNvPicPr/>
          <p:nvPr/>
        </p:nvPicPr>
        <p:blipFill>
          <a:blip r:embed="rId2"/>
          <a:srcRect t="26220" b="23016"/>
          <a:stretch/>
        </p:blipFill>
        <p:spPr>
          <a:xfrm>
            <a:off x="10038240" y="288360"/>
            <a:ext cx="1942920" cy="532800"/>
          </a:xfrm>
          <a:prstGeom prst="rect">
            <a:avLst/>
          </a:prstGeom>
          <a:ln w="0">
            <a:noFill/>
          </a:ln>
        </p:spPr>
      </p:pic>
      <p:sp>
        <p:nvSpPr>
          <p:cNvPr id="92" name="Google Shape;108;g3f4b6d773eb_0_46"/>
          <p:cNvSpPr/>
          <p:nvPr/>
        </p:nvSpPr>
        <p:spPr>
          <a:xfrm>
            <a:off x="168120" y="6538320"/>
            <a:ext cx="299304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Google Shape;109;g3f4b6d773eb_0_46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Google Shape;110;g3f4b6d773eb_0_46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Google Shape;111;g3f4b6d773eb_0_46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Google Shape;113;g3f4b6d773eb_0_46">
            <a:hlinkClick r:id="rId3"/>
          </p:cNvPr>
          <p:cNvSpPr/>
          <p:nvPr/>
        </p:nvSpPr>
        <p:spPr>
          <a:xfrm>
            <a:off x="50904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00FF"/>
          </a:solidFill>
          <a:ln w="19050">
            <a:solidFill>
              <a:srgbClr val="FF95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chemeClr val="dk1"/>
                </a:solidFill>
                <a:latin typeface="Arial"/>
                <a:ea typeface="Arial"/>
              </a:rPr>
              <a:t>🎯</a:t>
            </a:r>
            <a:endParaRPr lang="es-ES" sz="2200" b="0" strike="noStrike" spc="-1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chemeClr val="dk1"/>
                </a:solidFill>
                <a:latin typeface="Arial"/>
                <a:ea typeface="Arial"/>
              </a:rPr>
              <a:t>Estrategias de selección</a:t>
            </a:r>
            <a:endParaRPr lang="es-ES" sz="2200" b="0" strike="noStrike" spc="-1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400" b="0" strike="noStrike" spc="-1">
                <a:solidFill>
                  <a:srgbClr val="000000"/>
                </a:solidFill>
                <a:latin typeface="Arial"/>
                <a:ea typeface="Arial"/>
              </a:rPr>
              <a:t>Implementar casos prácticos en el proceso de entrevista para evaluar la resiliencia y la gestión del tiempo de los candidatos.</a:t>
            </a: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Google Shape;114;g3f4b6d773eb_0_46">
            <a:hlinkClick r:id="rId4" action="ppaction://hlinksldjump"/>
          </p:cNvPr>
          <p:cNvSpPr/>
          <p:nvPr/>
        </p:nvSpPr>
        <p:spPr>
          <a:xfrm>
            <a:off x="441684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📚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Capacitación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Google Shape;115;g3f4b6d773eb_0_46"/>
          <p:cNvSpPr/>
          <p:nvPr/>
        </p:nvSpPr>
        <p:spPr>
          <a:xfrm>
            <a:off x="832500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🤝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Retención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Google Shape;51;p 3"/>
          <p:cNvSpPr/>
          <p:nvPr/>
        </p:nvSpPr>
        <p:spPr>
          <a:xfrm>
            <a:off x="540000" y="388800"/>
            <a:ext cx="738000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Calibri"/>
              </a:rPr>
              <a:t>Optimización del talento: propuestas de negocio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Google Shape;57;p 2"/>
          <p:cNvSpPr/>
          <p:nvPr/>
        </p:nvSpPr>
        <p:spPr>
          <a:xfrm>
            <a:off x="563400" y="948960"/>
            <a:ext cx="6996600" cy="54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400" b="1" strike="noStrike" spc="-1">
                <a:solidFill>
                  <a:srgbClr val="808080"/>
                </a:solidFill>
                <a:latin typeface="Arial"/>
                <a:ea typeface="Arial"/>
              </a:rPr>
              <a:t>Cubriendo los tres factores clave: Selección, Capacitación y Retención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20;g3f4b6d773eb_0_60"/>
          <p:cNvSpPr/>
          <p:nvPr/>
        </p:nvSpPr>
        <p:spPr>
          <a:xfrm>
            <a:off x="0" y="0"/>
            <a:ext cx="12184560" cy="15732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Google Shape;121;g3f4b6d773eb_0_60"/>
          <p:cNvSpPr/>
          <p:nvPr/>
        </p:nvSpPr>
        <p:spPr>
          <a:xfrm>
            <a:off x="0" y="6510600"/>
            <a:ext cx="12184560" cy="35856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3" name="Google Shape;122;g3f4b6d773eb_0_60"/>
          <p:cNvPicPr/>
          <p:nvPr/>
        </p:nvPicPr>
        <p:blipFill>
          <a:blip r:embed="rId2"/>
          <a:srcRect t="26220" b="23016"/>
          <a:stretch/>
        </p:blipFill>
        <p:spPr>
          <a:xfrm>
            <a:off x="10038240" y="288360"/>
            <a:ext cx="1942920" cy="532800"/>
          </a:xfrm>
          <a:prstGeom prst="rect">
            <a:avLst/>
          </a:prstGeom>
          <a:ln w="0">
            <a:noFill/>
          </a:ln>
        </p:spPr>
      </p:pic>
      <p:sp>
        <p:nvSpPr>
          <p:cNvPr id="104" name="Google Shape;123;g3f4b6d773eb_0_60"/>
          <p:cNvSpPr/>
          <p:nvPr/>
        </p:nvSpPr>
        <p:spPr>
          <a:xfrm>
            <a:off x="168120" y="6538320"/>
            <a:ext cx="299304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Google Shape;124;g3f4b6d773eb_0_60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Google Shape;125;g3f4b6d773eb_0_60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Google Shape;126;g3f4b6d773eb_0_60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Google Shape;128;g3f4b6d773eb_0_60"/>
          <p:cNvSpPr/>
          <p:nvPr/>
        </p:nvSpPr>
        <p:spPr>
          <a:xfrm>
            <a:off x="50904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🎯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Estrategias de selección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Google Shape;129;g3f4b6d773eb_0_60">
            <a:hlinkClick r:id="rId3"/>
          </p:cNvPr>
          <p:cNvSpPr/>
          <p:nvPr/>
        </p:nvSpPr>
        <p:spPr>
          <a:xfrm>
            <a:off x="440352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00FF"/>
          </a:solidFill>
          <a:ln w="19050">
            <a:solidFill>
              <a:srgbClr val="FF95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chemeClr val="dk1"/>
                </a:solidFill>
                <a:latin typeface="Arial"/>
                <a:ea typeface="Arial"/>
              </a:rPr>
              <a:t>📚</a:t>
            </a:r>
            <a:endParaRPr lang="es-ES" sz="2200" b="0" strike="noStrike" spc="-1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chemeClr val="dk1"/>
                </a:solidFill>
                <a:latin typeface="Arial"/>
                <a:ea typeface="Arial"/>
              </a:rPr>
              <a:t>Capacitación</a:t>
            </a:r>
            <a:endParaRPr lang="es-ES" sz="2200" b="0" strike="noStrike" spc="-1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400" b="0" strike="noStrike" spc="-1">
                <a:solidFill>
                  <a:srgbClr val="000000"/>
                </a:solidFill>
                <a:latin typeface="Arial"/>
                <a:ea typeface="Arial"/>
              </a:rPr>
              <a:t>Formar a los mandos en planificación y distribución equitativa de la carga, e impulsar la polivalencia (cross-training) para permitir la redistribución del trabajo dinámicamente dentro del equipo.</a:t>
            </a: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Google Shape;130;g3f4b6d773eb_0_60">
            <a:hlinkClick r:id="rId4" action="ppaction://hlinksldjump"/>
          </p:cNvPr>
          <p:cNvSpPr/>
          <p:nvPr/>
        </p:nvSpPr>
        <p:spPr>
          <a:xfrm>
            <a:off x="833400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🤝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Retención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Google Shape;57;p 3"/>
          <p:cNvSpPr/>
          <p:nvPr/>
        </p:nvSpPr>
        <p:spPr>
          <a:xfrm>
            <a:off x="563400" y="948960"/>
            <a:ext cx="6996600" cy="54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400" b="1" strike="noStrike" spc="-1">
                <a:solidFill>
                  <a:srgbClr val="808080"/>
                </a:solidFill>
                <a:latin typeface="Arial"/>
                <a:ea typeface="Arial"/>
              </a:rPr>
              <a:t>Cubriendo los tres factores clave: Selección, Capacitación y Retención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Google Shape;51;p 4"/>
          <p:cNvSpPr/>
          <p:nvPr/>
        </p:nvSpPr>
        <p:spPr>
          <a:xfrm>
            <a:off x="540000" y="388800"/>
            <a:ext cx="738000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Calibri"/>
              </a:rPr>
              <a:t>Optimización del talento: propuestas de negocio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35;g3f4b6d773eb_0_74"/>
          <p:cNvSpPr/>
          <p:nvPr/>
        </p:nvSpPr>
        <p:spPr>
          <a:xfrm>
            <a:off x="0" y="0"/>
            <a:ext cx="12184560" cy="15732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Google Shape;136;g3f4b6d773eb_0_74"/>
          <p:cNvSpPr/>
          <p:nvPr/>
        </p:nvSpPr>
        <p:spPr>
          <a:xfrm>
            <a:off x="0" y="6510600"/>
            <a:ext cx="12184560" cy="35856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" name="Google Shape;137;g3f4b6d773eb_0_74"/>
          <p:cNvPicPr/>
          <p:nvPr/>
        </p:nvPicPr>
        <p:blipFill>
          <a:blip r:embed="rId2"/>
          <a:srcRect t="26220" b="23016"/>
          <a:stretch/>
        </p:blipFill>
        <p:spPr>
          <a:xfrm>
            <a:off x="10038240" y="288360"/>
            <a:ext cx="1942920" cy="532800"/>
          </a:xfrm>
          <a:prstGeom prst="rect">
            <a:avLst/>
          </a:prstGeom>
          <a:ln w="0">
            <a:noFill/>
          </a:ln>
        </p:spPr>
      </p:pic>
      <p:sp>
        <p:nvSpPr>
          <p:cNvPr id="116" name="Google Shape;138;g3f4b6d773eb_0_74"/>
          <p:cNvSpPr/>
          <p:nvPr/>
        </p:nvSpPr>
        <p:spPr>
          <a:xfrm>
            <a:off x="168120" y="6538320"/>
            <a:ext cx="299304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Google Shape;139;g3f4b6d773eb_0_74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Google Shape;140;g3f4b6d773eb_0_74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Google Shape;141;g3f4b6d773eb_0_74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Google Shape;143;g3f4b6d773eb_0_74"/>
          <p:cNvSpPr/>
          <p:nvPr/>
        </p:nvSpPr>
        <p:spPr>
          <a:xfrm>
            <a:off x="50904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🎯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Estrategias de selección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Google Shape;144;g3f4b6d773eb_0_74"/>
          <p:cNvSpPr/>
          <p:nvPr/>
        </p:nvSpPr>
        <p:spPr>
          <a:xfrm>
            <a:off x="441684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📚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rgbClr val="000000"/>
                </a:solidFill>
                <a:latin typeface="Arial"/>
                <a:ea typeface="Arial"/>
              </a:rPr>
              <a:t>Capacitación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Google Shape;145;g3f4b6d773eb_0_74">
            <a:hlinkClick r:id="rId3"/>
          </p:cNvPr>
          <p:cNvSpPr/>
          <p:nvPr/>
        </p:nvSpPr>
        <p:spPr>
          <a:xfrm>
            <a:off x="832500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00FF"/>
          </a:solidFill>
          <a:ln w="19050">
            <a:solidFill>
              <a:srgbClr val="FF95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chemeClr val="dk1"/>
                </a:solidFill>
                <a:latin typeface="Arial"/>
                <a:ea typeface="Arial"/>
              </a:rPr>
              <a:t>🤝</a:t>
            </a:r>
            <a:endParaRPr lang="es-ES" sz="2200" b="0" strike="noStrike" spc="-1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200" b="1" strike="noStrike" spc="-1">
                <a:solidFill>
                  <a:schemeClr val="dk1"/>
                </a:solidFill>
                <a:latin typeface="Arial"/>
                <a:ea typeface="Arial"/>
              </a:rPr>
              <a:t>Retención</a:t>
            </a:r>
            <a:endParaRPr lang="es-ES" sz="2200" b="0" strike="noStrike" spc="-1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400" b="0" strike="noStrike" spc="-1">
                <a:solidFill>
                  <a:srgbClr val="000000"/>
                </a:solidFill>
                <a:latin typeface="Arial"/>
                <a:ea typeface="Arial"/>
              </a:rPr>
              <a:t>Implantar un sistema permanente de equidad de carga con umbrales por empleado y reasignación automática, complementado con encuestas de clima para capturar los factores de contexto aún no medidos.</a:t>
            </a: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Google Shape;57;p 4"/>
          <p:cNvSpPr/>
          <p:nvPr/>
        </p:nvSpPr>
        <p:spPr>
          <a:xfrm>
            <a:off x="563400" y="948960"/>
            <a:ext cx="6996600" cy="54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400" b="1" strike="noStrike" spc="-1">
                <a:solidFill>
                  <a:srgbClr val="808080"/>
                </a:solidFill>
                <a:latin typeface="Arial"/>
                <a:ea typeface="Arial"/>
              </a:rPr>
              <a:t>Cubriendo los tres factores clave: Selección, Capacitación y Retención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Google Shape;51;p 5"/>
          <p:cNvSpPr/>
          <p:nvPr/>
        </p:nvSpPr>
        <p:spPr>
          <a:xfrm>
            <a:off x="540000" y="388800"/>
            <a:ext cx="738000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Calibri"/>
              </a:rPr>
              <a:t>Optimización del talento: propuestas de negocio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7"/>
          <p:cNvSpPr/>
          <p:nvPr/>
        </p:nvSpPr>
        <p:spPr>
          <a:xfrm>
            <a:off x="0" y="0"/>
            <a:ext cx="12186720" cy="15948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6" name="Shape 4"/>
          <p:cNvSpPr/>
          <p:nvPr/>
        </p:nvSpPr>
        <p:spPr>
          <a:xfrm>
            <a:off x="0" y="6510600"/>
            <a:ext cx="12186720" cy="36072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7" name="Text 9"/>
          <p:cNvSpPr/>
          <p:nvPr/>
        </p:nvSpPr>
        <p:spPr>
          <a:xfrm>
            <a:off x="2432880" y="641880"/>
            <a:ext cx="6127200" cy="104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44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28" name="Imagen 2"/>
          <p:cNvPicPr/>
          <p:nvPr/>
        </p:nvPicPr>
        <p:blipFill>
          <a:blip r:embed="rId2"/>
          <a:srcRect t="26241" b="23016"/>
          <a:stretch/>
        </p:blipFill>
        <p:spPr>
          <a:xfrm>
            <a:off x="10038240" y="288360"/>
            <a:ext cx="1945080" cy="534960"/>
          </a:xfrm>
          <a:prstGeom prst="rect">
            <a:avLst/>
          </a:prstGeom>
          <a:ln w="0">
            <a:noFill/>
          </a:ln>
        </p:spPr>
      </p:pic>
      <p:sp>
        <p:nvSpPr>
          <p:cNvPr id="129" name="Text 11"/>
          <p:cNvSpPr/>
          <p:nvPr/>
        </p:nvSpPr>
        <p:spPr>
          <a:xfrm>
            <a:off x="168120" y="6538320"/>
            <a:ext cx="299520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13"/>
          <p:cNvSpPr/>
          <p:nvPr/>
        </p:nvSpPr>
        <p:spPr>
          <a:xfrm>
            <a:off x="2742840" y="6538320"/>
            <a:ext cx="139392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14"/>
          <p:cNvSpPr/>
          <p:nvPr/>
        </p:nvSpPr>
        <p:spPr>
          <a:xfrm>
            <a:off x="2742840" y="6538320"/>
            <a:ext cx="139392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15"/>
          <p:cNvSpPr/>
          <p:nvPr/>
        </p:nvSpPr>
        <p:spPr>
          <a:xfrm>
            <a:off x="2742840" y="6538320"/>
            <a:ext cx="139392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Google Shape;98;g3f4b6d773eb_0_ 2">
            <a:hlinkClick r:id="rId3" action="ppaction://hlinksldjump"/>
          </p:cNvPr>
          <p:cNvSpPr/>
          <p:nvPr/>
        </p:nvSpPr>
        <p:spPr>
          <a:xfrm>
            <a:off x="2160000" y="2048400"/>
            <a:ext cx="7200000" cy="101160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b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s-ES" sz="2800" b="0" strike="noStrike" spc="-1">
                <a:solidFill>
                  <a:srgbClr val="C21875"/>
                </a:solidFill>
                <a:latin typeface="Calibri"/>
                <a:ea typeface="DejaVu Sans"/>
              </a:rPr>
              <a:t>Atributos</a:t>
            </a: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DejaVu Sans"/>
              </a:rPr>
              <a:t> personales y laborales 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s-ES" sz="1400" b="0" strike="noStrike" spc="-1">
                <a:solidFill>
                  <a:srgbClr val="1F2937"/>
                </a:solidFill>
                <a:latin typeface="Arial"/>
                <a:ea typeface="DejaVu Sans"/>
              </a:rPr>
              <a:t>que están más asociados a alto absentismo.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Google Shape;51;p 7"/>
          <p:cNvSpPr/>
          <p:nvPr/>
        </p:nvSpPr>
        <p:spPr>
          <a:xfrm>
            <a:off x="540000" y="388800"/>
            <a:ext cx="738000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Calibri"/>
              </a:rPr>
              <a:t>Gestión de absentismo: cuestiones a resolver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Google Shape;57;p 6"/>
          <p:cNvSpPr/>
          <p:nvPr/>
        </p:nvSpPr>
        <p:spPr>
          <a:xfrm>
            <a:off x="563400" y="948960"/>
            <a:ext cx="6996600" cy="54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400" b="1" strike="noStrike" spc="-1">
                <a:solidFill>
                  <a:srgbClr val="808080"/>
                </a:solidFill>
                <a:latin typeface="Arial"/>
                <a:ea typeface="Arial"/>
              </a:rPr>
              <a:t>Identificación de perfiles de riesgo y políticas de prevención proactiva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Google Shape;98;g3f4b6d773eb_0_ 3">
            <a:hlinkClick r:id="rId3" action="ppaction://hlinksldjump"/>
          </p:cNvPr>
          <p:cNvSpPr/>
          <p:nvPr/>
        </p:nvSpPr>
        <p:spPr>
          <a:xfrm>
            <a:off x="2160000" y="3555000"/>
            <a:ext cx="7200000" cy="98100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b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s-ES" sz="2800" b="0" strike="noStrike" spc="-1">
                <a:solidFill>
                  <a:srgbClr val="C21875"/>
                </a:solidFill>
                <a:latin typeface="Calibri"/>
                <a:ea typeface="DejaVu Sans"/>
              </a:rPr>
              <a:t>Cambios</a:t>
            </a: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DejaVu Sans"/>
              </a:rPr>
              <a:t> en la política interna 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s-ES" sz="1400" b="0" strike="noStrike" spc="-1">
                <a:solidFill>
                  <a:srgbClr val="1F2937"/>
                </a:solidFill>
                <a:latin typeface="Arial"/>
                <a:ea typeface="DejaVu Sans"/>
              </a:rPr>
              <a:t>para reducir el absentismo en los perfiles de riesgo alto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3"/>
          <p:cNvSpPr/>
          <p:nvPr/>
        </p:nvSpPr>
        <p:spPr>
          <a:xfrm>
            <a:off x="0" y="0"/>
            <a:ext cx="12186720" cy="15948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8" name="Shape 9"/>
          <p:cNvSpPr/>
          <p:nvPr/>
        </p:nvSpPr>
        <p:spPr>
          <a:xfrm>
            <a:off x="0" y="6510600"/>
            <a:ext cx="12186720" cy="36072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" name="Text 23"/>
          <p:cNvSpPr/>
          <p:nvPr/>
        </p:nvSpPr>
        <p:spPr>
          <a:xfrm>
            <a:off x="2432880" y="641880"/>
            <a:ext cx="6127200" cy="104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44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40" name="Imagen 4"/>
          <p:cNvPicPr/>
          <p:nvPr/>
        </p:nvPicPr>
        <p:blipFill>
          <a:blip r:embed="rId3"/>
          <a:srcRect t="26241" b="23016"/>
          <a:stretch/>
        </p:blipFill>
        <p:spPr>
          <a:xfrm>
            <a:off x="10038240" y="288360"/>
            <a:ext cx="1945080" cy="534960"/>
          </a:xfrm>
          <a:prstGeom prst="rect">
            <a:avLst/>
          </a:prstGeom>
          <a:ln w="0">
            <a:noFill/>
          </a:ln>
        </p:spPr>
      </p:pic>
      <p:sp>
        <p:nvSpPr>
          <p:cNvPr id="141" name="Text 24"/>
          <p:cNvSpPr/>
          <p:nvPr/>
        </p:nvSpPr>
        <p:spPr>
          <a:xfrm>
            <a:off x="168120" y="6538320"/>
            <a:ext cx="299520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26"/>
          <p:cNvSpPr/>
          <p:nvPr/>
        </p:nvSpPr>
        <p:spPr>
          <a:xfrm>
            <a:off x="2742840" y="6538320"/>
            <a:ext cx="139392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27"/>
          <p:cNvSpPr/>
          <p:nvPr/>
        </p:nvSpPr>
        <p:spPr>
          <a:xfrm>
            <a:off x="2742840" y="6538320"/>
            <a:ext cx="139392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28"/>
          <p:cNvSpPr/>
          <p:nvPr/>
        </p:nvSpPr>
        <p:spPr>
          <a:xfrm>
            <a:off x="2742840" y="6538320"/>
            <a:ext cx="139392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Flecha: hacia abajo 2"/>
          <p:cNvSpPr/>
          <p:nvPr/>
        </p:nvSpPr>
        <p:spPr>
          <a:xfrm>
            <a:off x="1645920" y="3267360"/>
            <a:ext cx="545040" cy="598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s-ES" sz="1800" b="0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46" name="Google Shape;51;p 8"/>
          <p:cNvSpPr/>
          <p:nvPr/>
        </p:nvSpPr>
        <p:spPr>
          <a:xfrm>
            <a:off x="540000" y="388800"/>
            <a:ext cx="738000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Calibri"/>
              </a:rPr>
              <a:t>¿Qué consideremos </a:t>
            </a:r>
            <a:r>
              <a:rPr lang="es-ES" sz="2800" b="1" strike="noStrike" spc="-1">
                <a:solidFill>
                  <a:srgbClr val="1F2937"/>
                </a:solidFill>
                <a:latin typeface="Calibri"/>
                <a:ea typeface="Calibri"/>
              </a:rPr>
              <a:t>alto absentismo</a:t>
            </a: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Calibri"/>
              </a:rPr>
              <a:t>?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Google Shape;143;g3f4b6d773eb_0_ 1"/>
          <p:cNvSpPr/>
          <p:nvPr/>
        </p:nvSpPr>
        <p:spPr>
          <a:xfrm>
            <a:off x="756000" y="1836000"/>
            <a:ext cx="2432160" cy="128016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800" b="0" strike="noStrike" spc="-1">
                <a:solidFill>
                  <a:schemeClr val="dk1"/>
                </a:solidFill>
                <a:latin typeface="Arial"/>
                <a:ea typeface="DejaVu Sans"/>
              </a:rPr>
              <a:t>Empleados con 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800" b="1" strike="noStrike" spc="-1">
                <a:solidFill>
                  <a:schemeClr val="dk1"/>
                </a:solidFill>
                <a:latin typeface="Arial"/>
                <a:ea typeface="DejaVu Sans"/>
              </a:rPr>
              <a:t>&gt; 21 horas</a:t>
            </a:r>
            <a:r>
              <a:rPr lang="es-ES" sz="1800" b="0" strike="noStrike" spc="-1">
                <a:solidFill>
                  <a:schemeClr val="dk1"/>
                </a:solidFill>
                <a:latin typeface="Arial"/>
                <a:ea typeface="DejaVu Sans"/>
              </a:rPr>
              <a:t> de ausencia acumuladas al año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Google Shape;143;g3f4b6d773eb_0_ 2"/>
          <p:cNvSpPr/>
          <p:nvPr/>
        </p:nvSpPr>
        <p:spPr>
          <a:xfrm>
            <a:off x="756000" y="4070520"/>
            <a:ext cx="2432160" cy="96948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800" b="1" strike="noStrike" spc="-1">
                <a:solidFill>
                  <a:schemeClr val="dk1"/>
                </a:solidFill>
                <a:latin typeface="Arial"/>
                <a:ea typeface="DejaVu Sans"/>
              </a:rPr>
              <a:t>34</a:t>
            </a:r>
            <a:r>
              <a:rPr lang="es-ES" sz="1800" b="0" strike="noStrike" spc="-1">
                <a:solidFill>
                  <a:schemeClr val="dk1"/>
                </a:solidFill>
                <a:latin typeface="Arial"/>
                <a:ea typeface="DejaVu Sans"/>
              </a:rPr>
              <a:t> de 136 empleados con ausencias( 2025)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Google Shape;57;p 7"/>
          <p:cNvSpPr/>
          <p:nvPr/>
        </p:nvSpPr>
        <p:spPr>
          <a:xfrm>
            <a:off x="563400" y="948960"/>
            <a:ext cx="6996600" cy="54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s-ES" sz="1400" b="1" strike="noStrike" spc="-1">
                <a:solidFill>
                  <a:srgbClr val="808080"/>
                </a:solidFill>
                <a:latin typeface="Arial"/>
                <a:ea typeface="Arial"/>
              </a:rPr>
              <a:t>Definición del umbral de alto absentismo 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0" name="Imagen 149"/>
          <p:cNvPicPr/>
          <p:nvPr/>
        </p:nvPicPr>
        <p:blipFill>
          <a:blip r:embed="rId4"/>
          <a:stretch/>
        </p:blipFill>
        <p:spPr>
          <a:xfrm>
            <a:off x="3329640" y="1472400"/>
            <a:ext cx="8502480" cy="38916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90;g3f4b6d773eb_0_ 1"/>
          <p:cNvSpPr/>
          <p:nvPr/>
        </p:nvSpPr>
        <p:spPr>
          <a:xfrm>
            <a:off x="0" y="0"/>
            <a:ext cx="12184560" cy="15732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Google Shape;91;g3f4b6d773eb_0_ 1"/>
          <p:cNvSpPr/>
          <p:nvPr/>
        </p:nvSpPr>
        <p:spPr>
          <a:xfrm>
            <a:off x="0" y="6510600"/>
            <a:ext cx="12184560" cy="35856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3" name="Google Shape;92;g3f4b6d773eb_0_ 1"/>
          <p:cNvPicPr/>
          <p:nvPr/>
        </p:nvPicPr>
        <p:blipFill>
          <a:blip r:embed="rId2"/>
          <a:srcRect t="26220" b="23016"/>
          <a:stretch/>
        </p:blipFill>
        <p:spPr>
          <a:xfrm>
            <a:off x="10038240" y="288360"/>
            <a:ext cx="1942920" cy="532800"/>
          </a:xfrm>
          <a:prstGeom prst="rect">
            <a:avLst/>
          </a:prstGeom>
          <a:ln w="0">
            <a:noFill/>
          </a:ln>
        </p:spPr>
      </p:pic>
      <p:sp>
        <p:nvSpPr>
          <p:cNvPr id="154" name="Google Shape;93;g3f4b6d773eb_0_ 1"/>
          <p:cNvSpPr/>
          <p:nvPr/>
        </p:nvSpPr>
        <p:spPr>
          <a:xfrm>
            <a:off x="168120" y="6538320"/>
            <a:ext cx="299304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Google Shape;94;g3f4b6d773eb_0_ 1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Google Shape;95;g3f4b6d773eb_0_ 1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Google Shape;96;g3f4b6d773eb_0_ 1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Google Shape;51;p 6"/>
          <p:cNvSpPr/>
          <p:nvPr/>
        </p:nvSpPr>
        <p:spPr>
          <a:xfrm>
            <a:off x="540000" y="388800"/>
            <a:ext cx="738000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Calibri"/>
              </a:rPr>
              <a:t>Atributos personales y laborales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Google Shape;57;p 5"/>
          <p:cNvSpPr/>
          <p:nvPr/>
        </p:nvSpPr>
        <p:spPr>
          <a:xfrm>
            <a:off x="563400" y="948960"/>
            <a:ext cx="6996600" cy="54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400" b="1" strike="noStrike" spc="-1">
                <a:solidFill>
                  <a:srgbClr val="808080"/>
                </a:solidFill>
                <a:latin typeface="Arial"/>
                <a:ea typeface="Arial"/>
              </a:rPr>
              <a:t>Variables de estudio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1"/>
          <p:cNvSpPr/>
          <p:nvPr/>
        </p:nvSpPr>
        <p:spPr>
          <a:xfrm>
            <a:off x="900000" y="1491120"/>
            <a:ext cx="4901760" cy="4609800"/>
          </a:xfrm>
          <a:prstGeom prst="roundRect">
            <a:avLst>
              <a:gd name="adj" fmla="val 5565"/>
            </a:avLst>
          </a:prstGeom>
          <a:solidFill>
            <a:srgbClr val="D47CAB"/>
          </a:solidFill>
          <a:ln w="72000">
            <a:solidFill>
              <a:srgbClr val="FF8A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1320" tIns="76320" rIns="121320" bIns="7632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lang="es-E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2"/>
          <p:cNvSpPr/>
          <p:nvPr/>
        </p:nvSpPr>
        <p:spPr>
          <a:xfrm>
            <a:off x="6258240" y="1491120"/>
            <a:ext cx="4901760" cy="4609800"/>
          </a:xfrm>
          <a:prstGeom prst="roundRect">
            <a:avLst>
              <a:gd name="adj" fmla="val 5565"/>
            </a:avLst>
          </a:prstGeom>
          <a:solidFill>
            <a:srgbClr val="F6BA72"/>
          </a:solidFill>
          <a:ln w="72000">
            <a:solidFill>
              <a:srgbClr val="C2187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1320" tIns="76320" rIns="121320" bIns="7632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1"/>
          <p:cNvSpPr/>
          <p:nvPr/>
        </p:nvSpPr>
        <p:spPr>
          <a:xfrm>
            <a:off x="6480000" y="1620000"/>
            <a:ext cx="6117120" cy="347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12600" defTabSz="914400">
              <a:lnSpc>
                <a:spcPct val="99000"/>
              </a:lnSpc>
              <a:spcBef>
                <a:spcPts val="136"/>
              </a:spcBef>
            </a:pPr>
            <a:r>
              <a:rPr lang="es-ES" sz="2800" b="1" strike="noStrike" spc="-1">
                <a:solidFill>
                  <a:srgbClr val="1F2937"/>
                </a:solidFill>
                <a:latin typeface="Arial"/>
                <a:ea typeface="DejaVu Sans"/>
              </a:rPr>
              <a:t>Laborales </a:t>
            </a:r>
            <a:br>
              <a:rPr sz="2800"/>
            </a:b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  <a:p>
            <a:pPr marL="12600" defTabSz="914400">
              <a:lnSpc>
                <a:spcPct val="99000"/>
              </a:lnSpc>
              <a:spcBef>
                <a:spcPts val="703"/>
              </a:spcBef>
              <a:spcAft>
                <a:spcPts val="567"/>
              </a:spcAft>
            </a:pPr>
            <a:r>
              <a:rPr lang="es-ES" sz="2100" b="0" strike="noStrike" spc="-1">
                <a:solidFill>
                  <a:schemeClr val="dk1"/>
                </a:solidFill>
                <a:latin typeface="Arial"/>
                <a:ea typeface="DejaVu Sans"/>
              </a:rPr>
              <a:t>🏢</a:t>
            </a:r>
            <a:r>
              <a:rPr lang="es-ES" sz="2100" b="0" strike="noStrike" spc="-1">
                <a:solidFill>
                  <a:srgbClr val="000000"/>
                </a:solidFill>
                <a:latin typeface="Arial"/>
                <a:ea typeface="Microsoft YaHei"/>
              </a:rPr>
              <a:t> Antigüedad</a:t>
            </a:r>
          </a:p>
          <a:p>
            <a:pPr marL="12600" defTabSz="914400">
              <a:lnSpc>
                <a:spcPct val="99000"/>
              </a:lnSpc>
              <a:spcBef>
                <a:spcPts val="703"/>
              </a:spcBef>
              <a:spcAft>
                <a:spcPts val="567"/>
              </a:spcAft>
            </a:pPr>
            <a:r>
              <a:rPr lang="es-ES" sz="2100" b="0" strike="noStrike" spc="-1">
                <a:solidFill>
                  <a:srgbClr val="000000"/>
                </a:solidFill>
                <a:latin typeface="Arial"/>
                <a:ea typeface="DejaVu Sans"/>
              </a:rPr>
              <a:t>💶 </a:t>
            </a:r>
            <a:r>
              <a:rPr lang="es-ES" sz="2100" b="0" strike="noStrike" spc="-1">
                <a:solidFill>
                  <a:srgbClr val="1F2937"/>
                </a:solidFill>
                <a:latin typeface="Arial"/>
                <a:ea typeface="DejaVu Sans"/>
              </a:rPr>
              <a:t>Gasto en transporte</a:t>
            </a:r>
            <a:endParaRPr lang="es-ES" sz="2100" b="0" strike="noStrike" spc="-1">
              <a:solidFill>
                <a:srgbClr val="000000"/>
              </a:solidFill>
              <a:latin typeface="Arial"/>
              <a:ea typeface="Microsoft YaHei"/>
            </a:endParaRPr>
          </a:p>
          <a:p>
            <a:pPr marL="12600" defTabSz="914400">
              <a:lnSpc>
                <a:spcPct val="99000"/>
              </a:lnSpc>
              <a:spcBef>
                <a:spcPts val="703"/>
              </a:spcBef>
              <a:spcAft>
                <a:spcPts val="567"/>
              </a:spcAft>
            </a:pPr>
            <a:r>
              <a:rPr lang="es-ES" sz="2100" b="0" strike="noStrike" spc="-1">
                <a:solidFill>
                  <a:srgbClr val="000000"/>
                </a:solidFill>
                <a:latin typeface="Arial"/>
                <a:ea typeface="DejaVu Sans"/>
              </a:rPr>
              <a:t>📍   D</a:t>
            </a:r>
            <a:r>
              <a:rPr lang="es-ES" sz="2100" b="0" strike="noStrike" spc="-1">
                <a:solidFill>
                  <a:srgbClr val="1F2937"/>
                </a:solidFill>
                <a:latin typeface="Arial"/>
                <a:ea typeface="DejaVu Sans"/>
              </a:rPr>
              <a:t>istancia al trabajo</a:t>
            </a:r>
            <a:endParaRPr lang="es-ES" sz="2100" b="0" strike="noStrike" spc="-1">
              <a:solidFill>
                <a:srgbClr val="000000"/>
              </a:solidFill>
              <a:latin typeface="Arial"/>
              <a:ea typeface="Microsoft YaHei"/>
            </a:endParaRPr>
          </a:p>
          <a:p>
            <a:pPr marL="12600" defTabSz="914400">
              <a:lnSpc>
                <a:spcPct val="99000"/>
              </a:lnSpc>
              <a:spcBef>
                <a:spcPts val="703"/>
              </a:spcBef>
              <a:spcAft>
                <a:spcPts val="567"/>
              </a:spcAft>
            </a:pPr>
            <a:r>
              <a:rPr lang="en-US" sz="2200" b="1" strike="noStrike" spc="-1">
                <a:solidFill>
                  <a:srgbClr val="1B4332"/>
                </a:solidFill>
                <a:latin typeface="Arial"/>
                <a:ea typeface="Calibri"/>
              </a:rPr>
              <a:t>📦</a:t>
            </a:r>
            <a:r>
              <a:rPr lang="es-ES" sz="1800" b="0" strike="noStrike" spc="-1">
                <a:solidFill>
                  <a:srgbClr val="000000"/>
                </a:solidFill>
                <a:latin typeface="Arial"/>
                <a:ea typeface="Microsoft YaHei"/>
              </a:rPr>
              <a:t> Carga de trabajo</a:t>
            </a:r>
          </a:p>
          <a:p>
            <a:pPr defTabSz="9144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lang="es-ES" sz="2100" b="0" strike="noStrike" spc="-1">
                <a:solidFill>
                  <a:srgbClr val="000000"/>
                </a:solidFill>
                <a:latin typeface="Arial"/>
                <a:ea typeface="DejaVu Sans"/>
              </a:rPr>
              <a:t>🎯 </a:t>
            </a:r>
            <a:r>
              <a:rPr lang="es-ES" sz="2100" b="0" strike="noStrike" spc="-1">
                <a:solidFill>
                  <a:srgbClr val="1F2937"/>
                </a:solidFill>
                <a:latin typeface="Arial"/>
                <a:ea typeface="DejaVu Sans"/>
              </a:rPr>
              <a:t>Desempeño</a:t>
            </a:r>
            <a:endParaRPr lang="es-ES" sz="2100" b="0" strike="noStrike" spc="-1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sp>
        <p:nvSpPr>
          <p:cNvPr id="163" name="Text 2"/>
          <p:cNvSpPr/>
          <p:nvPr/>
        </p:nvSpPr>
        <p:spPr>
          <a:xfrm>
            <a:off x="1080000" y="1656000"/>
            <a:ext cx="5663880" cy="374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12600" defTabSz="914400">
              <a:lnSpc>
                <a:spcPct val="99000"/>
              </a:lnSpc>
              <a:spcBef>
                <a:spcPts val="136"/>
              </a:spcBef>
            </a:pPr>
            <a:r>
              <a:rPr lang="es-ES" sz="2800" b="1" strike="noStrike" spc="-1">
                <a:solidFill>
                  <a:srgbClr val="1F2937"/>
                </a:solidFill>
                <a:latin typeface="Arial"/>
                <a:ea typeface="DejaVu Sans"/>
              </a:rPr>
              <a:t>Personales </a:t>
            </a:r>
            <a:br>
              <a:rPr sz="2800"/>
            </a:br>
            <a:endParaRPr lang="es-ES" sz="2800" b="0" strike="noStrike" spc="-1">
              <a:solidFill>
                <a:srgbClr val="1F2937"/>
              </a:solidFill>
              <a:latin typeface="Arial"/>
            </a:endParaRPr>
          </a:p>
          <a:p>
            <a:pPr marL="12600" defTabSz="914400">
              <a:lnSpc>
                <a:spcPct val="99000"/>
              </a:lnSpc>
              <a:spcBef>
                <a:spcPts val="703"/>
              </a:spcBef>
              <a:spcAft>
                <a:spcPts val="567"/>
              </a:spcAft>
            </a:pPr>
            <a:r>
              <a:rPr lang="es-ES" sz="2100" b="0" strike="noStrike" spc="-1">
                <a:solidFill>
                  <a:srgbClr val="1F2937"/>
                </a:solidFill>
                <a:latin typeface="Arial"/>
                <a:ea typeface="DejaVu Sans"/>
              </a:rPr>
              <a:t>👤 Edad </a:t>
            </a:r>
            <a:endParaRPr lang="es-ES" sz="2100" b="0" strike="noStrike" spc="-1">
              <a:solidFill>
                <a:srgbClr val="1F2937"/>
              </a:solidFill>
              <a:latin typeface="Arial"/>
              <a:ea typeface="Microsoft YaHei"/>
            </a:endParaRPr>
          </a:p>
          <a:p>
            <a:pPr marL="12600" defTabSz="914400">
              <a:lnSpc>
                <a:spcPct val="99000"/>
              </a:lnSpc>
              <a:spcBef>
                <a:spcPts val="703"/>
              </a:spcBef>
              <a:spcAft>
                <a:spcPts val="567"/>
              </a:spcAft>
            </a:pPr>
            <a:r>
              <a:rPr lang="es-ES" sz="2100" b="0" strike="noStrike" spc="-1">
                <a:solidFill>
                  <a:srgbClr val="1F2937"/>
                </a:solidFill>
                <a:latin typeface="Arial"/>
                <a:ea typeface="DejaVu Sans"/>
              </a:rPr>
              <a:t>🎓Educación</a:t>
            </a:r>
            <a:endParaRPr lang="es-ES" sz="2100" b="0" strike="noStrike" spc="-1">
              <a:solidFill>
                <a:srgbClr val="1F2937"/>
              </a:solidFill>
              <a:latin typeface="Arial"/>
              <a:ea typeface="Microsoft YaHei"/>
            </a:endParaRPr>
          </a:p>
          <a:p>
            <a:pPr marL="12600" defTabSz="914400">
              <a:lnSpc>
                <a:spcPct val="99000"/>
              </a:lnSpc>
              <a:spcBef>
                <a:spcPts val="703"/>
              </a:spcBef>
              <a:spcAft>
                <a:spcPts val="567"/>
              </a:spcAft>
            </a:pPr>
            <a:r>
              <a:rPr lang="es-ES" sz="2100" b="0" strike="noStrike" spc="-1">
                <a:solidFill>
                  <a:srgbClr val="1F2937"/>
                </a:solidFill>
                <a:latin typeface="Arial"/>
                <a:ea typeface="DejaVu Sans"/>
              </a:rPr>
              <a:t>👶 Nº Hijos / 🐾mascotas </a:t>
            </a:r>
            <a:endParaRPr lang="es-ES" sz="2100" b="0" strike="noStrike" spc="-1">
              <a:solidFill>
                <a:srgbClr val="1F2937"/>
              </a:solidFill>
              <a:latin typeface="Arial"/>
              <a:ea typeface="Microsoft YaHei"/>
            </a:endParaRPr>
          </a:p>
          <a:p>
            <a:pPr marL="12600" defTabSz="914400">
              <a:lnSpc>
                <a:spcPct val="99000"/>
              </a:lnSpc>
              <a:spcBef>
                <a:spcPts val="703"/>
              </a:spcBef>
              <a:spcAft>
                <a:spcPts val="567"/>
              </a:spcAft>
            </a:pPr>
            <a:r>
              <a:rPr lang="es-ES" sz="2100" b="0" strike="noStrike" spc="-1">
                <a:solidFill>
                  <a:schemeClr val="dk1"/>
                </a:solidFill>
                <a:latin typeface="Arial"/>
                <a:ea typeface="DejaVu Sans"/>
              </a:rPr>
              <a:t>🚬 </a:t>
            </a:r>
            <a:r>
              <a:rPr lang="es-ES" sz="2100" b="0" strike="noStrike" spc="-1">
                <a:solidFill>
                  <a:srgbClr val="1F2937"/>
                </a:solidFill>
                <a:latin typeface="Arial"/>
                <a:ea typeface="Microsoft YaHei"/>
              </a:rPr>
              <a:t>Fumar</a:t>
            </a:r>
          </a:p>
          <a:p>
            <a:pPr marL="12600" defTabSz="914400">
              <a:lnSpc>
                <a:spcPct val="99000"/>
              </a:lnSpc>
              <a:spcBef>
                <a:spcPts val="703"/>
              </a:spcBef>
              <a:spcAft>
                <a:spcPts val="567"/>
              </a:spcAft>
            </a:pPr>
            <a:r>
              <a:rPr lang="es-ES" sz="2100" b="0" strike="noStrike" spc="-1">
                <a:solidFill>
                  <a:srgbClr val="1F2937"/>
                </a:solidFill>
                <a:latin typeface="Arial"/>
                <a:ea typeface="DejaVu Sans"/>
              </a:rPr>
              <a:t>🍷  Beber alcohol</a:t>
            </a:r>
            <a:endParaRPr lang="es-ES" sz="2100" b="0" strike="noStrike" spc="-1">
              <a:solidFill>
                <a:srgbClr val="1F2937"/>
              </a:solidFill>
              <a:latin typeface="Arial"/>
              <a:ea typeface="Microsoft YaHei"/>
            </a:endParaRPr>
          </a:p>
          <a:p>
            <a:pPr marL="12600" defTabSz="914400">
              <a:lnSpc>
                <a:spcPct val="99000"/>
              </a:lnSpc>
              <a:spcBef>
                <a:spcPts val="703"/>
              </a:spcBef>
              <a:spcAft>
                <a:spcPts val="567"/>
              </a:spcAft>
            </a:pPr>
            <a:r>
              <a:rPr lang="es-ES" sz="2100" b="0" strike="noStrike" spc="-1">
                <a:solidFill>
                  <a:srgbClr val="1F2937"/>
                </a:solidFill>
                <a:latin typeface="Arial"/>
                <a:ea typeface="DejaVu Sans"/>
              </a:rPr>
              <a:t>⚖️Índice Masa corporal</a:t>
            </a:r>
            <a:endParaRPr lang="es-ES" sz="2100" b="0" strike="noStrike" spc="-1">
              <a:solidFill>
                <a:srgbClr val="1F2937"/>
              </a:solidFill>
              <a:latin typeface="Arial"/>
              <a:ea typeface="Microsoft YaHe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8"/>
          <p:cNvSpPr/>
          <p:nvPr/>
        </p:nvSpPr>
        <p:spPr>
          <a:xfrm>
            <a:off x="0" y="0"/>
            <a:ext cx="12186720" cy="15948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5" name="Shape 10"/>
          <p:cNvSpPr/>
          <p:nvPr/>
        </p:nvSpPr>
        <p:spPr>
          <a:xfrm>
            <a:off x="0" y="6510600"/>
            <a:ext cx="12186720" cy="36072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" name="Text 4"/>
          <p:cNvSpPr/>
          <p:nvPr/>
        </p:nvSpPr>
        <p:spPr>
          <a:xfrm>
            <a:off x="168120" y="6538320"/>
            <a:ext cx="299520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Rectángulo 1"/>
          <p:cNvSpPr/>
          <p:nvPr/>
        </p:nvSpPr>
        <p:spPr>
          <a:xfrm>
            <a:off x="1586520" y="5402520"/>
            <a:ext cx="23353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" name="Conector recto 1"/>
          <p:cNvSpPr/>
          <p:nvPr/>
        </p:nvSpPr>
        <p:spPr>
          <a:xfrm>
            <a:off x="8965440" y="6681240"/>
            <a:ext cx="360000" cy="360"/>
          </a:xfrm>
          <a:prstGeom prst="line">
            <a:avLst/>
          </a:prstGeom>
          <a:ln w="36000">
            <a:solidFill>
              <a:srgbClr val="FF8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000" tIns="-63000" rIns="108000" bIns="-63000" anchor="ctr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" name="Text 6"/>
          <p:cNvSpPr/>
          <p:nvPr/>
        </p:nvSpPr>
        <p:spPr>
          <a:xfrm>
            <a:off x="2742840" y="6538320"/>
            <a:ext cx="139392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0" name="Imagen 1"/>
          <p:cNvPicPr/>
          <p:nvPr/>
        </p:nvPicPr>
        <p:blipFill>
          <a:blip r:embed="rId3"/>
          <a:srcRect t="26241" b="23016"/>
          <a:stretch/>
        </p:blipFill>
        <p:spPr>
          <a:xfrm>
            <a:off x="10038600" y="288360"/>
            <a:ext cx="1945080" cy="534960"/>
          </a:xfrm>
          <a:prstGeom prst="rect">
            <a:avLst/>
          </a:prstGeom>
          <a:ln w="0">
            <a:noFill/>
          </a:ln>
        </p:spPr>
      </p:pic>
      <p:sp>
        <p:nvSpPr>
          <p:cNvPr id="171" name="Google Shape;51;p 9"/>
          <p:cNvSpPr/>
          <p:nvPr/>
        </p:nvSpPr>
        <p:spPr>
          <a:xfrm>
            <a:off x="540000" y="388800"/>
            <a:ext cx="846000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s-ES" sz="2800" b="0" strike="noStrike" spc="-1" dirty="0">
                <a:solidFill>
                  <a:srgbClr val="1F2937"/>
                </a:solidFill>
                <a:latin typeface="Calibri"/>
                <a:ea typeface="Calibri"/>
              </a:rPr>
              <a:t>¿Qué distingue a los empleados con mayor absentismo?</a:t>
            </a:r>
            <a:endParaRPr lang="es-E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Google Shape;57;p 8"/>
          <p:cNvSpPr/>
          <p:nvPr/>
        </p:nvSpPr>
        <p:spPr>
          <a:xfrm>
            <a:off x="563400" y="948960"/>
            <a:ext cx="7716600" cy="54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400" b="1" strike="noStrike" spc="-1">
                <a:solidFill>
                  <a:srgbClr val="808080"/>
                </a:solidFill>
                <a:latin typeface="Arial"/>
                <a:ea typeface="Arial"/>
              </a:rPr>
              <a:t>Atributos destacables entre empleados y empleadas con perfil de absentismo alto (P75)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3" name="Imagen 5"/>
          <p:cNvPicPr/>
          <p:nvPr/>
        </p:nvPicPr>
        <p:blipFill>
          <a:blip r:embed="rId4"/>
          <a:srcRect t="9564"/>
          <a:stretch/>
        </p:blipFill>
        <p:spPr>
          <a:xfrm>
            <a:off x="3600000" y="1368000"/>
            <a:ext cx="7796520" cy="4680000"/>
          </a:xfrm>
          <a:prstGeom prst="rect">
            <a:avLst/>
          </a:prstGeom>
          <a:ln w="0">
            <a:noFill/>
          </a:ln>
        </p:spPr>
      </p:pic>
      <p:sp>
        <p:nvSpPr>
          <p:cNvPr id="174" name="Google Shape;143;g3f4b6d773eb_0_ 3"/>
          <p:cNvSpPr/>
          <p:nvPr/>
        </p:nvSpPr>
        <p:spPr>
          <a:xfrm>
            <a:off x="756000" y="2376000"/>
            <a:ext cx="2432160" cy="2484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800" b="0" strike="noStrike" spc="-1">
                <a:solidFill>
                  <a:schemeClr val="dk1"/>
                </a:solidFill>
                <a:latin typeface="Arial"/>
                <a:ea typeface="DejaVu Sans"/>
              </a:rPr>
              <a:t>Única asociación observada, sin ser determinante: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800" b="1" strike="noStrike" spc="-1">
                <a:solidFill>
                  <a:schemeClr val="dk1"/>
                </a:solidFill>
                <a:latin typeface="Arial"/>
                <a:ea typeface="DejaVu Sans"/>
              </a:rPr>
              <a:t>Distancia al lugar de trabajo.</a:t>
            </a:r>
            <a:r>
              <a:rPr lang="es-ES" sz="1800" b="0" strike="noStrike" spc="-1">
                <a:solidFill>
                  <a:schemeClr val="dk1"/>
                </a:solidFill>
                <a:latin typeface="Arial"/>
                <a:ea typeface="DejaVu Sans"/>
              </a:rPr>
              <a:t> 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Rectángulo 2"/>
          <p:cNvSpPr/>
          <p:nvPr/>
        </p:nvSpPr>
        <p:spPr>
          <a:xfrm>
            <a:off x="8100000" y="6175080"/>
            <a:ext cx="3724200" cy="25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r>
              <a:rPr lang="es-ES" sz="1400" b="0" i="1" strike="noStrike" spc="-1">
                <a:solidFill>
                  <a:srgbClr val="000000"/>
                </a:solidFill>
                <a:latin typeface="Arial"/>
                <a:ea typeface="DejaVu Sans"/>
              </a:rPr>
              <a:t>Modelo multivariante de regresión logística.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hape 5"/>
          <p:cNvSpPr/>
          <p:nvPr/>
        </p:nvSpPr>
        <p:spPr>
          <a:xfrm>
            <a:off x="0" y="0"/>
            <a:ext cx="12186720" cy="15948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7" name="Shape 6"/>
          <p:cNvSpPr/>
          <p:nvPr/>
        </p:nvSpPr>
        <p:spPr>
          <a:xfrm>
            <a:off x="0" y="6510600"/>
            <a:ext cx="12186720" cy="36072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168120" y="6538320"/>
            <a:ext cx="299520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ectángulo 3"/>
          <p:cNvSpPr/>
          <p:nvPr/>
        </p:nvSpPr>
        <p:spPr>
          <a:xfrm>
            <a:off x="1586520" y="5402520"/>
            <a:ext cx="23353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0" name="Conector recto 2"/>
          <p:cNvSpPr/>
          <p:nvPr/>
        </p:nvSpPr>
        <p:spPr>
          <a:xfrm>
            <a:off x="8965440" y="6681240"/>
            <a:ext cx="360000" cy="360"/>
          </a:xfrm>
          <a:prstGeom prst="line">
            <a:avLst/>
          </a:prstGeom>
          <a:ln w="36000">
            <a:solidFill>
              <a:srgbClr val="FF8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000" tIns="-63000" rIns="108000" bIns="-63000" anchor="ctr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1" name="Text 5"/>
          <p:cNvSpPr/>
          <p:nvPr/>
        </p:nvSpPr>
        <p:spPr>
          <a:xfrm>
            <a:off x="2742840" y="6538320"/>
            <a:ext cx="139392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2" name="Imagen 3"/>
          <p:cNvPicPr/>
          <p:nvPr/>
        </p:nvPicPr>
        <p:blipFill>
          <a:blip r:embed="rId3"/>
          <a:srcRect t="26241" b="23016"/>
          <a:stretch/>
        </p:blipFill>
        <p:spPr>
          <a:xfrm>
            <a:off x="10038600" y="288360"/>
            <a:ext cx="1945080" cy="534960"/>
          </a:xfrm>
          <a:prstGeom prst="rect">
            <a:avLst/>
          </a:prstGeom>
          <a:ln w="0">
            <a:noFill/>
          </a:ln>
        </p:spPr>
      </p:pic>
      <p:sp>
        <p:nvSpPr>
          <p:cNvPr id="183" name="Google Shape;51;p 10"/>
          <p:cNvSpPr/>
          <p:nvPr/>
        </p:nvSpPr>
        <p:spPr>
          <a:xfrm>
            <a:off x="540000" y="388800"/>
            <a:ext cx="846000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s-ES" sz="2800" b="0" strike="noStrike" spc="-1" dirty="0">
                <a:solidFill>
                  <a:srgbClr val="1F2937"/>
                </a:solidFill>
                <a:latin typeface="Calibri"/>
                <a:ea typeface="Calibri"/>
              </a:rPr>
              <a:t>¿Qué distingue a los empleados con mayor absentismo?</a:t>
            </a:r>
            <a:endParaRPr lang="es-E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Google Shape;57;p 9"/>
          <p:cNvSpPr/>
          <p:nvPr/>
        </p:nvSpPr>
        <p:spPr>
          <a:xfrm>
            <a:off x="563400" y="948960"/>
            <a:ext cx="7716600" cy="54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400" b="1" strike="noStrike" spc="-1">
                <a:solidFill>
                  <a:srgbClr val="808080"/>
                </a:solidFill>
                <a:latin typeface="Arial"/>
                <a:ea typeface="Arial"/>
              </a:rPr>
              <a:t>Atributos destacables entre empleados y empleadas con perfil de absentismo alto (P75)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85" name="Tabla 1"/>
          <p:cNvGraphicFramePr/>
          <p:nvPr/>
        </p:nvGraphicFramePr>
        <p:xfrm>
          <a:off x="578520" y="1544040"/>
          <a:ext cx="10979640" cy="4917720"/>
        </p:xfrm>
        <a:graphic>
          <a:graphicData uri="http://schemas.openxmlformats.org/drawingml/2006/table">
            <a:tbl>
              <a:tblPr/>
              <a:tblGrid>
                <a:gridCol w="282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47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1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5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8760">
                <a:tc>
                  <a:txBody>
                    <a:bodyPr/>
                    <a:lstStyle/>
                    <a:p>
                      <a:endParaRPr lang="es-ES" sz="1200" b="0" strike="noStrike" spc="-1">
                        <a:solidFill>
                          <a:schemeClr val="dk1"/>
                        </a:solidFill>
                        <a:latin typeface="Arial"/>
                        <a:ea typeface="DejaVu Sans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1200" b="0" strike="noStrike" spc="-1">
                        <a:solidFill>
                          <a:schemeClr val="dk1"/>
                        </a:solidFill>
                        <a:latin typeface="Arial"/>
                        <a:ea typeface="DejaVu Sans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1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r / H / U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1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p-value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1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Test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8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1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🚌 Gasto en transporte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6BA7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1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🟢 Asociación significativa débil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6BA7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0.27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6BA7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1" u="sng" strike="noStrike" spc="-1">
                          <a:solidFill>
                            <a:schemeClr val="accent1">
                              <a:lumMod val="75000"/>
                            </a:schemeClr>
                          </a:solidFill>
                          <a:uFillTx/>
                          <a:latin typeface="Arial"/>
                          <a:ea typeface="DejaVu Sans"/>
                        </a:rPr>
                        <a:t>0.001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6BA7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Spearman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6BA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840">
                <a:tc>
                  <a:txBody>
                    <a:bodyPr/>
                    <a:lstStyle/>
                    <a:p>
                      <a:r>
                        <a:rPr lang="en-US" sz="2200" b="1" strike="noStrike" spc="-1">
                          <a:solidFill>
                            <a:schemeClr val="dk1"/>
                          </a:solidFill>
                          <a:latin typeface="Arial"/>
                          <a:ea typeface="Calibri"/>
                        </a:rPr>
                        <a:t>📦</a:t>
                      </a:r>
                      <a:r>
                        <a:rPr lang="es-ES" sz="1800" b="1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 Carga de trabajo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6BA7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1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🟢 Asociación significativa débil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6BA7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0.21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6BA7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1" u="sng" strike="noStrike" spc="-1">
                          <a:solidFill>
                            <a:schemeClr val="accent1">
                              <a:lumMod val="75000"/>
                            </a:schemeClr>
                          </a:solidFill>
                          <a:uFillTx/>
                          <a:latin typeface="Arial"/>
                          <a:ea typeface="DejaVu Sans"/>
                        </a:rPr>
                        <a:t>0.014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6BA7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Spearman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6BA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840">
                <a:tc>
                  <a:txBody>
                    <a:bodyPr/>
                    <a:lstStyle/>
                    <a:p>
                      <a:r>
                        <a:rPr lang="es-ES" sz="21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👶</a:t>
                      </a:r>
                      <a:r>
                        <a:rPr lang="es-ES" sz="1800" b="1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Nº de hijos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6BA7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1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🟢 Asociación significativa débil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6BA7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0.19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6BA7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1" u="sng" strike="noStrike" spc="-1">
                          <a:solidFill>
                            <a:schemeClr val="accent1">
                              <a:lumMod val="75000"/>
                            </a:schemeClr>
                          </a:solidFill>
                          <a:uFillTx/>
                          <a:latin typeface="Arial"/>
                          <a:ea typeface="DejaVu Sans"/>
                        </a:rPr>
                        <a:t>0.026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6BA72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Spearman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6BA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8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1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📍   Distancia al trabajo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1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🟢 Asociación en modelo logístico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OR=0.53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1" u="sng" strike="noStrike" spc="-1">
                          <a:solidFill>
                            <a:schemeClr val="accent1">
                              <a:lumMod val="75000"/>
                            </a:schemeClr>
                          </a:solidFill>
                          <a:uFillTx/>
                          <a:latin typeface="Arial"/>
                          <a:ea typeface="DejaVu Sans"/>
                        </a:rPr>
                        <a:t>0.042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Logística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👤  Edad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⚪ Sin evidencia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−0.06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rgbClr val="FF0000"/>
                          </a:solidFill>
                          <a:latin typeface="Arial"/>
                          <a:ea typeface="DejaVu Sans"/>
                        </a:rPr>
                        <a:t>0.496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Spearman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⚖️ IMC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⚪ Sin evidencia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−0.14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rgbClr val="FF0000"/>
                          </a:solidFill>
                          <a:latin typeface="Arial"/>
                          <a:ea typeface="DejaVu Sans"/>
                        </a:rPr>
                        <a:t>0.099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Spearman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🚬 Fumador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⚪ Sin evidencia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U=814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rgbClr val="FF0000"/>
                          </a:solidFill>
                          <a:latin typeface="Arial"/>
                          <a:ea typeface="DejaVu Sans"/>
                        </a:rPr>
                        <a:t>0.514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Mann-Whitney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🍷   Bebedor social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⚪ Sin evidencia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U=2351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rgbClr val="FF0000"/>
                          </a:solidFill>
                          <a:latin typeface="Arial"/>
                          <a:ea typeface="DejaVu Sans"/>
                        </a:rPr>
                        <a:t>0.726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Mann-Whitney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🎓 Educación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⚪ Sin evidencia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H=3.21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rgbClr val="FF0000"/>
                          </a:solidFill>
                          <a:latin typeface="Arial"/>
                          <a:ea typeface="DejaVu Sans"/>
                        </a:rPr>
                        <a:t>0.361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Kruskal-Wallis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8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🐾 Mascotas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⚪ Sin evidencia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0.05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rgbClr val="FF0000"/>
                          </a:solidFill>
                          <a:latin typeface="Arial"/>
                          <a:ea typeface="DejaVu Sans"/>
                        </a:rPr>
                        <a:t>0.553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Spearman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8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🏢 Antigüedad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⚪ Sin evidencia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−0.05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rgbClr val="FF0000"/>
                          </a:solidFill>
                          <a:latin typeface="Arial"/>
                          <a:ea typeface="DejaVu Sans"/>
                        </a:rPr>
                        <a:t>0.580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Spearman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8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🎯 Desempeño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⚪ Sin evidencia</a:t>
                      </a:r>
                      <a:endParaRPr lang="es-ES" sz="18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−0.09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rgbClr val="FF0000"/>
                          </a:solidFill>
                          <a:latin typeface="Arial"/>
                          <a:ea typeface="DejaVu Sans"/>
                        </a:rPr>
                        <a:t>0.302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000" b="0" strike="noStrike" spc="-1">
                          <a:solidFill>
                            <a:schemeClr val="dk1"/>
                          </a:solidFill>
                          <a:latin typeface="Arial"/>
                          <a:ea typeface="DejaVu Sans"/>
                        </a:rPr>
                        <a:t>Spearman</a:t>
                      </a:r>
                      <a:endParaRPr lang="es-ES" sz="1000" b="0" strike="noStrike" spc="-1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9040" marR="5904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7"/>
          <p:cNvSpPr/>
          <p:nvPr/>
        </p:nvSpPr>
        <p:spPr>
          <a:xfrm>
            <a:off x="0" y="0"/>
            <a:ext cx="12186720" cy="15948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7" name="Shape 11"/>
          <p:cNvSpPr/>
          <p:nvPr/>
        </p:nvSpPr>
        <p:spPr>
          <a:xfrm>
            <a:off x="0" y="6510600"/>
            <a:ext cx="12186720" cy="36072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" name="Text 7"/>
          <p:cNvSpPr/>
          <p:nvPr/>
        </p:nvSpPr>
        <p:spPr>
          <a:xfrm>
            <a:off x="1043640" y="1289160"/>
            <a:ext cx="3273120" cy="104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44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89" name="Imagen 6"/>
          <p:cNvPicPr/>
          <p:nvPr/>
        </p:nvPicPr>
        <p:blipFill>
          <a:blip r:embed="rId2"/>
          <a:srcRect t="26241" b="23016"/>
          <a:stretch/>
        </p:blipFill>
        <p:spPr>
          <a:xfrm>
            <a:off x="10038240" y="288360"/>
            <a:ext cx="1945080" cy="534960"/>
          </a:xfrm>
          <a:prstGeom prst="rect">
            <a:avLst/>
          </a:prstGeom>
          <a:ln w="0">
            <a:noFill/>
          </a:ln>
        </p:spPr>
      </p:pic>
      <p:sp>
        <p:nvSpPr>
          <p:cNvPr id="190" name="Text 8"/>
          <p:cNvSpPr/>
          <p:nvPr/>
        </p:nvSpPr>
        <p:spPr>
          <a:xfrm>
            <a:off x="168120" y="6538320"/>
            <a:ext cx="299520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10"/>
          <p:cNvSpPr/>
          <p:nvPr/>
        </p:nvSpPr>
        <p:spPr>
          <a:xfrm>
            <a:off x="2742840" y="6538320"/>
            <a:ext cx="139392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12"/>
          <p:cNvSpPr/>
          <p:nvPr/>
        </p:nvSpPr>
        <p:spPr>
          <a:xfrm>
            <a:off x="2742840" y="6538320"/>
            <a:ext cx="139392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16"/>
          <p:cNvSpPr/>
          <p:nvPr/>
        </p:nvSpPr>
        <p:spPr>
          <a:xfrm>
            <a:off x="2742840" y="6538320"/>
            <a:ext cx="1393920" cy="3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0" strike="noStrike" spc="-1">
                <a:solidFill>
                  <a:srgbClr val="6B7280"/>
                </a:solidFill>
                <a:latin typeface="Aptos"/>
                <a:ea typeface="DejaVu Sans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Google Shape;51;p 11"/>
          <p:cNvSpPr/>
          <p:nvPr/>
        </p:nvSpPr>
        <p:spPr>
          <a:xfrm>
            <a:off x="540000" y="388800"/>
            <a:ext cx="738000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0" strike="noStrike" spc="-1" dirty="0">
                <a:solidFill>
                  <a:srgbClr val="1F2937"/>
                </a:solidFill>
                <a:latin typeface="Calibri"/>
                <a:ea typeface="Calibri"/>
              </a:rPr>
              <a:t>¿Qué podemos concluir del análisis?</a:t>
            </a:r>
            <a:endParaRPr lang="es-E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Google Shape;57;p 10"/>
          <p:cNvSpPr/>
          <p:nvPr/>
        </p:nvSpPr>
        <p:spPr>
          <a:xfrm>
            <a:off x="563400" y="948960"/>
            <a:ext cx="6996600" cy="54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400" b="1" strike="noStrike" spc="-1">
                <a:solidFill>
                  <a:srgbClr val="808080"/>
                </a:solidFill>
                <a:latin typeface="Arial"/>
                <a:ea typeface="Arial"/>
              </a:rPr>
              <a:t>Atributos personales y laborales que están más asociados a alto absentismo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22"/>
          <p:cNvSpPr/>
          <p:nvPr/>
        </p:nvSpPr>
        <p:spPr>
          <a:xfrm>
            <a:off x="1043640" y="1292760"/>
            <a:ext cx="3273840" cy="104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44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" name="Shape 18"/>
          <p:cNvSpPr/>
          <p:nvPr/>
        </p:nvSpPr>
        <p:spPr>
          <a:xfrm>
            <a:off x="720000" y="1504440"/>
            <a:ext cx="4038480" cy="1401840"/>
          </a:xfrm>
          <a:prstGeom prst="roundRect">
            <a:avLst>
              <a:gd name="adj" fmla="val 6087"/>
            </a:avLst>
          </a:prstGeom>
          <a:solidFill>
            <a:srgbClr val="F8F9FA"/>
          </a:solidFill>
          <a:ln w="12700">
            <a:solidFill>
              <a:srgbClr val="DEE2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25"/>
          <p:cNvSpPr/>
          <p:nvPr/>
        </p:nvSpPr>
        <p:spPr>
          <a:xfrm>
            <a:off x="817685" y="1863711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2660" b="0" strike="noStrike" spc="-1">
                <a:solidFill>
                  <a:srgbClr val="000000"/>
                </a:solidFill>
                <a:latin typeface="Arial"/>
                <a:ea typeface="DejaVu Sans"/>
              </a:rPr>
              <a:t>📊</a:t>
            </a:r>
            <a:endParaRPr lang="es-ES" sz="266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29"/>
          <p:cNvSpPr/>
          <p:nvPr/>
        </p:nvSpPr>
        <p:spPr>
          <a:xfrm>
            <a:off x="1349045" y="1986471"/>
            <a:ext cx="3549960" cy="38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400" b="1" strike="noStrike" spc="-1" dirty="0" err="1">
                <a:solidFill>
                  <a:srgbClr val="212529"/>
                </a:solidFill>
                <a:latin typeface="Arial"/>
                <a:ea typeface="Calibri"/>
              </a:rPr>
              <a:t>Muestra</a:t>
            </a:r>
            <a:r>
              <a:rPr lang="en-US" sz="1400" b="1" strike="noStrike" spc="-1" dirty="0">
                <a:solidFill>
                  <a:srgbClr val="212529"/>
                </a:solidFill>
                <a:latin typeface="Arial"/>
                <a:ea typeface="Calibri"/>
              </a:rPr>
              <a:t> </a:t>
            </a:r>
            <a:r>
              <a:rPr lang="en-US" sz="1400" b="1" strike="noStrike" spc="-1" dirty="0" err="1">
                <a:solidFill>
                  <a:srgbClr val="212529"/>
                </a:solidFill>
                <a:latin typeface="Arial"/>
                <a:ea typeface="Calibri"/>
              </a:rPr>
              <a:t>limitada</a:t>
            </a:r>
            <a:endParaRPr lang="es-E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21"/>
          <p:cNvSpPr/>
          <p:nvPr/>
        </p:nvSpPr>
        <p:spPr>
          <a:xfrm>
            <a:off x="720000" y="3089160"/>
            <a:ext cx="4038480" cy="1401840"/>
          </a:xfrm>
          <a:prstGeom prst="roundRect">
            <a:avLst>
              <a:gd name="adj" fmla="val 6087"/>
            </a:avLst>
          </a:prstGeom>
          <a:solidFill>
            <a:srgbClr val="F8F9FA"/>
          </a:solidFill>
          <a:ln w="12700">
            <a:solidFill>
              <a:srgbClr val="DEE2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 43"/>
          <p:cNvSpPr/>
          <p:nvPr/>
        </p:nvSpPr>
        <p:spPr>
          <a:xfrm>
            <a:off x="779400" y="3262861"/>
            <a:ext cx="480600" cy="46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2660" b="0" strike="noStrike" spc="-1">
                <a:solidFill>
                  <a:srgbClr val="000000"/>
                </a:solidFill>
                <a:latin typeface="Arial"/>
                <a:ea typeface="DejaVu Sans"/>
              </a:rPr>
              <a:t>📏</a:t>
            </a:r>
            <a:endParaRPr lang="es-ES" sz="266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44"/>
          <p:cNvSpPr/>
          <p:nvPr/>
        </p:nvSpPr>
        <p:spPr>
          <a:xfrm>
            <a:off x="1323360" y="3314701"/>
            <a:ext cx="3320559" cy="38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b="1" strike="noStrike" spc="-1" dirty="0" err="1">
                <a:solidFill>
                  <a:srgbClr val="212529"/>
                </a:solidFill>
                <a:latin typeface="Arial"/>
                <a:ea typeface="Calibri"/>
              </a:rPr>
              <a:t>lAto</a:t>
            </a:r>
            <a:r>
              <a:rPr lang="en-US" sz="1400" b="1" strike="noStrike" spc="-1" dirty="0">
                <a:solidFill>
                  <a:srgbClr val="212529"/>
                </a:solidFill>
                <a:latin typeface="Arial"/>
                <a:ea typeface="Calibri"/>
              </a:rPr>
              <a:t> </a:t>
            </a:r>
            <a:r>
              <a:rPr lang="en-US" sz="1400" b="1" strike="noStrike" spc="-1" dirty="0" err="1">
                <a:solidFill>
                  <a:srgbClr val="212529"/>
                </a:solidFill>
                <a:latin typeface="Arial"/>
                <a:ea typeface="Calibri"/>
              </a:rPr>
              <a:t>absentismo</a:t>
            </a:r>
            <a:r>
              <a:rPr lang="en-US" sz="1400" b="1" strike="noStrike" spc="-1" dirty="0">
                <a:solidFill>
                  <a:srgbClr val="212529"/>
                </a:solidFill>
                <a:latin typeface="Arial"/>
                <a:ea typeface="Calibri"/>
              </a:rPr>
              <a:t> se define de forma </a:t>
            </a:r>
            <a:r>
              <a:rPr lang="en-US" sz="1400" b="1" strike="noStrike" spc="-1" dirty="0" err="1">
                <a:solidFill>
                  <a:srgbClr val="212529"/>
                </a:solidFill>
                <a:latin typeface="Arial"/>
                <a:ea typeface="Calibri"/>
              </a:rPr>
              <a:t>metodológica</a:t>
            </a:r>
            <a:endParaRPr lang="es-ES" sz="134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45"/>
          <p:cNvSpPr/>
          <p:nvPr/>
        </p:nvSpPr>
        <p:spPr>
          <a:xfrm>
            <a:off x="1143360" y="3662280"/>
            <a:ext cx="3549960" cy="70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30" b="0" strike="noStrike" spc="-1" dirty="0">
                <a:solidFill>
                  <a:srgbClr val="6C757D"/>
                </a:solidFill>
                <a:latin typeface="Calibri"/>
                <a:ea typeface="Calibri"/>
              </a:rPr>
              <a:t>El corte </a:t>
            </a:r>
            <a:r>
              <a:rPr lang="en-US" sz="1130" b="0" strike="noStrike" spc="-1" dirty="0" err="1">
                <a:solidFill>
                  <a:srgbClr val="6C757D"/>
                </a:solidFill>
                <a:latin typeface="Calibri"/>
                <a:ea typeface="Calibri"/>
              </a:rPr>
              <a:t>en</a:t>
            </a:r>
            <a:r>
              <a:rPr lang="en-US" sz="1130" b="0" strike="noStrike" spc="-1" dirty="0">
                <a:solidFill>
                  <a:srgbClr val="6C757D"/>
                </a:solidFill>
                <a:latin typeface="Calibri"/>
                <a:ea typeface="Calibri"/>
              </a:rPr>
              <a:t> </a:t>
            </a:r>
            <a:r>
              <a:rPr lang="en-US" sz="1130" b="0" strike="noStrike" spc="-1" dirty="0" err="1">
                <a:solidFill>
                  <a:srgbClr val="6C757D"/>
                </a:solidFill>
                <a:latin typeface="Calibri"/>
                <a:ea typeface="Calibri"/>
              </a:rPr>
              <a:t>el</a:t>
            </a:r>
            <a:r>
              <a:rPr lang="en-US" sz="1130" b="0" strike="noStrike" spc="-1" dirty="0">
                <a:solidFill>
                  <a:srgbClr val="6C757D"/>
                </a:solidFill>
                <a:latin typeface="Calibri"/>
                <a:ea typeface="Calibri"/>
              </a:rPr>
              <a:t> </a:t>
            </a:r>
            <a:r>
              <a:rPr lang="en-US" sz="1130" b="0" strike="noStrike" spc="-1" dirty="0" err="1">
                <a:solidFill>
                  <a:srgbClr val="6C757D"/>
                </a:solidFill>
                <a:latin typeface="Calibri"/>
                <a:ea typeface="Calibri"/>
              </a:rPr>
              <a:t>percentil</a:t>
            </a:r>
            <a:r>
              <a:rPr lang="en-US" sz="1130" b="0" strike="noStrike" spc="-1" dirty="0">
                <a:solidFill>
                  <a:srgbClr val="6C757D"/>
                </a:solidFill>
                <a:latin typeface="Calibri"/>
                <a:ea typeface="Calibri"/>
              </a:rPr>
              <a:t> 75 es </a:t>
            </a:r>
            <a:r>
              <a:rPr lang="en-US" sz="1130" b="0" strike="noStrike" spc="-1" dirty="0" err="1">
                <a:solidFill>
                  <a:srgbClr val="6C757D"/>
                </a:solidFill>
                <a:latin typeface="Calibri"/>
                <a:ea typeface="Calibri"/>
              </a:rPr>
              <a:t>interno</a:t>
            </a:r>
            <a:r>
              <a:rPr lang="en-US" sz="1130" b="0" strike="noStrike" spc="-1" dirty="0">
                <a:solidFill>
                  <a:srgbClr val="6C757D"/>
                </a:solidFill>
                <a:latin typeface="Calibri"/>
                <a:ea typeface="Calibri"/>
              </a:rPr>
              <a:t>, no un </a:t>
            </a:r>
            <a:r>
              <a:rPr lang="en-US" sz="1130" b="0" strike="noStrike" spc="-1" dirty="0" err="1">
                <a:solidFill>
                  <a:srgbClr val="6C757D"/>
                </a:solidFill>
                <a:latin typeface="Calibri"/>
                <a:ea typeface="Calibri"/>
              </a:rPr>
              <a:t>estándar</a:t>
            </a:r>
            <a:r>
              <a:rPr lang="en-US" sz="1130" b="0" strike="noStrike" spc="-1" dirty="0">
                <a:solidFill>
                  <a:srgbClr val="6C757D"/>
                </a:solidFill>
                <a:latin typeface="Calibri"/>
                <a:ea typeface="Calibri"/>
              </a:rPr>
              <a:t> </a:t>
            </a:r>
            <a:r>
              <a:rPr lang="en-US" sz="1130" b="0" strike="noStrike" spc="-1" dirty="0" err="1">
                <a:solidFill>
                  <a:srgbClr val="6C757D"/>
                </a:solidFill>
                <a:latin typeface="Calibri"/>
                <a:ea typeface="Calibri"/>
              </a:rPr>
              <a:t>externo</a:t>
            </a:r>
            <a:r>
              <a:rPr lang="en-US" sz="1130" b="0" strike="noStrike" spc="-1" dirty="0">
                <a:solidFill>
                  <a:srgbClr val="6C757D"/>
                </a:solidFill>
                <a:latin typeface="Calibri"/>
                <a:ea typeface="Calibri"/>
              </a:rPr>
              <a:t> </a:t>
            </a:r>
            <a:r>
              <a:rPr lang="en-US" sz="1130" b="0" strike="noStrike" spc="-1" dirty="0" err="1">
                <a:solidFill>
                  <a:srgbClr val="6C757D"/>
                </a:solidFill>
                <a:latin typeface="Calibri"/>
                <a:ea typeface="Calibri"/>
              </a:rPr>
              <a:t>validado</a:t>
            </a:r>
            <a:r>
              <a:rPr lang="en-US" sz="1130" b="0" strike="noStrike" spc="-1" dirty="0">
                <a:solidFill>
                  <a:srgbClr val="6C757D"/>
                </a:solidFill>
                <a:latin typeface="Calibri"/>
                <a:ea typeface="Calibri"/>
              </a:rPr>
              <a:t>.</a:t>
            </a:r>
            <a:endParaRPr lang="es-ES" sz="113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22"/>
          <p:cNvSpPr/>
          <p:nvPr/>
        </p:nvSpPr>
        <p:spPr>
          <a:xfrm>
            <a:off x="720000" y="4674240"/>
            <a:ext cx="4038480" cy="1401840"/>
          </a:xfrm>
          <a:prstGeom prst="roundRect">
            <a:avLst>
              <a:gd name="adj" fmla="val 6087"/>
            </a:avLst>
          </a:prstGeom>
          <a:solidFill>
            <a:srgbClr val="F8F9FA"/>
          </a:solidFill>
          <a:ln w="12700">
            <a:solidFill>
              <a:srgbClr val="DEE2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chemeClr val="dk1"/>
              </a:solidFill>
              <a:latin typeface="Arial"/>
              <a:ea typeface="DejaVu Sans"/>
            </a:endParaRPr>
          </a:p>
        </p:txBody>
      </p:sp>
      <p:sp>
        <p:nvSpPr>
          <p:cNvPr id="207" name="Text 46"/>
          <p:cNvSpPr/>
          <p:nvPr/>
        </p:nvSpPr>
        <p:spPr>
          <a:xfrm>
            <a:off x="783720" y="4996080"/>
            <a:ext cx="54828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2660" b="0" strike="noStrike" spc="-1">
                <a:solidFill>
                  <a:srgbClr val="000000"/>
                </a:solidFill>
                <a:latin typeface="Arial"/>
                <a:ea typeface="DejaVu Sans"/>
              </a:rPr>
              <a:t>🏢</a:t>
            </a:r>
            <a:endParaRPr lang="es-ES" sz="266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47"/>
          <p:cNvSpPr/>
          <p:nvPr/>
        </p:nvSpPr>
        <p:spPr>
          <a:xfrm>
            <a:off x="1359360" y="4832640"/>
            <a:ext cx="3549960" cy="38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400" b="1" strike="noStrike" spc="-1">
                <a:solidFill>
                  <a:srgbClr val="212529"/>
                </a:solidFill>
                <a:latin typeface="Arial"/>
                <a:ea typeface="Calibri"/>
              </a:rPr>
              <a:t>Variables organizativas no disponibles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48"/>
          <p:cNvSpPr/>
          <p:nvPr/>
        </p:nvSpPr>
        <p:spPr>
          <a:xfrm>
            <a:off x="1143360" y="5149757"/>
            <a:ext cx="3549960" cy="70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30" b="0" strike="noStrike" spc="-1" dirty="0" err="1">
                <a:solidFill>
                  <a:srgbClr val="6C757D"/>
                </a:solidFill>
                <a:latin typeface="Calibri"/>
                <a:ea typeface="Calibri"/>
              </a:rPr>
              <a:t>Puesto</a:t>
            </a:r>
            <a:r>
              <a:rPr lang="en-US" sz="1130" b="0" strike="noStrike" spc="-1" dirty="0">
                <a:solidFill>
                  <a:srgbClr val="6C757D"/>
                </a:solidFill>
                <a:latin typeface="Calibri"/>
                <a:ea typeface="Calibri"/>
              </a:rPr>
              <a:t>, </a:t>
            </a:r>
            <a:r>
              <a:rPr lang="en-US" sz="1130" b="0" strike="noStrike" spc="-1" dirty="0" err="1">
                <a:solidFill>
                  <a:srgbClr val="6C757D"/>
                </a:solidFill>
                <a:latin typeface="Calibri"/>
                <a:ea typeface="Calibri"/>
              </a:rPr>
              <a:t>equipo</a:t>
            </a:r>
            <a:r>
              <a:rPr lang="en-US" sz="1130" b="0" strike="noStrike" spc="-1" dirty="0">
                <a:solidFill>
                  <a:srgbClr val="6C757D"/>
                </a:solidFill>
                <a:latin typeface="Calibri"/>
                <a:ea typeface="Calibri"/>
              </a:rPr>
              <a:t>, </a:t>
            </a:r>
            <a:r>
              <a:rPr lang="en-US" sz="1130" b="0" strike="noStrike" spc="-1" dirty="0" err="1">
                <a:solidFill>
                  <a:srgbClr val="6C757D"/>
                </a:solidFill>
                <a:latin typeface="Calibri"/>
                <a:ea typeface="Calibri"/>
              </a:rPr>
              <a:t>turno</a:t>
            </a:r>
            <a:r>
              <a:rPr lang="en-US" sz="1130" spc="-1" dirty="0">
                <a:solidFill>
                  <a:srgbClr val="6C757D"/>
                </a:solidFill>
                <a:latin typeface="Calibri"/>
                <a:ea typeface="Calibri"/>
              </a:rPr>
              <a:t>,</a:t>
            </a:r>
            <a:r>
              <a:rPr lang="en-US" sz="1130" b="0" strike="noStrike" spc="-1" dirty="0">
                <a:solidFill>
                  <a:srgbClr val="6C757D"/>
                </a:solidFill>
                <a:latin typeface="Calibri"/>
                <a:ea typeface="Calibri"/>
              </a:rPr>
              <a:t> supervisor, etc.</a:t>
            </a:r>
            <a:endParaRPr lang="es-ES" sz="113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Google Shape;145;g3f4b6d773eb_0_ 1">
            <a:hlinkClick r:id="rId3"/>
          </p:cNvPr>
          <p:cNvSpPr/>
          <p:nvPr/>
        </p:nvSpPr>
        <p:spPr>
          <a:xfrm>
            <a:off x="5400000" y="1899000"/>
            <a:ext cx="6120000" cy="3681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FF95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ES" sz="2400" b="1" strike="noStrike" spc="-1" dirty="0">
                <a:solidFill>
                  <a:srgbClr val="C21875"/>
                </a:solidFill>
                <a:latin typeface="Arial"/>
                <a:ea typeface="DejaVu Sans"/>
              </a:rPr>
              <a:t>No se identifica un perfil de riesgo concluyente</a:t>
            </a:r>
            <a:r>
              <a:rPr lang="es-ES" sz="24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, ni por atributos individuales ni por la combinación de los atributos analizados. </a:t>
            </a:r>
            <a:endParaRPr lang="es-ES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90;g3f4b6d773eb_0_ 2"/>
          <p:cNvSpPr/>
          <p:nvPr/>
        </p:nvSpPr>
        <p:spPr>
          <a:xfrm>
            <a:off x="0" y="0"/>
            <a:ext cx="12184560" cy="15732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Google Shape;91;g3f4b6d773eb_0_ 2"/>
          <p:cNvSpPr/>
          <p:nvPr/>
        </p:nvSpPr>
        <p:spPr>
          <a:xfrm>
            <a:off x="0" y="6510600"/>
            <a:ext cx="12184560" cy="35856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3" name="Google Shape;92;g3f4b6d773eb_0_ 2"/>
          <p:cNvPicPr/>
          <p:nvPr/>
        </p:nvPicPr>
        <p:blipFill>
          <a:blip r:embed="rId2"/>
          <a:srcRect t="26220" b="23016"/>
          <a:stretch/>
        </p:blipFill>
        <p:spPr>
          <a:xfrm>
            <a:off x="10038240" y="288360"/>
            <a:ext cx="1942920" cy="532800"/>
          </a:xfrm>
          <a:prstGeom prst="rect">
            <a:avLst/>
          </a:prstGeom>
          <a:ln w="0">
            <a:noFill/>
          </a:ln>
        </p:spPr>
      </p:pic>
      <p:sp>
        <p:nvSpPr>
          <p:cNvPr id="214" name="Google Shape;93;g3f4b6d773eb_0_ 2"/>
          <p:cNvSpPr/>
          <p:nvPr/>
        </p:nvSpPr>
        <p:spPr>
          <a:xfrm>
            <a:off x="168120" y="6538320"/>
            <a:ext cx="299304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Google Shape;94;g3f4b6d773eb_0_ 2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Google Shape;95;g3f4b6d773eb_0_ 2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Google Shape;96;g3f4b6d773eb_0_ 2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Google Shape;98;g3f4b6d773eb_0_ 1">
            <a:hlinkClick r:id="rId3" action="ppaction://hlinksldjump"/>
          </p:cNvPr>
          <p:cNvSpPr/>
          <p:nvPr/>
        </p:nvSpPr>
        <p:spPr>
          <a:xfrm>
            <a:off x="445320" y="2015280"/>
            <a:ext cx="357588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1B4332"/>
                </a:solidFill>
                <a:latin typeface="Arial"/>
                <a:ea typeface="Calibri"/>
              </a:rPr>
              <a:t>🚌  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2200" b="1" strike="noStrike" spc="-1">
                <a:solidFill>
                  <a:srgbClr val="000000"/>
                </a:solidFill>
                <a:latin typeface="Arial"/>
                <a:ea typeface="Calibri"/>
              </a:rPr>
              <a:t>Gasto en transporte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Google Shape;99;g3f4b6d773eb_0_ 1">
            <a:hlinkClick r:id="rId4"/>
          </p:cNvPr>
          <p:cNvSpPr/>
          <p:nvPr/>
        </p:nvSpPr>
        <p:spPr>
          <a:xfrm>
            <a:off x="441756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1B4332"/>
                </a:solidFill>
                <a:latin typeface="Arial"/>
                <a:ea typeface="Calibri"/>
              </a:rPr>
              <a:t>📦  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2200" b="1" strike="noStrike" spc="-1">
                <a:solidFill>
                  <a:srgbClr val="000000"/>
                </a:solidFill>
                <a:latin typeface="Arial"/>
                <a:ea typeface="Calibri"/>
              </a:rPr>
              <a:t>Carga de trabajo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Google Shape;100;g3f4b6d773eb_0_ 1">
            <a:hlinkClick r:id="rId5"/>
          </p:cNvPr>
          <p:cNvSpPr/>
          <p:nvPr/>
        </p:nvSpPr>
        <p:spPr>
          <a:xfrm>
            <a:off x="832644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1B4332"/>
                </a:solidFill>
                <a:latin typeface="Arial"/>
                <a:ea typeface="Calibri"/>
              </a:rPr>
              <a:t>👶  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2200" b="1" strike="noStrike" spc="-1">
                <a:solidFill>
                  <a:srgbClr val="000000"/>
                </a:solidFill>
                <a:latin typeface="Arial"/>
                <a:ea typeface="Calibri"/>
              </a:rPr>
              <a:t>Nº de hijos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Google Shape;51;p 13"/>
          <p:cNvSpPr/>
          <p:nvPr/>
        </p:nvSpPr>
        <p:spPr>
          <a:xfrm>
            <a:off x="540000" y="388800"/>
            <a:ext cx="738000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Calibri"/>
              </a:rPr>
              <a:t>Gestión del absentismo: propuestas de negocio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Google Shape;57;p 12"/>
          <p:cNvSpPr/>
          <p:nvPr/>
        </p:nvSpPr>
        <p:spPr>
          <a:xfrm>
            <a:off x="563400" y="948960"/>
            <a:ext cx="7896600" cy="54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400" b="1" strike="noStrike" spc="-1">
                <a:solidFill>
                  <a:srgbClr val="808080"/>
                </a:solidFill>
                <a:latin typeface="Arial"/>
                <a:ea typeface="Arial"/>
              </a:rPr>
              <a:t>Cambios en la política interna para reducir el absentismo en los perfiles de alto riesgo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90;g3f4b6d773eb_0_ 3"/>
          <p:cNvSpPr/>
          <p:nvPr/>
        </p:nvSpPr>
        <p:spPr>
          <a:xfrm>
            <a:off x="0" y="0"/>
            <a:ext cx="12184560" cy="15732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Google Shape;91;g3f4b6d773eb_0_ 3"/>
          <p:cNvSpPr/>
          <p:nvPr/>
        </p:nvSpPr>
        <p:spPr>
          <a:xfrm>
            <a:off x="0" y="6510600"/>
            <a:ext cx="12184560" cy="35856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5" name="Google Shape;92;g3f4b6d773eb_0_ 3"/>
          <p:cNvPicPr/>
          <p:nvPr/>
        </p:nvPicPr>
        <p:blipFill>
          <a:blip r:embed="rId2"/>
          <a:srcRect t="26220" b="23016"/>
          <a:stretch/>
        </p:blipFill>
        <p:spPr>
          <a:xfrm>
            <a:off x="10038240" y="288360"/>
            <a:ext cx="1942920" cy="532800"/>
          </a:xfrm>
          <a:prstGeom prst="rect">
            <a:avLst/>
          </a:prstGeom>
          <a:ln w="0">
            <a:noFill/>
          </a:ln>
        </p:spPr>
      </p:pic>
      <p:sp>
        <p:nvSpPr>
          <p:cNvPr id="226" name="Google Shape;93;g3f4b6d773eb_0_ 3"/>
          <p:cNvSpPr/>
          <p:nvPr/>
        </p:nvSpPr>
        <p:spPr>
          <a:xfrm>
            <a:off x="168120" y="6538320"/>
            <a:ext cx="299304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Google Shape;94;g3f4b6d773eb_0_ 3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Google Shape;95;g3f4b6d773eb_0_ 3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Google Shape;96;g3f4b6d773eb_0_ 3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Google Shape;98;g3f4b6d773eb_0_ 4">
            <a:hlinkClick r:id="rId3" action="ppaction://hlinksldjump"/>
          </p:cNvPr>
          <p:cNvSpPr/>
          <p:nvPr/>
        </p:nvSpPr>
        <p:spPr>
          <a:xfrm>
            <a:off x="445320" y="2015280"/>
            <a:ext cx="3575880" cy="3681000"/>
          </a:xfrm>
          <a:prstGeom prst="roundRect">
            <a:avLst>
              <a:gd name="adj" fmla="val 16667"/>
            </a:avLst>
          </a:prstGeom>
          <a:solidFill>
            <a:srgbClr val="FF00FF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1B4332"/>
                </a:solidFill>
                <a:latin typeface="Arial"/>
                <a:ea typeface="Calibri"/>
              </a:rPr>
              <a:t>🚌  </a:t>
            </a:r>
            <a:endParaRPr lang="es-ES" sz="22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2200" b="1" strike="noStrike" spc="-1">
                <a:solidFill>
                  <a:srgbClr val="000000"/>
                </a:solidFill>
                <a:latin typeface="Arial"/>
                <a:ea typeface="Calibri"/>
              </a:rPr>
              <a:t>Gasto en transporte</a:t>
            </a:r>
            <a:endParaRPr lang="es-ES" sz="22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es-ES" sz="22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i="1" strike="noStrike" spc="-1">
                <a:solidFill>
                  <a:srgbClr val="000000"/>
                </a:solidFill>
                <a:latin typeface="Arial"/>
                <a:ea typeface="Calibri"/>
              </a:rPr>
              <a:t>Encuesta de transporte para conocer hábitos. Posibles medidas:</a:t>
            </a: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  <a:ea typeface="Calibri"/>
              </a:rPr>
              <a:t>Retribución flexible (tickets transporte, pre-IRPF)</a:t>
            </a: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  <a:ea typeface="Calibri"/>
              </a:rPr>
              <a:t>Parking de bicicletas cubierto (~1.500€)</a:t>
            </a: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  <a:ea typeface="Calibri"/>
              </a:rPr>
              <a:t>Car sharing corporativo (Tribbu / HYBO, 2-5€/mes)</a:t>
            </a: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Google Shape;99;g3f4b6d773eb_0_ 2">
            <a:hlinkClick r:id="rId4" action="ppaction://hlinksldjump"/>
          </p:cNvPr>
          <p:cNvSpPr/>
          <p:nvPr/>
        </p:nvSpPr>
        <p:spPr>
          <a:xfrm>
            <a:off x="441756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1B4332"/>
                </a:solidFill>
                <a:latin typeface="Arial"/>
                <a:ea typeface="Calibri"/>
              </a:rPr>
              <a:t>📦  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2200" b="1" strike="noStrike" spc="-1">
                <a:solidFill>
                  <a:srgbClr val="000000"/>
                </a:solidFill>
                <a:latin typeface="Arial"/>
                <a:ea typeface="Calibri"/>
              </a:rPr>
              <a:t>Carga de trabajo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Google Shape;100;g3f4b6d773eb_0_ 2">
            <a:hlinkClick r:id="rId5"/>
          </p:cNvPr>
          <p:cNvSpPr/>
          <p:nvPr/>
        </p:nvSpPr>
        <p:spPr>
          <a:xfrm>
            <a:off x="832644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1B4332"/>
                </a:solidFill>
                <a:latin typeface="Arial"/>
                <a:ea typeface="Calibri"/>
              </a:rPr>
              <a:t>👶  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2200" b="1" strike="noStrike" spc="-1">
                <a:solidFill>
                  <a:srgbClr val="000000"/>
                </a:solidFill>
                <a:latin typeface="Arial"/>
                <a:ea typeface="Calibri"/>
              </a:rPr>
              <a:t>Nº de hijos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Google Shape;51;p 14"/>
          <p:cNvSpPr/>
          <p:nvPr/>
        </p:nvSpPr>
        <p:spPr>
          <a:xfrm>
            <a:off x="540000" y="388800"/>
            <a:ext cx="738000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Calibri"/>
              </a:rPr>
              <a:t>Gestión del absentismo: propuestas de negocio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Google Shape;57;p 13"/>
          <p:cNvSpPr/>
          <p:nvPr/>
        </p:nvSpPr>
        <p:spPr>
          <a:xfrm>
            <a:off x="563400" y="948960"/>
            <a:ext cx="7896600" cy="54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400" b="1" strike="noStrike" spc="-1">
                <a:solidFill>
                  <a:srgbClr val="808080"/>
                </a:solidFill>
                <a:latin typeface="Arial"/>
                <a:ea typeface="Arial"/>
              </a:rPr>
              <a:t>Cambios en la política interna para reducir el absentismo en los perfiles de alto riesgo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90;g3f4b6d773eb_0_ 4"/>
          <p:cNvSpPr/>
          <p:nvPr/>
        </p:nvSpPr>
        <p:spPr>
          <a:xfrm>
            <a:off x="0" y="0"/>
            <a:ext cx="12184560" cy="15732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Google Shape;91;g3f4b6d773eb_0_ 4"/>
          <p:cNvSpPr/>
          <p:nvPr/>
        </p:nvSpPr>
        <p:spPr>
          <a:xfrm>
            <a:off x="0" y="6510600"/>
            <a:ext cx="12184560" cy="35856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7" name="Google Shape;92;g3f4b6d773eb_0_ 4"/>
          <p:cNvPicPr/>
          <p:nvPr/>
        </p:nvPicPr>
        <p:blipFill>
          <a:blip r:embed="rId2"/>
          <a:srcRect t="26220" b="23016"/>
          <a:stretch/>
        </p:blipFill>
        <p:spPr>
          <a:xfrm>
            <a:off x="10038240" y="288360"/>
            <a:ext cx="1942920" cy="532800"/>
          </a:xfrm>
          <a:prstGeom prst="rect">
            <a:avLst/>
          </a:prstGeom>
          <a:ln w="0">
            <a:noFill/>
          </a:ln>
        </p:spPr>
      </p:pic>
      <p:sp>
        <p:nvSpPr>
          <p:cNvPr id="238" name="Google Shape;93;g3f4b6d773eb_0_ 4"/>
          <p:cNvSpPr/>
          <p:nvPr/>
        </p:nvSpPr>
        <p:spPr>
          <a:xfrm>
            <a:off x="168120" y="6538320"/>
            <a:ext cx="299304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Google Shape;94;g3f4b6d773eb_0_ 4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Google Shape;95;g3f4b6d773eb_0_ 4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Google Shape;96;g3f4b6d773eb_0_ 4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Google Shape;98;g3f4b6d773eb_0_ 5">
            <a:hlinkClick r:id="rId3" action="ppaction://hlinksldjump"/>
          </p:cNvPr>
          <p:cNvSpPr/>
          <p:nvPr/>
        </p:nvSpPr>
        <p:spPr>
          <a:xfrm>
            <a:off x="445320" y="2015280"/>
            <a:ext cx="357588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1B4332"/>
                </a:solidFill>
                <a:latin typeface="Arial"/>
                <a:ea typeface="Calibri"/>
              </a:rPr>
              <a:t>🚌  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2200" b="1" strike="noStrike" spc="-1">
                <a:solidFill>
                  <a:srgbClr val="000000"/>
                </a:solidFill>
                <a:latin typeface="Arial"/>
                <a:ea typeface="Calibri"/>
              </a:rPr>
              <a:t>Gasto en transporte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Google Shape;99;g3f4b6d773eb_0_ 3">
            <a:hlinkClick r:id="rId4"/>
          </p:cNvPr>
          <p:cNvSpPr/>
          <p:nvPr/>
        </p:nvSpPr>
        <p:spPr>
          <a:xfrm>
            <a:off x="441756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00FF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1B4332"/>
                </a:solidFill>
                <a:latin typeface="Arial"/>
                <a:ea typeface="Calibri"/>
              </a:rPr>
              <a:t>📦  </a:t>
            </a:r>
            <a:endParaRPr lang="es-ES" sz="22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2200" b="1" strike="noStrike" spc="-1">
                <a:solidFill>
                  <a:srgbClr val="000000"/>
                </a:solidFill>
                <a:latin typeface="Arial"/>
                <a:ea typeface="Calibri"/>
              </a:rPr>
              <a:t>Carga de trabajo</a:t>
            </a:r>
            <a:endParaRPr lang="es-ES" sz="22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es-ES" sz="22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i="1" strike="noStrike" spc="-1">
                <a:solidFill>
                  <a:srgbClr val="000000"/>
                </a:solidFill>
                <a:latin typeface="Arial"/>
                <a:ea typeface="Calibri"/>
              </a:rPr>
              <a:t>Revisión de distribución en meses críticos (marzo y julio):</a:t>
            </a: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  <a:ea typeface="Calibri"/>
              </a:rPr>
              <a:t>Límites de carga máxima por turno</a:t>
            </a: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  <a:ea typeface="Calibri"/>
              </a:rPr>
              <a:t>Protocolo de detección temprana de fatiga laboral</a:t>
            </a: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Google Shape;100;g3f4b6d773eb_0_ 3">
            <a:hlinkClick r:id="rId5" action="ppaction://hlinksldjump"/>
          </p:cNvPr>
          <p:cNvSpPr/>
          <p:nvPr/>
        </p:nvSpPr>
        <p:spPr>
          <a:xfrm>
            <a:off x="832644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1B4332"/>
                </a:solidFill>
                <a:latin typeface="Arial"/>
                <a:ea typeface="Calibri"/>
              </a:rPr>
              <a:t>👶  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2200" b="1" strike="noStrike" spc="-1">
                <a:solidFill>
                  <a:srgbClr val="000000"/>
                </a:solidFill>
                <a:latin typeface="Arial"/>
                <a:ea typeface="Calibri"/>
              </a:rPr>
              <a:t>Nº de hijos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Google Shape;51;p 15"/>
          <p:cNvSpPr/>
          <p:nvPr/>
        </p:nvSpPr>
        <p:spPr>
          <a:xfrm>
            <a:off x="540000" y="388800"/>
            <a:ext cx="738000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Calibri"/>
              </a:rPr>
              <a:t>Gestión del absentismo: propuestas de negocio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Google Shape;57;p 14"/>
          <p:cNvSpPr/>
          <p:nvPr/>
        </p:nvSpPr>
        <p:spPr>
          <a:xfrm>
            <a:off x="563400" y="948960"/>
            <a:ext cx="7896600" cy="54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400" b="1" strike="noStrike" spc="-1">
                <a:solidFill>
                  <a:srgbClr val="808080"/>
                </a:solidFill>
                <a:latin typeface="Arial"/>
                <a:ea typeface="Arial"/>
              </a:rPr>
              <a:t>Cambios en la política interna para reducir el absentismo en los perfiles de alto riesgo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90;g3f4b6d773eb_0_ 5"/>
          <p:cNvSpPr/>
          <p:nvPr/>
        </p:nvSpPr>
        <p:spPr>
          <a:xfrm>
            <a:off x="0" y="0"/>
            <a:ext cx="12184560" cy="15732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Google Shape;91;g3f4b6d773eb_0_ 5"/>
          <p:cNvSpPr/>
          <p:nvPr/>
        </p:nvSpPr>
        <p:spPr>
          <a:xfrm>
            <a:off x="0" y="6510600"/>
            <a:ext cx="12184560" cy="35856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9" name="Google Shape;92;g3f4b6d773eb_0_ 5"/>
          <p:cNvPicPr/>
          <p:nvPr/>
        </p:nvPicPr>
        <p:blipFill>
          <a:blip r:embed="rId2"/>
          <a:srcRect t="26220" b="23016"/>
          <a:stretch/>
        </p:blipFill>
        <p:spPr>
          <a:xfrm>
            <a:off x="10038240" y="288360"/>
            <a:ext cx="1942920" cy="532800"/>
          </a:xfrm>
          <a:prstGeom prst="rect">
            <a:avLst/>
          </a:prstGeom>
          <a:ln w="0">
            <a:noFill/>
          </a:ln>
        </p:spPr>
      </p:pic>
      <p:sp>
        <p:nvSpPr>
          <p:cNvPr id="250" name="Google Shape;93;g3f4b6d773eb_0_ 5"/>
          <p:cNvSpPr/>
          <p:nvPr/>
        </p:nvSpPr>
        <p:spPr>
          <a:xfrm>
            <a:off x="168120" y="6538320"/>
            <a:ext cx="299304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Google Shape;94;g3f4b6d773eb_0_ 5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Google Shape;95;g3f4b6d773eb_0_ 5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Google Shape;96;g3f4b6d773eb_0_ 5"/>
          <p:cNvSpPr/>
          <p:nvPr/>
        </p:nvSpPr>
        <p:spPr>
          <a:xfrm>
            <a:off x="2742840" y="6538320"/>
            <a:ext cx="1391760" cy="31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- 13 Junio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Google Shape;98;g3f4b6d773eb_0_ 6">
            <a:hlinkClick r:id="rId3" action="ppaction://hlinksldjump"/>
          </p:cNvPr>
          <p:cNvSpPr/>
          <p:nvPr/>
        </p:nvSpPr>
        <p:spPr>
          <a:xfrm>
            <a:off x="445320" y="2015280"/>
            <a:ext cx="357588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1B4332"/>
                </a:solidFill>
                <a:latin typeface="Arial"/>
                <a:ea typeface="Calibri"/>
              </a:rPr>
              <a:t>🚌  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2200" b="1" strike="noStrike" spc="-1">
                <a:solidFill>
                  <a:srgbClr val="000000"/>
                </a:solidFill>
                <a:latin typeface="Arial"/>
                <a:ea typeface="Calibri"/>
              </a:rPr>
              <a:t>Gasto en transporte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Google Shape;99;g3f4b6d773eb_0_ 4">
            <a:hlinkClick r:id="rId4"/>
          </p:cNvPr>
          <p:cNvSpPr/>
          <p:nvPr/>
        </p:nvSpPr>
        <p:spPr>
          <a:xfrm>
            <a:off x="441756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1B4332"/>
                </a:solidFill>
                <a:latin typeface="Arial"/>
                <a:ea typeface="Calibri"/>
              </a:rPr>
              <a:t>📦  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2200" b="1" strike="noStrike" spc="-1">
                <a:solidFill>
                  <a:srgbClr val="000000"/>
                </a:solidFill>
                <a:latin typeface="Arial"/>
                <a:ea typeface="Calibri"/>
              </a:rPr>
              <a:t>Carga de trabajo</a:t>
            </a:r>
            <a:endParaRPr lang="es-E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Google Shape;100;g3f4b6d773eb_0_ 4">
            <a:hlinkClick r:id="rId5"/>
          </p:cNvPr>
          <p:cNvSpPr/>
          <p:nvPr/>
        </p:nvSpPr>
        <p:spPr>
          <a:xfrm>
            <a:off x="8326440" y="2015280"/>
            <a:ext cx="3512160" cy="3681000"/>
          </a:xfrm>
          <a:prstGeom prst="roundRect">
            <a:avLst>
              <a:gd name="adj" fmla="val 16667"/>
            </a:avLst>
          </a:prstGeom>
          <a:solidFill>
            <a:srgbClr val="FF00FF"/>
          </a:solidFill>
          <a:ln w="19050">
            <a:solidFill>
              <a:srgbClr val="FF0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1B4332"/>
                </a:solidFill>
                <a:latin typeface="Arial"/>
                <a:ea typeface="Calibri"/>
              </a:rPr>
              <a:t>👶  </a:t>
            </a:r>
            <a:endParaRPr lang="es-ES" sz="22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2200" b="1" strike="noStrike" spc="-1">
                <a:solidFill>
                  <a:srgbClr val="000000"/>
                </a:solidFill>
                <a:latin typeface="Arial"/>
                <a:ea typeface="Calibri"/>
              </a:rPr>
              <a:t>Nº de hijos</a:t>
            </a:r>
            <a:endParaRPr lang="es-ES" sz="22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es-ES" sz="22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i="1" strike="noStrike" spc="-1">
                <a:solidFill>
                  <a:srgbClr val="000000"/>
                </a:solidFill>
                <a:latin typeface="Arial"/>
                <a:ea typeface="Calibri"/>
              </a:rPr>
              <a:t>Entrevista individual de conciliación para empleados con hijos:</a:t>
            </a: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  <a:ea typeface="Calibri"/>
              </a:rPr>
              <a:t>Flexibilidad horaria y bolsa de horas</a:t>
            </a: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  <a:ea typeface="Calibri"/>
              </a:rPr>
              <a:t>Permisos adicionales por cuidado de hijos</a:t>
            </a: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Google Shape;51;p 16"/>
          <p:cNvSpPr/>
          <p:nvPr/>
        </p:nvSpPr>
        <p:spPr>
          <a:xfrm>
            <a:off x="540000" y="388800"/>
            <a:ext cx="7380000" cy="104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0" strike="noStrike" spc="-1">
                <a:solidFill>
                  <a:srgbClr val="1F2937"/>
                </a:solidFill>
                <a:latin typeface="Calibri"/>
                <a:ea typeface="Calibri"/>
              </a:rPr>
              <a:t>Gestión del absentismo: propuestas de negocio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Google Shape;57;p 15"/>
          <p:cNvSpPr/>
          <p:nvPr/>
        </p:nvSpPr>
        <p:spPr>
          <a:xfrm>
            <a:off x="563400" y="948960"/>
            <a:ext cx="7896600" cy="54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400" b="1" strike="noStrike" spc="-1">
                <a:solidFill>
                  <a:srgbClr val="808080"/>
                </a:solidFill>
                <a:latin typeface="Arial"/>
                <a:ea typeface="Arial"/>
              </a:rPr>
              <a:t>Cambios en la política interna para reducir el absentismo en los perfiles de alto riesgo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Imagen 258"/>
          <p:cNvPicPr/>
          <p:nvPr/>
        </p:nvPicPr>
        <p:blipFill>
          <a:blip r:embed="rId2"/>
          <a:stretch/>
        </p:blipFill>
        <p:spPr>
          <a:xfrm>
            <a:off x="5760000" y="164160"/>
            <a:ext cx="6432480" cy="6351120"/>
          </a:xfrm>
          <a:prstGeom prst="rect">
            <a:avLst/>
          </a:prstGeom>
          <a:ln w="0">
            <a:noFill/>
          </a:ln>
        </p:spPr>
      </p:pic>
      <p:sp>
        <p:nvSpPr>
          <p:cNvPr id="260" name="Shape 19"/>
          <p:cNvSpPr/>
          <p:nvPr/>
        </p:nvSpPr>
        <p:spPr>
          <a:xfrm>
            <a:off x="0" y="0"/>
            <a:ext cx="12187080" cy="15984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61" name="Shape 20"/>
          <p:cNvSpPr/>
          <p:nvPr/>
        </p:nvSpPr>
        <p:spPr>
          <a:xfrm>
            <a:off x="0" y="6519600"/>
            <a:ext cx="12187080" cy="35208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" name="Text 20"/>
          <p:cNvSpPr/>
          <p:nvPr/>
        </p:nvSpPr>
        <p:spPr>
          <a:xfrm>
            <a:off x="1116000" y="3744000"/>
            <a:ext cx="1975680" cy="85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400" b="0" strike="noStrike" spc="-1">
                <a:solidFill>
                  <a:srgbClr val="6B7280"/>
                </a:solidFill>
                <a:latin typeface="Aptos"/>
                <a:ea typeface="DejaVu Sans"/>
              </a:rPr>
              <a:t>Julio 2026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3" name="Imagen 262"/>
          <p:cNvPicPr/>
          <p:nvPr/>
        </p:nvPicPr>
        <p:blipFill>
          <a:blip r:embed="rId3"/>
          <a:srcRect t="26241" b="23016"/>
          <a:stretch/>
        </p:blipFill>
        <p:spPr>
          <a:xfrm>
            <a:off x="216000" y="360360"/>
            <a:ext cx="1945440" cy="535320"/>
          </a:xfrm>
          <a:prstGeom prst="rect">
            <a:avLst/>
          </a:prstGeom>
          <a:ln w="0">
            <a:noFill/>
          </a:ln>
        </p:spPr>
      </p:pic>
      <p:sp>
        <p:nvSpPr>
          <p:cNvPr id="264" name="Text 21"/>
          <p:cNvSpPr/>
          <p:nvPr/>
        </p:nvSpPr>
        <p:spPr>
          <a:xfrm>
            <a:off x="1104120" y="3420000"/>
            <a:ext cx="3355560" cy="53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500" b="0" strike="noStrike" spc="-1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lang="es-ES" sz="15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259</TotalTime>
  <Words>1830</Words>
  <Application>Microsoft Office PowerPoint</Application>
  <PresentationFormat>Panorámica</PresentationFormat>
  <Paragraphs>314</Paragraphs>
  <Slides>19</Slides>
  <Notes>3</Notes>
  <HiddenSlides>6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19</vt:i4>
      </vt:variant>
    </vt:vector>
  </HeadingPairs>
  <TitlesOfParts>
    <vt:vector size="28" baseType="lpstr">
      <vt:lpstr>Aptos</vt:lpstr>
      <vt:lpstr>Arial</vt:lpstr>
      <vt:lpstr>Calibri</vt:lpstr>
      <vt:lpstr>Consolas</vt:lpstr>
      <vt:lpstr>Symbol</vt:lpstr>
      <vt:lpstr>Times New Roman</vt:lpstr>
      <vt:lpstr>Wingdings</vt:lpstr>
      <vt:lpstr>Office</vt:lpstr>
      <vt:lpstr>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Vanessa Bujaldon</cp:lastModifiedBy>
  <cp:revision>28</cp:revision>
  <dcterms:created xsi:type="dcterms:W3CDTF">2026-07-04T17:08:40Z</dcterms:created>
  <dcterms:modified xsi:type="dcterms:W3CDTF">2026-07-13T10:26:49Z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(16:9)</vt:lpwstr>
  </property>
  <property fmtid="{D5CDD505-2E9C-101B-9397-08002B2CF9AE}" pid="3" name="Slides">
    <vt:i4>11</vt:i4>
  </property>
</Properties>
</file>