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1CF177-3BB1-49B5-9D6B-CD2A10BA29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014895-067A-4258-8F4F-738A159344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80CEB34-9C8F-44FF-91DF-55475F11BB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212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EE0E61-ED5C-4CEC-B867-F5D93AA862F2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212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F6A52C-7CAB-4F35-AA58-E17109E1DA7D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212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874A11-DD0A-4527-918C-729B1E2C55E5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5400" cy="38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" Target="slide15.xml"/><Relationship Id="rId6" Type="http://schemas.openxmlformats.org/officeDocument/2006/relationships/slide" Target="slide16.xml"/><Relationship Id="rId7" Type="http://schemas.openxmlformats.org/officeDocument/2006/relationships/slide" Target="slide17.xml"/><Relationship Id="rId8" Type="http://schemas.openxmlformats.org/officeDocument/2006/relationships/slide" Target="slide18.xml"/><Relationship Id="rId9" Type="http://schemas.openxmlformats.org/officeDocument/2006/relationships/slide" Target="slide19.xml"/><Relationship Id="rId10" Type="http://schemas.openxmlformats.org/officeDocument/2006/relationships/slide" Target="slide20.xml"/><Relationship Id="rId11" Type="http://schemas.openxmlformats.org/officeDocument/2006/relationships/slide" Target="slide21.xml"/><Relationship Id="rId1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21.xml"/><Relationship Id="rId1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Relationship Id="rId6" Type="http://schemas.openxmlformats.org/officeDocument/2006/relationships/slide" Target="slide14.xml"/><Relationship Id="rId7" Type="http://schemas.openxmlformats.org/officeDocument/2006/relationships/slide" Target="slide15.xml"/><Relationship Id="rId8" Type="http://schemas.openxmlformats.org/officeDocument/2006/relationships/slide" Target="slide16.xml"/><Relationship Id="rId9" Type="http://schemas.openxmlformats.org/officeDocument/2006/relationships/slide" Target="slide17.xml"/><Relationship Id="rId10" Type="http://schemas.openxmlformats.org/officeDocument/2006/relationships/slide" Target="slide18.xml"/><Relationship Id="rId11" Type="http://schemas.openxmlformats.org/officeDocument/2006/relationships/slide" Target="slide19.xml"/><Relationship Id="rId12" Type="http://schemas.openxmlformats.org/officeDocument/2006/relationships/slide" Target="slide20.xml"/><Relationship Id="rId13" Type="http://schemas.openxmlformats.org/officeDocument/2006/relationships/slide" Target="slide21.xml"/><Relationship Id="rId1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3.xml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4.xml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6.xml"/><Relationship Id="rId3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27.xml"/><Relationship Id="rId3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5760000" y="164160"/>
            <a:ext cx="6433920" cy="6352560"/>
          </a:xfrm>
          <a:prstGeom prst="rect">
            <a:avLst/>
          </a:prstGeom>
          <a:ln w="0">
            <a:noFill/>
          </a:ln>
        </p:spPr>
      </p:pic>
      <p:sp>
        <p:nvSpPr>
          <p:cNvPr id="18" name="Shape 12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0" y="6519600"/>
            <a:ext cx="12188520" cy="353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" name="Text 96"/>
          <p:cNvSpPr/>
          <p:nvPr/>
        </p:nvSpPr>
        <p:spPr>
          <a:xfrm>
            <a:off x="396000" y="2011680"/>
            <a:ext cx="590292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3600" spc="-1" strike="noStrike">
                <a:solidFill>
                  <a:srgbClr val="1f2937"/>
                </a:solidFill>
                <a:latin typeface="Aptos"/>
                <a:ea typeface="DejaVu Sans"/>
              </a:rPr>
              <a:t>Análisis de absentismo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3600" spc="-1" strike="noStrike">
                <a:solidFill>
                  <a:srgbClr val="1f2937"/>
                </a:solidFill>
                <a:latin typeface="Aptos"/>
                <a:ea typeface="DejaVu Sans"/>
              </a:rPr>
              <a:t>y perfil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97"/>
          <p:cNvSpPr/>
          <p:nvPr/>
        </p:nvSpPr>
        <p:spPr>
          <a:xfrm>
            <a:off x="432000" y="3744000"/>
            <a:ext cx="197712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6b7280"/>
                </a:solidFill>
                <a:latin typeface="Aptos"/>
                <a:ea typeface="DejaVu Sans"/>
              </a:rPr>
              <a:t>Junio 2026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2"/>
          <a:srcRect l="0" t="26241" r="0" b="23016"/>
          <a:stretch/>
        </p:blipFill>
        <p:spPr>
          <a:xfrm>
            <a:off x="216000" y="360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23" name="Text 98"/>
          <p:cNvSpPr/>
          <p:nvPr/>
        </p:nvSpPr>
        <p:spPr>
          <a:xfrm>
            <a:off x="420120" y="3420000"/>
            <a:ext cx="33570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5760000" y="164160"/>
            <a:ext cx="6433920" cy="6352560"/>
          </a:xfrm>
          <a:prstGeom prst="rect">
            <a:avLst/>
          </a:prstGeom>
          <a:ln w="0">
            <a:noFill/>
          </a:ln>
        </p:spPr>
      </p:pic>
      <p:sp>
        <p:nvSpPr>
          <p:cNvPr id="25" name="Shape 3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0" y="6519600"/>
            <a:ext cx="12188520" cy="353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7" name="" descr=""/>
          <p:cNvPicPr/>
          <p:nvPr/>
        </p:nvPicPr>
        <p:blipFill>
          <a:blip r:embed="rId2"/>
          <a:srcRect l="0" t="26241" r="0" b="23016"/>
          <a:stretch/>
        </p:blipFill>
        <p:spPr>
          <a:xfrm>
            <a:off x="216000" y="360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28" name="Text 6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468000" y="966240"/>
            <a:ext cx="2698560" cy="68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Indice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525960" y="166536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25960" y="172800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Indicadores clave…………………………………………………1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525960" y="220536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44"/>
          <p:cNvSpPr/>
          <p:nvPr/>
        </p:nvSpPr>
        <p:spPr>
          <a:xfrm>
            <a:off x="525960" y="328068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54"/>
          <p:cNvSpPr/>
          <p:nvPr/>
        </p:nvSpPr>
        <p:spPr>
          <a:xfrm>
            <a:off x="525960" y="381600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25960" y="225864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Magnitud del absentismo por empleado…..…………………2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55"/>
          <p:cNvSpPr/>
          <p:nvPr/>
        </p:nvSpPr>
        <p:spPr>
          <a:xfrm>
            <a:off x="525960" y="436320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25960" y="334584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Anticipación y planificación de RRHH……..…………………5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56"/>
          <p:cNvSpPr/>
          <p:nvPr/>
        </p:nvSpPr>
        <p:spPr>
          <a:xfrm>
            <a:off x="525960" y="489852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25960" y="388116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Conclusiones en relación al absentismo…….………………7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57"/>
          <p:cNvSpPr/>
          <p:nvPr/>
        </p:nvSpPr>
        <p:spPr>
          <a:xfrm>
            <a:off x="525960" y="544176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25960" y="493200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Perfiles sociodemográficos de la plantilla...………………...9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25960" y="546732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Recomendaciones para políticas de talento…………….....10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25960" y="442116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Recomendaciones en relación al absentismo………….…...9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64"/>
          <p:cNvSpPr/>
          <p:nvPr/>
        </p:nvSpPr>
        <p:spPr>
          <a:xfrm>
            <a:off x="521280" y="2740680"/>
            <a:ext cx="5146560" cy="42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521280" y="279396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Magnitud y variación anual del absentismo…………………3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17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" name="Shape 18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Indicadores clave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52" name="Shape 19"/>
          <p:cNvSpPr/>
          <p:nvPr/>
        </p:nvSpPr>
        <p:spPr>
          <a:xfrm>
            <a:off x="612000" y="2133360"/>
            <a:ext cx="2517120" cy="182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6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828000" y="2412000"/>
            <a:ext cx="540000" cy="360"/>
          </a:xfrm>
          <a:prstGeom prst="line">
            <a:avLst/>
          </a:prstGeom>
          <a:ln w="36000">
            <a:solidFill>
              <a:srgbClr val="c715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" name=""/>
          <p:cNvSpPr/>
          <p:nvPr/>
        </p:nvSpPr>
        <p:spPr>
          <a:xfrm>
            <a:off x="720000" y="2484000"/>
            <a:ext cx="125712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100" spc="-1" strike="noStrike">
                <a:solidFill>
                  <a:srgbClr val="c71585"/>
                </a:solidFill>
                <a:latin typeface="Arial"/>
                <a:ea typeface="DejaVu Sans"/>
              </a:rPr>
              <a:t>93,90%</a:t>
            </a: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720000" y="2871720"/>
            <a:ext cx="23371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000000"/>
                </a:solidFill>
                <a:latin typeface="Arial"/>
                <a:ea typeface="DejaVu Sans"/>
              </a:rPr>
              <a:t>Ausencias efectuadas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756000" y="3240000"/>
            <a:ext cx="2337120" cy="7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Arial"/>
                <a:ea typeface="DejaVu Sans"/>
              </a:rPr>
              <a:t>La mayoría de las ausencias solicitadas se materializan. 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3420000" y="2142720"/>
            <a:ext cx="2517120" cy="182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636000" y="2421360"/>
            <a:ext cx="540000" cy="360"/>
          </a:xfrm>
          <a:prstGeom prst="line">
            <a:avLst/>
          </a:prstGeom>
          <a:ln w="36000">
            <a:solidFill>
              <a:srgbClr val="ff8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3528000" y="2493360"/>
            <a:ext cx="125712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100" spc="-1" strike="noStrike">
                <a:solidFill>
                  <a:srgbClr val="ff8c00"/>
                </a:solidFill>
                <a:latin typeface="Arial"/>
                <a:ea typeface="DejaVu Sans"/>
              </a:rPr>
              <a:t>Marzo</a:t>
            </a: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528000" y="2881080"/>
            <a:ext cx="23371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Mes pico con 755h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3564000" y="3249360"/>
            <a:ext cx="2337120" cy="7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Mayor carga operativa por absentismo.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6228000" y="2142720"/>
            <a:ext cx="2517120" cy="182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444000" y="2421360"/>
            <a:ext cx="540000" cy="360"/>
          </a:xfrm>
          <a:prstGeom prst="line">
            <a:avLst/>
          </a:prstGeom>
          <a:ln w="36000">
            <a:solidFill>
              <a:srgbClr val="4682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6336000" y="2493360"/>
            <a:ext cx="2697480" cy="9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100" spc="-1" strike="noStrike">
                <a:solidFill>
                  <a:srgbClr val="4682b4"/>
                </a:solidFill>
                <a:latin typeface="Arial"/>
                <a:ea typeface="DejaVu Sans"/>
              </a:rPr>
              <a:t>Consultas médicas</a:t>
            </a: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336000" y="2881080"/>
            <a:ext cx="23371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Motivo principal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372000" y="3249360"/>
            <a:ext cx="2337120" cy="10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Arial"/>
                <a:ea typeface="DejaVu Sans"/>
              </a:rPr>
              <a:t>Es el motivo más frecuente de ausencia laboral con 142 ausencias.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9036360" y="2142720"/>
            <a:ext cx="2517120" cy="182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9252360" y="2421360"/>
            <a:ext cx="540000" cy="360"/>
          </a:xfrm>
          <a:prstGeom prst="line">
            <a:avLst/>
          </a:prstGeom>
          <a:ln w="36000">
            <a:solidFill>
              <a:srgbClr val="c715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" name=""/>
          <p:cNvSpPr/>
          <p:nvPr/>
        </p:nvSpPr>
        <p:spPr>
          <a:xfrm>
            <a:off x="9144360" y="2493360"/>
            <a:ext cx="125712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100" spc="-1" strike="noStrike">
                <a:solidFill>
                  <a:srgbClr val="c71585"/>
                </a:solidFill>
                <a:latin typeface="Arial"/>
                <a:ea typeface="DejaVu Sans"/>
              </a:rPr>
              <a:t>0,35%</a:t>
            </a: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9144360" y="2881080"/>
            <a:ext cx="23371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000000"/>
                </a:solidFill>
                <a:latin typeface="Arial"/>
                <a:ea typeface="DejaVu Sans"/>
              </a:rPr>
              <a:t>Eficacia relativa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9180360" y="3249360"/>
            <a:ext cx="2337120" cy="7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Margen de mejora frente a la carga laboral.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60880" y="971280"/>
            <a:ext cx="56415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Materialización de ausencias, concentración mensual de carga,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motivo modal de ausencia y eficacia relativa frente a la carga laboral.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 / 11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38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185640" y="1476000"/>
            <a:ext cx="8514000" cy="4693680"/>
          </a:xfrm>
          <a:prstGeom prst="rect">
            <a:avLst/>
          </a:prstGeom>
          <a:ln w="0">
            <a:noFill/>
          </a:ln>
        </p:spPr>
      </p:pic>
      <p:sp>
        <p:nvSpPr>
          <p:cNvPr id="77" name="Shape 139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Shape 141"/>
          <p:cNvSpPr/>
          <p:nvPr/>
        </p:nvSpPr>
        <p:spPr>
          <a:xfrm>
            <a:off x="3185640" y="1620000"/>
            <a:ext cx="8694000" cy="4549680"/>
          </a:xfrm>
          <a:prstGeom prst="roundRect">
            <a:avLst>
              <a:gd name="adj" fmla="val 5565"/>
            </a:avLst>
          </a:prstGeom>
          <a:noFill/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80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del absentismo por empleado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2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81" name="Text 82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Tres empleados acumulan más del 25% del total de horas de absentismo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4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34"/>
          <p:cNvSpPr/>
          <p:nvPr/>
        </p:nvSpPr>
        <p:spPr>
          <a:xfrm>
            <a:off x="540000" y="1703880"/>
            <a:ext cx="2159640" cy="92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720000" y="1835640"/>
            <a:ext cx="360000" cy="360"/>
          </a:xfrm>
          <a:prstGeom prst="line">
            <a:avLst/>
          </a:prstGeom>
          <a:ln w="36000">
            <a:solidFill>
              <a:srgbClr val="c715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"/>
          <p:cNvSpPr/>
          <p:nvPr/>
        </p:nvSpPr>
        <p:spPr>
          <a:xfrm>
            <a:off x="612000" y="1882800"/>
            <a:ext cx="172764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c71585"/>
                </a:solidFill>
                <a:latin typeface="Arial"/>
                <a:ea typeface="DejaVu Sans"/>
              </a:rPr>
              <a:t>5.043 </a:t>
            </a:r>
            <a:r>
              <a:rPr b="0" lang="es-ES" sz="1500" spc="-1" strike="noStrike">
                <a:solidFill>
                  <a:srgbClr val="c71585"/>
                </a:solidFill>
                <a:latin typeface="Arial"/>
                <a:ea typeface="DejaVu Sans"/>
              </a:rPr>
              <a:t>horas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12000" y="2196000"/>
            <a:ext cx="19076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totales de absentismo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586520" y="5402520"/>
            <a:ext cx="2337120" cy="7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Shape 162"/>
          <p:cNvSpPr/>
          <p:nvPr/>
        </p:nvSpPr>
        <p:spPr>
          <a:xfrm>
            <a:off x="540000" y="3132000"/>
            <a:ext cx="2159640" cy="899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20000" y="3299760"/>
            <a:ext cx="360000" cy="360"/>
          </a:xfrm>
          <a:prstGeom prst="line">
            <a:avLst/>
          </a:prstGeom>
          <a:ln w="36000">
            <a:solidFill>
              <a:srgbClr val="ff8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" name=""/>
          <p:cNvSpPr/>
          <p:nvPr/>
        </p:nvSpPr>
        <p:spPr>
          <a:xfrm>
            <a:off x="612000" y="3346920"/>
            <a:ext cx="190764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ff8c00"/>
                </a:solidFill>
                <a:latin typeface="Arial"/>
                <a:ea typeface="DejaVu Sans"/>
              </a:rPr>
              <a:t>152,8 </a:t>
            </a:r>
            <a:r>
              <a:rPr b="0" lang="es-ES" sz="1500" spc="-1" strike="noStrike">
                <a:solidFill>
                  <a:srgbClr val="ff8c00"/>
                </a:solidFill>
                <a:latin typeface="Arial"/>
                <a:ea typeface="DejaVu Sans"/>
              </a:rPr>
              <a:t>horas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12000" y="3660120"/>
            <a:ext cx="20876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promedio por empleado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63"/>
          <p:cNvSpPr/>
          <p:nvPr/>
        </p:nvSpPr>
        <p:spPr>
          <a:xfrm>
            <a:off x="540000" y="4578120"/>
            <a:ext cx="2159640" cy="118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720000" y="4745880"/>
            <a:ext cx="360000" cy="360"/>
          </a:xfrm>
          <a:prstGeom prst="line">
            <a:avLst/>
          </a:prstGeom>
          <a:ln w="36000">
            <a:solidFill>
              <a:srgbClr val="4682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"/>
          <p:cNvSpPr/>
          <p:nvPr/>
        </p:nvSpPr>
        <p:spPr>
          <a:xfrm>
            <a:off x="612000" y="4793040"/>
            <a:ext cx="154764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4682b4"/>
                </a:solidFill>
                <a:latin typeface="Arial"/>
                <a:ea typeface="DejaVu Sans"/>
              </a:rPr>
              <a:t>476 </a:t>
            </a:r>
            <a:r>
              <a:rPr b="0" lang="es-ES" sz="1500" spc="-1" strike="noStrike">
                <a:solidFill>
                  <a:srgbClr val="4682b4"/>
                </a:solidFill>
                <a:latin typeface="Arial"/>
                <a:ea typeface="DejaVu Sans"/>
              </a:rPr>
              <a:t>horas</a:t>
            </a:r>
            <a:r>
              <a:rPr b="0" lang="es-ES" sz="1800" spc="-1" strike="noStrike">
                <a:solidFill>
                  <a:srgbClr val="4682b4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12000" y="5106240"/>
            <a:ext cx="20876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del empleado con mayor absentismo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119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" name="Shape 159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" name="Text 94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y variación anual del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540000" y="2195280"/>
            <a:ext cx="11068920" cy="356436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03" name="Text 95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Mayor concentración de episodios y horas de absentismo en los meses de marzo y julio.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60"/>
          <p:cNvSpPr/>
          <p:nvPr/>
        </p:nvSpPr>
        <p:spPr>
          <a:xfrm>
            <a:off x="540000" y="2123280"/>
            <a:ext cx="11159640" cy="3598560"/>
          </a:xfrm>
          <a:prstGeom prst="roundRect">
            <a:avLst>
              <a:gd name="adj" fmla="val 5565"/>
            </a:avLst>
          </a:prstGeom>
          <a:noFill/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99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00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3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720000" y="1830240"/>
            <a:ext cx="43196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Número de episodios de absentismo por mes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61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0" name="Shape 169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" name="Text 105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y variación anual del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2"/>
          <a:stretch/>
        </p:blipFill>
        <p:spPr>
          <a:xfrm>
            <a:off x="540000" y="2152800"/>
            <a:ext cx="10979640" cy="3572280"/>
          </a:xfrm>
          <a:prstGeom prst="rect">
            <a:avLst/>
          </a:prstGeom>
          <a:ln w="0">
            <a:noFill/>
          </a:ln>
        </p:spPr>
      </p:pic>
      <p:sp>
        <p:nvSpPr>
          <p:cNvPr id="114" name="Text 106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Mayor concentración de episodios y horas de absentismo en los meses de marzo y julio.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170"/>
          <p:cNvSpPr/>
          <p:nvPr/>
        </p:nvSpPr>
        <p:spPr>
          <a:xfrm>
            <a:off x="540000" y="2123280"/>
            <a:ext cx="11159640" cy="3598560"/>
          </a:xfrm>
          <a:prstGeom prst="roundRect">
            <a:avLst>
              <a:gd name="adj" fmla="val 5565"/>
            </a:avLst>
          </a:prstGeom>
          <a:noFill/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07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08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3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720000" y="1830240"/>
            <a:ext cx="43196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a9a9a9"/>
                </a:solidFill>
                <a:latin typeface="Arial"/>
                <a:ea typeface="DejaVu Sans"/>
              </a:rPr>
              <a:t>Número total de horas de absentismo por mes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65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1" name="Shape 166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2" name="Text 101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y variación anual del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24" name="Text 102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Marzo y julio concentran los picos de absentismo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67"/>
          <p:cNvSpPr/>
          <p:nvPr/>
        </p:nvSpPr>
        <p:spPr>
          <a:xfrm>
            <a:off x="540000" y="1439280"/>
            <a:ext cx="10977840" cy="35985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2"/>
          <a:stretch/>
        </p:blipFill>
        <p:spPr>
          <a:xfrm>
            <a:off x="587880" y="1587960"/>
            <a:ext cx="10677960" cy="3380760"/>
          </a:xfrm>
          <a:prstGeom prst="rect">
            <a:avLst/>
          </a:prstGeom>
          <a:ln w="0">
            <a:noFill/>
          </a:ln>
        </p:spPr>
      </p:pic>
      <p:sp>
        <p:nvSpPr>
          <p:cNvPr id="128" name="Shape 168"/>
          <p:cNvSpPr/>
          <p:nvPr/>
        </p:nvSpPr>
        <p:spPr>
          <a:xfrm>
            <a:off x="540000" y="5400000"/>
            <a:ext cx="8637840" cy="7178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El absentismo se concentra en dos picos claros: marzo (356% sobre el mes base) y julio (344%),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frente a una base estable el resto del año.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03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04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4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40"/>
          <p:cNvSpPr/>
          <p:nvPr/>
        </p:nvSpPr>
        <p:spPr>
          <a:xfrm>
            <a:off x="8640000" y="1440000"/>
            <a:ext cx="3057840" cy="28778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Marzo acumula el máximo de  episodios simultáneos, un total de 79.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Julio tiene las bajas más largas de media aproximadamente 11,6h por episodio.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Cada uno requiere una respuesta operativa distinta.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35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3" name="Shape 136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Text 77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Magnitud y variación anual del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36" name="Text 79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Marzo y julio: causas distintas, respuestas distintas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2"/>
          <a:stretch/>
        </p:blipFill>
        <p:spPr>
          <a:xfrm>
            <a:off x="663840" y="1479960"/>
            <a:ext cx="7074000" cy="4709880"/>
          </a:xfrm>
          <a:prstGeom prst="rect">
            <a:avLst/>
          </a:prstGeom>
          <a:ln w="0">
            <a:noFill/>
          </a:ln>
        </p:spPr>
      </p:pic>
      <p:sp>
        <p:nvSpPr>
          <p:cNvPr id="139" name="Shape 137"/>
          <p:cNvSpPr/>
          <p:nvPr/>
        </p:nvSpPr>
        <p:spPr>
          <a:xfrm>
            <a:off x="540000" y="1440000"/>
            <a:ext cx="7917840" cy="4857840"/>
          </a:xfrm>
          <a:prstGeom prst="roundRect">
            <a:avLst>
              <a:gd name="adj" fmla="val 5565"/>
            </a:avLst>
          </a:prstGeom>
          <a:noFill/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35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78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5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/>
        </p:nvSpPr>
        <p:spPr>
          <a:xfrm>
            <a:off x="8820000" y="1440000"/>
            <a:ext cx="2877840" cy="25178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El 70% de las horas de absentismo corresponden a una enfermedad diagnosticada (no planificable).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El 25% son consultas y trámites programables con antelación.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43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4" name="Shape 144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" name="Text 83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Anticipación y planificación de RRHH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47" name="Text 85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300" spc="-1" strike="noStrike">
                <a:solidFill>
                  <a:srgbClr val="808080"/>
                </a:solidFill>
                <a:latin typeface="Arial"/>
                <a:ea typeface="DejaVu Sans"/>
              </a:rPr>
              <a:t>El 70% del absentismo no es planificable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45"/>
          <p:cNvSpPr/>
          <p:nvPr/>
        </p:nvSpPr>
        <p:spPr>
          <a:xfrm>
            <a:off x="540000" y="1440000"/>
            <a:ext cx="7917840" cy="48578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2"/>
          <a:stretch/>
        </p:blipFill>
        <p:spPr>
          <a:xfrm>
            <a:off x="1080000" y="1620000"/>
            <a:ext cx="6453000" cy="4478040"/>
          </a:xfrm>
          <a:prstGeom prst="rect">
            <a:avLst/>
          </a:prstGeom>
          <a:ln w="0">
            <a:noFill/>
          </a:ln>
        </p:spPr>
      </p:pic>
      <p:sp>
        <p:nvSpPr>
          <p:cNvPr id="151" name="Text 40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84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6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46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" name="Shape 147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56" name="Text 88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Los inicios de semana de marzo y julio son los momentos de mayor riesgo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48"/>
          <p:cNvSpPr/>
          <p:nvPr/>
        </p:nvSpPr>
        <p:spPr>
          <a:xfrm>
            <a:off x="540000" y="1439280"/>
            <a:ext cx="10977840" cy="37785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49"/>
          <p:cNvSpPr/>
          <p:nvPr/>
        </p:nvSpPr>
        <p:spPr>
          <a:xfrm>
            <a:off x="540000" y="5472000"/>
            <a:ext cx="8637840" cy="7178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Los lunes de marzo, julio, septiembre, octubre y noviembre concentran las ausencias más largas, lo que es información clave para reforzar turnos con antelación.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2"/>
          <a:stretch/>
        </p:blipFill>
        <p:spPr>
          <a:xfrm>
            <a:off x="1240920" y="1471680"/>
            <a:ext cx="9484920" cy="3714840"/>
          </a:xfrm>
          <a:prstGeom prst="rect">
            <a:avLst/>
          </a:prstGeom>
          <a:ln w="0">
            <a:noFill/>
          </a:ln>
        </p:spPr>
      </p:pic>
      <p:sp>
        <p:nvSpPr>
          <p:cNvPr id="161" name="Text 42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87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7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86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Anticipación y planificación de RRHH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5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Shape 15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6" name="Text 89"/>
          <p:cNvSpPr/>
          <p:nvPr/>
        </p:nvSpPr>
        <p:spPr>
          <a:xfrm>
            <a:off x="540000" y="388800"/>
            <a:ext cx="701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Conclusiones en relación al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68" name="Shape 152"/>
          <p:cNvSpPr/>
          <p:nvPr/>
        </p:nvSpPr>
        <p:spPr>
          <a:xfrm>
            <a:off x="612000" y="1936080"/>
            <a:ext cx="10725120" cy="9421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Las ausencias tienen una duración promedio de unas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4.0 horas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, llegando en casos puntuales a las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120 horas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Suponen un total de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5.043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horas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perdidas por absentismo, que equivale a la jornada anual de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2,8 empleados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a tiempo completo.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91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Magnitud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anticiparse al absentismo para reforzar la planificación de recursos humanos y garantizar la continuidad operativa.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648000" y="3672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Variación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53"/>
          <p:cNvSpPr/>
          <p:nvPr/>
        </p:nvSpPr>
        <p:spPr>
          <a:xfrm>
            <a:off x="612000" y="3995640"/>
            <a:ext cx="10725120" cy="6825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Clara estacionalidad: los picos críticos ocurren en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marzo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, un total de 755 horas y en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julio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, un total de 730 horas. Enero es el mes con menos horas, un total de 212 horas.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45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90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8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2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540000" y="388800"/>
            <a:ext cx="701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en relación al absentismo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81" name="Shape 10"/>
          <p:cNvSpPr/>
          <p:nvPr/>
        </p:nvSpPr>
        <p:spPr>
          <a:xfrm>
            <a:off x="612000" y="1936080"/>
            <a:ext cx="10725120" cy="18421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Calendario mensual (mes × día de la semana) con los niveles de intensidad de absentismo histórica, como apoyo a la planificación.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Campaña interna para incentivar la notificación anticipada de consultas médicas y dentales programadas, ampliando el margen de reacción de RRHH.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Identificar perfiles de mayor riesgo y adaptar la distribución de tareas/carga.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Campañas preventivas de salud, talleres higienen postural y prevención de riesgos laborales. 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Anticipación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anticiparse al absentismo para reforzar la planificación de recursos humanos y garantizar la continuidad operativa.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48000" y="410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Continuidad operativa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1"/>
          <p:cNvSpPr/>
          <p:nvPr/>
        </p:nvSpPr>
        <p:spPr>
          <a:xfrm>
            <a:off x="612000" y="4427640"/>
            <a:ext cx="10725120" cy="12225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Bolsas de horas, equipos de refuerzo, personal polivalente, turnos de sustitución y planes de cobertura para rutas o centros críticos.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Acuerdos con ETT’s, para cubrir absentismo no planificable, sobre todo en los picos de marzo y julio.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93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9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9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1" name="Shape 20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194" name="Shape 21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5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2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forma_edad">
            <a:hlinkClick r:id="rId2" action="ppaction://hlinksldjump"/>
          </p:cNvPr>
          <p:cNvSpPr/>
          <p:nvPr/>
        </p:nvSpPr>
        <p:spPr>
          <a:xfrm>
            <a:off x="4320000" y="187200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" descr=""/>
          <p:cNvPicPr/>
          <p:nvPr/>
        </p:nvPicPr>
        <p:blipFill>
          <a:blip r:embed="rId3"/>
          <a:srcRect l="13319" t="0" r="30340" b="8795"/>
          <a:stretch/>
        </p:blipFill>
        <p:spPr>
          <a:xfrm>
            <a:off x="7200000" y="2556000"/>
            <a:ext cx="2481120" cy="2481120"/>
          </a:xfrm>
          <a:prstGeom prst="rect">
            <a:avLst/>
          </a:prstGeom>
          <a:ln w="0">
            <a:noFill/>
          </a:ln>
        </p:spPr>
      </p:pic>
      <p:pic>
        <p:nvPicPr>
          <p:cNvPr id="203" name="" descr=""/>
          <p:cNvPicPr/>
          <p:nvPr/>
        </p:nvPicPr>
        <p:blipFill>
          <a:blip r:embed="rId4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sp>
        <p:nvSpPr>
          <p:cNvPr id="204" name="boton_educativo">
            <a:hlinkClick r:id="rId5" action="ppaction://hlinksldjump"/>
          </p:cNvPr>
          <p:cNvSpPr/>
          <p:nvPr/>
        </p:nvSpPr>
        <p:spPr>
          <a:xfrm>
            <a:off x="4320360" y="222480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34">
            <a:hlinkClick r:id="rId6" action="ppaction://hlinksldjump"/>
          </p:cNvPr>
          <p:cNvSpPr/>
          <p:nvPr/>
        </p:nvSpPr>
        <p:spPr>
          <a:xfrm>
            <a:off x="4320720" y="25776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35">
            <a:hlinkClick r:id="rId7" action="ppaction://hlinksldjump"/>
          </p:cNvPr>
          <p:cNvSpPr/>
          <p:nvPr/>
        </p:nvSpPr>
        <p:spPr>
          <a:xfrm>
            <a:off x="4321080" y="29304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6">
            <a:hlinkClick r:id="rId8" action="ppaction://hlinksldjump"/>
          </p:cNvPr>
          <p:cNvSpPr/>
          <p:nvPr/>
        </p:nvSpPr>
        <p:spPr>
          <a:xfrm>
            <a:off x="4321440" y="328320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7">
            <a:hlinkClick r:id="rId9" action="ppaction://hlinksldjump"/>
          </p:cNvPr>
          <p:cNvSpPr/>
          <p:nvPr/>
        </p:nvSpPr>
        <p:spPr>
          <a:xfrm>
            <a:off x="4321440" y="38592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38">
            <a:hlinkClick r:id="rId10" action="ppaction://hlinksldjump"/>
          </p:cNvPr>
          <p:cNvSpPr/>
          <p:nvPr/>
        </p:nvSpPr>
        <p:spPr>
          <a:xfrm>
            <a:off x="4321800" y="421200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39">
            <a:hlinkClick r:id="rId11" action="ppaction://hlinksldjump"/>
          </p:cNvPr>
          <p:cNvSpPr/>
          <p:nvPr/>
        </p:nvSpPr>
        <p:spPr>
          <a:xfrm>
            <a:off x="4322160" y="476136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92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33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4" name="Shape 40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5" name="Text 29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217" name="Shape 41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37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42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223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224" name="" descr=""/>
          <p:cNvPicPr/>
          <p:nvPr/>
        </p:nvPicPr>
        <p:blipFill>
          <a:blip r:embed="rId4"/>
          <a:stretch/>
        </p:blipFill>
        <p:spPr>
          <a:xfrm>
            <a:off x="5714640" y="241200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225" name="forma_edad 2">
            <a:hlinkClick r:id="rId5" action="ppaction://hlinksldjump"/>
          </p:cNvPr>
          <p:cNvSpPr/>
          <p:nvPr/>
        </p:nvSpPr>
        <p:spPr>
          <a:xfrm>
            <a:off x="4320360" y="187848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boton_educativo 2">
            <a:hlinkClick r:id="rId6" action="ppaction://hlinksldjump"/>
          </p:cNvPr>
          <p:cNvSpPr/>
          <p:nvPr/>
        </p:nvSpPr>
        <p:spPr>
          <a:xfrm>
            <a:off x="4320720" y="223128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3">
            <a:hlinkClick r:id="rId7" action="ppaction://hlinksldjump"/>
          </p:cNvPr>
          <p:cNvSpPr/>
          <p:nvPr/>
        </p:nvSpPr>
        <p:spPr>
          <a:xfrm>
            <a:off x="4321080" y="258408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45">
            <a:hlinkClick r:id="rId8" action="ppaction://hlinksldjump"/>
          </p:cNvPr>
          <p:cNvSpPr/>
          <p:nvPr/>
        </p:nvSpPr>
        <p:spPr>
          <a:xfrm>
            <a:off x="4321440" y="293688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46">
            <a:hlinkClick r:id="rId9" action="ppaction://hlinksldjump"/>
          </p:cNvPr>
          <p:cNvSpPr/>
          <p:nvPr/>
        </p:nvSpPr>
        <p:spPr>
          <a:xfrm>
            <a:off x="4321800" y="328968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47">
            <a:hlinkClick r:id="rId10" action="ppaction://hlinksldjump"/>
          </p:cNvPr>
          <p:cNvSpPr/>
          <p:nvPr/>
        </p:nvSpPr>
        <p:spPr>
          <a:xfrm>
            <a:off x="4321800" y="382968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48">
            <a:hlinkClick r:id="rId11" action="ppaction://hlinksldjump"/>
          </p:cNvPr>
          <p:cNvSpPr/>
          <p:nvPr/>
        </p:nvSpPr>
        <p:spPr>
          <a:xfrm>
            <a:off x="4322160" y="418248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49">
            <a:hlinkClick r:id="rId12" action="ppaction://hlinksldjump"/>
          </p:cNvPr>
          <p:cNvSpPr/>
          <p:nvPr/>
        </p:nvSpPr>
        <p:spPr>
          <a:xfrm>
            <a:off x="4322520" y="473184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0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6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8" name="Shape 24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9" name="Text 16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241" name="Shape 25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8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6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247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248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249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forma_edad 1">
            <a:hlinkClick r:id="rId5" action="ppaction://hlinksldjump"/>
          </p:cNvPr>
          <p:cNvSpPr/>
          <p:nvPr/>
        </p:nvSpPr>
        <p:spPr>
          <a:xfrm>
            <a:off x="4320720" y="188460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boton_educativo 1">
            <a:hlinkClick r:id="rId6" action="ppaction://hlinksldjump"/>
          </p:cNvPr>
          <p:cNvSpPr/>
          <p:nvPr/>
        </p:nvSpPr>
        <p:spPr>
          <a:xfrm>
            <a:off x="4321080" y="223740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7">
            <a:hlinkClick r:id="rId7" action="ppaction://hlinksldjump"/>
          </p:cNvPr>
          <p:cNvSpPr/>
          <p:nvPr/>
        </p:nvSpPr>
        <p:spPr>
          <a:xfrm>
            <a:off x="4321440" y="25902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8">
            <a:hlinkClick r:id="rId8" action="ppaction://hlinksldjump"/>
          </p:cNvPr>
          <p:cNvSpPr/>
          <p:nvPr/>
        </p:nvSpPr>
        <p:spPr>
          <a:xfrm>
            <a:off x="4321800" y="29430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9">
            <a:hlinkClick r:id="rId9" action="ppaction://hlinksldjump"/>
          </p:cNvPr>
          <p:cNvSpPr/>
          <p:nvPr/>
        </p:nvSpPr>
        <p:spPr>
          <a:xfrm>
            <a:off x="4322160" y="329580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30">
            <a:hlinkClick r:id="rId10" action="ppaction://hlinksldjump"/>
          </p:cNvPr>
          <p:cNvSpPr/>
          <p:nvPr/>
        </p:nvSpPr>
        <p:spPr>
          <a:xfrm>
            <a:off x="4322160" y="38358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1">
            <a:hlinkClick r:id="rId11" action="ppaction://hlinksldjump"/>
          </p:cNvPr>
          <p:cNvSpPr/>
          <p:nvPr/>
        </p:nvSpPr>
        <p:spPr>
          <a:xfrm>
            <a:off x="4322520" y="418860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32">
            <a:hlinkClick r:id="rId12" action="ppaction://hlinksldjump"/>
          </p:cNvPr>
          <p:cNvSpPr/>
          <p:nvPr/>
        </p:nvSpPr>
        <p:spPr>
          <a:xfrm>
            <a:off x="4322880" y="473796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7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5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2" name="Shape 5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3" name="Text 38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4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265" name="Shape 52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41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53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0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271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272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273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forma_edad 3">
            <a:hlinkClick r:id="rId5" action="ppaction://hlinksldjump"/>
          </p:cNvPr>
          <p:cNvSpPr/>
          <p:nvPr/>
        </p:nvSpPr>
        <p:spPr>
          <a:xfrm>
            <a:off x="4319280" y="187200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boton_educativo 3">
            <a:hlinkClick r:id="rId6" action="ppaction://hlinksldjump"/>
          </p:cNvPr>
          <p:cNvSpPr/>
          <p:nvPr/>
        </p:nvSpPr>
        <p:spPr>
          <a:xfrm>
            <a:off x="4319640" y="222480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54">
            <a:hlinkClick r:id="rId7" action="ppaction://hlinksldjump"/>
          </p:cNvPr>
          <p:cNvSpPr/>
          <p:nvPr/>
        </p:nvSpPr>
        <p:spPr>
          <a:xfrm>
            <a:off x="4320000" y="25776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55">
            <a:hlinkClick r:id="rId8" action="ppaction://hlinksldjump"/>
          </p:cNvPr>
          <p:cNvSpPr/>
          <p:nvPr/>
        </p:nvSpPr>
        <p:spPr>
          <a:xfrm>
            <a:off x="4320360" y="29304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56">
            <a:hlinkClick r:id="rId9" action="ppaction://hlinksldjump"/>
          </p:cNvPr>
          <p:cNvSpPr/>
          <p:nvPr/>
        </p:nvSpPr>
        <p:spPr>
          <a:xfrm>
            <a:off x="4320720" y="328320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57">
            <a:hlinkClick r:id="rId10" action="ppaction://hlinksldjump"/>
          </p:cNvPr>
          <p:cNvSpPr/>
          <p:nvPr/>
        </p:nvSpPr>
        <p:spPr>
          <a:xfrm>
            <a:off x="4320720" y="38232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58">
            <a:hlinkClick r:id="rId11" action="ppaction://hlinksldjump"/>
          </p:cNvPr>
          <p:cNvSpPr/>
          <p:nvPr/>
        </p:nvSpPr>
        <p:spPr>
          <a:xfrm>
            <a:off x="4321080" y="417600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59">
            <a:hlinkClick r:id="rId12" action="ppaction://hlinksldjump"/>
          </p:cNvPr>
          <p:cNvSpPr/>
          <p:nvPr/>
        </p:nvSpPr>
        <p:spPr>
          <a:xfrm>
            <a:off x="4321440" y="472536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3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39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6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6" name="Shape 6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7" name="Text 43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289" name="Shape 62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46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63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295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296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297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forma_edad 4">
            <a:hlinkClick r:id="rId5" action="ppaction://hlinksldjump"/>
          </p:cNvPr>
          <p:cNvSpPr/>
          <p:nvPr/>
        </p:nvSpPr>
        <p:spPr>
          <a:xfrm>
            <a:off x="4321440" y="187200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boton_educativo 4">
            <a:hlinkClick r:id="rId6" action="ppaction://hlinksldjump"/>
          </p:cNvPr>
          <p:cNvSpPr/>
          <p:nvPr/>
        </p:nvSpPr>
        <p:spPr>
          <a:xfrm>
            <a:off x="4321800" y="222480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64">
            <a:hlinkClick r:id="rId7" action="ppaction://hlinksldjump"/>
          </p:cNvPr>
          <p:cNvSpPr/>
          <p:nvPr/>
        </p:nvSpPr>
        <p:spPr>
          <a:xfrm>
            <a:off x="4322160" y="25776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65">
            <a:hlinkClick r:id="rId8" action="ppaction://hlinksldjump"/>
          </p:cNvPr>
          <p:cNvSpPr/>
          <p:nvPr/>
        </p:nvSpPr>
        <p:spPr>
          <a:xfrm>
            <a:off x="4322520" y="29304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66">
            <a:hlinkClick r:id="rId9" action="ppaction://hlinksldjump"/>
          </p:cNvPr>
          <p:cNvSpPr/>
          <p:nvPr/>
        </p:nvSpPr>
        <p:spPr>
          <a:xfrm>
            <a:off x="4322880" y="328320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67">
            <a:hlinkClick r:id="rId10" action="ppaction://hlinksldjump"/>
          </p:cNvPr>
          <p:cNvSpPr/>
          <p:nvPr/>
        </p:nvSpPr>
        <p:spPr>
          <a:xfrm>
            <a:off x="4322880" y="38232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68">
            <a:hlinkClick r:id="rId11" action="ppaction://hlinksldjump"/>
          </p:cNvPr>
          <p:cNvSpPr/>
          <p:nvPr/>
        </p:nvSpPr>
        <p:spPr>
          <a:xfrm>
            <a:off x="4323240" y="417600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69">
            <a:hlinkClick r:id="rId12" action="ppaction://hlinksldjump"/>
          </p:cNvPr>
          <p:cNvSpPr/>
          <p:nvPr/>
        </p:nvSpPr>
        <p:spPr>
          <a:xfrm>
            <a:off x="4323600" y="472536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4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44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7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0" name="Shape 7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1" name="Text 47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313" name="Shape 72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49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73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8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319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320" name="" descr=""/>
          <p:cNvPicPr/>
          <p:nvPr/>
        </p:nvPicPr>
        <p:blipFill>
          <a:blip r:embed="rId4"/>
          <a:stretch/>
        </p:blipFill>
        <p:spPr>
          <a:xfrm>
            <a:off x="5545080" y="2088720"/>
            <a:ext cx="6476400" cy="3236760"/>
          </a:xfrm>
          <a:prstGeom prst="rect">
            <a:avLst/>
          </a:prstGeom>
          <a:ln w="0">
            <a:noFill/>
          </a:ln>
        </p:spPr>
      </p:pic>
      <p:sp>
        <p:nvSpPr>
          <p:cNvPr id="321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forma_edad 5">
            <a:hlinkClick r:id="rId5" action="ppaction://hlinksldjump"/>
          </p:cNvPr>
          <p:cNvSpPr/>
          <p:nvPr/>
        </p:nvSpPr>
        <p:spPr>
          <a:xfrm>
            <a:off x="4321440" y="187200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boton_educativo 5">
            <a:hlinkClick r:id="rId6" action="ppaction://hlinksldjump"/>
          </p:cNvPr>
          <p:cNvSpPr/>
          <p:nvPr/>
        </p:nvSpPr>
        <p:spPr>
          <a:xfrm>
            <a:off x="4321800" y="222480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74">
            <a:hlinkClick r:id="rId7" action="ppaction://hlinksldjump"/>
          </p:cNvPr>
          <p:cNvSpPr/>
          <p:nvPr/>
        </p:nvSpPr>
        <p:spPr>
          <a:xfrm>
            <a:off x="4322160" y="25776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75">
            <a:hlinkClick r:id="rId8" action="ppaction://hlinksldjump"/>
          </p:cNvPr>
          <p:cNvSpPr/>
          <p:nvPr/>
        </p:nvSpPr>
        <p:spPr>
          <a:xfrm>
            <a:off x="4322520" y="29304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76">
            <a:hlinkClick r:id="rId9" action="ppaction://hlinksldjump"/>
          </p:cNvPr>
          <p:cNvSpPr/>
          <p:nvPr/>
        </p:nvSpPr>
        <p:spPr>
          <a:xfrm>
            <a:off x="4322880" y="328320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77">
            <a:hlinkClick r:id="rId10" action="ppaction://hlinksldjump"/>
          </p:cNvPr>
          <p:cNvSpPr/>
          <p:nvPr/>
        </p:nvSpPr>
        <p:spPr>
          <a:xfrm>
            <a:off x="4322880" y="38232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78">
            <a:hlinkClick r:id="rId11" action="ppaction://hlinksldjump"/>
          </p:cNvPr>
          <p:cNvSpPr/>
          <p:nvPr/>
        </p:nvSpPr>
        <p:spPr>
          <a:xfrm>
            <a:off x="4323240" y="417600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79">
            <a:hlinkClick r:id="rId12" action="ppaction://hlinksldjump"/>
          </p:cNvPr>
          <p:cNvSpPr/>
          <p:nvPr/>
        </p:nvSpPr>
        <p:spPr>
          <a:xfrm>
            <a:off x="4323600" y="472536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20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48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9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34" name="Shape 9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5" name="Text 53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6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337" name="Shape 92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55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93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2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343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344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345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forma_edad 6">
            <a:hlinkClick r:id="rId5" action="ppaction://hlinksldjump"/>
          </p:cNvPr>
          <p:cNvSpPr/>
          <p:nvPr/>
        </p:nvSpPr>
        <p:spPr>
          <a:xfrm>
            <a:off x="4321800" y="187848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boton_educativo 6">
            <a:hlinkClick r:id="rId6" action="ppaction://hlinksldjump"/>
          </p:cNvPr>
          <p:cNvSpPr/>
          <p:nvPr/>
        </p:nvSpPr>
        <p:spPr>
          <a:xfrm>
            <a:off x="4322160" y="223128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80">
            <a:hlinkClick r:id="rId7" action="ppaction://hlinksldjump"/>
          </p:cNvPr>
          <p:cNvSpPr/>
          <p:nvPr/>
        </p:nvSpPr>
        <p:spPr>
          <a:xfrm>
            <a:off x="4322520" y="258408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81">
            <a:hlinkClick r:id="rId8" action="ppaction://hlinksldjump"/>
          </p:cNvPr>
          <p:cNvSpPr/>
          <p:nvPr/>
        </p:nvSpPr>
        <p:spPr>
          <a:xfrm>
            <a:off x="4322880" y="293688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82">
            <a:hlinkClick r:id="rId9" action="ppaction://hlinksldjump"/>
          </p:cNvPr>
          <p:cNvSpPr/>
          <p:nvPr/>
        </p:nvSpPr>
        <p:spPr>
          <a:xfrm>
            <a:off x="4323240" y="328968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83">
            <a:hlinkClick r:id="rId10" action="ppaction://hlinksldjump"/>
          </p:cNvPr>
          <p:cNvSpPr/>
          <p:nvPr/>
        </p:nvSpPr>
        <p:spPr>
          <a:xfrm>
            <a:off x="4323240" y="382968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84">
            <a:hlinkClick r:id="rId11" action="ppaction://hlinksldjump"/>
          </p:cNvPr>
          <p:cNvSpPr/>
          <p:nvPr/>
        </p:nvSpPr>
        <p:spPr>
          <a:xfrm>
            <a:off x="4323600" y="418248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85">
            <a:hlinkClick r:id="rId12" action="ppaction://hlinksldjump"/>
          </p:cNvPr>
          <p:cNvSpPr/>
          <p:nvPr/>
        </p:nvSpPr>
        <p:spPr>
          <a:xfrm>
            <a:off x="4323960" y="473184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21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54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10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8" name="Shape 10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9" name="Text 56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0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361" name="Shape 102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58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03"/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6" name="" descr=""/>
          <p:cNvPicPr/>
          <p:nvPr/>
        </p:nvPicPr>
        <p:blipFill>
          <a:blip r:embed="rId2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367" name="" descr=""/>
          <p:cNvPicPr/>
          <p:nvPr/>
        </p:nvPicPr>
        <p:blipFill>
          <a:blip r:embed="rId3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368" name="" descr=""/>
          <p:cNvPicPr/>
          <p:nvPr/>
        </p:nvPicPr>
        <p:blipFill>
          <a:blip r:embed="rId4"/>
          <a:stretch/>
        </p:blipFill>
        <p:spPr>
          <a:xfrm>
            <a:off x="5716440" y="241164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369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forma_edad 7">
            <a:hlinkClick r:id="rId5" action="ppaction://hlinksldjump"/>
          </p:cNvPr>
          <p:cNvSpPr/>
          <p:nvPr/>
        </p:nvSpPr>
        <p:spPr>
          <a:xfrm>
            <a:off x="4322160" y="188460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boton_educativo 7">
            <a:hlinkClick r:id="rId6" action="ppaction://hlinksldjump"/>
          </p:cNvPr>
          <p:cNvSpPr/>
          <p:nvPr/>
        </p:nvSpPr>
        <p:spPr>
          <a:xfrm>
            <a:off x="4322520" y="223740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86">
            <a:hlinkClick r:id="rId7" action="ppaction://hlinksldjump"/>
          </p:cNvPr>
          <p:cNvSpPr/>
          <p:nvPr/>
        </p:nvSpPr>
        <p:spPr>
          <a:xfrm>
            <a:off x="4322880" y="25902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87">
            <a:hlinkClick r:id="rId8" action="ppaction://hlinksldjump"/>
          </p:cNvPr>
          <p:cNvSpPr/>
          <p:nvPr/>
        </p:nvSpPr>
        <p:spPr>
          <a:xfrm>
            <a:off x="4323240" y="29430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88">
            <a:hlinkClick r:id="rId9" action="ppaction://hlinksldjump"/>
          </p:cNvPr>
          <p:cNvSpPr/>
          <p:nvPr/>
        </p:nvSpPr>
        <p:spPr>
          <a:xfrm>
            <a:off x="4323600" y="329580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89">
            <a:hlinkClick r:id="rId10" action="ppaction://hlinksldjump"/>
          </p:cNvPr>
          <p:cNvSpPr/>
          <p:nvPr/>
        </p:nvSpPr>
        <p:spPr>
          <a:xfrm>
            <a:off x="4323600" y="383580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94">
            <a:hlinkClick r:id="rId11" action="ppaction://hlinksldjump"/>
          </p:cNvPr>
          <p:cNvSpPr/>
          <p:nvPr/>
        </p:nvSpPr>
        <p:spPr>
          <a:xfrm>
            <a:off x="4323960" y="418860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95">
            <a:hlinkClick r:id="rId12" action="ppaction://hlinksldjump"/>
          </p:cNvPr>
          <p:cNvSpPr/>
          <p:nvPr/>
        </p:nvSpPr>
        <p:spPr>
          <a:xfrm>
            <a:off x="4324320" y="473796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22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57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110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82" name="Shape 111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3" name="Text 59"/>
          <p:cNvSpPr/>
          <p:nvPr/>
        </p:nvSpPr>
        <p:spPr>
          <a:xfrm>
            <a:off x="540000" y="388800"/>
            <a:ext cx="671760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Perfiles sociodemográficos de la plantilla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4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385" name="Shape 112"/>
          <p:cNvSpPr/>
          <p:nvPr/>
        </p:nvSpPr>
        <p:spPr>
          <a:xfrm>
            <a:off x="612000" y="1756080"/>
            <a:ext cx="3345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61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Radiografía de los empleados según variables sociodemográficas y laborales.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 rot="21590400">
            <a:off x="869400" y="1886760"/>
            <a:ext cx="2553120" cy="39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38 años de 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educación secundaria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un hijo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con sobrepeso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bebedor social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no fumador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13 años de antigüedad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vive a 25,5 Km de la 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• </a:t>
            </a:r>
            <a:r>
              <a:rPr b="0" lang="es-E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gasta 235 brl en transporte al mes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boton_gasto">
            <a:hlinkClick r:id="rId2" action="ppaction://hlinksldjump"/>
          </p:cNvPr>
          <p:cNvSpPr/>
          <p:nvPr/>
        </p:nvSpPr>
        <p:spPr>
          <a:xfrm>
            <a:off x="4320000" y="1756440"/>
            <a:ext cx="7737120" cy="436104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0" name="" descr=""/>
          <p:cNvPicPr/>
          <p:nvPr/>
        </p:nvPicPr>
        <p:blipFill>
          <a:blip r:embed="rId3"/>
          <a:srcRect l="13319" t="0" r="30340" b="8795"/>
          <a:stretch/>
        </p:blipFill>
        <p:spPr>
          <a:xfrm>
            <a:off x="4140000" y="5710320"/>
            <a:ext cx="681120" cy="681120"/>
          </a:xfrm>
          <a:prstGeom prst="rect">
            <a:avLst/>
          </a:prstGeom>
          <a:ln w="0">
            <a:noFill/>
          </a:ln>
        </p:spPr>
      </p:pic>
      <p:pic>
        <p:nvPicPr>
          <p:cNvPr id="391" name="" descr=""/>
          <p:cNvPicPr/>
          <p:nvPr/>
        </p:nvPicPr>
        <p:blipFill>
          <a:blip r:embed="rId4"/>
          <a:stretch/>
        </p:blipFill>
        <p:spPr>
          <a:xfrm>
            <a:off x="-36000" y="5624640"/>
            <a:ext cx="1383120" cy="852840"/>
          </a:xfrm>
          <a:prstGeom prst="rect">
            <a:avLst/>
          </a:prstGeom>
          <a:ln w="0">
            <a:noFill/>
          </a:ln>
        </p:spPr>
      </p:pic>
      <p:pic>
        <p:nvPicPr>
          <p:cNvPr id="392" name="" descr=""/>
          <p:cNvPicPr/>
          <p:nvPr/>
        </p:nvPicPr>
        <p:blipFill>
          <a:blip r:embed="rId5"/>
          <a:stretch/>
        </p:blipFill>
        <p:spPr>
          <a:xfrm>
            <a:off x="5716440" y="2411640"/>
            <a:ext cx="6306480" cy="3106080"/>
          </a:xfrm>
          <a:prstGeom prst="rect">
            <a:avLst/>
          </a:prstGeom>
          <a:ln w="0">
            <a:noFill/>
          </a:ln>
        </p:spPr>
      </p:pic>
      <p:sp>
        <p:nvSpPr>
          <p:cNvPr id="393" name=""/>
          <p:cNvSpPr/>
          <p:nvPr/>
        </p:nvSpPr>
        <p:spPr>
          <a:xfrm>
            <a:off x="504000" y="144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 medio del empleado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4212000" y="1440000"/>
            <a:ext cx="2373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600" spc="-1" strike="noStrike">
                <a:solidFill>
                  <a:srgbClr val="696969"/>
                </a:solidFill>
                <a:latin typeface="Arial"/>
                <a:ea typeface="DejaVu Sans"/>
              </a:rPr>
              <a:t>Perfiles por variables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forma_edad 8">
            <a:hlinkClick r:id="rId6" action="ppaction://hlinksldjump"/>
          </p:cNvPr>
          <p:cNvSpPr/>
          <p:nvPr/>
        </p:nvSpPr>
        <p:spPr>
          <a:xfrm>
            <a:off x="4322520" y="1890720"/>
            <a:ext cx="107712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boton_educativo 8">
            <a:hlinkClick r:id="rId7" action="ppaction://hlinksldjump"/>
          </p:cNvPr>
          <p:cNvSpPr/>
          <p:nvPr/>
        </p:nvSpPr>
        <p:spPr>
          <a:xfrm>
            <a:off x="4322880" y="2243520"/>
            <a:ext cx="107676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educación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96">
            <a:hlinkClick r:id="rId8" action="ppaction://hlinksldjump"/>
          </p:cNvPr>
          <p:cNvSpPr/>
          <p:nvPr/>
        </p:nvSpPr>
        <p:spPr>
          <a:xfrm>
            <a:off x="4323240" y="259632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n.º hijos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97">
            <a:hlinkClick r:id="rId9" action="ppaction://hlinksldjump"/>
          </p:cNvPr>
          <p:cNvSpPr/>
          <p:nvPr/>
        </p:nvSpPr>
        <p:spPr>
          <a:xfrm>
            <a:off x="4323600" y="294912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imc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98">
            <a:hlinkClick r:id="rId10" action="ppaction://hlinksldjump"/>
          </p:cNvPr>
          <p:cNvSpPr/>
          <p:nvPr/>
        </p:nvSpPr>
        <p:spPr>
          <a:xfrm>
            <a:off x="4323960" y="3301920"/>
            <a:ext cx="1076400" cy="565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bebedor /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fumador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99">
            <a:hlinkClick r:id="rId11" action="ppaction://hlinksldjump"/>
          </p:cNvPr>
          <p:cNvSpPr/>
          <p:nvPr/>
        </p:nvSpPr>
        <p:spPr>
          <a:xfrm>
            <a:off x="4323960" y="3841920"/>
            <a:ext cx="1076400" cy="35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antigüedad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04">
            <a:hlinkClick r:id="rId12" action="ppaction://hlinksldjump"/>
          </p:cNvPr>
          <p:cNvSpPr/>
          <p:nvPr/>
        </p:nvSpPr>
        <p:spPr>
          <a:xfrm>
            <a:off x="4324320" y="419472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distancia al trabajo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105">
            <a:hlinkClick r:id="rId13" action="ppaction://hlinksldjump"/>
          </p:cNvPr>
          <p:cNvSpPr/>
          <p:nvPr/>
        </p:nvSpPr>
        <p:spPr>
          <a:xfrm>
            <a:off x="4324680" y="4744080"/>
            <a:ext cx="1076400" cy="537120"/>
          </a:xfrm>
          <a:prstGeom prst="roundRect">
            <a:avLst>
              <a:gd name="adj" fmla="val 0"/>
            </a:avLst>
          </a:prstGeom>
          <a:solidFill>
            <a:srgbClr val="fff0f5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gasto transporte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23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60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10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106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06" name="Shape 107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7" name="Text 50"/>
          <p:cNvSpPr/>
          <p:nvPr/>
        </p:nvSpPr>
        <p:spPr>
          <a:xfrm>
            <a:off x="540000" y="388800"/>
            <a:ext cx="647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8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09" name="Shape 108">
            <a:hlinkClick r:id="rId2" action="ppaction://hlinksldjump"/>
          </p:cNvPr>
          <p:cNvSpPr/>
          <p:nvPr/>
        </p:nvSpPr>
        <p:spPr>
          <a:xfrm>
            <a:off x="612000" y="1936080"/>
            <a:ext cx="10725120" cy="14817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77,8%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la plantilla tiene educación secundaria. El desarrollo profesional debería priorizar la formación práctica, modular y certificable frente a los itinerarios académicos tradicionales.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52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Educación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648000" y="396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Conciliación familiar</a:t>
            </a:r>
            <a:r>
              <a:rPr b="1" lang="es-ES" sz="1800" spc="-1" strike="noStrike">
                <a:solidFill>
                  <a:srgbClr val="696969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109"/>
          <p:cNvSpPr/>
          <p:nvPr/>
        </p:nvSpPr>
        <p:spPr>
          <a:xfrm>
            <a:off x="612000" y="4319640"/>
            <a:ext cx="10725120" cy="14022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La plantilla se concentra entre 30 y 40 años (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52,8%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) y entre 40 y 50 años (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). Además,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66,7%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tiene al menos un hijo y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38,9%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tiene dos o más. Esto apunta a una plantilla en una etapa vital donde la conciliación puede ser crítica para el compromiso.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24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51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11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121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9" name="Shape 122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0" name="Text 68"/>
          <p:cNvSpPr/>
          <p:nvPr/>
        </p:nvSpPr>
        <p:spPr>
          <a:xfrm>
            <a:off x="540000" y="388800"/>
            <a:ext cx="647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1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22" name="Text 70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Educación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648000" y="396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Conciliación familiar</a:t>
            </a:r>
            <a:r>
              <a:rPr b="1" lang="es-ES" sz="1800" spc="-1" strike="noStrike">
                <a:solidFill>
                  <a:srgbClr val="696969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124">
            <a:hlinkClick r:id="rId2" action="ppaction://hlinksldjump"/>
          </p:cNvPr>
          <p:cNvSpPr/>
          <p:nvPr/>
        </p:nvSpPr>
        <p:spPr>
          <a:xfrm>
            <a:off x="612000" y="4319640"/>
            <a:ext cx="10725120" cy="14022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La plantilla se concentra entre 30 y 40 años (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52,8%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) y entre 40 y 50 años (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). Además,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66,7%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tiene al menos un hijo y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38,9%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tiene dos o más. Esto apunta a una plantilla en una etapa vital donde la conciliación puede ser crítica para el compromiso.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0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25"/>
          <p:cNvSpPr/>
          <p:nvPr/>
        </p:nvSpPr>
        <p:spPr>
          <a:xfrm>
            <a:off x="612000" y="1960200"/>
            <a:ext cx="10725120" cy="16524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Crear itinerarios cortos de capacitación en liderazgo operativo, planificación de rutas, gestión de incidencias, atención al cliente y herramientas digitales.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Diseñar rutas de carrera desde posiciones operativas hacia coordinador de equipo, formador interno, supervisor de rutas o planificación logística.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Usar a los empleados con mayor antigüedad como mentores, especialmente porque hay una base importante de experiencia acumulada.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25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69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11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117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2" name="Shape 118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3" name="Text 65"/>
          <p:cNvSpPr/>
          <p:nvPr/>
        </p:nvSpPr>
        <p:spPr>
          <a:xfrm>
            <a:off x="540000" y="388800"/>
            <a:ext cx="647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4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35" name="Text 67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Educación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648000" y="3960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Conciliación familiar</a:t>
            </a:r>
            <a:r>
              <a:rPr b="1" lang="es-ES" sz="1800" spc="-1" strike="noStrike">
                <a:solidFill>
                  <a:srgbClr val="696969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20"/>
          <p:cNvSpPr/>
          <p:nvPr/>
        </p:nvSpPr>
        <p:spPr>
          <a:xfrm>
            <a:off x="612000" y="4319640"/>
            <a:ext cx="10725120" cy="179892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Ofrecer mayor previsibilidad de turnos y rutas.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Facilitar cambios de turno planificados.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Diseñar medidas específicas para empleados con responsabilidades familiares, especialmente en campañas de alta demanda.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Analizar si el absentismo concentrado en lunes o en verano puede estar relacionado con tensiones de conciliación, vacaciones escolares o cargas familiares.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30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66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158"/>
          <p:cNvSpPr/>
          <p:nvPr/>
        </p:nvSpPr>
        <p:spPr>
          <a:xfrm>
            <a:off x="612360" y="1910880"/>
            <a:ext cx="10725120" cy="16524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Crear itinerarios cortos de capacitación en liderazgo operativo, planificación de rutas, gestión de incidencias, atención al cliente y herramientas digitales.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Diseñar rutas de carrera desde posiciones operativas hacia coordinador de equipo, formador interno, supervisor de rutas o planificación logística.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DejaVu Sans"/>
              </a:rPr>
              <a:t>- Usar a los empleados con mayor antigüedad como mentores, especialmente porque hay una base importante de experiencia acumulada.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113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5" name="Shape 114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6" name="Text 62"/>
          <p:cNvSpPr/>
          <p:nvPr/>
        </p:nvSpPr>
        <p:spPr>
          <a:xfrm>
            <a:off x="540000" y="388800"/>
            <a:ext cx="647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7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48" name="Shape 115">
            <a:hlinkClick r:id="rId2" action="ppaction://hlinksldjump"/>
          </p:cNvPr>
          <p:cNvSpPr/>
          <p:nvPr/>
        </p:nvSpPr>
        <p:spPr>
          <a:xfrm>
            <a:off x="612000" y="1936080"/>
            <a:ext cx="10725120" cy="9417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38,9%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la plantilla tiene sobrepeso y el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25%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presenta obesidad. En una empresa de reparto, donde hay exigencia física por conducción, carga y trabajo en almacén, este dato es especialmente relevante.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64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Bienestar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648000" y="3672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Movilidad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116"/>
          <p:cNvSpPr/>
          <p:nvPr/>
        </p:nvSpPr>
        <p:spPr>
          <a:xfrm>
            <a:off x="612000" y="3995640"/>
            <a:ext cx="10725120" cy="10422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Un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los empleados vive lejos. Y un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70%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los empleados tiene un gasto medio, alto en transporte.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31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63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129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58" name="Shape 130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9" name="Text 74"/>
          <p:cNvSpPr/>
          <p:nvPr/>
        </p:nvSpPr>
        <p:spPr>
          <a:xfrm>
            <a:off x="540000" y="388800"/>
            <a:ext cx="647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0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61" name="Shape 131"/>
          <p:cNvSpPr/>
          <p:nvPr/>
        </p:nvSpPr>
        <p:spPr>
          <a:xfrm>
            <a:off x="612000" y="1936080"/>
            <a:ext cx="10725120" cy="9417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Programas voluntarios de salud física, ergonomía, prevención de lesiones y hábitos saludables.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Revisión de cargas, rutas, tiempos de descanso y exposición física.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Tener un médico en la empresa para consultas médicas y acuerdos con clínicas dentales.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76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Bienestar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648000" y="3672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Movilidad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132"/>
          <p:cNvSpPr/>
          <p:nvPr/>
        </p:nvSpPr>
        <p:spPr>
          <a:xfrm>
            <a:off x="612000" y="3995640"/>
            <a:ext cx="10725120" cy="10422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d3d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Valorar ayudas de transporte para empleados con mayor distancia o coste.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Optimizar asignación de centros, rutas o bases cuando sea posible.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Explorar turnos compactos o más previsibles para quienes viven más lejos.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133">
            <a:hlinkClick r:id="rId2" action="ppaction://hlinksldjump"/>
          </p:cNvPr>
          <p:cNvSpPr/>
          <p:nvPr/>
        </p:nvSpPr>
        <p:spPr>
          <a:xfrm>
            <a:off x="612000" y="3995640"/>
            <a:ext cx="10725120" cy="10422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Un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27,8%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los empleados vive lejos. Y un </a:t>
            </a:r>
            <a:r>
              <a:rPr b="1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70%</a:t>
            </a: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 de los empleados tiene un gasto medio, alto en transporte.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32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75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123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2" name="Shape 126"/>
          <p:cNvSpPr/>
          <p:nvPr/>
        </p:nvSpPr>
        <p:spPr>
          <a:xfrm>
            <a:off x="0" y="6510600"/>
            <a:ext cx="12188520" cy="362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3" name="Text 71"/>
          <p:cNvSpPr/>
          <p:nvPr/>
        </p:nvSpPr>
        <p:spPr>
          <a:xfrm>
            <a:off x="540000" y="388800"/>
            <a:ext cx="647784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Recomendaciones para políticas de talento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4" name="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75" name="Shape 127"/>
          <p:cNvSpPr/>
          <p:nvPr/>
        </p:nvSpPr>
        <p:spPr>
          <a:xfrm>
            <a:off x="612000" y="1936080"/>
            <a:ext cx="10725120" cy="94176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Programas de salud física, ergonomía, prevención de lesiones y hábitos saludables.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Revisión de cargas, rutas, tiempos de descanso y exposición física.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Tener un médico en la empresa para consultas médicas y acuerdos con clínicas dentales.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73"/>
          <p:cNvSpPr/>
          <p:nvPr/>
        </p:nvSpPr>
        <p:spPr>
          <a:xfrm>
            <a:off x="168120" y="6538320"/>
            <a:ext cx="299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648000" y="1584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Bienestar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560880" y="971280"/>
            <a:ext cx="94744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DejaVu Sans"/>
              </a:rPr>
              <a:t>Acciones recomendadas a responder a las necesidades de los empleados, reforzando su compromiso y desarrollo profesional.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 rot="21590400">
            <a:off x="864000" y="1875600"/>
            <a:ext cx="10468440" cy="17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648000" y="3672000"/>
            <a:ext cx="32371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1500" spc="-1" strike="noStrike">
                <a:solidFill>
                  <a:srgbClr val="696969"/>
                </a:solidFill>
                <a:latin typeface="Arial"/>
                <a:ea typeface="DejaVu Sans"/>
              </a:rPr>
              <a:t>Movilidad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128"/>
          <p:cNvSpPr/>
          <p:nvPr/>
        </p:nvSpPr>
        <p:spPr>
          <a:xfrm>
            <a:off x="612000" y="3995640"/>
            <a:ext cx="10725120" cy="1042200"/>
          </a:xfrm>
          <a:prstGeom prst="roundRect">
            <a:avLst>
              <a:gd name="adj" fmla="val 5565"/>
            </a:avLst>
          </a:prstGeom>
          <a:solidFill>
            <a:srgbClr val="ffffff"/>
          </a:solidFill>
          <a:ln w="1800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Valorar ayudas de transporte para empleados con mayor distancia o coste.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Optimizar asignación de centros, rutas o bases cuando sea posible.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s-ES" sz="1500" spc="-1" strike="noStrike">
                <a:solidFill>
                  <a:srgbClr val="000000"/>
                </a:solidFill>
                <a:latin typeface="Arial"/>
                <a:ea typeface="Microsoft YaHei"/>
              </a:rPr>
              <a:t>- Explorar turnos compactos o más previsibles para quienes viven más lejos. 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33"/>
          <p:cNvSpPr/>
          <p:nvPr/>
        </p:nvSpPr>
        <p:spPr>
          <a:xfrm>
            <a:off x="2742840" y="6538320"/>
            <a:ext cx="13957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72"/>
          <p:cNvSpPr/>
          <p:nvPr/>
        </p:nvSpPr>
        <p:spPr>
          <a:xfrm>
            <a:off x="11412000" y="6538320"/>
            <a:ext cx="754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12 / 12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" descr=""/>
          <p:cNvPicPr/>
          <p:nvPr/>
        </p:nvPicPr>
        <p:blipFill>
          <a:blip r:embed="rId1"/>
          <a:stretch/>
        </p:blipFill>
        <p:spPr>
          <a:xfrm>
            <a:off x="5760000" y="164160"/>
            <a:ext cx="6433920" cy="6352560"/>
          </a:xfrm>
          <a:prstGeom prst="rect">
            <a:avLst/>
          </a:prstGeom>
          <a:ln w="0">
            <a:noFill/>
          </a:ln>
        </p:spPr>
      </p:pic>
      <p:sp>
        <p:nvSpPr>
          <p:cNvPr id="485" name="Shape 5"/>
          <p:cNvSpPr/>
          <p:nvPr/>
        </p:nvSpPr>
        <p:spPr>
          <a:xfrm>
            <a:off x="0" y="0"/>
            <a:ext cx="12188520" cy="1612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6" name="Shape 6"/>
          <p:cNvSpPr/>
          <p:nvPr/>
        </p:nvSpPr>
        <p:spPr>
          <a:xfrm>
            <a:off x="0" y="6519600"/>
            <a:ext cx="12188520" cy="3535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7" name="Text 4"/>
          <p:cNvSpPr/>
          <p:nvPr/>
        </p:nvSpPr>
        <p:spPr>
          <a:xfrm>
            <a:off x="1116000" y="3744000"/>
            <a:ext cx="197712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6b7280"/>
                </a:solidFill>
                <a:latin typeface="Aptos"/>
                <a:ea typeface="DejaVu Sans"/>
              </a:rPr>
              <a:t>Junio 2026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8" name="" descr=""/>
          <p:cNvPicPr/>
          <p:nvPr/>
        </p:nvPicPr>
        <p:blipFill>
          <a:blip r:embed="rId2"/>
          <a:srcRect l="0" t="26241" r="0" b="23016"/>
          <a:stretch/>
        </p:blipFill>
        <p:spPr>
          <a:xfrm>
            <a:off x="216000" y="360360"/>
            <a:ext cx="1946880" cy="536760"/>
          </a:xfrm>
          <a:prstGeom prst="rect">
            <a:avLst/>
          </a:prstGeom>
          <a:ln w="0">
            <a:noFill/>
          </a:ln>
        </p:spPr>
      </p:pic>
      <p:sp>
        <p:nvSpPr>
          <p:cNvPr id="489" name="Text 7"/>
          <p:cNvSpPr/>
          <p:nvPr/>
        </p:nvSpPr>
        <p:spPr>
          <a:xfrm>
            <a:off x="1104120" y="3420000"/>
            <a:ext cx="33570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</TotalTime>
  <Application>LibreOffice/24.2.3.2$Windows_X86_64 LibreOffice_project/433d9c2ded56988e8a90e6b2e771ee4e6a5ab2ba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2026-07-04T17:08:40Z</dcterms:created>
  <dc:creator/>
  <dc:description/>
  <dc:language>es-ES</dc:language>
  <cp:lastModifiedBy/>
  <dcterms:modified xsi:type="dcterms:W3CDTF">2026-07-05T21:25:10Z</dcterms:modified>
  <cp:revision>69</cp:revision>
  <dc:subject/>
  <dc:title>Plantilla resultados absentismo RapidExpress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11</vt:i4>
  </property>
</Properties>
</file>